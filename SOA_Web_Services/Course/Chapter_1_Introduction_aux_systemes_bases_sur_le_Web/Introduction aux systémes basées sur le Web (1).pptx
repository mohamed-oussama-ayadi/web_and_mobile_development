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39"/>
  </p:notesMasterIdLst>
  <p:sldIdLst>
    <p:sldId id="256" r:id="rId3"/>
    <p:sldId id="258" r:id="rId4"/>
    <p:sldId id="288" r:id="rId5"/>
    <p:sldId id="259" r:id="rId6"/>
    <p:sldId id="260" r:id="rId7"/>
    <p:sldId id="261" r:id="rId8"/>
    <p:sldId id="262" r:id="rId9"/>
    <p:sldId id="263" r:id="rId10"/>
    <p:sldId id="289" r:id="rId11"/>
    <p:sldId id="290" r:id="rId12"/>
    <p:sldId id="293" r:id="rId13"/>
    <p:sldId id="264" r:id="rId14"/>
    <p:sldId id="265" r:id="rId15"/>
    <p:sldId id="266" r:id="rId16"/>
    <p:sldId id="267" r:id="rId17"/>
    <p:sldId id="268" r:id="rId18"/>
    <p:sldId id="269" r:id="rId19"/>
    <p:sldId id="294" r:id="rId20"/>
    <p:sldId id="271" r:id="rId21"/>
    <p:sldId id="295" r:id="rId22"/>
    <p:sldId id="287" r:id="rId23"/>
    <p:sldId id="272" r:id="rId24"/>
    <p:sldId id="276" r:id="rId25"/>
    <p:sldId id="281" r:id="rId26"/>
    <p:sldId id="280" r:id="rId27"/>
    <p:sldId id="270" r:id="rId28"/>
    <p:sldId id="282" r:id="rId29"/>
    <p:sldId id="283" r:id="rId30"/>
    <p:sldId id="284" r:id="rId31"/>
    <p:sldId id="285" r:id="rId32"/>
    <p:sldId id="296" r:id="rId33"/>
    <p:sldId id="297" r:id="rId34"/>
    <p:sldId id="277" r:id="rId35"/>
    <p:sldId id="273" r:id="rId36"/>
    <p:sldId id="298" r:id="rId37"/>
    <p:sldId id="299" r:id="rId38"/>
  </p:sldIdLst>
  <p:sldSz cx="12192000" cy="6858000"/>
  <p:notesSz cx="6858000" cy="9144000"/>
  <p:embeddedFontLst>
    <p:embeddedFont>
      <p:font typeface="Calibri" panose="020F0502020204030204" pitchFamily="34" charset="0"/>
      <p:regular r:id="rId40"/>
      <p:bold r:id="rId41"/>
      <p:italic r:id="rId42"/>
      <p:boldItalic r:id="rId43"/>
    </p:embeddedFont>
    <p:embeddedFont>
      <p:font typeface="Roboto" panose="02000000000000000000" pitchFamily="2" charset="0"/>
      <p:regular r:id="rId44"/>
      <p:bold r:id="rId45"/>
      <p:italic r:id="rId46"/>
      <p:boldItalic r:id="rId47"/>
    </p:embeddedFont>
    <p:embeddedFont>
      <p:font typeface="Trebuchet MS" panose="020B0703020202090204" pitchFamily="34" charset="0"/>
      <p:regular r:id="rId48"/>
      <p:bold r:id="rId49"/>
      <p:italic r:id="rId50"/>
      <p:boldItalic r:id="rId51"/>
    </p:embeddedFont>
    <p:embeddedFont>
      <p:font typeface="Verdana" panose="020B060403050404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YEwGeiMTg+JNUgYHL/i3cUZqWH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81"/>
  </p:normalViewPr>
  <p:slideViewPr>
    <p:cSldViewPr snapToGrid="0">
      <p:cViewPr varScale="1">
        <p:scale>
          <a:sx n="91" d="100"/>
          <a:sy n="91" d="100"/>
        </p:scale>
        <p:origin x="840"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4.fntdata"/><Relationship Id="rId48" Type="http://schemas.openxmlformats.org/officeDocument/2006/relationships/font" Target="fonts/font9.fntdata"/><Relationship Id="rId56" Type="http://customschemas.google.com/relationships/presentationmetadata" Target="metadata"/><Relationship Id="rId8" Type="http://schemas.openxmlformats.org/officeDocument/2006/relationships/slide" Target="slides/slide6.xml"/><Relationship Id="rId51" Type="http://schemas.openxmlformats.org/officeDocument/2006/relationships/font" Target="fonts/font1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7.fntdata"/><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2.fntdata"/><Relationship Id="rId54"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0.fntdata"/><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b1bb629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g25b1bb62912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b1bb629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g25b1bb62912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899993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5b1bb6291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 name="Google Shape;99;g25b1bb62912_0_10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5b1bb62912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g25b1bb62912_0_1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5b1bb62912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g25b1bb62912_0_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b1bb62912_0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g25b1bb62912_0_3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b1bb62912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0" name="Google Shape;170;g25b1bb62912_0_39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b1bb629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g25b1bb62912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700006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b1bb629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g25b1bb62912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304724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5b1bb6291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3" name="Google Shape;83;g25b1bb62912_0_1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731491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5b1bb62912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g25b1bb62912_0_1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5b1bb62912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g25b1bb62912_0_19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5b1bb62912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 name="Google Shape;209;g25b1bb62912_0_2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5b1bb62912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g25b1bb62912_0_2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5b1bb62912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g25b1bb62912_0_2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5b1bb62912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2" name="Google Shape;272;g25b1bb62912_0_24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0" i="0">
                <a:solidFill>
                  <a:schemeClr val="dk1"/>
                </a:solidFill>
                <a:latin typeface="Calibri"/>
                <a:ea typeface="Calibri"/>
                <a:cs typeface="Calibri"/>
                <a:sym typeface="Calibri"/>
              </a:rPr>
              <a:t>Un service Web est un ensemble de fonctions d'applications associées pouvant être appelées par programme via Internet. </a:t>
            </a:r>
            <a:endParaRPr/>
          </a:p>
          <a:p>
            <a:pPr marL="0" lvl="0" indent="0" algn="l" rtl="0">
              <a:spcBef>
                <a:spcPts val="0"/>
              </a:spcBef>
              <a:spcAft>
                <a:spcPts val="0"/>
              </a:spcAft>
              <a:buNone/>
            </a:pPr>
            <a:r>
              <a:rPr lang="fr-FR" sz="1200" b="0" i="0">
                <a:solidFill>
                  <a:schemeClr val="dk1"/>
                </a:solidFill>
                <a:latin typeface="Calibri"/>
                <a:ea typeface="Calibri"/>
                <a:cs typeface="Calibri"/>
                <a:sym typeface="Calibri"/>
              </a:rPr>
              <a:t>Les entreprises peuvent associer différents services Web de manière dynamique afin d'exécuter des transactions complexes demandant un minimum de programmation. </a:t>
            </a:r>
            <a:endParaRPr/>
          </a:p>
          <a:p>
            <a:pPr marL="0" lvl="0" indent="0" algn="l" rtl="0">
              <a:spcBef>
                <a:spcPts val="0"/>
              </a:spcBef>
              <a:spcAft>
                <a:spcPts val="0"/>
              </a:spcAft>
              <a:buNone/>
            </a:pPr>
            <a:r>
              <a:rPr lang="fr-FR" sz="1200" b="0" i="0">
                <a:solidFill>
                  <a:schemeClr val="dk1"/>
                </a:solidFill>
                <a:latin typeface="Calibri"/>
                <a:ea typeface="Calibri"/>
                <a:cs typeface="Calibri"/>
                <a:sym typeface="Calibri"/>
              </a:rPr>
              <a:t>Les services Web permettent aux acheteurs et aux fournisseurs du monde entier de se trouver, d'entrer en contact de manière dynamique, et d'exécuter des transactions en temps réel, le tout avec très peu d'interaction humaine.</a:t>
            </a:r>
            <a:endParaRPr/>
          </a:p>
        </p:txBody>
      </p:sp>
      <p:sp>
        <p:nvSpPr>
          <p:cNvPr id="481" name="Google Shape;481;p1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18</a:t>
            </a:fld>
            <a:endParaRPr/>
          </a:p>
        </p:txBody>
      </p:sp>
    </p:spTree>
    <p:extLst>
      <p:ext uri="{BB962C8B-B14F-4D97-AF65-F5344CB8AC3E}">
        <p14:creationId xmlns:p14="http://schemas.microsoft.com/office/powerpoint/2010/main" val="827852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5b1bb62912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g25b1bb62912_0_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421393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5b1bb62912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4" name="Google Shape;294;g25b1bb62912_0_5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6297768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1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1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7488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0" i="0">
                <a:solidFill>
                  <a:schemeClr val="dk1"/>
                </a:solidFill>
                <a:latin typeface="Calibri"/>
                <a:ea typeface="Calibri"/>
                <a:cs typeface="Calibri"/>
                <a:sym typeface="Calibri"/>
              </a:rPr>
              <a:t>Un service Web est un ensemble de fonctions d'applications associées pouvant être appelées par programme via Internet. </a:t>
            </a:r>
            <a:endParaRPr/>
          </a:p>
          <a:p>
            <a:pPr marL="0" lvl="0" indent="0" algn="l" rtl="0">
              <a:spcBef>
                <a:spcPts val="0"/>
              </a:spcBef>
              <a:spcAft>
                <a:spcPts val="0"/>
              </a:spcAft>
              <a:buNone/>
            </a:pPr>
            <a:r>
              <a:rPr lang="fr-FR" sz="1200" b="0" i="0">
                <a:solidFill>
                  <a:schemeClr val="dk1"/>
                </a:solidFill>
                <a:latin typeface="Calibri"/>
                <a:ea typeface="Calibri"/>
                <a:cs typeface="Calibri"/>
                <a:sym typeface="Calibri"/>
              </a:rPr>
              <a:t>Les entreprises peuvent associer différents services Web de manière dynamique afin d'exécuter des transactions complexes demandant un minimum de programmation. </a:t>
            </a:r>
            <a:endParaRPr/>
          </a:p>
          <a:p>
            <a:pPr marL="0" lvl="0" indent="0" algn="l" rtl="0">
              <a:spcBef>
                <a:spcPts val="0"/>
              </a:spcBef>
              <a:spcAft>
                <a:spcPts val="0"/>
              </a:spcAft>
              <a:buNone/>
            </a:pPr>
            <a:r>
              <a:rPr lang="fr-FR" sz="1200" b="0" i="0">
                <a:solidFill>
                  <a:schemeClr val="dk1"/>
                </a:solidFill>
                <a:latin typeface="Calibri"/>
                <a:ea typeface="Calibri"/>
                <a:cs typeface="Calibri"/>
                <a:sym typeface="Calibri"/>
              </a:rPr>
              <a:t>Les services Web permettent aux acheteurs et aux fournisseurs du monde entier de se trouver, d'entrer en contact de manière dynamique, et d'exécuter des transactions en temps réel, le tout avec très peu d'interaction humaine.</a:t>
            </a:r>
            <a:endParaRPr/>
          </a:p>
        </p:txBody>
      </p:sp>
      <p:sp>
        <p:nvSpPr>
          <p:cNvPr id="481" name="Google Shape;481;p1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0" i="0">
                <a:solidFill>
                  <a:schemeClr val="dk1"/>
                </a:solidFill>
                <a:latin typeface="Calibri"/>
                <a:ea typeface="Calibri"/>
                <a:cs typeface="Calibri"/>
                <a:sym typeface="Calibri"/>
              </a:rPr>
              <a:t>Un service Web est un ensemble de fonctions d'applications associées pouvant être appelées par programme via Internet. </a:t>
            </a:r>
            <a:endParaRPr/>
          </a:p>
          <a:p>
            <a:pPr marL="0" lvl="0" indent="0" algn="l" rtl="0">
              <a:spcBef>
                <a:spcPts val="0"/>
              </a:spcBef>
              <a:spcAft>
                <a:spcPts val="0"/>
              </a:spcAft>
              <a:buNone/>
            </a:pPr>
            <a:r>
              <a:rPr lang="fr-FR" sz="1200" b="0" i="0">
                <a:solidFill>
                  <a:schemeClr val="dk1"/>
                </a:solidFill>
                <a:latin typeface="Calibri"/>
                <a:ea typeface="Calibri"/>
                <a:cs typeface="Calibri"/>
                <a:sym typeface="Calibri"/>
              </a:rPr>
              <a:t>Les entreprises peuvent associer différents services Web de manière dynamique afin d'exécuter des transactions complexes demandant un minimum de programmation. </a:t>
            </a:r>
            <a:endParaRPr/>
          </a:p>
          <a:p>
            <a:pPr marL="0" lvl="0" indent="0" algn="l" rtl="0">
              <a:spcBef>
                <a:spcPts val="0"/>
              </a:spcBef>
              <a:spcAft>
                <a:spcPts val="0"/>
              </a:spcAft>
              <a:buNone/>
            </a:pPr>
            <a:r>
              <a:rPr lang="fr-FR" sz="1200" b="0" i="0">
                <a:solidFill>
                  <a:schemeClr val="dk1"/>
                </a:solidFill>
                <a:latin typeface="Calibri"/>
                <a:ea typeface="Calibri"/>
                <a:cs typeface="Calibri"/>
                <a:sym typeface="Calibri"/>
              </a:rPr>
              <a:t>Les services Web permettent aux acheteurs et aux fournisseurs du monde entier de se trouver, d'entrer en contact de manière dynamique, et d'exécuter des transactions en temps réel, le tout avec très peu d'interaction humaine.</a:t>
            </a:r>
            <a:endParaRPr/>
          </a:p>
        </p:txBody>
      </p:sp>
      <p:sp>
        <p:nvSpPr>
          <p:cNvPr id="481" name="Google Shape;481;p1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23</a:t>
            </a:fld>
            <a:endParaRPr/>
          </a:p>
        </p:txBody>
      </p:sp>
    </p:spTree>
    <p:extLst>
      <p:ext uri="{BB962C8B-B14F-4D97-AF65-F5344CB8AC3E}">
        <p14:creationId xmlns:p14="http://schemas.microsoft.com/office/powerpoint/2010/main" val="1746100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1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0" name="Google Shape;490;p18: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a:t>A voir GraphQL: Autres familles de SW!!!!!!!!</a:t>
            </a:r>
            <a:endParaRPr/>
          </a:p>
        </p:txBody>
      </p:sp>
      <p:sp>
        <p:nvSpPr>
          <p:cNvPr id="491" name="Google Shape;491;p18: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24</a:t>
            </a:fld>
            <a:endParaRPr/>
          </a:p>
        </p:txBody>
      </p:sp>
    </p:spTree>
    <p:extLst>
      <p:ext uri="{BB962C8B-B14F-4D97-AF65-F5344CB8AC3E}">
        <p14:creationId xmlns:p14="http://schemas.microsoft.com/office/powerpoint/2010/main" val="37078892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5b1bb62912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4" name="Google Shape;284;g25b1bb62912_0_4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25: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25: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26: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p26: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27: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p27:notes"/>
          <p:cNvSpPr txBox="1">
            <a:spLocks noGrp="1"/>
          </p:cNvSpPr>
          <p:nvPr>
            <p:ph type="body" idx="1"/>
          </p:nvPr>
        </p:nvSpPr>
        <p:spPr>
          <a:xfrm>
            <a:off x="1219200" y="3257550"/>
            <a:ext cx="9753600" cy="30861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fr-FR" sz="1200" b="1" i="0">
                <a:solidFill>
                  <a:schemeClr val="dk1"/>
                </a:solidFill>
                <a:latin typeface="Calibri"/>
                <a:ea typeface="Calibri"/>
                <a:cs typeface="Calibri"/>
                <a:sym typeface="Calibri"/>
              </a:rPr>
              <a:t>Les services Web sont autonomes.</a:t>
            </a:r>
            <a:r>
              <a:rPr lang="fr-FR" sz="1200" b="0" i="0">
                <a:solidFill>
                  <a:schemeClr val="dk1"/>
                </a:solidFill>
                <a:latin typeface="Calibri"/>
                <a:ea typeface="Calibri"/>
                <a:cs typeface="Calibri"/>
                <a:sym typeface="Calibri"/>
              </a:rPr>
              <a:t> Côté client, aucun logiciel supplémentaire n'est requis. Un simple langage de programmation prenant en charge XML et les clients HTTP suffit pour commencer. Côté serveur, un serveur Web et un moteur de servlets sont nécessaires. Le client et le serveur peuvent être mis en oeuvre dans différents environnements. Le service Web peut activer une application existante sans qu'il soit nécessaire d'écrire la moindre ligne de code.</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400"/>
              <a:buFont typeface="Arial"/>
              <a:buNone/>
            </a:pPr>
            <a:r>
              <a:rPr lang="fr-FR" sz="1400" b="1">
                <a:latin typeface="Arial"/>
                <a:ea typeface="Arial"/>
                <a:cs typeface="Arial"/>
                <a:sym typeface="Arial"/>
              </a:rPr>
              <a:t>Stateless</a:t>
            </a:r>
            <a:r>
              <a:rPr lang="fr-FR" sz="1400">
                <a:latin typeface="Arial"/>
                <a:ea typeface="Arial"/>
                <a:cs typeface="Arial"/>
                <a:sym typeface="Arial"/>
              </a:rPr>
              <a:t>: C</a:t>
            </a:r>
            <a:r>
              <a:rPr lang="fr-FR" sz="1200">
                <a:latin typeface="Arial"/>
                <a:ea typeface="Arial"/>
                <a:cs typeface="Arial"/>
                <a:sym typeface="Arial"/>
              </a:rPr>
              <a:t>haque requête envoyée au serveur doit contenir toutes les informations relatives à son état et est traitée indépendamment de toutes autres requêtes</a:t>
            </a:r>
            <a:r>
              <a:rPr lang="fr-FR" sz="1400">
                <a:latin typeface="Arial"/>
                <a:ea typeface="Arial"/>
                <a:cs typeface="Arial"/>
                <a:sym typeface="Arial"/>
              </a:rPr>
              <a:t> </a:t>
            </a:r>
            <a:endParaRPr/>
          </a:p>
          <a:p>
            <a:pPr marL="0" lvl="0" indent="0" algn="l" rtl="0">
              <a:spcBef>
                <a:spcPts val="0"/>
              </a:spcBef>
              <a:spcAft>
                <a:spcPts val="0"/>
              </a:spcAft>
              <a:buNone/>
            </a:pPr>
            <a:endParaRPr/>
          </a:p>
        </p:txBody>
      </p:sp>
      <p:sp>
        <p:nvSpPr>
          <p:cNvPr id="605" name="Google Shape;605;p27:notes"/>
          <p:cNvSpPr txBox="1">
            <a:spLocks noGrp="1"/>
          </p:cNvSpPr>
          <p:nvPr>
            <p:ph type="sldNum" idx="12"/>
          </p:nvPr>
        </p:nvSpPr>
        <p:spPr>
          <a:xfrm>
            <a:off x="6905625" y="6513513"/>
            <a:ext cx="52832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2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2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28: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28: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3817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21: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21: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22: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8" name="Google Shape;528;p22: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5b1bb62912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7" name="Google Shape;317;g25b1bb62912_0_6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536545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29: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29: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30:notes"/>
          <p:cNvSpPr txBox="1">
            <a:spLocks noGrp="1"/>
          </p:cNvSpPr>
          <p:nvPr>
            <p:ph type="body" idx="1"/>
          </p:nvPr>
        </p:nvSpPr>
        <p:spPr>
          <a:xfrm>
            <a:off x="1219200" y="3257550"/>
            <a:ext cx="97536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5" name="Google Shape;645;p30:notes"/>
          <p:cNvSpPr>
            <a:spLocks noGrp="1" noRot="1" noChangeAspect="1"/>
          </p:cNvSpPr>
          <p:nvPr>
            <p:ph type="sldImg" idx="2"/>
          </p:nvPr>
        </p:nvSpPr>
        <p:spPr>
          <a:xfrm>
            <a:off x="3810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1524000" y="1122362"/>
            <a:ext cx="9144000" cy="2387601"/>
          </a:xfrm>
          <a:prstGeom prst="rect">
            <a:avLst/>
          </a:prstGeom>
          <a:noFill/>
          <a:ln>
            <a:noFill/>
          </a:ln>
        </p:spPr>
        <p:txBody>
          <a:bodyPr spcFirstLastPara="1" wrap="square" lIns="45700" tIns="45700" rIns="45700" bIns="45700" anchor="b" anchorCtr="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10"/>
          <p:cNvSpPr txBox="1">
            <a:spLocks noGrp="1"/>
          </p:cNvSpPr>
          <p:nvPr>
            <p:ph type="body" idx="1"/>
          </p:nvPr>
        </p:nvSpPr>
        <p:spPr>
          <a:xfrm>
            <a:off x="1524000" y="3602037"/>
            <a:ext cx="9144000" cy="1655764"/>
          </a:xfrm>
          <a:prstGeom prst="rect">
            <a:avLst/>
          </a:prstGeom>
          <a:noFill/>
          <a:ln>
            <a:noFill/>
          </a:ln>
        </p:spPr>
        <p:txBody>
          <a:bodyPr spcFirstLastPara="1" wrap="square" lIns="45700" tIns="45700" rIns="45700" bIns="45700" anchor="t" anchorCtr="0">
            <a:normAutofit/>
          </a:bodyPr>
          <a:lstStyle>
            <a:lvl1pPr marL="457200" lvl="0" indent="-228600" algn="ctr">
              <a:lnSpc>
                <a:spcPct val="90000"/>
              </a:lnSpc>
              <a:spcBef>
                <a:spcPts val="1000"/>
              </a:spcBef>
              <a:spcAft>
                <a:spcPts val="0"/>
              </a:spcAft>
              <a:buClr>
                <a:srgbClr val="000000"/>
              </a:buClr>
              <a:buSzPts val="2400"/>
              <a:buFont typeface="Calibri"/>
              <a:buNone/>
              <a:defRPr sz="2400"/>
            </a:lvl1pPr>
            <a:lvl2pPr marL="914400" lvl="1" indent="-228600" algn="ctr">
              <a:lnSpc>
                <a:spcPct val="90000"/>
              </a:lnSpc>
              <a:spcBef>
                <a:spcPts val="1000"/>
              </a:spcBef>
              <a:spcAft>
                <a:spcPts val="0"/>
              </a:spcAft>
              <a:buClr>
                <a:srgbClr val="000000"/>
              </a:buClr>
              <a:buSzPts val="2400"/>
              <a:buFont typeface="Calibri"/>
              <a:buNone/>
              <a:defRPr sz="2400"/>
            </a:lvl2pPr>
            <a:lvl3pPr marL="1371600" lvl="2" indent="-228600" algn="ctr">
              <a:lnSpc>
                <a:spcPct val="90000"/>
              </a:lnSpc>
              <a:spcBef>
                <a:spcPts val="1000"/>
              </a:spcBef>
              <a:spcAft>
                <a:spcPts val="0"/>
              </a:spcAft>
              <a:buClr>
                <a:srgbClr val="000000"/>
              </a:buClr>
              <a:buSzPts val="2400"/>
              <a:buFont typeface="Calibri"/>
              <a:buNone/>
              <a:defRPr sz="2400"/>
            </a:lvl3pPr>
            <a:lvl4pPr marL="1828800" lvl="3" indent="-228600" algn="ctr">
              <a:lnSpc>
                <a:spcPct val="90000"/>
              </a:lnSpc>
              <a:spcBef>
                <a:spcPts val="1000"/>
              </a:spcBef>
              <a:spcAft>
                <a:spcPts val="0"/>
              </a:spcAft>
              <a:buClr>
                <a:srgbClr val="000000"/>
              </a:buClr>
              <a:buSzPts val="2400"/>
              <a:buFont typeface="Calibri"/>
              <a:buNone/>
              <a:defRPr sz="2400"/>
            </a:lvl4pPr>
            <a:lvl5pPr marL="2286000" lvl="4" indent="-228600" algn="ctr">
              <a:lnSpc>
                <a:spcPct val="90000"/>
              </a:lnSpc>
              <a:spcBef>
                <a:spcPts val="1000"/>
              </a:spcBef>
              <a:spcAft>
                <a:spcPts val="0"/>
              </a:spcAft>
              <a:buClr>
                <a:srgbClr val="000000"/>
              </a:buClr>
              <a:buSzPts val="2400"/>
              <a:buFont typeface="Calibri"/>
              <a:buNone/>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2" name="Google Shape;12;p10"/>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tx">
  <p:cSld name="TITLE_AND_BODY">
    <p:spTree>
      <p:nvGrpSpPr>
        <p:cNvPr id="1" name="Shape 13"/>
        <p:cNvGrpSpPr/>
        <p:nvPr/>
      </p:nvGrpSpPr>
      <p:grpSpPr>
        <a:xfrm>
          <a:off x="0" y="0"/>
          <a:ext cx="0" cy="0"/>
          <a:chOff x="0" y="0"/>
          <a:chExt cx="0" cy="0"/>
        </a:xfrm>
      </p:grpSpPr>
      <p:sp>
        <p:nvSpPr>
          <p:cNvPr id="14" name="Google Shape;14;p11"/>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5" name="Google Shape;15;p11"/>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6" name="Google Shape;16;p1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3"/>
        <p:cNvGrpSpPr/>
        <p:nvPr/>
      </p:nvGrpSpPr>
      <p:grpSpPr>
        <a:xfrm>
          <a:off x="0" y="0"/>
          <a:ext cx="0" cy="0"/>
          <a:chOff x="0" y="0"/>
          <a:chExt cx="0" cy="0"/>
        </a:xfrm>
      </p:grpSpPr>
      <p:sp>
        <p:nvSpPr>
          <p:cNvPr id="24" name="Google Shape;24;p13"/>
          <p:cNvSpPr txBox="1">
            <a:spLocks noGrp="1"/>
          </p:cNvSpPr>
          <p:nvPr>
            <p:ph type="title"/>
          </p:nvPr>
        </p:nvSpPr>
        <p:spPr>
          <a:xfrm>
            <a:off x="831850" y="1709738"/>
            <a:ext cx="10515600" cy="2852737"/>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5" name="Google Shape;25;p13"/>
          <p:cNvSpPr txBox="1">
            <a:spLocks noGrp="1"/>
          </p:cNvSpPr>
          <p:nvPr>
            <p:ph type="body" idx="1"/>
          </p:nvPr>
        </p:nvSpPr>
        <p:spPr>
          <a:xfrm>
            <a:off x="831850" y="4589462"/>
            <a:ext cx="10515600" cy="1500189"/>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888888"/>
              </a:buClr>
              <a:buSzPts val="2400"/>
              <a:buFont typeface="Calibri"/>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Calibri"/>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Calibri"/>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Calibri"/>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Calibri"/>
              <a:buNone/>
              <a:defRPr sz="2400">
                <a:solidFill>
                  <a:srgbClr val="888888"/>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26" name="Google Shape;26;p13"/>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839787" y="365125"/>
            <a:ext cx="10515601"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9" name="Google Shape;29;p14"/>
          <p:cNvSpPr txBox="1">
            <a:spLocks noGrp="1"/>
          </p:cNvSpPr>
          <p:nvPr>
            <p:ph type="body" idx="1"/>
          </p:nvPr>
        </p:nvSpPr>
        <p:spPr>
          <a:xfrm>
            <a:off x="839787" y="1681163"/>
            <a:ext cx="5157790" cy="823914"/>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000000"/>
              </a:buClr>
              <a:buSzPts val="2400"/>
              <a:buFont typeface="Calibri"/>
              <a:buNone/>
              <a:defRPr sz="2400" b="1"/>
            </a:lvl1pPr>
            <a:lvl2pPr marL="914400" lvl="1" indent="-228600" algn="l">
              <a:lnSpc>
                <a:spcPct val="90000"/>
              </a:lnSpc>
              <a:spcBef>
                <a:spcPts val="1000"/>
              </a:spcBef>
              <a:spcAft>
                <a:spcPts val="0"/>
              </a:spcAft>
              <a:buClr>
                <a:srgbClr val="000000"/>
              </a:buClr>
              <a:buSzPts val="2400"/>
              <a:buFont typeface="Calibri"/>
              <a:buNone/>
              <a:defRPr sz="2400" b="1"/>
            </a:lvl2pPr>
            <a:lvl3pPr marL="1371600" lvl="2" indent="-228600" algn="l">
              <a:lnSpc>
                <a:spcPct val="90000"/>
              </a:lnSpc>
              <a:spcBef>
                <a:spcPts val="1000"/>
              </a:spcBef>
              <a:spcAft>
                <a:spcPts val="0"/>
              </a:spcAft>
              <a:buClr>
                <a:srgbClr val="000000"/>
              </a:buClr>
              <a:buSzPts val="2400"/>
              <a:buFont typeface="Calibri"/>
              <a:buNone/>
              <a:defRPr sz="2400" b="1"/>
            </a:lvl3pPr>
            <a:lvl4pPr marL="1828800" lvl="3" indent="-228600" algn="l">
              <a:lnSpc>
                <a:spcPct val="90000"/>
              </a:lnSpc>
              <a:spcBef>
                <a:spcPts val="1000"/>
              </a:spcBef>
              <a:spcAft>
                <a:spcPts val="0"/>
              </a:spcAft>
              <a:buClr>
                <a:srgbClr val="000000"/>
              </a:buClr>
              <a:buSzPts val="2400"/>
              <a:buFont typeface="Calibri"/>
              <a:buNone/>
              <a:defRPr sz="2400" b="1"/>
            </a:lvl4pPr>
            <a:lvl5pPr marL="2286000" lvl="4" indent="-228600" algn="l">
              <a:lnSpc>
                <a:spcPct val="90000"/>
              </a:lnSpc>
              <a:spcBef>
                <a:spcPts val="1000"/>
              </a:spcBef>
              <a:spcAft>
                <a:spcPts val="0"/>
              </a:spcAft>
              <a:buClr>
                <a:srgbClr val="000000"/>
              </a:buClr>
              <a:buSzPts val="2400"/>
              <a:buFont typeface="Calibri"/>
              <a:buNone/>
              <a:defRPr sz="2400" b="1"/>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30" name="Google Shape;30;p14"/>
          <p:cNvSpPr txBox="1">
            <a:spLocks noGrp="1"/>
          </p:cNvSpPr>
          <p:nvPr>
            <p:ph type="body" idx="2"/>
          </p:nvPr>
        </p:nvSpPr>
        <p:spPr>
          <a:xfrm>
            <a:off x="6172200" y="1681163"/>
            <a:ext cx="5183188" cy="823914"/>
          </a:xfrm>
          <a:prstGeom prst="rect">
            <a:avLst/>
          </a:prstGeom>
          <a:noFill/>
          <a:ln>
            <a:noFill/>
          </a:ln>
        </p:spPr>
        <p:txBody>
          <a:bodyPr spcFirstLastPara="1" wrap="square" lIns="45700" tIns="45700" rIns="45700" bIns="45700" anchor="b"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31" name="Google Shape;31;p14"/>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
        <p:cNvGrpSpPr/>
        <p:nvPr/>
      </p:nvGrpSpPr>
      <p:grpSpPr>
        <a:xfrm>
          <a:off x="0" y="0"/>
          <a:ext cx="0" cy="0"/>
          <a:chOff x="0" y="0"/>
          <a:chExt cx="0" cy="0"/>
        </a:xfrm>
      </p:grpSpPr>
      <p:sp>
        <p:nvSpPr>
          <p:cNvPr id="33" name="Google Shape;33;p15"/>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4" name="Google Shape;34;p15"/>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5"/>
        <p:cNvGrpSpPr/>
        <p:nvPr/>
      </p:nvGrpSpPr>
      <p:grpSpPr>
        <a:xfrm>
          <a:off x="0" y="0"/>
          <a:ext cx="0" cy="0"/>
          <a:chOff x="0" y="0"/>
          <a:chExt cx="0" cy="0"/>
        </a:xfrm>
      </p:grpSpPr>
      <p:sp>
        <p:nvSpPr>
          <p:cNvPr id="36" name="Google Shape;36;p16"/>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7"/>
        <p:cNvGrpSpPr/>
        <p:nvPr/>
      </p:nvGrpSpPr>
      <p:grpSpPr>
        <a:xfrm>
          <a:off x="0" y="0"/>
          <a:ext cx="0" cy="0"/>
          <a:chOff x="0" y="0"/>
          <a:chExt cx="0" cy="0"/>
        </a:xfrm>
      </p:grpSpPr>
      <p:sp>
        <p:nvSpPr>
          <p:cNvPr id="38" name="Google Shape;38;p17"/>
          <p:cNvSpPr txBox="1">
            <a:spLocks noGrp="1"/>
          </p:cNvSpPr>
          <p:nvPr>
            <p:ph type="title"/>
          </p:nvPr>
        </p:nvSpPr>
        <p:spPr>
          <a:xfrm>
            <a:off x="839787" y="457200"/>
            <a:ext cx="393224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9" name="Google Shape;39;p17"/>
          <p:cNvSpPr txBox="1">
            <a:spLocks noGrp="1"/>
          </p:cNvSpPr>
          <p:nvPr>
            <p:ph type="body" idx="1"/>
          </p:nvPr>
        </p:nvSpPr>
        <p:spPr>
          <a:xfrm>
            <a:off x="5183187" y="987425"/>
            <a:ext cx="6172202" cy="4873625"/>
          </a:xfrm>
          <a:prstGeom prst="rect">
            <a:avLst/>
          </a:prstGeom>
          <a:noFill/>
          <a:ln>
            <a:noFill/>
          </a:ln>
        </p:spPr>
        <p:txBody>
          <a:bodyPr spcFirstLastPara="1" wrap="square" lIns="45700" tIns="45700" rIns="45700" bIns="45700" anchor="t" anchorCtr="0">
            <a:normAutofit/>
          </a:bodyPr>
          <a:lstStyle>
            <a:lvl1pPr marL="457200" lvl="0" indent="-431800" algn="l">
              <a:lnSpc>
                <a:spcPct val="90000"/>
              </a:lnSpc>
              <a:spcBef>
                <a:spcPts val="1000"/>
              </a:spcBef>
              <a:spcAft>
                <a:spcPts val="0"/>
              </a:spcAft>
              <a:buClr>
                <a:srgbClr val="000000"/>
              </a:buClr>
              <a:buSzPts val="3200"/>
              <a:buChar char="•"/>
              <a:defRPr sz="3200"/>
            </a:lvl1pPr>
            <a:lvl2pPr marL="914400" lvl="1" indent="-431800" algn="l">
              <a:lnSpc>
                <a:spcPct val="90000"/>
              </a:lnSpc>
              <a:spcBef>
                <a:spcPts val="1000"/>
              </a:spcBef>
              <a:spcAft>
                <a:spcPts val="0"/>
              </a:spcAft>
              <a:buClr>
                <a:srgbClr val="000000"/>
              </a:buClr>
              <a:buSzPts val="3200"/>
              <a:buChar char="•"/>
              <a:defRPr sz="3200"/>
            </a:lvl2pPr>
            <a:lvl3pPr marL="1371600" lvl="2" indent="-431800" algn="l">
              <a:lnSpc>
                <a:spcPct val="90000"/>
              </a:lnSpc>
              <a:spcBef>
                <a:spcPts val="1000"/>
              </a:spcBef>
              <a:spcAft>
                <a:spcPts val="0"/>
              </a:spcAft>
              <a:buClr>
                <a:srgbClr val="000000"/>
              </a:buClr>
              <a:buSzPts val="3200"/>
              <a:buChar char="•"/>
              <a:defRPr sz="3200"/>
            </a:lvl3pPr>
            <a:lvl4pPr marL="1828800" lvl="3" indent="-431800" algn="l">
              <a:lnSpc>
                <a:spcPct val="90000"/>
              </a:lnSpc>
              <a:spcBef>
                <a:spcPts val="1000"/>
              </a:spcBef>
              <a:spcAft>
                <a:spcPts val="0"/>
              </a:spcAft>
              <a:buClr>
                <a:srgbClr val="000000"/>
              </a:buClr>
              <a:buSzPts val="3200"/>
              <a:buChar char="•"/>
              <a:defRPr sz="3200"/>
            </a:lvl4pPr>
            <a:lvl5pPr marL="2286000" lvl="4" indent="-431800" algn="l">
              <a:lnSpc>
                <a:spcPct val="90000"/>
              </a:lnSpc>
              <a:spcBef>
                <a:spcPts val="1000"/>
              </a:spcBef>
              <a:spcAft>
                <a:spcPts val="0"/>
              </a:spcAft>
              <a:buClr>
                <a:srgbClr val="000000"/>
              </a:buClr>
              <a:buSzPts val="3200"/>
              <a:buChar char="•"/>
              <a:defRPr sz="32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0" name="Google Shape;40;p17"/>
          <p:cNvSpPr txBox="1">
            <a:spLocks noGrp="1"/>
          </p:cNvSpPr>
          <p:nvPr>
            <p:ph type="body" idx="2"/>
          </p:nvPr>
        </p:nvSpPr>
        <p:spPr>
          <a:xfrm>
            <a:off x="839787" y="2057400"/>
            <a:ext cx="3932238" cy="381158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1" name="Google Shape;41;p17"/>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42"/>
        <p:cNvGrpSpPr/>
        <p:nvPr/>
      </p:nvGrpSpPr>
      <p:grpSpPr>
        <a:xfrm>
          <a:off x="0" y="0"/>
          <a:ext cx="0" cy="0"/>
          <a:chOff x="0" y="0"/>
          <a:chExt cx="0" cy="0"/>
        </a:xfrm>
      </p:grpSpPr>
      <p:sp>
        <p:nvSpPr>
          <p:cNvPr id="43" name="Google Shape;43;p18"/>
          <p:cNvSpPr txBox="1">
            <a:spLocks noGrp="1"/>
          </p:cNvSpPr>
          <p:nvPr>
            <p:ph type="title"/>
          </p:nvPr>
        </p:nvSpPr>
        <p:spPr>
          <a:xfrm>
            <a:off x="839787" y="457200"/>
            <a:ext cx="393224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4" name="Google Shape;44;p18"/>
          <p:cNvSpPr>
            <a:spLocks noGrp="1"/>
          </p:cNvSpPr>
          <p:nvPr>
            <p:ph type="pic" idx="2"/>
          </p:nvPr>
        </p:nvSpPr>
        <p:spPr>
          <a:xfrm>
            <a:off x="5183187" y="987425"/>
            <a:ext cx="6172202" cy="4873625"/>
          </a:xfrm>
          <a:prstGeom prst="rect">
            <a:avLst/>
          </a:prstGeom>
          <a:noFill/>
          <a:ln>
            <a:noFill/>
          </a:ln>
        </p:spPr>
      </p:sp>
      <p:sp>
        <p:nvSpPr>
          <p:cNvPr id="45" name="Google Shape;45;p18"/>
          <p:cNvSpPr txBox="1">
            <a:spLocks noGrp="1"/>
          </p:cNvSpPr>
          <p:nvPr>
            <p:ph type="body" idx="1"/>
          </p:nvPr>
        </p:nvSpPr>
        <p:spPr>
          <a:xfrm>
            <a:off x="839787" y="2057400"/>
            <a:ext cx="3932240" cy="3811588"/>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000000"/>
              </a:buClr>
              <a:buSzPts val="1600"/>
              <a:buFont typeface="Calibri"/>
              <a:buNone/>
              <a:defRPr sz="1600"/>
            </a:lvl1pPr>
            <a:lvl2pPr marL="914400" lvl="1" indent="-228600" algn="l">
              <a:lnSpc>
                <a:spcPct val="90000"/>
              </a:lnSpc>
              <a:spcBef>
                <a:spcPts val="1000"/>
              </a:spcBef>
              <a:spcAft>
                <a:spcPts val="0"/>
              </a:spcAft>
              <a:buClr>
                <a:srgbClr val="000000"/>
              </a:buClr>
              <a:buSzPts val="1600"/>
              <a:buFont typeface="Calibri"/>
              <a:buNone/>
              <a:defRPr sz="1600"/>
            </a:lvl2pPr>
            <a:lvl3pPr marL="1371600" lvl="2" indent="-228600" algn="l">
              <a:lnSpc>
                <a:spcPct val="90000"/>
              </a:lnSpc>
              <a:spcBef>
                <a:spcPts val="1000"/>
              </a:spcBef>
              <a:spcAft>
                <a:spcPts val="0"/>
              </a:spcAft>
              <a:buClr>
                <a:srgbClr val="000000"/>
              </a:buClr>
              <a:buSzPts val="1600"/>
              <a:buFont typeface="Calibri"/>
              <a:buNone/>
              <a:defRPr sz="1600"/>
            </a:lvl3pPr>
            <a:lvl4pPr marL="1828800" lvl="3" indent="-228600" algn="l">
              <a:lnSpc>
                <a:spcPct val="90000"/>
              </a:lnSpc>
              <a:spcBef>
                <a:spcPts val="1000"/>
              </a:spcBef>
              <a:spcAft>
                <a:spcPts val="0"/>
              </a:spcAft>
              <a:buClr>
                <a:srgbClr val="000000"/>
              </a:buClr>
              <a:buSzPts val="1600"/>
              <a:buFont typeface="Calibri"/>
              <a:buNone/>
              <a:defRPr sz="1600"/>
            </a:lvl4pPr>
            <a:lvl5pPr marL="2286000" lvl="4" indent="-228600" algn="l">
              <a:lnSpc>
                <a:spcPct val="90000"/>
              </a:lnSpc>
              <a:spcBef>
                <a:spcPts val="1000"/>
              </a:spcBef>
              <a:spcAft>
                <a:spcPts val="0"/>
              </a:spcAft>
              <a:buClr>
                <a:srgbClr val="000000"/>
              </a:buClr>
              <a:buSzPts val="1600"/>
              <a:buFont typeface="Calibri"/>
              <a:buNone/>
              <a:defRPr sz="16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46" name="Google Shape;46;p18"/>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47"/>
        <p:cNvGrpSpPr/>
        <p:nvPr/>
      </p:nvGrpSpPr>
      <p:grpSpPr>
        <a:xfrm>
          <a:off x="0" y="0"/>
          <a:ext cx="0" cy="0"/>
          <a:chOff x="0" y="0"/>
          <a:chExt cx="0" cy="0"/>
        </a:xfrm>
      </p:grpSpPr>
      <p:sp>
        <p:nvSpPr>
          <p:cNvPr id="48" name="Google Shape;48;p19"/>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9" name="Google Shape;49;p19"/>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50" name="Google Shape;50;p19"/>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51"/>
        <p:cNvGrpSpPr/>
        <p:nvPr/>
      </p:nvGrpSpPr>
      <p:grpSpPr>
        <a:xfrm>
          <a:off x="0" y="0"/>
          <a:ext cx="0" cy="0"/>
          <a:chOff x="0" y="0"/>
          <a:chExt cx="0" cy="0"/>
        </a:xfrm>
      </p:grpSpPr>
      <p:sp>
        <p:nvSpPr>
          <p:cNvPr id="52" name="Google Shape;52;p20"/>
          <p:cNvSpPr txBox="1">
            <a:spLocks noGrp="1"/>
          </p:cNvSpPr>
          <p:nvPr>
            <p:ph type="title"/>
          </p:nvPr>
        </p:nvSpPr>
        <p:spPr>
          <a:xfrm>
            <a:off x="8724900" y="365125"/>
            <a:ext cx="2628900" cy="5811838"/>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3" name="Google Shape;53;p20"/>
          <p:cNvSpPr txBox="1">
            <a:spLocks noGrp="1"/>
          </p:cNvSpPr>
          <p:nvPr>
            <p:ph type="body" idx="1"/>
          </p:nvPr>
        </p:nvSpPr>
        <p:spPr>
          <a:xfrm>
            <a:off x="838200" y="365125"/>
            <a:ext cx="7734300" cy="58118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54" name="Google Shape;54;p20"/>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contenu" type="obj">
  <p:cSld name="Titre et contenu">
    <p:spTree>
      <p:nvGrpSpPr>
        <p:cNvPr id="1" name="Shape 17"/>
        <p:cNvGrpSpPr/>
        <p:nvPr/>
      </p:nvGrpSpPr>
      <p:grpSpPr>
        <a:xfrm>
          <a:off x="0" y="0"/>
          <a:ext cx="0" cy="0"/>
          <a:chOff x="0" y="0"/>
          <a:chExt cx="0" cy="0"/>
        </a:xfrm>
      </p:grpSpPr>
      <p:sp>
        <p:nvSpPr>
          <p:cNvPr id="18" name="Google Shape;18;p12"/>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9" name="Google Shape;19;p12"/>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20" name="Google Shape;20;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9pPr>
          </a:lstStyle>
          <a:p>
            <a:endParaRPr/>
          </a:p>
        </p:txBody>
      </p:sp>
      <p:sp>
        <p:nvSpPr>
          <p:cNvPr id="21" name="Google Shape;21;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800"/>
              <a:buFont typeface="Calibri"/>
              <a:buNone/>
              <a:defRPr sz="1800" b="0" i="0" u="none" strike="noStrike" cap="none">
                <a:solidFill>
                  <a:srgbClr val="000000"/>
                </a:solidFill>
                <a:latin typeface="Calibri"/>
                <a:ea typeface="Calibri"/>
                <a:cs typeface="Calibri"/>
                <a:sym typeface="Calibri"/>
              </a:defRPr>
            </a:lvl9pPr>
          </a:lstStyle>
          <a:p>
            <a:endParaRPr/>
          </a:p>
        </p:txBody>
      </p:sp>
      <p:sp>
        <p:nvSpPr>
          <p:cNvPr id="22" name="Google Shape;22;p12"/>
          <p:cNvSpPr txBox="1">
            <a:spLocks noGrp="1"/>
          </p:cNvSpPr>
          <p:nvPr>
            <p:ph type="sldNum" idx="12"/>
          </p:nvPr>
        </p:nvSpPr>
        <p:spPr>
          <a:xfrm>
            <a:off x="11003388" y="6400415"/>
            <a:ext cx="350413" cy="276995"/>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extLst>
      <p:ext uri="{BB962C8B-B14F-4D97-AF65-F5344CB8AC3E}">
        <p14:creationId xmlns:p14="http://schemas.microsoft.com/office/powerpoint/2010/main" val="1419980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a:off x="5659882" y="304622"/>
            <a:ext cx="2031365" cy="6953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2"/>
          <p:cNvSpPr txBox="1">
            <a:spLocks noGrp="1"/>
          </p:cNvSpPr>
          <p:nvPr>
            <p:ph type="body" idx="1"/>
          </p:nvPr>
        </p:nvSpPr>
        <p:spPr>
          <a:xfrm>
            <a:off x="485343" y="2536952"/>
            <a:ext cx="6479540" cy="261810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2"/>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2"/>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a:ea typeface="Trebuchet MS"/>
                <a:cs typeface="Trebuchet MS"/>
                <a:sym typeface="Trebuchet MS"/>
              </a:defRPr>
            </a:lvl1pPr>
            <a:lvl2pPr marL="38100" marR="0" lvl="1" indent="0" algn="l">
              <a:lnSpc>
                <a:spcPct val="100000"/>
              </a:lnSpc>
              <a:spcBef>
                <a:spcPts val="0"/>
              </a:spcBef>
              <a:buNone/>
              <a:defRPr sz="1200" b="0" i="0">
                <a:solidFill>
                  <a:srgbClr val="878787"/>
                </a:solidFill>
                <a:latin typeface="Trebuchet MS"/>
                <a:ea typeface="Trebuchet MS"/>
                <a:cs typeface="Trebuchet MS"/>
                <a:sym typeface="Trebuchet MS"/>
              </a:defRPr>
            </a:lvl2pPr>
            <a:lvl3pPr marL="38100" marR="0" lvl="2" indent="0" algn="l">
              <a:lnSpc>
                <a:spcPct val="100000"/>
              </a:lnSpc>
              <a:spcBef>
                <a:spcPts val="0"/>
              </a:spcBef>
              <a:buNone/>
              <a:defRPr sz="1200" b="0" i="0">
                <a:solidFill>
                  <a:srgbClr val="878787"/>
                </a:solidFill>
                <a:latin typeface="Trebuchet MS"/>
                <a:ea typeface="Trebuchet MS"/>
                <a:cs typeface="Trebuchet MS"/>
                <a:sym typeface="Trebuchet MS"/>
              </a:defRPr>
            </a:lvl3pPr>
            <a:lvl4pPr marL="38100" marR="0" lvl="3" indent="0" algn="l">
              <a:lnSpc>
                <a:spcPct val="100000"/>
              </a:lnSpc>
              <a:spcBef>
                <a:spcPts val="0"/>
              </a:spcBef>
              <a:buNone/>
              <a:defRPr sz="1200" b="0" i="0">
                <a:solidFill>
                  <a:srgbClr val="878787"/>
                </a:solidFill>
                <a:latin typeface="Trebuchet MS"/>
                <a:ea typeface="Trebuchet MS"/>
                <a:cs typeface="Trebuchet MS"/>
                <a:sym typeface="Trebuchet MS"/>
              </a:defRPr>
            </a:lvl4pPr>
            <a:lvl5pPr marL="38100" marR="0" lvl="4" indent="0" algn="l">
              <a:lnSpc>
                <a:spcPct val="100000"/>
              </a:lnSpc>
              <a:spcBef>
                <a:spcPts val="0"/>
              </a:spcBef>
              <a:buNone/>
              <a:defRPr sz="1200" b="0" i="0">
                <a:solidFill>
                  <a:srgbClr val="878787"/>
                </a:solidFill>
                <a:latin typeface="Trebuchet MS"/>
                <a:ea typeface="Trebuchet MS"/>
                <a:cs typeface="Trebuchet MS"/>
                <a:sym typeface="Trebuchet MS"/>
              </a:defRPr>
            </a:lvl5pPr>
            <a:lvl6pPr marL="38100" marR="0" lvl="5" indent="0" algn="l">
              <a:lnSpc>
                <a:spcPct val="100000"/>
              </a:lnSpc>
              <a:spcBef>
                <a:spcPts val="0"/>
              </a:spcBef>
              <a:buNone/>
              <a:defRPr sz="1200" b="0" i="0">
                <a:solidFill>
                  <a:srgbClr val="878787"/>
                </a:solidFill>
                <a:latin typeface="Trebuchet MS"/>
                <a:ea typeface="Trebuchet MS"/>
                <a:cs typeface="Trebuchet MS"/>
                <a:sym typeface="Trebuchet MS"/>
              </a:defRPr>
            </a:lvl6pPr>
            <a:lvl7pPr marL="38100" marR="0" lvl="6" indent="0" algn="l">
              <a:lnSpc>
                <a:spcPct val="100000"/>
              </a:lnSpc>
              <a:spcBef>
                <a:spcPts val="0"/>
              </a:spcBef>
              <a:buNone/>
              <a:defRPr sz="1200" b="0" i="0">
                <a:solidFill>
                  <a:srgbClr val="878787"/>
                </a:solidFill>
                <a:latin typeface="Trebuchet MS"/>
                <a:ea typeface="Trebuchet MS"/>
                <a:cs typeface="Trebuchet MS"/>
                <a:sym typeface="Trebuchet MS"/>
              </a:defRPr>
            </a:lvl7pPr>
            <a:lvl8pPr marL="38100" marR="0" lvl="7" indent="0" algn="l">
              <a:lnSpc>
                <a:spcPct val="100000"/>
              </a:lnSpc>
              <a:spcBef>
                <a:spcPts val="0"/>
              </a:spcBef>
              <a:buNone/>
              <a:defRPr sz="1200" b="0" i="0">
                <a:solidFill>
                  <a:srgbClr val="878787"/>
                </a:solidFill>
                <a:latin typeface="Trebuchet MS"/>
                <a:ea typeface="Trebuchet MS"/>
                <a:cs typeface="Trebuchet MS"/>
                <a:sym typeface="Trebuchet MS"/>
              </a:defRPr>
            </a:lvl8pPr>
            <a:lvl9pPr marL="38100" marR="0" lvl="8" indent="0" algn="l">
              <a:lnSpc>
                <a:spcPct val="100000"/>
              </a:lnSpc>
              <a:spcBef>
                <a:spcPts val="0"/>
              </a:spcBef>
              <a:buNone/>
              <a:defRPr sz="1200" b="0" i="0">
                <a:solidFill>
                  <a:srgbClr val="878787"/>
                </a:solidFill>
                <a:latin typeface="Trebuchet MS"/>
                <a:ea typeface="Trebuchet MS"/>
                <a:cs typeface="Trebuchet MS"/>
                <a:sym typeface="Trebuchet MS"/>
              </a:defRPr>
            </a:lvl9pPr>
          </a:lstStyle>
          <a:p>
            <a:pPr marL="38100" lvl="0" indent="0" algn="l" rtl="0">
              <a:spcBef>
                <a:spcPts val="0"/>
              </a:spcBef>
              <a:spcAft>
                <a:spcPts val="0"/>
              </a:spcAft>
              <a:buNone/>
            </a:pPr>
            <a:fld id="{00000000-1234-1234-1234-123412341234}" type="slidenum">
              <a:rPr lang="fr-FR"/>
              <a:t>‹#›</a:t>
            </a:fld>
            <a:endParaRPr/>
          </a:p>
        </p:txBody>
      </p:sp>
    </p:spTree>
    <p:extLst>
      <p:ext uri="{BB962C8B-B14F-4D97-AF65-F5344CB8AC3E}">
        <p14:creationId xmlns:p14="http://schemas.microsoft.com/office/powerpoint/2010/main" val="148845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33"/>
          <p:cNvSpPr txBox="1">
            <a:spLocks noGrp="1"/>
          </p:cNvSpPr>
          <p:nvPr>
            <p:ph type="ctrTitle"/>
          </p:nvPr>
        </p:nvSpPr>
        <p:spPr>
          <a:xfrm>
            <a:off x="4504436" y="1049477"/>
            <a:ext cx="3183127" cy="94043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3"/>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3"/>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3"/>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a:ea typeface="Trebuchet MS"/>
                <a:cs typeface="Trebuchet MS"/>
                <a:sym typeface="Trebuchet MS"/>
              </a:defRPr>
            </a:lvl1pPr>
            <a:lvl2pPr marL="38100" marR="0" lvl="1" indent="0" algn="l">
              <a:lnSpc>
                <a:spcPct val="100000"/>
              </a:lnSpc>
              <a:spcBef>
                <a:spcPts val="0"/>
              </a:spcBef>
              <a:buNone/>
              <a:defRPr sz="1200" b="0" i="0">
                <a:solidFill>
                  <a:srgbClr val="878787"/>
                </a:solidFill>
                <a:latin typeface="Trebuchet MS"/>
                <a:ea typeface="Trebuchet MS"/>
                <a:cs typeface="Trebuchet MS"/>
                <a:sym typeface="Trebuchet MS"/>
              </a:defRPr>
            </a:lvl2pPr>
            <a:lvl3pPr marL="38100" marR="0" lvl="2" indent="0" algn="l">
              <a:lnSpc>
                <a:spcPct val="100000"/>
              </a:lnSpc>
              <a:spcBef>
                <a:spcPts val="0"/>
              </a:spcBef>
              <a:buNone/>
              <a:defRPr sz="1200" b="0" i="0">
                <a:solidFill>
                  <a:srgbClr val="878787"/>
                </a:solidFill>
                <a:latin typeface="Trebuchet MS"/>
                <a:ea typeface="Trebuchet MS"/>
                <a:cs typeface="Trebuchet MS"/>
                <a:sym typeface="Trebuchet MS"/>
              </a:defRPr>
            </a:lvl3pPr>
            <a:lvl4pPr marL="38100" marR="0" lvl="3" indent="0" algn="l">
              <a:lnSpc>
                <a:spcPct val="100000"/>
              </a:lnSpc>
              <a:spcBef>
                <a:spcPts val="0"/>
              </a:spcBef>
              <a:buNone/>
              <a:defRPr sz="1200" b="0" i="0">
                <a:solidFill>
                  <a:srgbClr val="878787"/>
                </a:solidFill>
                <a:latin typeface="Trebuchet MS"/>
                <a:ea typeface="Trebuchet MS"/>
                <a:cs typeface="Trebuchet MS"/>
                <a:sym typeface="Trebuchet MS"/>
              </a:defRPr>
            </a:lvl4pPr>
            <a:lvl5pPr marL="38100" marR="0" lvl="4" indent="0" algn="l">
              <a:lnSpc>
                <a:spcPct val="100000"/>
              </a:lnSpc>
              <a:spcBef>
                <a:spcPts val="0"/>
              </a:spcBef>
              <a:buNone/>
              <a:defRPr sz="1200" b="0" i="0">
                <a:solidFill>
                  <a:srgbClr val="878787"/>
                </a:solidFill>
                <a:latin typeface="Trebuchet MS"/>
                <a:ea typeface="Trebuchet MS"/>
                <a:cs typeface="Trebuchet MS"/>
                <a:sym typeface="Trebuchet MS"/>
              </a:defRPr>
            </a:lvl5pPr>
            <a:lvl6pPr marL="38100" marR="0" lvl="5" indent="0" algn="l">
              <a:lnSpc>
                <a:spcPct val="100000"/>
              </a:lnSpc>
              <a:spcBef>
                <a:spcPts val="0"/>
              </a:spcBef>
              <a:buNone/>
              <a:defRPr sz="1200" b="0" i="0">
                <a:solidFill>
                  <a:srgbClr val="878787"/>
                </a:solidFill>
                <a:latin typeface="Trebuchet MS"/>
                <a:ea typeface="Trebuchet MS"/>
                <a:cs typeface="Trebuchet MS"/>
                <a:sym typeface="Trebuchet MS"/>
              </a:defRPr>
            </a:lvl6pPr>
            <a:lvl7pPr marL="38100" marR="0" lvl="6" indent="0" algn="l">
              <a:lnSpc>
                <a:spcPct val="100000"/>
              </a:lnSpc>
              <a:spcBef>
                <a:spcPts val="0"/>
              </a:spcBef>
              <a:buNone/>
              <a:defRPr sz="1200" b="0" i="0">
                <a:solidFill>
                  <a:srgbClr val="878787"/>
                </a:solidFill>
                <a:latin typeface="Trebuchet MS"/>
                <a:ea typeface="Trebuchet MS"/>
                <a:cs typeface="Trebuchet MS"/>
                <a:sym typeface="Trebuchet MS"/>
              </a:defRPr>
            </a:lvl7pPr>
            <a:lvl8pPr marL="38100" marR="0" lvl="7" indent="0" algn="l">
              <a:lnSpc>
                <a:spcPct val="100000"/>
              </a:lnSpc>
              <a:spcBef>
                <a:spcPts val="0"/>
              </a:spcBef>
              <a:buNone/>
              <a:defRPr sz="1200" b="0" i="0">
                <a:solidFill>
                  <a:srgbClr val="878787"/>
                </a:solidFill>
                <a:latin typeface="Trebuchet MS"/>
                <a:ea typeface="Trebuchet MS"/>
                <a:cs typeface="Trebuchet MS"/>
                <a:sym typeface="Trebuchet MS"/>
              </a:defRPr>
            </a:lvl8pPr>
            <a:lvl9pPr marL="38100" marR="0" lvl="8" indent="0" algn="l">
              <a:lnSpc>
                <a:spcPct val="100000"/>
              </a:lnSpc>
              <a:spcBef>
                <a:spcPts val="0"/>
              </a:spcBef>
              <a:buNone/>
              <a:defRPr sz="1200" b="0" i="0">
                <a:solidFill>
                  <a:srgbClr val="878787"/>
                </a:solidFill>
                <a:latin typeface="Trebuchet MS"/>
                <a:ea typeface="Trebuchet MS"/>
                <a:cs typeface="Trebuchet MS"/>
                <a:sym typeface="Trebuchet MS"/>
              </a:defRPr>
            </a:lvl9pPr>
          </a:lstStyle>
          <a:p>
            <a:pPr marL="38100" lvl="0" indent="0" algn="l" rtl="0">
              <a:spcBef>
                <a:spcPts val="0"/>
              </a:spcBef>
              <a:spcAft>
                <a:spcPts val="0"/>
              </a:spcAft>
              <a:buNone/>
            </a:pPr>
            <a:fld id="{00000000-1234-1234-1234-123412341234}" type="slidenum">
              <a:rPr lang="fr-FR"/>
              <a:t>‹#›</a:t>
            </a:fld>
            <a:endParaRPr/>
          </a:p>
        </p:txBody>
      </p:sp>
    </p:spTree>
    <p:extLst>
      <p:ext uri="{BB962C8B-B14F-4D97-AF65-F5344CB8AC3E}">
        <p14:creationId xmlns:p14="http://schemas.microsoft.com/office/powerpoint/2010/main" val="374295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34"/>
          <p:cNvSpPr txBox="1">
            <a:spLocks noGrp="1"/>
          </p:cNvSpPr>
          <p:nvPr>
            <p:ph type="title"/>
          </p:nvPr>
        </p:nvSpPr>
        <p:spPr>
          <a:xfrm>
            <a:off x="5659882" y="304622"/>
            <a:ext cx="2031365" cy="6953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4"/>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34"/>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34"/>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3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4"/>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a:ea typeface="Trebuchet MS"/>
                <a:cs typeface="Trebuchet MS"/>
                <a:sym typeface="Trebuchet MS"/>
              </a:defRPr>
            </a:lvl1pPr>
            <a:lvl2pPr marL="38100" marR="0" lvl="1" indent="0" algn="l">
              <a:lnSpc>
                <a:spcPct val="100000"/>
              </a:lnSpc>
              <a:spcBef>
                <a:spcPts val="0"/>
              </a:spcBef>
              <a:buNone/>
              <a:defRPr sz="1200" b="0" i="0">
                <a:solidFill>
                  <a:srgbClr val="878787"/>
                </a:solidFill>
                <a:latin typeface="Trebuchet MS"/>
                <a:ea typeface="Trebuchet MS"/>
                <a:cs typeface="Trebuchet MS"/>
                <a:sym typeface="Trebuchet MS"/>
              </a:defRPr>
            </a:lvl2pPr>
            <a:lvl3pPr marL="38100" marR="0" lvl="2" indent="0" algn="l">
              <a:lnSpc>
                <a:spcPct val="100000"/>
              </a:lnSpc>
              <a:spcBef>
                <a:spcPts val="0"/>
              </a:spcBef>
              <a:buNone/>
              <a:defRPr sz="1200" b="0" i="0">
                <a:solidFill>
                  <a:srgbClr val="878787"/>
                </a:solidFill>
                <a:latin typeface="Trebuchet MS"/>
                <a:ea typeface="Trebuchet MS"/>
                <a:cs typeface="Trebuchet MS"/>
                <a:sym typeface="Trebuchet MS"/>
              </a:defRPr>
            </a:lvl3pPr>
            <a:lvl4pPr marL="38100" marR="0" lvl="3" indent="0" algn="l">
              <a:lnSpc>
                <a:spcPct val="100000"/>
              </a:lnSpc>
              <a:spcBef>
                <a:spcPts val="0"/>
              </a:spcBef>
              <a:buNone/>
              <a:defRPr sz="1200" b="0" i="0">
                <a:solidFill>
                  <a:srgbClr val="878787"/>
                </a:solidFill>
                <a:latin typeface="Trebuchet MS"/>
                <a:ea typeface="Trebuchet MS"/>
                <a:cs typeface="Trebuchet MS"/>
                <a:sym typeface="Trebuchet MS"/>
              </a:defRPr>
            </a:lvl4pPr>
            <a:lvl5pPr marL="38100" marR="0" lvl="4" indent="0" algn="l">
              <a:lnSpc>
                <a:spcPct val="100000"/>
              </a:lnSpc>
              <a:spcBef>
                <a:spcPts val="0"/>
              </a:spcBef>
              <a:buNone/>
              <a:defRPr sz="1200" b="0" i="0">
                <a:solidFill>
                  <a:srgbClr val="878787"/>
                </a:solidFill>
                <a:latin typeface="Trebuchet MS"/>
                <a:ea typeface="Trebuchet MS"/>
                <a:cs typeface="Trebuchet MS"/>
                <a:sym typeface="Trebuchet MS"/>
              </a:defRPr>
            </a:lvl5pPr>
            <a:lvl6pPr marL="38100" marR="0" lvl="5" indent="0" algn="l">
              <a:lnSpc>
                <a:spcPct val="100000"/>
              </a:lnSpc>
              <a:spcBef>
                <a:spcPts val="0"/>
              </a:spcBef>
              <a:buNone/>
              <a:defRPr sz="1200" b="0" i="0">
                <a:solidFill>
                  <a:srgbClr val="878787"/>
                </a:solidFill>
                <a:latin typeface="Trebuchet MS"/>
                <a:ea typeface="Trebuchet MS"/>
                <a:cs typeface="Trebuchet MS"/>
                <a:sym typeface="Trebuchet MS"/>
              </a:defRPr>
            </a:lvl6pPr>
            <a:lvl7pPr marL="38100" marR="0" lvl="6" indent="0" algn="l">
              <a:lnSpc>
                <a:spcPct val="100000"/>
              </a:lnSpc>
              <a:spcBef>
                <a:spcPts val="0"/>
              </a:spcBef>
              <a:buNone/>
              <a:defRPr sz="1200" b="0" i="0">
                <a:solidFill>
                  <a:srgbClr val="878787"/>
                </a:solidFill>
                <a:latin typeface="Trebuchet MS"/>
                <a:ea typeface="Trebuchet MS"/>
                <a:cs typeface="Trebuchet MS"/>
                <a:sym typeface="Trebuchet MS"/>
              </a:defRPr>
            </a:lvl7pPr>
            <a:lvl8pPr marL="38100" marR="0" lvl="7" indent="0" algn="l">
              <a:lnSpc>
                <a:spcPct val="100000"/>
              </a:lnSpc>
              <a:spcBef>
                <a:spcPts val="0"/>
              </a:spcBef>
              <a:buNone/>
              <a:defRPr sz="1200" b="0" i="0">
                <a:solidFill>
                  <a:srgbClr val="878787"/>
                </a:solidFill>
                <a:latin typeface="Trebuchet MS"/>
                <a:ea typeface="Trebuchet MS"/>
                <a:cs typeface="Trebuchet MS"/>
                <a:sym typeface="Trebuchet MS"/>
              </a:defRPr>
            </a:lvl8pPr>
            <a:lvl9pPr marL="38100" marR="0" lvl="8" indent="0" algn="l">
              <a:lnSpc>
                <a:spcPct val="100000"/>
              </a:lnSpc>
              <a:spcBef>
                <a:spcPts val="0"/>
              </a:spcBef>
              <a:buNone/>
              <a:defRPr sz="1200" b="0" i="0">
                <a:solidFill>
                  <a:srgbClr val="878787"/>
                </a:solidFill>
                <a:latin typeface="Trebuchet MS"/>
                <a:ea typeface="Trebuchet MS"/>
                <a:cs typeface="Trebuchet MS"/>
                <a:sym typeface="Trebuchet MS"/>
              </a:defRPr>
            </a:lvl9pPr>
          </a:lstStyle>
          <a:p>
            <a:pPr marL="38100" lvl="0" indent="0" algn="l" rtl="0">
              <a:spcBef>
                <a:spcPts val="0"/>
              </a:spcBef>
              <a:spcAft>
                <a:spcPts val="0"/>
              </a:spcAft>
              <a:buNone/>
            </a:pPr>
            <a:fld id="{00000000-1234-1234-1234-123412341234}" type="slidenum">
              <a:rPr lang="fr-FR"/>
              <a:t>‹#›</a:t>
            </a:fld>
            <a:endParaRPr/>
          </a:p>
        </p:txBody>
      </p:sp>
    </p:spTree>
    <p:extLst>
      <p:ext uri="{BB962C8B-B14F-4D97-AF65-F5344CB8AC3E}">
        <p14:creationId xmlns:p14="http://schemas.microsoft.com/office/powerpoint/2010/main" val="1272550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35"/>
          <p:cNvSpPr txBox="1">
            <a:spLocks noGrp="1"/>
          </p:cNvSpPr>
          <p:nvPr>
            <p:ph type="title"/>
          </p:nvPr>
        </p:nvSpPr>
        <p:spPr>
          <a:xfrm>
            <a:off x="5659882" y="304622"/>
            <a:ext cx="2031365" cy="6953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dk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35"/>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5"/>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a:ea typeface="Trebuchet MS"/>
                <a:cs typeface="Trebuchet MS"/>
                <a:sym typeface="Trebuchet MS"/>
              </a:defRPr>
            </a:lvl1pPr>
            <a:lvl2pPr marL="38100" marR="0" lvl="1" indent="0" algn="l">
              <a:lnSpc>
                <a:spcPct val="100000"/>
              </a:lnSpc>
              <a:spcBef>
                <a:spcPts val="0"/>
              </a:spcBef>
              <a:buNone/>
              <a:defRPr sz="1200" b="0" i="0">
                <a:solidFill>
                  <a:srgbClr val="878787"/>
                </a:solidFill>
                <a:latin typeface="Trebuchet MS"/>
                <a:ea typeface="Trebuchet MS"/>
                <a:cs typeface="Trebuchet MS"/>
                <a:sym typeface="Trebuchet MS"/>
              </a:defRPr>
            </a:lvl2pPr>
            <a:lvl3pPr marL="38100" marR="0" lvl="2" indent="0" algn="l">
              <a:lnSpc>
                <a:spcPct val="100000"/>
              </a:lnSpc>
              <a:spcBef>
                <a:spcPts val="0"/>
              </a:spcBef>
              <a:buNone/>
              <a:defRPr sz="1200" b="0" i="0">
                <a:solidFill>
                  <a:srgbClr val="878787"/>
                </a:solidFill>
                <a:latin typeface="Trebuchet MS"/>
                <a:ea typeface="Trebuchet MS"/>
                <a:cs typeface="Trebuchet MS"/>
                <a:sym typeface="Trebuchet MS"/>
              </a:defRPr>
            </a:lvl3pPr>
            <a:lvl4pPr marL="38100" marR="0" lvl="3" indent="0" algn="l">
              <a:lnSpc>
                <a:spcPct val="100000"/>
              </a:lnSpc>
              <a:spcBef>
                <a:spcPts val="0"/>
              </a:spcBef>
              <a:buNone/>
              <a:defRPr sz="1200" b="0" i="0">
                <a:solidFill>
                  <a:srgbClr val="878787"/>
                </a:solidFill>
                <a:latin typeface="Trebuchet MS"/>
                <a:ea typeface="Trebuchet MS"/>
                <a:cs typeface="Trebuchet MS"/>
                <a:sym typeface="Trebuchet MS"/>
              </a:defRPr>
            </a:lvl4pPr>
            <a:lvl5pPr marL="38100" marR="0" lvl="4" indent="0" algn="l">
              <a:lnSpc>
                <a:spcPct val="100000"/>
              </a:lnSpc>
              <a:spcBef>
                <a:spcPts val="0"/>
              </a:spcBef>
              <a:buNone/>
              <a:defRPr sz="1200" b="0" i="0">
                <a:solidFill>
                  <a:srgbClr val="878787"/>
                </a:solidFill>
                <a:latin typeface="Trebuchet MS"/>
                <a:ea typeface="Trebuchet MS"/>
                <a:cs typeface="Trebuchet MS"/>
                <a:sym typeface="Trebuchet MS"/>
              </a:defRPr>
            </a:lvl5pPr>
            <a:lvl6pPr marL="38100" marR="0" lvl="5" indent="0" algn="l">
              <a:lnSpc>
                <a:spcPct val="100000"/>
              </a:lnSpc>
              <a:spcBef>
                <a:spcPts val="0"/>
              </a:spcBef>
              <a:buNone/>
              <a:defRPr sz="1200" b="0" i="0">
                <a:solidFill>
                  <a:srgbClr val="878787"/>
                </a:solidFill>
                <a:latin typeface="Trebuchet MS"/>
                <a:ea typeface="Trebuchet MS"/>
                <a:cs typeface="Trebuchet MS"/>
                <a:sym typeface="Trebuchet MS"/>
              </a:defRPr>
            </a:lvl6pPr>
            <a:lvl7pPr marL="38100" marR="0" lvl="6" indent="0" algn="l">
              <a:lnSpc>
                <a:spcPct val="100000"/>
              </a:lnSpc>
              <a:spcBef>
                <a:spcPts val="0"/>
              </a:spcBef>
              <a:buNone/>
              <a:defRPr sz="1200" b="0" i="0">
                <a:solidFill>
                  <a:srgbClr val="878787"/>
                </a:solidFill>
                <a:latin typeface="Trebuchet MS"/>
                <a:ea typeface="Trebuchet MS"/>
                <a:cs typeface="Trebuchet MS"/>
                <a:sym typeface="Trebuchet MS"/>
              </a:defRPr>
            </a:lvl7pPr>
            <a:lvl8pPr marL="38100" marR="0" lvl="7" indent="0" algn="l">
              <a:lnSpc>
                <a:spcPct val="100000"/>
              </a:lnSpc>
              <a:spcBef>
                <a:spcPts val="0"/>
              </a:spcBef>
              <a:buNone/>
              <a:defRPr sz="1200" b="0" i="0">
                <a:solidFill>
                  <a:srgbClr val="878787"/>
                </a:solidFill>
                <a:latin typeface="Trebuchet MS"/>
                <a:ea typeface="Trebuchet MS"/>
                <a:cs typeface="Trebuchet MS"/>
                <a:sym typeface="Trebuchet MS"/>
              </a:defRPr>
            </a:lvl8pPr>
            <a:lvl9pPr marL="38100" marR="0" lvl="8" indent="0" algn="l">
              <a:lnSpc>
                <a:spcPct val="100000"/>
              </a:lnSpc>
              <a:spcBef>
                <a:spcPts val="0"/>
              </a:spcBef>
              <a:buNone/>
              <a:defRPr sz="1200" b="0" i="0">
                <a:solidFill>
                  <a:srgbClr val="878787"/>
                </a:solidFill>
                <a:latin typeface="Trebuchet MS"/>
                <a:ea typeface="Trebuchet MS"/>
                <a:cs typeface="Trebuchet MS"/>
                <a:sym typeface="Trebuchet MS"/>
              </a:defRPr>
            </a:lvl9pPr>
          </a:lstStyle>
          <a:p>
            <a:pPr marL="38100" lvl="0" indent="0" algn="l" rtl="0">
              <a:spcBef>
                <a:spcPts val="0"/>
              </a:spcBef>
              <a:spcAft>
                <a:spcPts val="0"/>
              </a:spcAft>
              <a:buNone/>
            </a:pPr>
            <a:fld id="{00000000-1234-1234-1234-123412341234}" type="slidenum">
              <a:rPr lang="fr-FR"/>
              <a:t>‹#›</a:t>
            </a:fld>
            <a:endParaRPr/>
          </a:p>
        </p:txBody>
      </p:sp>
    </p:spTree>
    <p:extLst>
      <p:ext uri="{BB962C8B-B14F-4D97-AF65-F5344CB8AC3E}">
        <p14:creationId xmlns:p14="http://schemas.microsoft.com/office/powerpoint/2010/main" val="2768707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
        <p:cNvGrpSpPr/>
        <p:nvPr/>
      </p:nvGrpSpPr>
      <p:grpSpPr>
        <a:xfrm>
          <a:off x="0" y="0"/>
          <a:ext cx="0" cy="0"/>
          <a:chOff x="0" y="0"/>
          <a:chExt cx="0" cy="0"/>
        </a:xfrm>
      </p:grpSpPr>
      <p:sp>
        <p:nvSpPr>
          <p:cNvPr id="41" name="Google Shape;41;p36"/>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200" b="0" i="0">
                <a:solidFill>
                  <a:srgbClr val="FF0000"/>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6"/>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a:lnSpc>
                <a:spcPct val="100000"/>
              </a:lnSpc>
              <a:spcBef>
                <a:spcPts val="0"/>
              </a:spcBef>
              <a:buNone/>
              <a:defRPr sz="1200" b="0" i="0">
                <a:solidFill>
                  <a:srgbClr val="878787"/>
                </a:solidFill>
                <a:latin typeface="Trebuchet MS"/>
                <a:ea typeface="Trebuchet MS"/>
                <a:cs typeface="Trebuchet MS"/>
                <a:sym typeface="Trebuchet MS"/>
              </a:defRPr>
            </a:lvl1pPr>
            <a:lvl2pPr marL="38100" marR="0" lvl="1" indent="0" algn="l">
              <a:lnSpc>
                <a:spcPct val="100000"/>
              </a:lnSpc>
              <a:spcBef>
                <a:spcPts val="0"/>
              </a:spcBef>
              <a:buNone/>
              <a:defRPr sz="1200" b="0" i="0">
                <a:solidFill>
                  <a:srgbClr val="878787"/>
                </a:solidFill>
                <a:latin typeface="Trebuchet MS"/>
                <a:ea typeface="Trebuchet MS"/>
                <a:cs typeface="Trebuchet MS"/>
                <a:sym typeface="Trebuchet MS"/>
              </a:defRPr>
            </a:lvl2pPr>
            <a:lvl3pPr marL="38100" marR="0" lvl="2" indent="0" algn="l">
              <a:lnSpc>
                <a:spcPct val="100000"/>
              </a:lnSpc>
              <a:spcBef>
                <a:spcPts val="0"/>
              </a:spcBef>
              <a:buNone/>
              <a:defRPr sz="1200" b="0" i="0">
                <a:solidFill>
                  <a:srgbClr val="878787"/>
                </a:solidFill>
                <a:latin typeface="Trebuchet MS"/>
                <a:ea typeface="Trebuchet MS"/>
                <a:cs typeface="Trebuchet MS"/>
                <a:sym typeface="Trebuchet MS"/>
              </a:defRPr>
            </a:lvl3pPr>
            <a:lvl4pPr marL="38100" marR="0" lvl="3" indent="0" algn="l">
              <a:lnSpc>
                <a:spcPct val="100000"/>
              </a:lnSpc>
              <a:spcBef>
                <a:spcPts val="0"/>
              </a:spcBef>
              <a:buNone/>
              <a:defRPr sz="1200" b="0" i="0">
                <a:solidFill>
                  <a:srgbClr val="878787"/>
                </a:solidFill>
                <a:latin typeface="Trebuchet MS"/>
                <a:ea typeface="Trebuchet MS"/>
                <a:cs typeface="Trebuchet MS"/>
                <a:sym typeface="Trebuchet MS"/>
              </a:defRPr>
            </a:lvl4pPr>
            <a:lvl5pPr marL="38100" marR="0" lvl="4" indent="0" algn="l">
              <a:lnSpc>
                <a:spcPct val="100000"/>
              </a:lnSpc>
              <a:spcBef>
                <a:spcPts val="0"/>
              </a:spcBef>
              <a:buNone/>
              <a:defRPr sz="1200" b="0" i="0">
                <a:solidFill>
                  <a:srgbClr val="878787"/>
                </a:solidFill>
                <a:latin typeface="Trebuchet MS"/>
                <a:ea typeface="Trebuchet MS"/>
                <a:cs typeface="Trebuchet MS"/>
                <a:sym typeface="Trebuchet MS"/>
              </a:defRPr>
            </a:lvl5pPr>
            <a:lvl6pPr marL="38100" marR="0" lvl="5" indent="0" algn="l">
              <a:lnSpc>
                <a:spcPct val="100000"/>
              </a:lnSpc>
              <a:spcBef>
                <a:spcPts val="0"/>
              </a:spcBef>
              <a:buNone/>
              <a:defRPr sz="1200" b="0" i="0">
                <a:solidFill>
                  <a:srgbClr val="878787"/>
                </a:solidFill>
                <a:latin typeface="Trebuchet MS"/>
                <a:ea typeface="Trebuchet MS"/>
                <a:cs typeface="Trebuchet MS"/>
                <a:sym typeface="Trebuchet MS"/>
              </a:defRPr>
            </a:lvl6pPr>
            <a:lvl7pPr marL="38100" marR="0" lvl="6" indent="0" algn="l">
              <a:lnSpc>
                <a:spcPct val="100000"/>
              </a:lnSpc>
              <a:spcBef>
                <a:spcPts val="0"/>
              </a:spcBef>
              <a:buNone/>
              <a:defRPr sz="1200" b="0" i="0">
                <a:solidFill>
                  <a:srgbClr val="878787"/>
                </a:solidFill>
                <a:latin typeface="Trebuchet MS"/>
                <a:ea typeface="Trebuchet MS"/>
                <a:cs typeface="Trebuchet MS"/>
                <a:sym typeface="Trebuchet MS"/>
              </a:defRPr>
            </a:lvl7pPr>
            <a:lvl8pPr marL="38100" marR="0" lvl="7" indent="0" algn="l">
              <a:lnSpc>
                <a:spcPct val="100000"/>
              </a:lnSpc>
              <a:spcBef>
                <a:spcPts val="0"/>
              </a:spcBef>
              <a:buNone/>
              <a:defRPr sz="1200" b="0" i="0">
                <a:solidFill>
                  <a:srgbClr val="878787"/>
                </a:solidFill>
                <a:latin typeface="Trebuchet MS"/>
                <a:ea typeface="Trebuchet MS"/>
                <a:cs typeface="Trebuchet MS"/>
                <a:sym typeface="Trebuchet MS"/>
              </a:defRPr>
            </a:lvl8pPr>
            <a:lvl9pPr marL="38100" marR="0" lvl="8" indent="0" algn="l">
              <a:lnSpc>
                <a:spcPct val="100000"/>
              </a:lnSpc>
              <a:spcBef>
                <a:spcPts val="0"/>
              </a:spcBef>
              <a:buNone/>
              <a:defRPr sz="1200" b="0" i="0">
                <a:solidFill>
                  <a:srgbClr val="878787"/>
                </a:solidFill>
                <a:latin typeface="Trebuchet MS"/>
                <a:ea typeface="Trebuchet MS"/>
                <a:cs typeface="Trebuchet MS"/>
                <a:sym typeface="Trebuchet MS"/>
              </a:defRPr>
            </a:lvl9pPr>
          </a:lstStyle>
          <a:p>
            <a:pPr marL="38100" lvl="0" indent="0" algn="l" rtl="0">
              <a:spcBef>
                <a:spcPts val="0"/>
              </a:spcBef>
              <a:spcAft>
                <a:spcPts val="0"/>
              </a:spcAft>
              <a:buNone/>
            </a:pPr>
            <a:fld id="{00000000-1234-1234-1234-123412341234}" type="slidenum">
              <a:rPr lang="fr-FR"/>
              <a:t>‹#›</a:t>
            </a:fld>
            <a:endParaRPr/>
          </a:p>
        </p:txBody>
      </p:sp>
    </p:spTree>
    <p:extLst>
      <p:ext uri="{BB962C8B-B14F-4D97-AF65-F5344CB8AC3E}">
        <p14:creationId xmlns:p14="http://schemas.microsoft.com/office/powerpoint/2010/main" val="2353430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563"/>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4400"/>
              <a:buFont typeface="Calibri"/>
              <a:buNone/>
              <a:defRPr sz="4400" b="0" i="0" u="none" strike="noStrike" cap="none">
                <a:solidFill>
                  <a:srgbClr val="000000"/>
                </a:solidFill>
                <a:latin typeface="Calibri"/>
                <a:ea typeface="Calibri"/>
                <a:cs typeface="Calibri"/>
                <a:sym typeface="Calibri"/>
              </a:defRPr>
            </a:lvl9pPr>
          </a:lstStyle>
          <a:p>
            <a:endParaRPr/>
          </a:p>
        </p:txBody>
      </p:sp>
      <p:sp>
        <p:nvSpPr>
          <p:cNvPr id="7" name="Google Shape;7;p9"/>
          <p:cNvSpPr txBox="1">
            <a:spLocks noGrp="1"/>
          </p:cNvSpPr>
          <p:nvPr>
            <p:ph type="body" idx="1"/>
          </p:nvPr>
        </p:nvSpPr>
        <p:spPr>
          <a:xfrm>
            <a:off x="838200" y="1825625"/>
            <a:ext cx="10515600" cy="4351338"/>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Calibri"/>
                <a:ea typeface="Calibri"/>
                <a:cs typeface="Calibri"/>
                <a:sym typeface="Calibri"/>
              </a:defRPr>
            </a:lvl9pPr>
          </a:lstStyle>
          <a:p>
            <a:endParaRPr/>
          </a:p>
        </p:txBody>
      </p:sp>
      <p:sp>
        <p:nvSpPr>
          <p:cNvPr id="8" name="Google Shape;8;p9"/>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p:nvPr/>
        </p:nvSpPr>
        <p:spPr>
          <a:xfrm>
            <a:off x="0" y="0"/>
            <a:ext cx="12192000" cy="6857996"/>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31"/>
          <p:cNvSpPr txBox="1">
            <a:spLocks noGrp="1"/>
          </p:cNvSpPr>
          <p:nvPr>
            <p:ph type="title"/>
          </p:nvPr>
        </p:nvSpPr>
        <p:spPr>
          <a:xfrm>
            <a:off x="5659882" y="304622"/>
            <a:ext cx="2031365" cy="69532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400" b="0" i="0" u="none" strike="noStrike" cap="none">
                <a:solidFill>
                  <a:schemeClr val="dk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31"/>
          <p:cNvSpPr txBox="1">
            <a:spLocks noGrp="1"/>
          </p:cNvSpPr>
          <p:nvPr>
            <p:ph type="body" idx="1"/>
          </p:nvPr>
        </p:nvSpPr>
        <p:spPr>
          <a:xfrm>
            <a:off x="485343" y="2536952"/>
            <a:ext cx="6479540" cy="261810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31"/>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200" b="0" i="0">
                <a:solidFill>
                  <a:srgbClr val="FF0000"/>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31"/>
          <p:cNvSpPr txBox="1">
            <a:spLocks noGrp="1"/>
          </p:cNvSpPr>
          <p:nvPr>
            <p:ph type="sldNum" idx="12"/>
          </p:nvPr>
        </p:nvSpPr>
        <p:spPr>
          <a:xfrm>
            <a:off x="11070335" y="6430643"/>
            <a:ext cx="228600" cy="203200"/>
          </a:xfrm>
          <a:prstGeom prst="rect">
            <a:avLst/>
          </a:prstGeom>
          <a:noFill/>
          <a:ln>
            <a:noFill/>
          </a:ln>
        </p:spPr>
        <p:txBody>
          <a:bodyPr spcFirstLastPara="1" wrap="square" lIns="0" tIns="0" rIns="0" bIns="0" anchor="t" anchorCtr="0">
            <a:spAutoFit/>
          </a:bodyPr>
          <a:lstStyle>
            <a:lvl1pPr marL="38100" marR="0" lvl="0" indent="0" algn="l" rtl="0">
              <a:lnSpc>
                <a:spcPct val="100000"/>
              </a:lnSpc>
              <a:spcBef>
                <a:spcPts val="0"/>
              </a:spcBef>
              <a:buNone/>
              <a:defRPr sz="1200" b="0" i="0" u="none">
                <a:solidFill>
                  <a:srgbClr val="878787"/>
                </a:solidFill>
                <a:latin typeface="Trebuchet MS"/>
                <a:ea typeface="Trebuchet MS"/>
                <a:cs typeface="Trebuchet MS"/>
                <a:sym typeface="Trebuchet MS"/>
              </a:defRPr>
            </a:lvl1pPr>
            <a:lvl2pPr marL="38100" marR="0" lvl="1" indent="0" algn="l" rtl="0">
              <a:lnSpc>
                <a:spcPct val="100000"/>
              </a:lnSpc>
              <a:spcBef>
                <a:spcPts val="0"/>
              </a:spcBef>
              <a:buNone/>
              <a:defRPr sz="1200" b="0" i="0" u="none">
                <a:solidFill>
                  <a:srgbClr val="878787"/>
                </a:solidFill>
                <a:latin typeface="Trebuchet MS"/>
                <a:ea typeface="Trebuchet MS"/>
                <a:cs typeface="Trebuchet MS"/>
                <a:sym typeface="Trebuchet MS"/>
              </a:defRPr>
            </a:lvl2pPr>
            <a:lvl3pPr marL="38100" marR="0" lvl="2" indent="0" algn="l" rtl="0">
              <a:lnSpc>
                <a:spcPct val="100000"/>
              </a:lnSpc>
              <a:spcBef>
                <a:spcPts val="0"/>
              </a:spcBef>
              <a:buNone/>
              <a:defRPr sz="1200" b="0" i="0" u="none">
                <a:solidFill>
                  <a:srgbClr val="878787"/>
                </a:solidFill>
                <a:latin typeface="Trebuchet MS"/>
                <a:ea typeface="Trebuchet MS"/>
                <a:cs typeface="Trebuchet MS"/>
                <a:sym typeface="Trebuchet MS"/>
              </a:defRPr>
            </a:lvl3pPr>
            <a:lvl4pPr marL="38100" marR="0" lvl="3" indent="0" algn="l" rtl="0">
              <a:lnSpc>
                <a:spcPct val="100000"/>
              </a:lnSpc>
              <a:spcBef>
                <a:spcPts val="0"/>
              </a:spcBef>
              <a:buNone/>
              <a:defRPr sz="1200" b="0" i="0" u="none">
                <a:solidFill>
                  <a:srgbClr val="878787"/>
                </a:solidFill>
                <a:latin typeface="Trebuchet MS"/>
                <a:ea typeface="Trebuchet MS"/>
                <a:cs typeface="Trebuchet MS"/>
                <a:sym typeface="Trebuchet MS"/>
              </a:defRPr>
            </a:lvl4pPr>
            <a:lvl5pPr marL="38100" marR="0" lvl="4" indent="0" algn="l" rtl="0">
              <a:lnSpc>
                <a:spcPct val="100000"/>
              </a:lnSpc>
              <a:spcBef>
                <a:spcPts val="0"/>
              </a:spcBef>
              <a:buNone/>
              <a:defRPr sz="1200" b="0" i="0" u="none">
                <a:solidFill>
                  <a:srgbClr val="878787"/>
                </a:solidFill>
                <a:latin typeface="Trebuchet MS"/>
                <a:ea typeface="Trebuchet MS"/>
                <a:cs typeface="Trebuchet MS"/>
                <a:sym typeface="Trebuchet MS"/>
              </a:defRPr>
            </a:lvl5pPr>
            <a:lvl6pPr marL="38100" marR="0" lvl="5" indent="0" algn="l" rtl="0">
              <a:lnSpc>
                <a:spcPct val="100000"/>
              </a:lnSpc>
              <a:spcBef>
                <a:spcPts val="0"/>
              </a:spcBef>
              <a:buNone/>
              <a:defRPr sz="1200" b="0" i="0" u="none">
                <a:solidFill>
                  <a:srgbClr val="878787"/>
                </a:solidFill>
                <a:latin typeface="Trebuchet MS"/>
                <a:ea typeface="Trebuchet MS"/>
                <a:cs typeface="Trebuchet MS"/>
                <a:sym typeface="Trebuchet MS"/>
              </a:defRPr>
            </a:lvl6pPr>
            <a:lvl7pPr marL="38100" marR="0" lvl="6" indent="0" algn="l" rtl="0">
              <a:lnSpc>
                <a:spcPct val="100000"/>
              </a:lnSpc>
              <a:spcBef>
                <a:spcPts val="0"/>
              </a:spcBef>
              <a:buNone/>
              <a:defRPr sz="1200" b="0" i="0" u="none">
                <a:solidFill>
                  <a:srgbClr val="878787"/>
                </a:solidFill>
                <a:latin typeface="Trebuchet MS"/>
                <a:ea typeface="Trebuchet MS"/>
                <a:cs typeface="Trebuchet MS"/>
                <a:sym typeface="Trebuchet MS"/>
              </a:defRPr>
            </a:lvl7pPr>
            <a:lvl8pPr marL="38100" marR="0" lvl="7" indent="0" algn="l" rtl="0">
              <a:lnSpc>
                <a:spcPct val="100000"/>
              </a:lnSpc>
              <a:spcBef>
                <a:spcPts val="0"/>
              </a:spcBef>
              <a:buNone/>
              <a:defRPr sz="1200" b="0" i="0" u="none">
                <a:solidFill>
                  <a:srgbClr val="878787"/>
                </a:solidFill>
                <a:latin typeface="Trebuchet MS"/>
                <a:ea typeface="Trebuchet MS"/>
                <a:cs typeface="Trebuchet MS"/>
                <a:sym typeface="Trebuchet MS"/>
              </a:defRPr>
            </a:lvl8pPr>
            <a:lvl9pPr marL="38100" marR="0" lvl="8" indent="0" algn="l" rtl="0">
              <a:lnSpc>
                <a:spcPct val="100000"/>
              </a:lnSpc>
              <a:spcBef>
                <a:spcPts val="0"/>
              </a:spcBef>
              <a:buNone/>
              <a:defRPr sz="1200" b="0" i="0" u="none">
                <a:solidFill>
                  <a:srgbClr val="878787"/>
                </a:solidFill>
                <a:latin typeface="Trebuchet MS"/>
                <a:ea typeface="Trebuchet MS"/>
                <a:cs typeface="Trebuchet MS"/>
                <a:sym typeface="Trebuchet MS"/>
              </a:defRPr>
            </a:lvl9pPr>
          </a:lstStyle>
          <a:p>
            <a:pPr marL="38100" lvl="0" indent="0" algn="l" rtl="0">
              <a:spcBef>
                <a:spcPts val="0"/>
              </a:spcBef>
              <a:spcAft>
                <a:spcPts val="0"/>
              </a:spcAft>
              <a:buNone/>
            </a:pPr>
            <a:fld id="{00000000-1234-1234-1234-123412341234}" type="slidenum">
              <a:rPr lang="fr-FR"/>
              <a:t>‹#›</a:t>
            </a:fld>
            <a:endParaRPr/>
          </a:p>
        </p:txBody>
      </p:sp>
    </p:spTree>
    <p:extLst>
      <p:ext uri="{BB962C8B-B14F-4D97-AF65-F5344CB8AC3E}">
        <p14:creationId xmlns:p14="http://schemas.microsoft.com/office/powerpoint/2010/main" val="89922695"/>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jp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6.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1.jp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29.png"/><Relationship Id="rId3" Type="http://schemas.openxmlformats.org/officeDocument/2006/relationships/image" Target="../media/image22.jpg"/><Relationship Id="rId7" Type="http://schemas.openxmlformats.org/officeDocument/2006/relationships/image" Target="../media/image6.png"/><Relationship Id="rId12"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jpg"/><Relationship Id="rId11" Type="http://schemas.openxmlformats.org/officeDocument/2006/relationships/image" Target="../media/image27.jpg"/><Relationship Id="rId5" Type="http://schemas.openxmlformats.org/officeDocument/2006/relationships/image" Target="../media/image24.png"/><Relationship Id="rId10" Type="http://schemas.openxmlformats.org/officeDocument/2006/relationships/image" Target="../media/image26.png"/><Relationship Id="rId4" Type="http://schemas.openxmlformats.org/officeDocument/2006/relationships/image" Target="../media/image23.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30.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jpg"/><Relationship Id="rId18" Type="http://schemas.openxmlformats.org/officeDocument/2006/relationships/image" Target="../media/image43.png"/><Relationship Id="rId26" Type="http://schemas.openxmlformats.org/officeDocument/2006/relationships/image" Target="../media/image51.jpg"/><Relationship Id="rId3" Type="http://schemas.openxmlformats.org/officeDocument/2006/relationships/image" Target="../media/image11.jpg"/><Relationship Id="rId21" Type="http://schemas.openxmlformats.org/officeDocument/2006/relationships/image" Target="../media/image46.png"/><Relationship Id="rId7" Type="http://schemas.openxmlformats.org/officeDocument/2006/relationships/image" Target="../media/image33.jpg"/><Relationship Id="rId12" Type="http://schemas.openxmlformats.org/officeDocument/2006/relationships/image" Target="../media/image38.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11.xml"/><Relationship Id="rId16" Type="http://schemas.openxmlformats.org/officeDocument/2006/relationships/image" Target="../media/image41.png"/><Relationship Id="rId20"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24" Type="http://schemas.openxmlformats.org/officeDocument/2006/relationships/image" Target="../media/image49.png"/><Relationship Id="rId5" Type="http://schemas.openxmlformats.org/officeDocument/2006/relationships/image" Target="../media/image31.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12.png"/><Relationship Id="rId10" Type="http://schemas.openxmlformats.org/officeDocument/2006/relationships/image" Target="../media/image36.jpg"/><Relationship Id="rId19" Type="http://schemas.openxmlformats.org/officeDocument/2006/relationships/image" Target="../media/image44.png"/><Relationship Id="rId4" Type="http://schemas.openxmlformats.org/officeDocument/2006/relationships/image" Target="../media/image6.png"/><Relationship Id="rId9" Type="http://schemas.openxmlformats.org/officeDocument/2006/relationships/image" Target="../media/image35.png"/><Relationship Id="rId14" Type="http://schemas.openxmlformats.org/officeDocument/2006/relationships/image" Target="../media/image26.png"/><Relationship Id="rId22" Type="http://schemas.openxmlformats.org/officeDocument/2006/relationships/image" Target="../media/image47.png"/><Relationship Id="rId27" Type="http://schemas.openxmlformats.org/officeDocument/2006/relationships/image" Target="../media/image52.png"/></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6.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6.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6.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6.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1.jpg"/><Relationship Id="rId7"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6.png"/><Relationship Id="rId10" Type="http://schemas.openxmlformats.org/officeDocument/2006/relationships/image" Target="../media/image61.png"/><Relationship Id="rId4" Type="http://schemas.openxmlformats.org/officeDocument/2006/relationships/image" Target="../media/image12.png"/><Relationship Id="rId9" Type="http://schemas.openxmlformats.org/officeDocument/2006/relationships/image" Target="../media/image60.png"/></Relationships>
</file>

<file path=ppt/slides/_rels/slide1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6.jpg"/><Relationship Id="rId4" Type="http://schemas.openxmlformats.org/officeDocument/2006/relationships/image" Target="../media/image65.jpg"/></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image" Target="../media/image11.jp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10.png"/><Relationship Id="rId15" Type="http://schemas.openxmlformats.org/officeDocument/2006/relationships/image" Target="../media/image12.png"/><Relationship Id="rId10" Type="http://schemas.openxmlformats.org/officeDocument/2006/relationships/image" Target="../media/image71.png"/><Relationship Id="rId4" Type="http://schemas.openxmlformats.org/officeDocument/2006/relationships/image" Target="../media/image6.png"/><Relationship Id="rId9" Type="http://schemas.openxmlformats.org/officeDocument/2006/relationships/image" Target="../media/image70.png"/><Relationship Id="rId14" Type="http://schemas.openxmlformats.org/officeDocument/2006/relationships/image" Target="../media/image75.png"/></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hyperlink" Target="http://modelseverywhere.wordpress.com/2010/11/04/model-driven-integration/" TargetMode="External"/><Relationship Id="rId4" Type="http://schemas.openxmlformats.org/officeDocument/2006/relationships/image" Target="../media/image76.jpg"/></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8" Type="http://schemas.openxmlformats.org/officeDocument/2006/relationships/hyperlink" Target="http://blog.xebia.fr/2009/04/29/soa-du-composant-au-service-lautonomie" TargetMode="External"/><Relationship Id="rId3" Type="http://schemas.openxmlformats.org/officeDocument/2006/relationships/image" Target="../media/image11.jpg"/><Relationship Id="rId7" Type="http://schemas.openxmlformats.org/officeDocument/2006/relationships/hyperlink" Target="http://blog.xebia.fr/2009/04/29/soa-du-" TargetMode="External"/><Relationship Id="rId12"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hyperlink" Target="http://fr.wikipedia.org/wiki/Middleware" TargetMode="External"/><Relationship Id="rId11" Type="http://schemas.openxmlformats.org/officeDocument/2006/relationships/hyperlink" Target="http://deptinfo.unice.fr/~baude/WS/cours_SOA_AO+FB.pdf" TargetMode="External"/><Relationship Id="rId5" Type="http://schemas.openxmlformats.org/officeDocument/2006/relationships/hyperlink" Target="http://design-patterns.fr/introduction-a-la-programmation-orientee-objet" TargetMode="External"/><Relationship Id="rId10" Type="http://schemas.openxmlformats.org/officeDocument/2006/relationships/hyperlink" Target="http://adslbox.free.fr/rapports/rapport-gl-service-oriented-architecture.pdf" TargetMode="External"/><Relationship Id="rId4" Type="http://schemas.openxmlformats.org/officeDocument/2006/relationships/hyperlink" Target="http://fr.wikipedia.org/wiki/Paradigme" TargetMode="External"/><Relationship Id="rId9" Type="http://schemas.openxmlformats.org/officeDocument/2006/relationships/hyperlink" Target="https://www.ibisc.univ-evry.fr/~tmelliti/cours/CPAR/cours6.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59" name="Google Shape;59;p1"/>
          <p:cNvGrpSpPr/>
          <p:nvPr/>
        </p:nvGrpSpPr>
        <p:grpSpPr>
          <a:xfrm>
            <a:off x="-637975" y="0"/>
            <a:ext cx="12842813" cy="6858001"/>
            <a:chOff x="0" y="0"/>
            <a:chExt cx="12266297" cy="6858001"/>
          </a:xfrm>
        </p:grpSpPr>
        <p:sp>
          <p:nvSpPr>
            <p:cNvPr id="60" name="Google Shape;60;p1"/>
            <p:cNvSpPr/>
            <p:nvPr/>
          </p:nvSpPr>
          <p:spPr>
            <a:xfrm>
              <a:off x="0" y="0"/>
              <a:ext cx="12192000" cy="6858000"/>
            </a:xfrm>
            <a:prstGeom prst="rect">
              <a:avLst/>
            </a:prstGeom>
            <a:blipFill rotWithShape="1">
              <a:blip r:embed="rId3">
                <a:alphaModFix/>
              </a:blip>
              <a:tile tx="0" ty="0" sx="100000" sy="100000" flip="none" algn="tl"/>
            </a:bli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61" name="Google Shape;61;p1" descr="image2.png"/>
            <p:cNvPicPr preferRelativeResize="0"/>
            <p:nvPr/>
          </p:nvPicPr>
          <p:blipFill rotWithShape="1">
            <a:blip r:embed="rId4">
              <a:alphaModFix/>
            </a:blip>
            <a:srcRect/>
            <a:stretch/>
          </p:blipFill>
          <p:spPr>
            <a:xfrm>
              <a:off x="74298" y="0"/>
              <a:ext cx="12191999" cy="6858001"/>
            </a:xfrm>
            <a:prstGeom prst="rect">
              <a:avLst/>
            </a:prstGeom>
            <a:noFill/>
            <a:ln>
              <a:noFill/>
            </a:ln>
          </p:spPr>
        </p:pic>
      </p:grpSp>
      <p:pic>
        <p:nvPicPr>
          <p:cNvPr id="62" name="Google Shape;62;p1" descr="Picture 3"/>
          <p:cNvPicPr preferRelativeResize="0"/>
          <p:nvPr/>
        </p:nvPicPr>
        <p:blipFill rotWithShape="1">
          <a:blip r:embed="rId5">
            <a:alphaModFix/>
          </a:blip>
          <a:srcRect/>
          <a:stretch/>
        </p:blipFill>
        <p:spPr>
          <a:xfrm>
            <a:off x="9531349" y="5703304"/>
            <a:ext cx="1322882" cy="934816"/>
          </a:xfrm>
          <a:prstGeom prst="rect">
            <a:avLst/>
          </a:prstGeom>
          <a:noFill/>
          <a:ln>
            <a:noFill/>
          </a:ln>
        </p:spPr>
      </p:pic>
      <p:pic>
        <p:nvPicPr>
          <p:cNvPr id="63" name="Google Shape;63;p1" descr="Picture 3"/>
          <p:cNvPicPr preferRelativeResize="0"/>
          <p:nvPr/>
        </p:nvPicPr>
        <p:blipFill rotWithShape="1">
          <a:blip r:embed="rId6">
            <a:alphaModFix/>
          </a:blip>
          <a:srcRect/>
          <a:stretch/>
        </p:blipFill>
        <p:spPr>
          <a:xfrm flipH="1">
            <a:off x="8558979" y="-41780"/>
            <a:ext cx="3978841" cy="2344124"/>
          </a:xfrm>
          <a:prstGeom prst="rect">
            <a:avLst/>
          </a:prstGeom>
          <a:noFill/>
          <a:ln>
            <a:noFill/>
          </a:ln>
        </p:spPr>
      </p:pic>
      <p:pic>
        <p:nvPicPr>
          <p:cNvPr id="64" name="Google Shape;64;p1" descr="Image 11"/>
          <p:cNvPicPr preferRelativeResize="0"/>
          <p:nvPr/>
        </p:nvPicPr>
        <p:blipFill rotWithShape="1">
          <a:blip r:embed="rId7">
            <a:alphaModFix/>
          </a:blip>
          <a:srcRect/>
          <a:stretch/>
        </p:blipFill>
        <p:spPr>
          <a:xfrm>
            <a:off x="1962681" y="5707210"/>
            <a:ext cx="1943102" cy="876302"/>
          </a:xfrm>
          <a:prstGeom prst="rect">
            <a:avLst/>
          </a:prstGeom>
          <a:noFill/>
          <a:ln>
            <a:noFill/>
          </a:ln>
        </p:spPr>
      </p:pic>
      <p:pic>
        <p:nvPicPr>
          <p:cNvPr id="65" name="Google Shape;65;p1" descr="C:\Users\faten\Desktop\CA-19\EURACE.png"/>
          <p:cNvPicPr preferRelativeResize="0"/>
          <p:nvPr/>
        </p:nvPicPr>
        <p:blipFill rotWithShape="1">
          <a:blip r:embed="rId8">
            <a:alphaModFix/>
          </a:blip>
          <a:srcRect/>
          <a:stretch/>
        </p:blipFill>
        <p:spPr>
          <a:xfrm>
            <a:off x="4367808" y="5898412"/>
            <a:ext cx="2731194" cy="544601"/>
          </a:xfrm>
          <a:prstGeom prst="rect">
            <a:avLst/>
          </a:prstGeom>
          <a:noFill/>
          <a:ln>
            <a:noFill/>
          </a:ln>
        </p:spPr>
      </p:pic>
      <p:pic>
        <p:nvPicPr>
          <p:cNvPr id="66" name="Google Shape;66;p1" descr="C:\Users\faten\Desktop\CA-19\CGE.png"/>
          <p:cNvPicPr preferRelativeResize="0"/>
          <p:nvPr/>
        </p:nvPicPr>
        <p:blipFill rotWithShape="1">
          <a:blip r:embed="rId9">
            <a:alphaModFix/>
          </a:blip>
          <a:srcRect/>
          <a:stretch/>
        </p:blipFill>
        <p:spPr>
          <a:xfrm>
            <a:off x="7392144" y="5857579"/>
            <a:ext cx="1728192" cy="583745"/>
          </a:xfrm>
          <a:prstGeom prst="rect">
            <a:avLst/>
          </a:prstGeom>
          <a:noFill/>
          <a:ln>
            <a:noFill/>
          </a:ln>
        </p:spPr>
      </p:pic>
      <p:sp>
        <p:nvSpPr>
          <p:cNvPr id="67" name="Google Shape;67;p1"/>
          <p:cNvSpPr txBox="1">
            <a:spLocks noGrp="1"/>
          </p:cNvSpPr>
          <p:nvPr>
            <p:ph type="subTitle" idx="4294967295"/>
          </p:nvPr>
        </p:nvSpPr>
        <p:spPr>
          <a:xfrm>
            <a:off x="1184850" y="3483525"/>
            <a:ext cx="9822300" cy="1042500"/>
          </a:xfrm>
          <a:prstGeom prst="rect">
            <a:avLst/>
          </a:prstGeom>
          <a:noFill/>
          <a:ln>
            <a:noFill/>
          </a:ln>
        </p:spPr>
        <p:txBody>
          <a:bodyPr spcFirstLastPara="1" wrap="square" lIns="45700" tIns="45700" rIns="45700" bIns="45700" anchor="t" anchorCtr="0">
            <a:noAutofit/>
          </a:bodyPr>
          <a:lstStyle/>
          <a:p>
            <a:pPr marL="0" marR="0" lvl="0" indent="0" algn="ctr" rtl="0">
              <a:lnSpc>
                <a:spcPct val="150000"/>
              </a:lnSpc>
              <a:spcBef>
                <a:spcPts val="0"/>
              </a:spcBef>
              <a:spcAft>
                <a:spcPts val="0"/>
              </a:spcAft>
              <a:buClr>
                <a:srgbClr val="000000"/>
              </a:buClr>
              <a:buSzPts val="6600"/>
              <a:buFont typeface="Arial"/>
              <a:buNone/>
            </a:pPr>
            <a:r>
              <a:rPr lang="fr-FR" sz="3900" b="1" dirty="0">
                <a:latin typeface="Times New Roman"/>
                <a:ea typeface="Times New Roman"/>
                <a:cs typeface="Times New Roman"/>
                <a:sym typeface="Times New Roman"/>
              </a:rPr>
              <a:t>Chapitre 1 : Introduction aux systèmes basés sur le Web</a:t>
            </a:r>
            <a:endParaRPr sz="3900" b="1" i="0" u="none" strike="noStrike" cap="none" dirty="0">
              <a:solidFill>
                <a:srgbClr val="000000"/>
              </a:solidFill>
              <a:latin typeface="Times New Roman"/>
              <a:ea typeface="Times New Roman"/>
              <a:cs typeface="Times New Roman"/>
              <a:sym typeface="Times New Roman"/>
            </a:endParaRPr>
          </a:p>
        </p:txBody>
      </p:sp>
      <p:sp>
        <p:nvSpPr>
          <p:cNvPr id="68" name="Google Shape;68;p1"/>
          <p:cNvSpPr txBox="1">
            <a:spLocks noGrp="1"/>
          </p:cNvSpPr>
          <p:nvPr>
            <p:ph type="sldNum" idx="12"/>
          </p:nvPr>
        </p:nvSpPr>
        <p:spPr>
          <a:xfrm>
            <a:off x="11089821" y="6404293"/>
            <a:ext cx="263980" cy="269239"/>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a:t>
            </a:fld>
            <a:endParaRPr/>
          </a:p>
        </p:txBody>
      </p:sp>
      <p:pic>
        <p:nvPicPr>
          <p:cNvPr id="69" name="Google Shape;69;p1"/>
          <p:cNvPicPr preferRelativeResize="0"/>
          <p:nvPr/>
        </p:nvPicPr>
        <p:blipFill rotWithShape="1">
          <a:blip r:embed="rId10">
            <a:alphaModFix/>
          </a:blip>
          <a:srcRect/>
          <a:stretch/>
        </p:blipFill>
        <p:spPr>
          <a:xfrm>
            <a:off x="125175" y="294100"/>
            <a:ext cx="4832320" cy="1750425"/>
          </a:xfrm>
          <a:prstGeom prst="rect">
            <a:avLst/>
          </a:prstGeom>
          <a:noFill/>
          <a:ln>
            <a:noFill/>
          </a:ln>
        </p:spPr>
      </p:pic>
      <p:sp>
        <p:nvSpPr>
          <p:cNvPr id="70" name="Google Shape;70;p1"/>
          <p:cNvSpPr txBox="1">
            <a:spLocks noGrp="1"/>
          </p:cNvSpPr>
          <p:nvPr>
            <p:ph type="subTitle" idx="4294967295"/>
          </p:nvPr>
        </p:nvSpPr>
        <p:spPr>
          <a:xfrm>
            <a:off x="2312888" y="2725875"/>
            <a:ext cx="7245900" cy="1042500"/>
          </a:xfrm>
          <a:prstGeom prst="rect">
            <a:avLst/>
          </a:prstGeom>
          <a:noFill/>
          <a:ln>
            <a:noFill/>
          </a:ln>
        </p:spPr>
        <p:txBody>
          <a:bodyPr spcFirstLastPara="1" wrap="square" lIns="45700" tIns="45700" rIns="45700" bIns="45700" anchor="t" anchorCtr="0">
            <a:noAutofit/>
          </a:bodyPr>
          <a:lstStyle/>
          <a:p>
            <a:pPr marL="0" marR="0" lvl="0" indent="0" algn="ctr" rtl="0">
              <a:lnSpc>
                <a:spcPct val="150000"/>
              </a:lnSpc>
              <a:spcBef>
                <a:spcPts val="0"/>
              </a:spcBef>
              <a:spcAft>
                <a:spcPts val="0"/>
              </a:spcAft>
              <a:buClr>
                <a:srgbClr val="000000"/>
              </a:buClr>
              <a:buSzPts val="6600"/>
              <a:buFont typeface="Arial"/>
              <a:buNone/>
            </a:pPr>
            <a:r>
              <a:rPr lang="fr-FR" sz="3900" b="1" dirty="0">
                <a:latin typeface="Times New Roman"/>
                <a:ea typeface="Times New Roman"/>
                <a:cs typeface="Times New Roman"/>
                <a:sym typeface="Times New Roman"/>
              </a:rPr>
              <a:t>Architecture Orientée Services</a:t>
            </a:r>
            <a:endParaRPr sz="3900" b="1" i="0" u="none" strike="noStrike" cap="none" dirty="0">
              <a:solidFill>
                <a:srgbClr val="000000"/>
              </a:solidFill>
              <a:latin typeface="Times New Roman"/>
              <a:ea typeface="Times New Roman"/>
              <a:cs typeface="Times New Roman"/>
              <a:sym typeface="Times New Roman"/>
            </a:endParaRPr>
          </a:p>
        </p:txBody>
      </p:sp>
      <p:sp>
        <p:nvSpPr>
          <p:cNvPr id="71" name="Google Shape;71;p1"/>
          <p:cNvSpPr txBox="1"/>
          <p:nvPr/>
        </p:nvSpPr>
        <p:spPr>
          <a:xfrm>
            <a:off x="4842325" y="6443025"/>
            <a:ext cx="427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a:latin typeface="Times New Roman"/>
                <a:ea typeface="Times New Roman"/>
                <a:cs typeface="Times New Roman"/>
                <a:sym typeface="Times New Roman"/>
              </a:rPr>
              <a:t>Année universitaire : 2023-2024</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g25b1bb62912_0_14" descr="Picture 2"/>
          <p:cNvPicPr preferRelativeResize="0"/>
          <p:nvPr/>
        </p:nvPicPr>
        <p:blipFill rotWithShape="1">
          <a:blip r:embed="rId3">
            <a:alphaModFix/>
          </a:blip>
          <a:srcRect/>
          <a:stretch/>
        </p:blipFill>
        <p:spPr>
          <a:xfrm>
            <a:off x="0" y="-14121"/>
            <a:ext cx="12652622" cy="6886241"/>
          </a:xfrm>
          <a:prstGeom prst="rect">
            <a:avLst/>
          </a:prstGeom>
          <a:noFill/>
          <a:ln>
            <a:noFill/>
          </a:ln>
        </p:spPr>
      </p:pic>
      <p:sp>
        <p:nvSpPr>
          <p:cNvPr id="86" name="Google Shape;86;g25b1bb62912_0_1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2</a:t>
            </a:fld>
            <a:endParaRPr/>
          </a:p>
        </p:txBody>
      </p:sp>
      <p:pic>
        <p:nvPicPr>
          <p:cNvPr id="87" name="Google Shape;87;g25b1bb62912_0_14" descr="Picture 3"/>
          <p:cNvPicPr preferRelativeResize="0"/>
          <p:nvPr/>
        </p:nvPicPr>
        <p:blipFill rotWithShape="1">
          <a:blip r:embed="rId4">
            <a:alphaModFix/>
          </a:blip>
          <a:srcRect/>
          <a:stretch/>
        </p:blipFill>
        <p:spPr>
          <a:xfrm flipH="1">
            <a:off x="9102766" y="-205530"/>
            <a:ext cx="3978841" cy="2344124"/>
          </a:xfrm>
          <a:prstGeom prst="rect">
            <a:avLst/>
          </a:prstGeom>
          <a:noFill/>
          <a:ln>
            <a:noFill/>
          </a:ln>
        </p:spPr>
      </p:pic>
      <p:pic>
        <p:nvPicPr>
          <p:cNvPr id="89" name="Google Shape;89;g25b1bb62912_0_14" descr="Image 10"/>
          <p:cNvPicPr preferRelativeResize="0"/>
          <p:nvPr/>
        </p:nvPicPr>
        <p:blipFill rotWithShape="1">
          <a:blip r:embed="rId5">
            <a:alphaModFix/>
          </a:blip>
          <a:srcRect/>
          <a:stretch/>
        </p:blipFill>
        <p:spPr>
          <a:xfrm>
            <a:off x="831813" y="359910"/>
            <a:ext cx="585321" cy="579782"/>
          </a:xfrm>
          <a:prstGeom prst="rect">
            <a:avLst/>
          </a:prstGeom>
          <a:noFill/>
          <a:ln>
            <a:noFill/>
          </a:ln>
        </p:spPr>
      </p:pic>
      <p:sp>
        <p:nvSpPr>
          <p:cNvPr id="90" name="Google Shape;90;g25b1bb62912_0_14"/>
          <p:cNvSpPr txBox="1"/>
          <p:nvPr/>
        </p:nvSpPr>
        <p:spPr>
          <a:xfrm>
            <a:off x="1503500" y="277925"/>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Plan</a:t>
            </a:r>
            <a:endParaRPr sz="2700" b="1" dirty="0">
              <a:solidFill>
                <a:schemeClr val="dk1"/>
              </a:solidFill>
              <a:latin typeface="Times New Roman"/>
              <a:ea typeface="Times New Roman"/>
              <a:cs typeface="Times New Roman"/>
              <a:sym typeface="Times New Roman"/>
            </a:endParaRPr>
          </a:p>
        </p:txBody>
      </p:sp>
      <p:sp>
        <p:nvSpPr>
          <p:cNvPr id="2" name="Google Shape;79;p2">
            <a:extLst>
              <a:ext uri="{FF2B5EF4-FFF2-40B4-BE49-F238E27FC236}">
                <a16:creationId xmlns:a16="http://schemas.microsoft.com/office/drawing/2014/main" id="{BFF39196-8FDA-03C1-0D65-1BB225D37968}"/>
              </a:ext>
            </a:extLst>
          </p:cNvPr>
          <p:cNvSpPr txBox="1"/>
          <p:nvPr/>
        </p:nvSpPr>
        <p:spPr>
          <a:xfrm>
            <a:off x="1086214" y="1712976"/>
            <a:ext cx="8825700" cy="4671761"/>
          </a:xfrm>
          <a:prstGeom prst="rect">
            <a:avLst/>
          </a:prstGeom>
          <a:noFill/>
          <a:ln>
            <a:noFill/>
          </a:ln>
        </p:spPr>
        <p:txBody>
          <a:bodyPr spcFirstLastPara="1" wrap="square" lIns="91425" tIns="91425" rIns="91425" bIns="91425" anchor="t" anchorCtr="0">
            <a:spAutoFit/>
          </a:bodyPr>
          <a:lstStyle/>
          <a:p>
            <a:pPr marL="457200" marR="0" lvl="0" indent="-400050" algn="l" rtl="0">
              <a:lnSpc>
                <a:spcPct val="107916"/>
              </a:lnSpc>
              <a:spcBef>
                <a:spcPts val="0"/>
              </a:spcBef>
              <a:spcAft>
                <a:spcPts val="0"/>
              </a:spcAft>
              <a:buClrTx/>
              <a:buSzPts val="2700"/>
              <a:buFont typeface="Times New Roman"/>
              <a:buChar char="❖"/>
            </a:pPr>
            <a:r>
              <a:rPr lang="fr-FR" sz="2700" dirty="0">
                <a:solidFill>
                  <a:schemeClr val="tx1"/>
                </a:solidFill>
                <a:latin typeface="Times New Roman"/>
                <a:ea typeface="Times New Roman"/>
                <a:cs typeface="Times New Roman"/>
                <a:sym typeface="Times New Roman"/>
              </a:rPr>
              <a:t>Fonctionnement du Web</a:t>
            </a:r>
            <a:endParaRPr sz="2700" dirty="0">
              <a:solidFill>
                <a:schemeClr val="tx1"/>
              </a:solidFill>
              <a:latin typeface="Times New Roman"/>
              <a:ea typeface="Times New Roman"/>
              <a:cs typeface="Times New Roman"/>
              <a:sym typeface="Times New Roman"/>
            </a:endParaRPr>
          </a:p>
          <a:p>
            <a:pPr marL="457200" marR="0" lvl="0" indent="-400050" algn="l" rtl="0">
              <a:lnSpc>
                <a:spcPct val="107916"/>
              </a:lnSpc>
              <a:spcBef>
                <a:spcPts val="0"/>
              </a:spcBef>
              <a:spcAft>
                <a:spcPts val="0"/>
              </a:spcAft>
              <a:buClrTx/>
              <a:buSzPts val="2700"/>
              <a:buFont typeface="Times New Roman"/>
              <a:buChar char="❖"/>
            </a:pPr>
            <a:r>
              <a:rPr lang="fr-FR" sz="2700" dirty="0">
                <a:solidFill>
                  <a:schemeClr val="tx1"/>
                </a:solidFill>
                <a:latin typeface="Times New Roman"/>
                <a:ea typeface="Times New Roman"/>
                <a:cs typeface="Times New Roman"/>
                <a:sym typeface="Times New Roman"/>
              </a:rPr>
              <a:t>Historique d’évolution du Web</a:t>
            </a:r>
            <a:endParaRPr sz="2700" dirty="0">
              <a:solidFill>
                <a:schemeClr val="tx1"/>
              </a:solidFill>
              <a:latin typeface="Times New Roman"/>
              <a:ea typeface="Times New Roman"/>
              <a:cs typeface="Times New Roman"/>
              <a:sym typeface="Times New Roman"/>
            </a:endParaRPr>
          </a:p>
          <a:p>
            <a:pPr marL="457200" marR="0" lvl="0" indent="-400050" algn="l" rtl="0">
              <a:lnSpc>
                <a:spcPct val="107916"/>
              </a:lnSpc>
              <a:spcBef>
                <a:spcPts val="0"/>
              </a:spcBef>
              <a:spcAft>
                <a:spcPts val="0"/>
              </a:spcAft>
              <a:buClrTx/>
              <a:buSzPts val="2700"/>
              <a:buFont typeface="Times New Roman"/>
              <a:buChar char="❖"/>
            </a:pPr>
            <a:r>
              <a:rPr lang="fr-FR" sz="2700" dirty="0">
                <a:solidFill>
                  <a:schemeClr val="tx1"/>
                </a:solidFill>
                <a:latin typeface="Times New Roman"/>
                <a:ea typeface="Times New Roman"/>
                <a:cs typeface="Times New Roman"/>
                <a:sym typeface="Times New Roman"/>
              </a:rPr>
              <a:t>Technologies liées au Web</a:t>
            </a:r>
          </a:p>
          <a:p>
            <a:pPr marL="457200" indent="-400050">
              <a:lnSpc>
                <a:spcPct val="107916"/>
              </a:lnSpc>
              <a:buClrTx/>
              <a:buSzPts val="2700"/>
              <a:buFont typeface="Times New Roman"/>
              <a:buChar char="❖"/>
            </a:pPr>
            <a:r>
              <a:rPr lang="fr-FR" sz="2700" dirty="0">
                <a:solidFill>
                  <a:schemeClr val="tx1"/>
                </a:solidFill>
                <a:latin typeface="Times New Roman"/>
                <a:ea typeface="Times New Roman"/>
                <a:cs typeface="Times New Roman"/>
                <a:sym typeface="Times New Roman"/>
              </a:rPr>
              <a:t>Contexte de communication </a:t>
            </a:r>
            <a:endParaRPr sz="2700" dirty="0">
              <a:solidFill>
                <a:schemeClr val="tx1"/>
              </a:solidFill>
              <a:latin typeface="Times New Roman"/>
              <a:ea typeface="Times New Roman"/>
              <a:cs typeface="Times New Roman"/>
              <a:sym typeface="Times New Roman"/>
            </a:endParaRPr>
          </a:p>
          <a:p>
            <a:pPr marL="457200" marR="0" lvl="0" indent="-400050" algn="l" rtl="0">
              <a:lnSpc>
                <a:spcPct val="107916"/>
              </a:lnSpc>
              <a:spcBef>
                <a:spcPts val="0"/>
              </a:spcBef>
              <a:spcAft>
                <a:spcPts val="0"/>
              </a:spcAft>
              <a:buClrTx/>
              <a:buSzPts val="2700"/>
              <a:buFont typeface="Times New Roman"/>
              <a:buChar char="❖"/>
            </a:pPr>
            <a:r>
              <a:rPr lang="fr-FR" sz="2700" dirty="0">
                <a:solidFill>
                  <a:schemeClr val="tx1"/>
                </a:solidFill>
                <a:latin typeface="Times New Roman"/>
                <a:ea typeface="Times New Roman"/>
                <a:cs typeface="Times New Roman"/>
                <a:sym typeface="Times New Roman"/>
              </a:rPr>
              <a:t>Paradigmes des architectures logicielles</a:t>
            </a:r>
          </a:p>
          <a:p>
            <a:pPr marL="457200" marR="0" lvl="0" indent="-400050" algn="l" rtl="0">
              <a:lnSpc>
                <a:spcPct val="107916"/>
              </a:lnSpc>
              <a:spcBef>
                <a:spcPts val="0"/>
              </a:spcBef>
              <a:spcAft>
                <a:spcPts val="0"/>
              </a:spcAft>
              <a:buClrTx/>
              <a:buSzPts val="2700"/>
              <a:buFont typeface="Times New Roman"/>
              <a:buChar char="❖"/>
            </a:pPr>
            <a:r>
              <a:rPr lang="fr-FR" sz="2700" dirty="0">
                <a:solidFill>
                  <a:schemeClr val="tx1"/>
                </a:solidFill>
                <a:latin typeface="Times New Roman"/>
                <a:ea typeface="Times New Roman"/>
                <a:cs typeface="Times New Roman"/>
                <a:sym typeface="Times New Roman"/>
              </a:rPr>
              <a:t>Le terme Service</a:t>
            </a:r>
            <a:endParaRPr sz="2700" dirty="0">
              <a:solidFill>
                <a:schemeClr val="tx1"/>
              </a:solidFill>
              <a:latin typeface="Times New Roman"/>
              <a:ea typeface="Times New Roman"/>
              <a:cs typeface="Times New Roman"/>
              <a:sym typeface="Times New Roman"/>
            </a:endParaRPr>
          </a:p>
          <a:p>
            <a:pPr marL="514350" marR="0" lvl="0" indent="-457200" algn="l" rtl="0">
              <a:lnSpc>
                <a:spcPct val="107916"/>
              </a:lnSpc>
              <a:spcBef>
                <a:spcPts val="0"/>
              </a:spcBef>
              <a:spcAft>
                <a:spcPts val="0"/>
              </a:spcAft>
              <a:buClrTx/>
              <a:buSzPts val="2700"/>
              <a:buFont typeface="Wingdings" panose="05000000000000000000" pitchFamily="2" charset="2"/>
              <a:buChar char="v"/>
            </a:pPr>
            <a:r>
              <a:rPr lang="fr-FR" sz="2700" dirty="0">
                <a:solidFill>
                  <a:schemeClr val="tx1"/>
                </a:solidFill>
                <a:latin typeface="Times New Roman"/>
                <a:ea typeface="Times New Roman"/>
                <a:cs typeface="Times New Roman"/>
                <a:sym typeface="Times New Roman"/>
              </a:rPr>
              <a:t>Middlewares</a:t>
            </a:r>
            <a:endParaRPr sz="2700" dirty="0">
              <a:solidFill>
                <a:schemeClr val="tx1"/>
              </a:solidFill>
              <a:latin typeface="Times New Roman"/>
              <a:ea typeface="Times New Roman"/>
              <a:cs typeface="Times New Roman"/>
              <a:sym typeface="Times New Roman"/>
            </a:endParaRPr>
          </a:p>
          <a:p>
            <a:pPr marL="457200" marR="0" lvl="0" indent="-400050" algn="l" rtl="0">
              <a:lnSpc>
                <a:spcPct val="107916"/>
              </a:lnSpc>
              <a:spcBef>
                <a:spcPts val="0"/>
              </a:spcBef>
              <a:spcAft>
                <a:spcPts val="0"/>
              </a:spcAft>
              <a:buClrTx/>
              <a:buSzPts val="2700"/>
              <a:buFont typeface="Times New Roman"/>
              <a:buChar char="❖"/>
            </a:pPr>
            <a:r>
              <a:rPr lang="fr-FR" sz="2700" dirty="0">
                <a:solidFill>
                  <a:schemeClr val="tx1"/>
                </a:solidFill>
                <a:latin typeface="Times New Roman"/>
                <a:ea typeface="Times New Roman"/>
                <a:cs typeface="Times New Roman"/>
                <a:sym typeface="Times New Roman"/>
              </a:rPr>
              <a:t>Service Web</a:t>
            </a:r>
          </a:p>
          <a:p>
            <a:pPr marL="457200" indent="-400050">
              <a:lnSpc>
                <a:spcPct val="107916"/>
              </a:lnSpc>
              <a:buClrTx/>
              <a:buSzPts val="2700"/>
              <a:buFont typeface="Times New Roman"/>
              <a:buChar char="❖"/>
            </a:pPr>
            <a:r>
              <a:rPr lang="fr-FR" sz="2700" dirty="0">
                <a:solidFill>
                  <a:schemeClr val="tx1"/>
                </a:solidFill>
                <a:latin typeface="Times New Roman"/>
                <a:ea typeface="Times New Roman"/>
                <a:cs typeface="Times New Roman"/>
                <a:sym typeface="Times New Roman"/>
              </a:rPr>
              <a:t>Principes d’un service Web </a:t>
            </a:r>
            <a:endParaRPr sz="2700" dirty="0">
              <a:solidFill>
                <a:schemeClr val="tx1"/>
              </a:solidFill>
              <a:latin typeface="Times New Roman"/>
              <a:ea typeface="Times New Roman"/>
              <a:cs typeface="Times New Roman"/>
              <a:sym typeface="Times New Roman"/>
            </a:endParaRPr>
          </a:p>
          <a:p>
            <a:pPr marL="457200" marR="0" lvl="0" indent="-400050" algn="l" rtl="0">
              <a:lnSpc>
                <a:spcPct val="107916"/>
              </a:lnSpc>
              <a:spcBef>
                <a:spcPts val="0"/>
              </a:spcBef>
              <a:spcAft>
                <a:spcPts val="0"/>
              </a:spcAft>
              <a:buClrTx/>
              <a:buSzPts val="2700"/>
              <a:buFont typeface="Times New Roman"/>
              <a:buChar char="❖"/>
            </a:pPr>
            <a:r>
              <a:rPr lang="fr-FR" sz="2700" dirty="0">
                <a:solidFill>
                  <a:schemeClr val="tx1"/>
                </a:solidFill>
                <a:latin typeface="Times New Roman"/>
                <a:ea typeface="Times New Roman"/>
                <a:cs typeface="Times New Roman"/>
                <a:sym typeface="Times New Roman"/>
              </a:rPr>
              <a:t>Avantages des services web</a:t>
            </a:r>
            <a:endParaRPr sz="2700" dirty="0">
              <a:solidFill>
                <a:schemeClr val="tx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g25b1bb62912_0_14" descr="Picture 2"/>
          <p:cNvPicPr preferRelativeResize="0"/>
          <p:nvPr/>
        </p:nvPicPr>
        <p:blipFill rotWithShape="1">
          <a:blip r:embed="rId3">
            <a:alphaModFix/>
          </a:blip>
          <a:srcRect/>
          <a:stretch/>
        </p:blipFill>
        <p:spPr>
          <a:xfrm>
            <a:off x="6" y="-14117"/>
            <a:ext cx="12652622" cy="6886241"/>
          </a:xfrm>
          <a:prstGeom prst="rect">
            <a:avLst/>
          </a:prstGeom>
          <a:noFill/>
          <a:ln>
            <a:noFill/>
          </a:ln>
        </p:spPr>
      </p:pic>
      <p:sp>
        <p:nvSpPr>
          <p:cNvPr id="86" name="Google Shape;86;g25b1bb62912_0_1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3</a:t>
            </a:fld>
            <a:endParaRPr/>
          </a:p>
        </p:txBody>
      </p:sp>
      <p:pic>
        <p:nvPicPr>
          <p:cNvPr id="87" name="Google Shape;87;g25b1bb62912_0_14" descr="Picture 3"/>
          <p:cNvPicPr preferRelativeResize="0"/>
          <p:nvPr/>
        </p:nvPicPr>
        <p:blipFill rotWithShape="1">
          <a:blip r:embed="rId4">
            <a:alphaModFix/>
          </a:blip>
          <a:srcRect/>
          <a:stretch/>
        </p:blipFill>
        <p:spPr>
          <a:xfrm flipH="1">
            <a:off x="9102766" y="-205530"/>
            <a:ext cx="3978841" cy="2344124"/>
          </a:xfrm>
          <a:prstGeom prst="rect">
            <a:avLst/>
          </a:prstGeom>
          <a:noFill/>
          <a:ln>
            <a:noFill/>
          </a:ln>
        </p:spPr>
      </p:pic>
      <p:pic>
        <p:nvPicPr>
          <p:cNvPr id="89" name="Google Shape;89;g25b1bb62912_0_14" descr="Image 10"/>
          <p:cNvPicPr preferRelativeResize="0"/>
          <p:nvPr/>
        </p:nvPicPr>
        <p:blipFill rotWithShape="1">
          <a:blip r:embed="rId5">
            <a:alphaModFix/>
          </a:blip>
          <a:srcRect/>
          <a:stretch/>
        </p:blipFill>
        <p:spPr>
          <a:xfrm>
            <a:off x="831813" y="359910"/>
            <a:ext cx="585321" cy="579782"/>
          </a:xfrm>
          <a:prstGeom prst="rect">
            <a:avLst/>
          </a:prstGeom>
          <a:noFill/>
          <a:ln>
            <a:noFill/>
          </a:ln>
        </p:spPr>
      </p:pic>
      <p:sp>
        <p:nvSpPr>
          <p:cNvPr id="90" name="Google Shape;90;g25b1bb62912_0_14"/>
          <p:cNvSpPr txBox="1"/>
          <p:nvPr/>
        </p:nvSpPr>
        <p:spPr>
          <a:xfrm>
            <a:off x="1503500" y="277925"/>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Fonctionnement du Web</a:t>
            </a:r>
            <a:endParaRPr sz="2700" b="1" dirty="0">
              <a:solidFill>
                <a:schemeClr val="dk1"/>
              </a:solidFill>
              <a:latin typeface="Times New Roman"/>
              <a:ea typeface="Times New Roman"/>
              <a:cs typeface="Times New Roman"/>
              <a:sym typeface="Times New Roman"/>
            </a:endParaRPr>
          </a:p>
        </p:txBody>
      </p:sp>
      <p:pic>
        <p:nvPicPr>
          <p:cNvPr id="91" name="Google Shape;91;g25b1bb62912_0_14"/>
          <p:cNvPicPr preferRelativeResize="0"/>
          <p:nvPr/>
        </p:nvPicPr>
        <p:blipFill>
          <a:blip r:embed="rId6">
            <a:alphaModFix/>
          </a:blip>
          <a:stretch>
            <a:fillRect/>
          </a:stretch>
        </p:blipFill>
        <p:spPr>
          <a:xfrm>
            <a:off x="1240227" y="1990051"/>
            <a:ext cx="9055000" cy="3352875"/>
          </a:xfrm>
          <a:prstGeom prst="rect">
            <a:avLst/>
          </a:prstGeom>
          <a:noFill/>
          <a:ln>
            <a:noFill/>
          </a:ln>
        </p:spPr>
      </p:pic>
      <p:sp>
        <p:nvSpPr>
          <p:cNvPr id="92" name="Google Shape;92;g25b1bb62912_0_14"/>
          <p:cNvSpPr txBox="1"/>
          <p:nvPr/>
        </p:nvSpPr>
        <p:spPr>
          <a:xfrm>
            <a:off x="3752625" y="3198150"/>
            <a:ext cx="123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800">
                <a:latin typeface="Times New Roman"/>
                <a:ea typeface="Times New Roman"/>
                <a:cs typeface="Times New Roman"/>
                <a:sym typeface="Times New Roman"/>
              </a:rPr>
              <a:t>Requête</a:t>
            </a:r>
            <a:r>
              <a:rPr lang="fr-FR">
                <a:latin typeface="Calibri"/>
                <a:ea typeface="Calibri"/>
                <a:cs typeface="Calibri"/>
                <a:sym typeface="Calibri"/>
              </a:rPr>
              <a:t> </a:t>
            </a:r>
            <a:endParaRPr>
              <a:latin typeface="Calibri"/>
              <a:ea typeface="Calibri"/>
              <a:cs typeface="Calibri"/>
              <a:sym typeface="Calibri"/>
            </a:endParaRPr>
          </a:p>
        </p:txBody>
      </p:sp>
      <p:sp>
        <p:nvSpPr>
          <p:cNvPr id="93" name="Google Shape;93;g25b1bb62912_0_14"/>
          <p:cNvSpPr txBox="1"/>
          <p:nvPr/>
        </p:nvSpPr>
        <p:spPr>
          <a:xfrm>
            <a:off x="6096000" y="3815650"/>
            <a:ext cx="1239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800">
                <a:latin typeface="Times New Roman"/>
                <a:ea typeface="Times New Roman"/>
                <a:cs typeface="Times New Roman"/>
                <a:sym typeface="Times New Roman"/>
              </a:rPr>
              <a:t>Réponse</a:t>
            </a:r>
            <a:r>
              <a:rPr lang="fr-FR">
                <a:latin typeface="Calibri"/>
                <a:ea typeface="Calibri"/>
                <a:cs typeface="Calibri"/>
                <a:sym typeface="Calibri"/>
              </a:rPr>
              <a:t> </a:t>
            </a:r>
            <a:endParaRPr>
              <a:latin typeface="Calibri"/>
              <a:ea typeface="Calibri"/>
              <a:cs typeface="Calibri"/>
              <a:sym typeface="Calibri"/>
            </a:endParaRPr>
          </a:p>
        </p:txBody>
      </p:sp>
      <p:sp>
        <p:nvSpPr>
          <p:cNvPr id="94" name="Google Shape;94;g25b1bb62912_0_14"/>
          <p:cNvSpPr txBox="1"/>
          <p:nvPr/>
        </p:nvSpPr>
        <p:spPr>
          <a:xfrm>
            <a:off x="1503500" y="1990050"/>
            <a:ext cx="6702900" cy="4617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fr-FR" sz="1800">
                <a:latin typeface="Times New Roman"/>
                <a:ea typeface="Times New Roman"/>
                <a:cs typeface="Times New Roman"/>
                <a:sym typeface="Times New Roman"/>
              </a:rPr>
              <a:t>Communication entre un serveur et un client</a:t>
            </a:r>
            <a:r>
              <a:rPr lang="fr-FR">
                <a:latin typeface="Calibri"/>
                <a:ea typeface="Calibri"/>
                <a:cs typeface="Calibri"/>
                <a:sym typeface="Calibri"/>
              </a:rPr>
              <a:t> </a:t>
            </a:r>
            <a:endParaRPr>
              <a:latin typeface="Calibri"/>
              <a:ea typeface="Calibri"/>
              <a:cs typeface="Calibri"/>
              <a:sym typeface="Calibri"/>
            </a:endParaRPr>
          </a:p>
        </p:txBody>
      </p:sp>
      <p:pic>
        <p:nvPicPr>
          <p:cNvPr id="95" name="Google Shape;95;g25b1bb62912_0_14"/>
          <p:cNvPicPr preferRelativeResize="0"/>
          <p:nvPr/>
        </p:nvPicPr>
        <p:blipFill>
          <a:blip r:embed="rId7">
            <a:alphaModFix/>
          </a:blip>
          <a:stretch>
            <a:fillRect/>
          </a:stretch>
        </p:blipFill>
        <p:spPr>
          <a:xfrm>
            <a:off x="2452000" y="3429000"/>
            <a:ext cx="276900" cy="276900"/>
          </a:xfrm>
          <a:prstGeom prst="rect">
            <a:avLst/>
          </a:prstGeom>
          <a:noFill/>
          <a:ln>
            <a:noFill/>
          </a:ln>
        </p:spPr>
      </p:pic>
      <p:sp>
        <p:nvSpPr>
          <p:cNvPr id="96" name="Google Shape;96;g25b1bb62912_0_14"/>
          <p:cNvSpPr txBox="1"/>
          <p:nvPr/>
        </p:nvSpPr>
        <p:spPr>
          <a:xfrm>
            <a:off x="1447950" y="5396900"/>
            <a:ext cx="8069100" cy="7389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fr-FR" sz="1800">
                <a:latin typeface="Times New Roman"/>
                <a:ea typeface="Times New Roman"/>
                <a:cs typeface="Times New Roman"/>
                <a:sym typeface="Times New Roman"/>
              </a:rPr>
              <a:t>Le Web est désormais indispensable pour accéder à l'information, établir des communications et interagir avec divers services en ligne à l'échelle mondiale.</a:t>
            </a:r>
            <a:endParaRPr/>
          </a:p>
        </p:txBody>
      </p:sp>
    </p:spTree>
    <p:extLst>
      <p:ext uri="{BB962C8B-B14F-4D97-AF65-F5344CB8AC3E}">
        <p14:creationId xmlns:p14="http://schemas.microsoft.com/office/powerpoint/2010/main" val="3317416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101" name="Google Shape;101;g25b1bb62912_0_108" descr="Picture 2"/>
          <p:cNvPicPr preferRelativeResize="0"/>
          <p:nvPr/>
        </p:nvPicPr>
        <p:blipFill rotWithShape="1">
          <a:blip r:embed="rId3">
            <a:alphaModFix/>
          </a:blip>
          <a:srcRect/>
          <a:stretch/>
        </p:blipFill>
        <p:spPr>
          <a:xfrm>
            <a:off x="6" y="-125917"/>
            <a:ext cx="12652622" cy="6886241"/>
          </a:xfrm>
          <a:prstGeom prst="rect">
            <a:avLst/>
          </a:prstGeom>
          <a:noFill/>
          <a:ln>
            <a:noFill/>
          </a:ln>
        </p:spPr>
      </p:pic>
      <p:pic>
        <p:nvPicPr>
          <p:cNvPr id="102" name="Google Shape;102;g25b1bb62912_0_108"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103" name="Google Shape;103;g25b1bb62912_0_108"/>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4</a:t>
            </a:fld>
            <a:endParaRPr/>
          </a:p>
        </p:txBody>
      </p:sp>
      <p:pic>
        <p:nvPicPr>
          <p:cNvPr id="104" name="Google Shape;104;g25b1bb62912_0_108" descr="Picture 3"/>
          <p:cNvPicPr preferRelativeResize="0"/>
          <p:nvPr/>
        </p:nvPicPr>
        <p:blipFill rotWithShape="1">
          <a:blip r:embed="rId5">
            <a:alphaModFix/>
          </a:blip>
          <a:srcRect/>
          <a:stretch/>
        </p:blipFill>
        <p:spPr>
          <a:xfrm flipH="1">
            <a:off x="9036941" y="-481980"/>
            <a:ext cx="3978841" cy="2344124"/>
          </a:xfrm>
          <a:prstGeom prst="rect">
            <a:avLst/>
          </a:prstGeom>
          <a:noFill/>
          <a:ln>
            <a:noFill/>
          </a:ln>
        </p:spPr>
      </p:pic>
      <p:sp>
        <p:nvSpPr>
          <p:cNvPr id="106" name="Google Shape;106;g25b1bb62912_0_108"/>
          <p:cNvSpPr txBox="1"/>
          <p:nvPr/>
        </p:nvSpPr>
        <p:spPr>
          <a:xfrm>
            <a:off x="1503500" y="508100"/>
            <a:ext cx="7212000" cy="1082061"/>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Historique d’évolution du Web</a:t>
            </a:r>
            <a:endParaRPr sz="2700" b="1" dirty="0">
              <a:solidFill>
                <a:schemeClr val="dk1"/>
              </a:solidFill>
              <a:latin typeface="Times New Roman"/>
              <a:ea typeface="Times New Roman"/>
              <a:cs typeface="Times New Roman"/>
              <a:sym typeface="Times New Roman"/>
            </a:endParaRPr>
          </a:p>
          <a:p>
            <a:pPr marL="0" lvl="0" indent="0" algn="l" rtl="0">
              <a:lnSpc>
                <a:spcPct val="107916"/>
              </a:lnSpc>
              <a:spcBef>
                <a:spcPts val="0"/>
              </a:spcBef>
              <a:spcAft>
                <a:spcPts val="0"/>
              </a:spcAft>
              <a:buNone/>
            </a:pPr>
            <a:endParaRPr sz="2700" b="1" dirty="0">
              <a:solidFill>
                <a:schemeClr val="dk1"/>
              </a:solidFill>
              <a:latin typeface="Times New Roman"/>
              <a:ea typeface="Times New Roman"/>
              <a:cs typeface="Times New Roman"/>
              <a:sym typeface="Times New Roman"/>
            </a:endParaRPr>
          </a:p>
        </p:txBody>
      </p:sp>
      <p:sp>
        <p:nvSpPr>
          <p:cNvPr id="107" name="Google Shape;107;g25b1bb62912_0_108"/>
          <p:cNvSpPr/>
          <p:nvPr/>
        </p:nvSpPr>
        <p:spPr>
          <a:xfrm>
            <a:off x="1092550" y="1556900"/>
            <a:ext cx="2092800" cy="8028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2000">
                <a:solidFill>
                  <a:schemeClr val="dk1"/>
                </a:solidFill>
                <a:latin typeface="Times New Roman"/>
                <a:ea typeface="Times New Roman"/>
                <a:cs typeface="Times New Roman"/>
                <a:sym typeface="Times New Roman"/>
              </a:rPr>
              <a:t>Page web static</a:t>
            </a:r>
            <a:endParaRPr sz="200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fr-FR" sz="1700">
                <a:solidFill>
                  <a:schemeClr val="dk1"/>
                </a:solidFill>
                <a:latin typeface="Times New Roman"/>
                <a:ea typeface="Times New Roman"/>
                <a:cs typeface="Times New Roman"/>
                <a:sym typeface="Times New Roman"/>
              </a:rPr>
              <a:t>1990</a:t>
            </a:r>
            <a:r>
              <a:rPr lang="fr-FR" sz="3000">
                <a:solidFill>
                  <a:schemeClr val="dk1"/>
                </a:solidFill>
                <a:latin typeface="Times New Roman"/>
                <a:ea typeface="Times New Roman"/>
                <a:cs typeface="Times New Roman"/>
                <a:sym typeface="Times New Roman"/>
              </a:rPr>
              <a:t> </a:t>
            </a:r>
            <a:endParaRPr sz="3000">
              <a:solidFill>
                <a:schemeClr val="dk1"/>
              </a:solidFill>
              <a:latin typeface="Times New Roman"/>
              <a:ea typeface="Times New Roman"/>
              <a:cs typeface="Times New Roman"/>
              <a:sym typeface="Times New Roman"/>
            </a:endParaRPr>
          </a:p>
        </p:txBody>
      </p:sp>
      <p:sp>
        <p:nvSpPr>
          <p:cNvPr id="108" name="Google Shape;108;g25b1bb62912_0_108"/>
          <p:cNvSpPr txBox="1"/>
          <p:nvPr/>
        </p:nvSpPr>
        <p:spPr>
          <a:xfrm>
            <a:off x="3235425" y="1569475"/>
            <a:ext cx="6400800" cy="10488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fr-FR" sz="2000" b="1">
                <a:latin typeface="Times New Roman"/>
                <a:ea typeface="Times New Roman"/>
                <a:cs typeface="Times New Roman"/>
                <a:sym typeface="Times New Roman"/>
              </a:rPr>
              <a:t>Les pages web</a:t>
            </a:r>
            <a:r>
              <a:rPr lang="fr-FR" sz="2000">
                <a:latin typeface="Times New Roman"/>
                <a:ea typeface="Times New Roman"/>
                <a:cs typeface="Times New Roman"/>
                <a:sym typeface="Times New Roman"/>
              </a:rPr>
              <a:t> static sont stockées sur le serveur sous la forme d'un fichier HTML distinct.</a:t>
            </a:r>
            <a:endParaRPr sz="1500">
              <a:latin typeface="Times New Roman"/>
              <a:ea typeface="Times New Roman"/>
              <a:cs typeface="Times New Roman"/>
              <a:sym typeface="Times New Roman"/>
            </a:endParaRPr>
          </a:p>
        </p:txBody>
      </p:sp>
      <p:sp>
        <p:nvSpPr>
          <p:cNvPr id="109" name="Google Shape;109;g25b1bb62912_0_108"/>
          <p:cNvSpPr txBox="1"/>
          <p:nvPr/>
        </p:nvSpPr>
        <p:spPr>
          <a:xfrm>
            <a:off x="1473538" y="2453600"/>
            <a:ext cx="10992300" cy="1108200"/>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SzPts val="2000"/>
              <a:buFont typeface="Times New Roman"/>
              <a:buChar char="❏"/>
            </a:pPr>
            <a:r>
              <a:rPr lang="fr-FR" sz="2000">
                <a:latin typeface="Times New Roman"/>
                <a:ea typeface="Times New Roman"/>
                <a:cs typeface="Times New Roman"/>
                <a:sym typeface="Times New Roman"/>
              </a:rPr>
              <a:t>Une </a:t>
            </a:r>
            <a:r>
              <a:rPr lang="fr-FR" sz="2000" dirty="0">
                <a:latin typeface="Times New Roman"/>
                <a:ea typeface="Times New Roman"/>
                <a:cs typeface="Times New Roman"/>
                <a:sym typeface="Times New Roman"/>
              </a:rPr>
              <a:t>page web statique affiche le même code HTML stocké sur le serveur, sans personnalisation préalable, et les mises à jour nécessitent des modifications manuelles du document HTML correspondant.</a:t>
            </a:r>
            <a:endParaRPr sz="2400" dirty="0">
              <a:latin typeface="Times New Roman"/>
              <a:ea typeface="Times New Roman"/>
              <a:cs typeface="Times New Roman"/>
              <a:sym typeface="Times New Roman"/>
            </a:endParaRPr>
          </a:p>
        </p:txBody>
      </p:sp>
      <p:sp>
        <p:nvSpPr>
          <p:cNvPr id="110" name="Google Shape;110;g25b1bb62912_0_108"/>
          <p:cNvSpPr/>
          <p:nvPr/>
        </p:nvSpPr>
        <p:spPr>
          <a:xfrm>
            <a:off x="2110625" y="3614300"/>
            <a:ext cx="2695800" cy="802800"/>
          </a:xfrm>
          <a:prstGeom prst="rect">
            <a:avLst/>
          </a:prstGeom>
          <a:solidFill>
            <a:srgbClr val="BABAB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sz="1900">
                <a:latin typeface="Times New Roman"/>
                <a:ea typeface="Times New Roman"/>
                <a:cs typeface="Times New Roman"/>
                <a:sym typeface="Times New Roman"/>
              </a:rPr>
              <a:t>Navigateur web</a:t>
            </a:r>
            <a:endParaRPr sz="1900">
              <a:latin typeface="Times New Roman"/>
              <a:ea typeface="Times New Roman"/>
              <a:cs typeface="Times New Roman"/>
              <a:sym typeface="Times New Roman"/>
            </a:endParaRPr>
          </a:p>
        </p:txBody>
      </p:sp>
      <p:sp>
        <p:nvSpPr>
          <p:cNvPr id="111" name="Google Shape;111;g25b1bb62912_0_108"/>
          <p:cNvSpPr/>
          <p:nvPr/>
        </p:nvSpPr>
        <p:spPr>
          <a:xfrm>
            <a:off x="7841525" y="3614300"/>
            <a:ext cx="2295600" cy="802800"/>
          </a:xfrm>
          <a:prstGeom prst="rect">
            <a:avLst/>
          </a:prstGeom>
          <a:solidFill>
            <a:srgbClr val="BABABA"/>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sz="1900">
                <a:latin typeface="Times New Roman"/>
                <a:ea typeface="Times New Roman"/>
                <a:cs typeface="Times New Roman"/>
                <a:sym typeface="Times New Roman"/>
              </a:rPr>
              <a:t>Serveur Web</a:t>
            </a:r>
            <a:endParaRPr sz="1900">
              <a:latin typeface="Times New Roman"/>
              <a:ea typeface="Times New Roman"/>
              <a:cs typeface="Times New Roman"/>
              <a:sym typeface="Times New Roman"/>
            </a:endParaRPr>
          </a:p>
        </p:txBody>
      </p:sp>
      <p:cxnSp>
        <p:nvCxnSpPr>
          <p:cNvPr id="112" name="Google Shape;112;g25b1bb62912_0_108"/>
          <p:cNvCxnSpPr/>
          <p:nvPr/>
        </p:nvCxnSpPr>
        <p:spPr>
          <a:xfrm rot="10800000" flipH="1">
            <a:off x="4985075" y="3755925"/>
            <a:ext cx="2618700" cy="5700"/>
          </a:xfrm>
          <a:prstGeom prst="straightConnector1">
            <a:avLst/>
          </a:prstGeom>
          <a:noFill/>
          <a:ln w="9525" cap="flat" cmpd="sng">
            <a:solidFill>
              <a:schemeClr val="dk1"/>
            </a:solidFill>
            <a:prstDash val="solid"/>
            <a:round/>
            <a:headEnd type="none" w="med" len="med"/>
            <a:tailEnd type="triangle" w="med" len="med"/>
          </a:ln>
        </p:spPr>
      </p:cxnSp>
      <p:sp>
        <p:nvSpPr>
          <p:cNvPr id="113" name="Google Shape;113;g25b1bb62912_0_108"/>
          <p:cNvSpPr txBox="1"/>
          <p:nvPr/>
        </p:nvSpPr>
        <p:spPr>
          <a:xfrm>
            <a:off x="4840700" y="3355725"/>
            <a:ext cx="2021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b="1">
                <a:latin typeface="Times New Roman"/>
                <a:ea typeface="Times New Roman"/>
                <a:cs typeface="Times New Roman"/>
                <a:sym typeface="Times New Roman"/>
              </a:rPr>
              <a:t>demande une page web</a:t>
            </a:r>
            <a:endParaRPr b="1">
              <a:latin typeface="Times New Roman"/>
              <a:ea typeface="Times New Roman"/>
              <a:cs typeface="Times New Roman"/>
              <a:sym typeface="Times New Roman"/>
            </a:endParaRPr>
          </a:p>
        </p:txBody>
      </p:sp>
      <p:cxnSp>
        <p:nvCxnSpPr>
          <p:cNvPr id="114" name="Google Shape;114;g25b1bb62912_0_108"/>
          <p:cNvCxnSpPr/>
          <p:nvPr/>
        </p:nvCxnSpPr>
        <p:spPr>
          <a:xfrm rot="10800000">
            <a:off x="4922525" y="4340900"/>
            <a:ext cx="2743800" cy="3900"/>
          </a:xfrm>
          <a:prstGeom prst="straightConnector1">
            <a:avLst/>
          </a:prstGeom>
          <a:noFill/>
          <a:ln w="9525" cap="flat" cmpd="sng">
            <a:solidFill>
              <a:schemeClr val="dk1"/>
            </a:solidFill>
            <a:prstDash val="solid"/>
            <a:round/>
            <a:headEnd type="none" w="med" len="med"/>
            <a:tailEnd type="triangle" w="med" len="med"/>
          </a:ln>
        </p:spPr>
      </p:cxnSp>
      <p:sp>
        <p:nvSpPr>
          <p:cNvPr id="115" name="Google Shape;115;g25b1bb62912_0_108"/>
          <p:cNvSpPr txBox="1"/>
          <p:nvPr/>
        </p:nvSpPr>
        <p:spPr>
          <a:xfrm>
            <a:off x="5872625" y="3944600"/>
            <a:ext cx="2021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b="1">
                <a:latin typeface="Times New Roman"/>
                <a:ea typeface="Times New Roman"/>
                <a:cs typeface="Times New Roman"/>
                <a:sym typeface="Times New Roman"/>
              </a:rPr>
              <a:t>retourne une page web</a:t>
            </a:r>
            <a:endParaRPr b="1">
              <a:latin typeface="Times New Roman"/>
              <a:ea typeface="Times New Roman"/>
              <a:cs typeface="Times New Roman"/>
              <a:sym typeface="Times New Roman"/>
            </a:endParaRPr>
          </a:p>
        </p:txBody>
      </p:sp>
      <p:pic>
        <p:nvPicPr>
          <p:cNvPr id="116" name="Google Shape;116;g25b1bb62912_0_108"/>
          <p:cNvPicPr preferRelativeResize="0"/>
          <p:nvPr/>
        </p:nvPicPr>
        <p:blipFill>
          <a:blip r:embed="rId6">
            <a:alphaModFix/>
          </a:blip>
          <a:stretch>
            <a:fillRect/>
          </a:stretch>
        </p:blipFill>
        <p:spPr>
          <a:xfrm>
            <a:off x="9334325" y="3614300"/>
            <a:ext cx="802799" cy="802799"/>
          </a:xfrm>
          <a:prstGeom prst="rect">
            <a:avLst/>
          </a:prstGeom>
          <a:noFill/>
          <a:ln>
            <a:noFill/>
          </a:ln>
        </p:spPr>
      </p:pic>
      <p:pic>
        <p:nvPicPr>
          <p:cNvPr id="117" name="Google Shape;117;g25b1bb62912_0_108"/>
          <p:cNvPicPr preferRelativeResize="0"/>
          <p:nvPr/>
        </p:nvPicPr>
        <p:blipFill>
          <a:blip r:embed="rId7">
            <a:alphaModFix/>
          </a:blip>
          <a:stretch>
            <a:fillRect/>
          </a:stretch>
        </p:blipFill>
        <p:spPr>
          <a:xfrm>
            <a:off x="3974450" y="3661313"/>
            <a:ext cx="708774" cy="708774"/>
          </a:xfrm>
          <a:prstGeom prst="rect">
            <a:avLst/>
          </a:prstGeom>
          <a:noFill/>
          <a:ln>
            <a:noFill/>
          </a:ln>
        </p:spPr>
      </p:pic>
      <p:sp>
        <p:nvSpPr>
          <p:cNvPr id="118" name="Google Shape;118;g25b1bb62912_0_108"/>
          <p:cNvSpPr/>
          <p:nvPr/>
        </p:nvSpPr>
        <p:spPr>
          <a:xfrm>
            <a:off x="1092550" y="4572700"/>
            <a:ext cx="2514300" cy="10488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fr-FR" sz="2000">
                <a:solidFill>
                  <a:schemeClr val="dk1"/>
                </a:solidFill>
                <a:latin typeface="Times New Roman"/>
                <a:ea typeface="Times New Roman"/>
                <a:cs typeface="Times New Roman"/>
                <a:sym typeface="Times New Roman"/>
              </a:rPr>
              <a:t>Page web dynamique</a:t>
            </a:r>
            <a:endParaRPr sz="200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fr-FR" sz="1700">
                <a:solidFill>
                  <a:schemeClr val="dk1"/>
                </a:solidFill>
                <a:latin typeface="Times New Roman"/>
                <a:ea typeface="Times New Roman"/>
                <a:cs typeface="Times New Roman"/>
                <a:sym typeface="Times New Roman"/>
              </a:rPr>
              <a:t>1993</a:t>
            </a:r>
            <a:r>
              <a:rPr lang="fr-FR"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sp>
        <p:nvSpPr>
          <p:cNvPr id="119" name="Google Shape;119;g25b1bb62912_0_108"/>
          <p:cNvSpPr txBox="1"/>
          <p:nvPr/>
        </p:nvSpPr>
        <p:spPr>
          <a:xfrm>
            <a:off x="3774975" y="4572700"/>
            <a:ext cx="7479600" cy="11082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None/>
            </a:pPr>
            <a:r>
              <a:rPr lang="fr-FR" sz="2000" b="1">
                <a:latin typeface="Times New Roman"/>
                <a:ea typeface="Times New Roman"/>
                <a:cs typeface="Times New Roman"/>
                <a:sym typeface="Times New Roman"/>
              </a:rPr>
              <a:t>Les pages web dynamiques</a:t>
            </a:r>
            <a:r>
              <a:rPr lang="fr-FR" sz="2000">
                <a:latin typeface="Times New Roman"/>
                <a:ea typeface="Times New Roman"/>
                <a:cs typeface="Times New Roman"/>
                <a:sym typeface="Times New Roman"/>
              </a:rPr>
              <a:t> sont générées au moment de l'accès. Cela signifie que la page web n'existe pas sur un serveur avant d'être générée.</a:t>
            </a:r>
            <a:endParaRPr sz="2400">
              <a:solidFill>
                <a:schemeClr val="dk1"/>
              </a:solidFill>
              <a:latin typeface="Times New Roman"/>
              <a:ea typeface="Times New Roman"/>
              <a:cs typeface="Times New Roman"/>
              <a:sym typeface="Times New Roman"/>
            </a:endParaRPr>
          </a:p>
        </p:txBody>
      </p:sp>
      <p:cxnSp>
        <p:nvCxnSpPr>
          <p:cNvPr id="120" name="Google Shape;120;g25b1bb62912_0_108"/>
          <p:cNvCxnSpPr/>
          <p:nvPr/>
        </p:nvCxnSpPr>
        <p:spPr>
          <a:xfrm>
            <a:off x="1250525" y="2594325"/>
            <a:ext cx="0" cy="17298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125" name="Google Shape;125;g25b1bb62912_0_137" descr="Picture 2"/>
          <p:cNvPicPr preferRelativeResize="0"/>
          <p:nvPr/>
        </p:nvPicPr>
        <p:blipFill rotWithShape="1">
          <a:blip r:embed="rId3">
            <a:alphaModFix/>
          </a:blip>
          <a:srcRect/>
          <a:stretch/>
        </p:blipFill>
        <p:spPr>
          <a:xfrm>
            <a:off x="6" y="-125917"/>
            <a:ext cx="12652622" cy="6886241"/>
          </a:xfrm>
          <a:prstGeom prst="rect">
            <a:avLst/>
          </a:prstGeom>
          <a:noFill/>
          <a:ln>
            <a:noFill/>
          </a:ln>
        </p:spPr>
      </p:pic>
      <p:pic>
        <p:nvPicPr>
          <p:cNvPr id="126" name="Google Shape;126;g25b1bb62912_0_137"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127" name="Google Shape;127;g25b1bb62912_0_137"/>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5</a:t>
            </a:fld>
            <a:endParaRPr/>
          </a:p>
        </p:txBody>
      </p:sp>
      <p:pic>
        <p:nvPicPr>
          <p:cNvPr id="128" name="Google Shape;128;g25b1bb62912_0_137" descr="Picture 3"/>
          <p:cNvPicPr preferRelativeResize="0"/>
          <p:nvPr/>
        </p:nvPicPr>
        <p:blipFill rotWithShape="1">
          <a:blip r:embed="rId5">
            <a:alphaModFix/>
          </a:blip>
          <a:srcRect/>
          <a:stretch/>
        </p:blipFill>
        <p:spPr>
          <a:xfrm flipH="1">
            <a:off x="8984291" y="-613630"/>
            <a:ext cx="3978841" cy="2344124"/>
          </a:xfrm>
          <a:prstGeom prst="rect">
            <a:avLst/>
          </a:prstGeom>
          <a:noFill/>
          <a:ln>
            <a:noFill/>
          </a:ln>
        </p:spPr>
      </p:pic>
      <p:sp>
        <p:nvSpPr>
          <p:cNvPr id="130" name="Google Shape;130;g25b1bb62912_0_137"/>
          <p:cNvSpPr txBox="1"/>
          <p:nvPr/>
        </p:nvSpPr>
        <p:spPr>
          <a:xfrm>
            <a:off x="1503500" y="508100"/>
            <a:ext cx="7212000" cy="1082061"/>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Historique d’évolution du Web</a:t>
            </a:r>
            <a:endParaRPr sz="2700" b="1" dirty="0">
              <a:solidFill>
                <a:schemeClr val="dk1"/>
              </a:solidFill>
              <a:latin typeface="Times New Roman"/>
              <a:ea typeface="Times New Roman"/>
              <a:cs typeface="Times New Roman"/>
              <a:sym typeface="Times New Roman"/>
            </a:endParaRPr>
          </a:p>
          <a:p>
            <a:pPr marL="0" lvl="0" indent="0" algn="l" rtl="0">
              <a:lnSpc>
                <a:spcPct val="107916"/>
              </a:lnSpc>
              <a:spcBef>
                <a:spcPts val="0"/>
              </a:spcBef>
              <a:spcAft>
                <a:spcPts val="0"/>
              </a:spcAft>
              <a:buNone/>
            </a:pPr>
            <a:endParaRPr sz="2700" b="1" dirty="0">
              <a:solidFill>
                <a:schemeClr val="dk1"/>
              </a:solidFill>
              <a:latin typeface="Times New Roman"/>
              <a:ea typeface="Times New Roman"/>
              <a:cs typeface="Times New Roman"/>
              <a:sym typeface="Times New Roman"/>
            </a:endParaRPr>
          </a:p>
        </p:txBody>
      </p:sp>
      <p:sp>
        <p:nvSpPr>
          <p:cNvPr id="131" name="Google Shape;131;g25b1bb62912_0_137"/>
          <p:cNvSpPr/>
          <p:nvPr/>
        </p:nvSpPr>
        <p:spPr>
          <a:xfrm>
            <a:off x="394900" y="1556900"/>
            <a:ext cx="2895900" cy="11613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2000">
                <a:solidFill>
                  <a:schemeClr val="dk1"/>
                </a:solidFill>
                <a:latin typeface="Times New Roman"/>
                <a:ea typeface="Times New Roman"/>
                <a:cs typeface="Times New Roman"/>
                <a:sym typeface="Times New Roman"/>
              </a:rPr>
              <a:t>Applications web</a:t>
            </a:r>
            <a:endParaRPr sz="200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fr-FR" sz="1200">
                <a:solidFill>
                  <a:schemeClr val="dk1"/>
                </a:solidFill>
                <a:latin typeface="Times New Roman"/>
                <a:ea typeface="Times New Roman"/>
                <a:cs typeface="Times New Roman"/>
                <a:sym typeface="Times New Roman"/>
              </a:rPr>
              <a:t>Au milieu des années 1990</a:t>
            </a:r>
            <a:r>
              <a:rPr lang="fr-FR"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p:txBody>
      </p:sp>
      <p:sp>
        <p:nvSpPr>
          <p:cNvPr id="132" name="Google Shape;132;g25b1bb62912_0_137"/>
          <p:cNvSpPr txBox="1"/>
          <p:nvPr/>
        </p:nvSpPr>
        <p:spPr>
          <a:xfrm>
            <a:off x="3356600" y="1169875"/>
            <a:ext cx="7479600" cy="1919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endParaRPr sz="2000">
              <a:latin typeface="Times New Roman"/>
              <a:ea typeface="Times New Roman"/>
              <a:cs typeface="Times New Roman"/>
              <a:sym typeface="Times New Roman"/>
            </a:endParaRPr>
          </a:p>
          <a:p>
            <a:pPr marL="0" lvl="0" indent="0" algn="just" rtl="0">
              <a:spcBef>
                <a:spcPts val="0"/>
              </a:spcBef>
              <a:spcAft>
                <a:spcPts val="0"/>
              </a:spcAft>
              <a:buNone/>
            </a:pPr>
            <a:r>
              <a:rPr lang="fr-FR" sz="2000" b="1">
                <a:solidFill>
                  <a:schemeClr val="dk1"/>
                </a:solidFill>
                <a:latin typeface="Times New Roman"/>
                <a:ea typeface="Times New Roman"/>
                <a:cs typeface="Times New Roman"/>
                <a:sym typeface="Times New Roman"/>
              </a:rPr>
              <a:t>Les applications web</a:t>
            </a:r>
            <a:r>
              <a:rPr lang="fr-FR" sz="2000">
                <a:latin typeface="Times New Roman"/>
                <a:ea typeface="Times New Roman"/>
                <a:cs typeface="Times New Roman"/>
                <a:sym typeface="Times New Roman"/>
              </a:rPr>
              <a:t> peuvent fonctionner sur n'importe quel système d'exploitation, à condition qu'un navigateur web compatible soit installé. </a:t>
            </a:r>
            <a:endParaRPr sz="2000">
              <a:latin typeface="Times New Roman"/>
              <a:ea typeface="Times New Roman"/>
              <a:cs typeface="Times New Roman"/>
              <a:sym typeface="Times New Roman"/>
            </a:endParaRPr>
          </a:p>
          <a:p>
            <a:pPr marL="0" lvl="0" indent="0" algn="just" rtl="0">
              <a:spcBef>
                <a:spcPts val="0"/>
              </a:spcBef>
              <a:spcAft>
                <a:spcPts val="0"/>
              </a:spcAft>
              <a:buClr>
                <a:schemeClr val="dk1"/>
              </a:buClr>
              <a:buSzPts val="1100"/>
              <a:buFont typeface="Arial"/>
              <a:buNone/>
            </a:pPr>
            <a:r>
              <a:rPr lang="fr-FR" sz="2000">
                <a:solidFill>
                  <a:schemeClr val="dk1"/>
                </a:solidFill>
                <a:latin typeface="Times New Roman"/>
                <a:ea typeface="Times New Roman"/>
                <a:cs typeface="Times New Roman"/>
                <a:sym typeface="Times New Roman"/>
              </a:rPr>
              <a:t>Cela signifie qu'elles sont indépendantes de la plate-forme.</a:t>
            </a:r>
            <a:endParaRPr sz="2000">
              <a:latin typeface="Times New Roman"/>
              <a:ea typeface="Times New Roman"/>
              <a:cs typeface="Times New Roman"/>
              <a:sym typeface="Times New Roman"/>
            </a:endParaRPr>
          </a:p>
        </p:txBody>
      </p:sp>
      <p:sp>
        <p:nvSpPr>
          <p:cNvPr id="133" name="Google Shape;133;g25b1bb62912_0_137"/>
          <p:cNvSpPr/>
          <p:nvPr/>
        </p:nvSpPr>
        <p:spPr>
          <a:xfrm>
            <a:off x="394900" y="3451709"/>
            <a:ext cx="2961600" cy="11082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fr-FR" sz="2000" dirty="0">
                <a:solidFill>
                  <a:schemeClr val="dk1"/>
                </a:solidFill>
                <a:latin typeface="Times New Roman"/>
                <a:ea typeface="Times New Roman"/>
                <a:cs typeface="Times New Roman"/>
                <a:sym typeface="Times New Roman"/>
              </a:rPr>
              <a:t>Service Web</a:t>
            </a:r>
            <a:endParaRPr sz="2000" dirty="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r>
              <a:rPr lang="fr-FR" sz="1200" dirty="0">
                <a:solidFill>
                  <a:schemeClr val="dk1"/>
                </a:solidFill>
                <a:latin typeface="Times New Roman"/>
                <a:ea typeface="Times New Roman"/>
                <a:cs typeface="Times New Roman"/>
                <a:sym typeface="Times New Roman"/>
              </a:rPr>
              <a:t>2000</a:t>
            </a:r>
            <a:endParaRPr sz="2000" dirty="0">
              <a:solidFill>
                <a:schemeClr val="dk1"/>
              </a:solidFill>
              <a:latin typeface="Times New Roman"/>
              <a:ea typeface="Times New Roman"/>
              <a:cs typeface="Times New Roman"/>
              <a:sym typeface="Times New Roman"/>
            </a:endParaRPr>
          </a:p>
        </p:txBody>
      </p:sp>
      <p:sp>
        <p:nvSpPr>
          <p:cNvPr id="134" name="Google Shape;134;g25b1bb62912_0_137"/>
          <p:cNvSpPr txBox="1"/>
          <p:nvPr/>
        </p:nvSpPr>
        <p:spPr>
          <a:xfrm>
            <a:off x="3573175" y="3363909"/>
            <a:ext cx="7479600" cy="14160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None/>
            </a:pPr>
            <a:r>
              <a:rPr lang="fr-FR" sz="2000" dirty="0">
                <a:solidFill>
                  <a:schemeClr val="dk1"/>
                </a:solidFill>
                <a:latin typeface="Times New Roman"/>
                <a:ea typeface="Times New Roman"/>
                <a:cs typeface="Times New Roman"/>
                <a:sym typeface="Times New Roman"/>
              </a:rPr>
              <a:t>Le terme </a:t>
            </a:r>
            <a:r>
              <a:rPr lang="fr-FR" sz="2000" b="1" dirty="0">
                <a:solidFill>
                  <a:schemeClr val="dk1"/>
                </a:solidFill>
                <a:latin typeface="Times New Roman"/>
                <a:ea typeface="Times New Roman"/>
                <a:cs typeface="Times New Roman"/>
                <a:sym typeface="Times New Roman"/>
              </a:rPr>
              <a:t>service web </a:t>
            </a:r>
            <a:r>
              <a:rPr lang="fr-FR" sz="2000" dirty="0">
                <a:solidFill>
                  <a:schemeClr val="dk1"/>
                </a:solidFill>
                <a:latin typeface="Times New Roman"/>
                <a:ea typeface="Times New Roman"/>
                <a:cs typeface="Times New Roman"/>
                <a:sym typeface="Times New Roman"/>
              </a:rPr>
              <a:t>fait référence à une technologie permettant à des applications de communiquer entre elles via le Web en utilisant </a:t>
            </a:r>
            <a:r>
              <a:rPr lang="fr-FR" sz="2000" b="1" dirty="0">
                <a:solidFill>
                  <a:schemeClr val="dk1"/>
                </a:solidFill>
                <a:latin typeface="Times New Roman"/>
                <a:ea typeface="Times New Roman"/>
                <a:cs typeface="Times New Roman"/>
                <a:sym typeface="Times New Roman"/>
              </a:rPr>
              <a:t>des protocoles standardisés et des normes ouvertes </a:t>
            </a:r>
            <a:r>
              <a:rPr lang="fr-FR" sz="2000" dirty="0">
                <a:solidFill>
                  <a:schemeClr val="dk1"/>
                </a:solidFill>
                <a:latin typeface="Times New Roman"/>
                <a:ea typeface="Times New Roman"/>
                <a:cs typeface="Times New Roman"/>
                <a:sym typeface="Times New Roman"/>
              </a:rPr>
              <a:t>telles que HTTP, XML et JSON, qui sont faciles à manipuler par les machines..</a:t>
            </a:r>
            <a:endParaRPr sz="2400" dirty="0">
              <a:solidFill>
                <a:schemeClr val="dk1"/>
              </a:solidFill>
              <a:latin typeface="Times New Roman"/>
              <a:ea typeface="Times New Roman"/>
              <a:cs typeface="Times New Roman"/>
              <a:sym typeface="Times New Roman"/>
            </a:endParaRPr>
          </a:p>
        </p:txBody>
      </p:sp>
      <p:cxnSp>
        <p:nvCxnSpPr>
          <p:cNvPr id="135" name="Google Shape;135;g25b1bb62912_0_137"/>
          <p:cNvCxnSpPr>
            <a:cxnSpLocks/>
          </p:cNvCxnSpPr>
          <p:nvPr/>
        </p:nvCxnSpPr>
        <p:spPr>
          <a:xfrm>
            <a:off x="1842850" y="2794400"/>
            <a:ext cx="0" cy="522803"/>
          </a:xfrm>
          <a:prstGeom prst="straightConnector1">
            <a:avLst/>
          </a:prstGeom>
          <a:noFill/>
          <a:ln w="28575" cap="flat" cmpd="sng">
            <a:solidFill>
              <a:schemeClr val="dk1"/>
            </a:solidFill>
            <a:prstDash val="solid"/>
            <a:round/>
            <a:headEnd type="none" w="med" len="med"/>
            <a:tailEnd type="triangle" w="med" len="med"/>
          </a:ln>
        </p:spPr>
      </p:cxnSp>
      <p:pic>
        <p:nvPicPr>
          <p:cNvPr id="2052" name="Picture 4" descr="Multitâche : améliorer ou entraver la performance au travail ? -">
            <a:extLst>
              <a:ext uri="{FF2B5EF4-FFF2-40B4-BE49-F238E27FC236}">
                <a16:creationId xmlns:a16="http://schemas.microsoft.com/office/drawing/2014/main" id="{C146A5B3-D2A8-168C-1207-D4D3DF4681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8956" y="4605085"/>
            <a:ext cx="4155356" cy="23363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g25b1bb62912_0_23"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141" name="Google Shape;141;g25b1bb62912_0_23"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142" name="Google Shape;142;g25b1bb62912_0_23"/>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6</a:t>
            </a:fld>
            <a:endParaRPr/>
          </a:p>
        </p:txBody>
      </p:sp>
      <p:pic>
        <p:nvPicPr>
          <p:cNvPr id="143" name="Google Shape;143;g25b1bb62912_0_23" descr="Picture 3"/>
          <p:cNvPicPr preferRelativeResize="0"/>
          <p:nvPr/>
        </p:nvPicPr>
        <p:blipFill rotWithShape="1">
          <a:blip r:embed="rId5">
            <a:alphaModFix/>
          </a:blip>
          <a:srcRect/>
          <a:stretch/>
        </p:blipFill>
        <p:spPr>
          <a:xfrm flipH="1">
            <a:off x="9075541" y="-654555"/>
            <a:ext cx="3978841" cy="2344124"/>
          </a:xfrm>
          <a:prstGeom prst="rect">
            <a:avLst/>
          </a:prstGeom>
          <a:noFill/>
          <a:ln>
            <a:noFill/>
          </a:ln>
        </p:spPr>
      </p:pic>
      <p:sp>
        <p:nvSpPr>
          <p:cNvPr id="145" name="Google Shape;145;g25b1bb62912_0_23"/>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Technologies liées au Web</a:t>
            </a:r>
            <a:endParaRPr sz="2700" b="1" dirty="0">
              <a:solidFill>
                <a:schemeClr val="dk1"/>
              </a:solidFill>
              <a:latin typeface="Times New Roman"/>
              <a:ea typeface="Times New Roman"/>
              <a:cs typeface="Times New Roman"/>
              <a:sym typeface="Times New Roman"/>
            </a:endParaRPr>
          </a:p>
        </p:txBody>
      </p:sp>
      <p:sp>
        <p:nvSpPr>
          <p:cNvPr id="146" name="Google Shape;146;g25b1bb62912_0_23"/>
          <p:cNvSpPr txBox="1"/>
          <p:nvPr/>
        </p:nvSpPr>
        <p:spPr>
          <a:xfrm>
            <a:off x="831825" y="1689575"/>
            <a:ext cx="9586200" cy="2801400"/>
          </a:xfrm>
          <a:prstGeom prst="rect">
            <a:avLst/>
          </a:prstGeom>
          <a:noFill/>
          <a:ln>
            <a:noFill/>
          </a:ln>
        </p:spPr>
        <p:txBody>
          <a:bodyPr spcFirstLastPara="1" wrap="square" lIns="91425" tIns="91425" rIns="91425" bIns="91425" anchor="t" anchorCtr="0">
            <a:spAutoFit/>
          </a:bodyPr>
          <a:lstStyle/>
          <a:p>
            <a:pPr marL="457200" lvl="0" indent="-355600" algn="just" rtl="0">
              <a:lnSpc>
                <a:spcPct val="150000"/>
              </a:lnSpc>
              <a:spcBef>
                <a:spcPts val="0"/>
              </a:spcBef>
              <a:spcAft>
                <a:spcPts val="0"/>
              </a:spcAft>
              <a:buClr>
                <a:schemeClr val="dk1"/>
              </a:buClr>
              <a:buSzPts val="2000"/>
              <a:buFont typeface="Times New Roman"/>
              <a:buChar char="❏"/>
            </a:pPr>
            <a:r>
              <a:rPr lang="fr-FR" sz="2000">
                <a:solidFill>
                  <a:schemeClr val="dk1"/>
                </a:solidFill>
                <a:latin typeface="Times New Roman"/>
                <a:ea typeface="Times New Roman"/>
                <a:cs typeface="Times New Roman"/>
                <a:sym typeface="Times New Roman"/>
              </a:rPr>
              <a:t>Les technologies liées au Web comprennent des formats de données tels que HTML, XML et JSON pour structurer et échanger des informations. </a:t>
            </a:r>
            <a:endParaRPr sz="2000">
              <a:solidFill>
                <a:schemeClr val="dk1"/>
              </a:solidFill>
              <a:latin typeface="Times New Roman"/>
              <a:ea typeface="Times New Roman"/>
              <a:cs typeface="Times New Roman"/>
              <a:sym typeface="Times New Roman"/>
            </a:endParaRPr>
          </a:p>
          <a:p>
            <a:pPr marL="457200" lvl="0" indent="-355600" algn="just" rtl="0">
              <a:lnSpc>
                <a:spcPct val="150000"/>
              </a:lnSpc>
              <a:spcBef>
                <a:spcPts val="0"/>
              </a:spcBef>
              <a:spcAft>
                <a:spcPts val="0"/>
              </a:spcAft>
              <a:buClr>
                <a:schemeClr val="dk1"/>
              </a:buClr>
              <a:buSzPts val="2000"/>
              <a:buFont typeface="Times New Roman"/>
              <a:buChar char="❏"/>
            </a:pPr>
            <a:r>
              <a:rPr lang="fr-FR" sz="2000">
                <a:solidFill>
                  <a:schemeClr val="dk1"/>
                </a:solidFill>
                <a:latin typeface="Times New Roman"/>
                <a:ea typeface="Times New Roman"/>
                <a:cs typeface="Times New Roman"/>
                <a:sym typeface="Times New Roman"/>
              </a:rPr>
              <a:t>Le transfert de ces données est réalisé via les protocoles HTTP et TCP, utilisant des URI/URL pour localiser les ressources. </a:t>
            </a:r>
            <a:endParaRPr sz="2000">
              <a:solidFill>
                <a:schemeClr val="dk1"/>
              </a:solidFill>
              <a:latin typeface="Times New Roman"/>
              <a:ea typeface="Times New Roman"/>
              <a:cs typeface="Times New Roman"/>
              <a:sym typeface="Times New Roman"/>
            </a:endParaRPr>
          </a:p>
          <a:p>
            <a:pPr marL="457200" lvl="0" indent="-355600" algn="just" rtl="0">
              <a:lnSpc>
                <a:spcPct val="150000"/>
              </a:lnSpc>
              <a:spcBef>
                <a:spcPts val="0"/>
              </a:spcBef>
              <a:spcAft>
                <a:spcPts val="0"/>
              </a:spcAft>
              <a:buClr>
                <a:schemeClr val="dk1"/>
              </a:buClr>
              <a:buSzPts val="2000"/>
              <a:buFont typeface="Times New Roman"/>
              <a:buChar char="❏"/>
            </a:pPr>
            <a:r>
              <a:rPr lang="fr-FR" sz="2000">
                <a:solidFill>
                  <a:schemeClr val="dk1"/>
                </a:solidFill>
                <a:latin typeface="Times New Roman"/>
                <a:ea typeface="Times New Roman"/>
                <a:cs typeface="Times New Roman"/>
                <a:sym typeface="Times New Roman"/>
              </a:rPr>
              <a:t>Les requêtes et réponses HTTP sont organisées selon une structure spécifique, et les méthodes HTTP permettent d'effectuer différentes actions sur les ressources du Web.</a:t>
            </a:r>
            <a:endParaRPr/>
          </a:p>
        </p:txBody>
      </p:sp>
      <p:pic>
        <p:nvPicPr>
          <p:cNvPr id="147" name="Google Shape;147;g25b1bb62912_0_23"/>
          <p:cNvPicPr preferRelativeResize="0"/>
          <p:nvPr/>
        </p:nvPicPr>
        <p:blipFill>
          <a:blip r:embed="rId6">
            <a:alphaModFix/>
          </a:blip>
          <a:stretch>
            <a:fillRect/>
          </a:stretch>
        </p:blipFill>
        <p:spPr>
          <a:xfrm>
            <a:off x="10872300" y="2035825"/>
            <a:ext cx="1319700" cy="1319700"/>
          </a:xfrm>
          <a:prstGeom prst="rect">
            <a:avLst/>
          </a:prstGeom>
          <a:noFill/>
          <a:ln>
            <a:noFill/>
          </a:ln>
        </p:spPr>
      </p:pic>
      <p:pic>
        <p:nvPicPr>
          <p:cNvPr id="148" name="Google Shape;148;g25b1bb62912_0_23"/>
          <p:cNvPicPr preferRelativeResize="0"/>
          <p:nvPr/>
        </p:nvPicPr>
        <p:blipFill>
          <a:blip r:embed="rId7">
            <a:alphaModFix/>
          </a:blip>
          <a:stretch>
            <a:fillRect/>
          </a:stretch>
        </p:blipFill>
        <p:spPr>
          <a:xfrm>
            <a:off x="10872300" y="3532600"/>
            <a:ext cx="1540150" cy="1540150"/>
          </a:xfrm>
          <a:prstGeom prst="rect">
            <a:avLst/>
          </a:prstGeom>
          <a:noFill/>
          <a:ln>
            <a:noFill/>
          </a:ln>
        </p:spPr>
      </p:pic>
      <p:pic>
        <p:nvPicPr>
          <p:cNvPr id="149" name="Google Shape;149;g25b1bb62912_0_23"/>
          <p:cNvPicPr preferRelativeResize="0"/>
          <p:nvPr/>
        </p:nvPicPr>
        <p:blipFill>
          <a:blip r:embed="rId8">
            <a:alphaModFix/>
          </a:blip>
          <a:stretch>
            <a:fillRect/>
          </a:stretch>
        </p:blipFill>
        <p:spPr>
          <a:xfrm>
            <a:off x="11014875" y="5111025"/>
            <a:ext cx="1255000" cy="1255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g25b1bb62912_0_342"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155" name="Google Shape;155;g25b1bb62912_0_342"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156" name="Google Shape;156;g25b1bb62912_0_34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7</a:t>
            </a:fld>
            <a:endParaRPr/>
          </a:p>
        </p:txBody>
      </p:sp>
      <p:pic>
        <p:nvPicPr>
          <p:cNvPr id="157" name="Google Shape;157;g25b1bb62912_0_342" descr="Picture 3"/>
          <p:cNvPicPr preferRelativeResize="0"/>
          <p:nvPr/>
        </p:nvPicPr>
        <p:blipFill rotWithShape="1">
          <a:blip r:embed="rId5">
            <a:alphaModFix/>
          </a:blip>
          <a:srcRect/>
          <a:stretch/>
        </p:blipFill>
        <p:spPr>
          <a:xfrm flipH="1">
            <a:off x="9075541" y="-654555"/>
            <a:ext cx="3978841" cy="2344124"/>
          </a:xfrm>
          <a:prstGeom prst="rect">
            <a:avLst/>
          </a:prstGeom>
          <a:noFill/>
          <a:ln>
            <a:noFill/>
          </a:ln>
        </p:spPr>
      </p:pic>
      <p:sp>
        <p:nvSpPr>
          <p:cNvPr id="159" name="Google Shape;159;g25b1bb62912_0_34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Technologies liées au Web</a:t>
            </a:r>
            <a:endParaRPr sz="2700" b="1" dirty="0">
              <a:solidFill>
                <a:schemeClr val="dk1"/>
              </a:solidFill>
              <a:latin typeface="Times New Roman"/>
              <a:ea typeface="Times New Roman"/>
              <a:cs typeface="Times New Roman"/>
              <a:sym typeface="Times New Roman"/>
            </a:endParaRPr>
          </a:p>
        </p:txBody>
      </p:sp>
      <p:sp>
        <p:nvSpPr>
          <p:cNvPr id="160" name="Google Shape;160;g25b1bb62912_0_342"/>
          <p:cNvSpPr/>
          <p:nvPr/>
        </p:nvSpPr>
        <p:spPr>
          <a:xfrm>
            <a:off x="10135025" y="2446550"/>
            <a:ext cx="1891500" cy="1646400"/>
          </a:xfrm>
          <a:prstGeom prst="ellipse">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g25b1bb62912_0_342"/>
          <p:cNvSpPr/>
          <p:nvPr/>
        </p:nvSpPr>
        <p:spPr>
          <a:xfrm>
            <a:off x="10631675" y="3158925"/>
            <a:ext cx="898200" cy="797100"/>
          </a:xfrm>
          <a:prstGeom prst="ellipse">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g25b1bb62912_0_342"/>
          <p:cNvSpPr txBox="1"/>
          <p:nvPr/>
        </p:nvSpPr>
        <p:spPr>
          <a:xfrm>
            <a:off x="10856200" y="2704150"/>
            <a:ext cx="7837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b="1">
                <a:latin typeface="Times New Roman"/>
                <a:ea typeface="Times New Roman"/>
                <a:cs typeface="Times New Roman"/>
                <a:sym typeface="Times New Roman"/>
              </a:rPr>
              <a:t>URI</a:t>
            </a:r>
            <a:endParaRPr b="1">
              <a:latin typeface="Times New Roman"/>
              <a:ea typeface="Times New Roman"/>
              <a:cs typeface="Times New Roman"/>
              <a:sym typeface="Times New Roman"/>
            </a:endParaRPr>
          </a:p>
        </p:txBody>
      </p:sp>
      <p:sp>
        <p:nvSpPr>
          <p:cNvPr id="163" name="Google Shape;163;g25b1bb62912_0_342"/>
          <p:cNvSpPr txBox="1"/>
          <p:nvPr/>
        </p:nvSpPr>
        <p:spPr>
          <a:xfrm>
            <a:off x="10826338" y="3357375"/>
            <a:ext cx="7837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b="1">
                <a:latin typeface="Times New Roman"/>
                <a:ea typeface="Times New Roman"/>
                <a:cs typeface="Times New Roman"/>
                <a:sym typeface="Times New Roman"/>
              </a:rPr>
              <a:t>URL</a:t>
            </a:r>
            <a:endParaRPr b="1">
              <a:latin typeface="Times New Roman"/>
              <a:ea typeface="Times New Roman"/>
              <a:cs typeface="Times New Roman"/>
              <a:sym typeface="Times New Roman"/>
            </a:endParaRPr>
          </a:p>
        </p:txBody>
      </p:sp>
      <p:sp>
        <p:nvSpPr>
          <p:cNvPr id="164" name="Google Shape;164;g25b1bb62912_0_342"/>
          <p:cNvSpPr txBox="1"/>
          <p:nvPr/>
        </p:nvSpPr>
        <p:spPr>
          <a:xfrm>
            <a:off x="2517325" y="1108400"/>
            <a:ext cx="3000000" cy="492600"/>
          </a:xfrm>
          <a:prstGeom prst="rect">
            <a:avLst/>
          </a:prstGeom>
          <a:noFill/>
          <a:ln>
            <a:noFill/>
          </a:ln>
        </p:spPr>
        <p:txBody>
          <a:bodyPr spcFirstLastPara="1" wrap="square" lIns="91425" tIns="91425" rIns="91425" bIns="91425" anchor="t" anchorCtr="0">
            <a:spAutoFit/>
          </a:bodyPr>
          <a:lstStyle/>
          <a:p>
            <a:pPr marL="457200" lvl="0" indent="0" algn="just" rtl="0">
              <a:lnSpc>
                <a:spcPct val="150000"/>
              </a:lnSpc>
              <a:spcBef>
                <a:spcPts val="0"/>
              </a:spcBef>
              <a:spcAft>
                <a:spcPts val="0"/>
              </a:spcAft>
              <a:buClr>
                <a:schemeClr val="dk1"/>
              </a:buClr>
              <a:buSzPts val="1100"/>
              <a:buFont typeface="Arial"/>
              <a:buNone/>
            </a:pPr>
            <a:r>
              <a:rPr lang="fr-FR" sz="2000">
                <a:solidFill>
                  <a:schemeClr val="dk1"/>
                </a:solidFill>
                <a:latin typeface="Times New Roman"/>
                <a:ea typeface="Times New Roman"/>
                <a:cs typeface="Times New Roman"/>
                <a:sym typeface="Times New Roman"/>
              </a:rPr>
              <a:t>URI/URL</a:t>
            </a:r>
            <a:endParaRPr/>
          </a:p>
        </p:txBody>
      </p:sp>
      <p:sp>
        <p:nvSpPr>
          <p:cNvPr id="165" name="Google Shape;165;g25b1bb62912_0_342"/>
          <p:cNvSpPr txBox="1"/>
          <p:nvPr/>
        </p:nvSpPr>
        <p:spPr>
          <a:xfrm>
            <a:off x="925275" y="1768925"/>
            <a:ext cx="8556600" cy="8004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chemeClr val="dk1"/>
              </a:buClr>
              <a:buSzPts val="2000"/>
              <a:buFont typeface="Times New Roman"/>
              <a:buChar char="❏"/>
            </a:pPr>
            <a:r>
              <a:rPr lang="fr-FR" sz="2000" b="1">
                <a:solidFill>
                  <a:schemeClr val="dk1"/>
                </a:solidFill>
                <a:latin typeface="Times New Roman"/>
                <a:ea typeface="Times New Roman"/>
                <a:cs typeface="Times New Roman"/>
                <a:sym typeface="Times New Roman"/>
              </a:rPr>
              <a:t>URI</a:t>
            </a:r>
            <a:r>
              <a:rPr lang="fr-FR" sz="2000">
                <a:solidFill>
                  <a:schemeClr val="dk1"/>
                </a:solidFill>
                <a:latin typeface="Times New Roman"/>
                <a:ea typeface="Times New Roman"/>
                <a:cs typeface="Times New Roman"/>
                <a:sym typeface="Times New Roman"/>
              </a:rPr>
              <a:t> (Uniform Resource Identifier) : C'est un identifiant unique utilisé pour identifier une ressource de manière générique.</a:t>
            </a:r>
            <a:endParaRPr/>
          </a:p>
        </p:txBody>
      </p:sp>
      <p:sp>
        <p:nvSpPr>
          <p:cNvPr id="166" name="Google Shape;166;g25b1bb62912_0_342"/>
          <p:cNvSpPr txBox="1"/>
          <p:nvPr/>
        </p:nvSpPr>
        <p:spPr>
          <a:xfrm>
            <a:off x="925275" y="2612550"/>
            <a:ext cx="7944300" cy="8004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Clr>
                <a:schemeClr val="dk1"/>
              </a:buClr>
              <a:buSzPts val="2000"/>
              <a:buFont typeface="Times New Roman"/>
              <a:buChar char="❏"/>
            </a:pPr>
            <a:r>
              <a:rPr lang="fr-FR" sz="2000" b="1" dirty="0">
                <a:solidFill>
                  <a:schemeClr val="dk1"/>
                </a:solidFill>
                <a:latin typeface="Times New Roman"/>
                <a:ea typeface="Times New Roman"/>
                <a:cs typeface="Times New Roman"/>
                <a:sym typeface="Times New Roman"/>
              </a:rPr>
              <a:t>URL</a:t>
            </a:r>
            <a:r>
              <a:rPr lang="fr-FR" sz="2000" dirty="0">
                <a:solidFill>
                  <a:schemeClr val="dk1"/>
                </a:solidFill>
                <a:latin typeface="Times New Roman"/>
                <a:ea typeface="Times New Roman"/>
                <a:cs typeface="Times New Roman"/>
                <a:sym typeface="Times New Roman"/>
              </a:rPr>
              <a:t> (Uniform Resource Locator) : C'est une forme spécifique d'URI qui indique l'emplacement exact d'une ressource sur le Web. </a:t>
            </a:r>
            <a:endParaRPr dirty="0"/>
          </a:p>
        </p:txBody>
      </p:sp>
      <p:sp>
        <p:nvSpPr>
          <p:cNvPr id="167" name="Google Shape;167;g25b1bb62912_0_342"/>
          <p:cNvSpPr txBox="1"/>
          <p:nvPr/>
        </p:nvSpPr>
        <p:spPr>
          <a:xfrm>
            <a:off x="939445" y="4039263"/>
            <a:ext cx="9886893" cy="203129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dirty="0">
                <a:solidFill>
                  <a:schemeClr val="dk1"/>
                </a:solidFill>
                <a:latin typeface="Times New Roman"/>
                <a:ea typeface="Times New Roman"/>
                <a:cs typeface="Times New Roman"/>
                <a:sym typeface="Times New Roman"/>
              </a:rPr>
              <a:t>Remarque :</a:t>
            </a:r>
          </a:p>
          <a:p>
            <a:pPr marL="0" lvl="0" indent="0" algn="l" rtl="0">
              <a:spcBef>
                <a:spcPts val="0"/>
              </a:spcBef>
              <a:spcAft>
                <a:spcPts val="0"/>
              </a:spcAft>
              <a:buNone/>
            </a:pPr>
            <a:endParaRPr lang="fr-FR" sz="2000" dirty="0">
              <a:solidFill>
                <a:schemeClr val="dk1"/>
              </a:solidFill>
              <a:latin typeface="Times New Roman"/>
              <a:ea typeface="Times New Roman"/>
              <a:cs typeface="Times New Roman"/>
              <a:sym typeface="Times New Roman"/>
            </a:endParaRPr>
          </a:p>
          <a:p>
            <a:pPr marL="0" lvl="0" indent="0" rtl="0">
              <a:spcBef>
                <a:spcPts val="0"/>
              </a:spcBef>
              <a:spcAft>
                <a:spcPts val="0"/>
              </a:spcAft>
              <a:buNone/>
            </a:pPr>
            <a:r>
              <a:rPr lang="fr-FR" sz="2000" dirty="0">
                <a:solidFill>
                  <a:schemeClr val="dk1"/>
                </a:solidFill>
                <a:latin typeface="Times New Roman"/>
                <a:ea typeface="Times New Roman"/>
                <a:cs typeface="Times New Roman"/>
                <a:sym typeface="Times New Roman"/>
              </a:rPr>
              <a:t>L'URI n'a pas besoin de fournir explicitement l'adresse IP. Le navigateur est capable de résoudre l'adresse IP correspondant au nom d'hôte fourni dans l'URI. </a:t>
            </a:r>
          </a:p>
          <a:p>
            <a:pPr marL="0" lvl="0" indent="0" rtl="0">
              <a:spcBef>
                <a:spcPts val="0"/>
              </a:spcBef>
              <a:spcAft>
                <a:spcPts val="0"/>
              </a:spcAft>
              <a:buNone/>
            </a:pPr>
            <a:r>
              <a:rPr lang="fr-FR" sz="2000" dirty="0">
                <a:solidFill>
                  <a:schemeClr val="dk1"/>
                </a:solidFill>
                <a:latin typeface="Times New Roman"/>
                <a:ea typeface="Times New Roman"/>
                <a:cs typeface="Times New Roman"/>
                <a:sym typeface="Times New Roman"/>
              </a:rPr>
              <a:t>Le navigateur va soit connaissent déjà l'adresse IP correspondant à le nom d'hôte, ou s'il ne le sait pas, il interrogera un Serveur DNS (Domain Name System) pour le </a:t>
            </a:r>
            <a:r>
              <a:rPr lang="fr-FR" sz="2000" dirty="0">
                <a:solidFill>
                  <a:schemeClr val="dk1"/>
                </a:solidFill>
                <a:latin typeface="Times New Roman"/>
                <a:cs typeface="Times New Roman"/>
                <a:sym typeface="Times New Roman"/>
              </a:rPr>
              <a:t>savoir</a:t>
            </a:r>
            <a:r>
              <a:rPr lang="fr-FR" sz="2000" dirty="0">
                <a:solidFill>
                  <a:schemeClr val="dk1"/>
                </a:solidFill>
                <a:latin typeface="Times New Roman"/>
                <a:ea typeface="Times New Roman"/>
                <a:cs typeface="Times New Roman"/>
                <a:sym typeface="Times New Roman"/>
              </a:rPr>
              <a:t>.</a:t>
            </a:r>
            <a:endParaRPr sz="2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g25b1bb62912_0_392"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173" name="Google Shape;173;g25b1bb62912_0_392"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174" name="Google Shape;174;g25b1bb62912_0_392"/>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8</a:t>
            </a:fld>
            <a:endParaRPr/>
          </a:p>
        </p:txBody>
      </p:sp>
      <p:pic>
        <p:nvPicPr>
          <p:cNvPr id="175" name="Google Shape;175;g25b1bb62912_0_392" descr="Picture 3"/>
          <p:cNvPicPr preferRelativeResize="0"/>
          <p:nvPr/>
        </p:nvPicPr>
        <p:blipFill rotWithShape="1">
          <a:blip r:embed="rId5">
            <a:alphaModFix/>
          </a:blip>
          <a:srcRect/>
          <a:stretch/>
        </p:blipFill>
        <p:spPr>
          <a:xfrm flipH="1">
            <a:off x="9075541" y="-654555"/>
            <a:ext cx="3978841" cy="2344124"/>
          </a:xfrm>
          <a:prstGeom prst="rect">
            <a:avLst/>
          </a:prstGeom>
          <a:noFill/>
          <a:ln>
            <a:noFill/>
          </a:ln>
        </p:spPr>
      </p:pic>
      <p:sp>
        <p:nvSpPr>
          <p:cNvPr id="177" name="Google Shape;177;g25b1bb62912_0_392"/>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Technologies liées au Web</a:t>
            </a:r>
            <a:endParaRPr sz="2700" b="1" dirty="0">
              <a:solidFill>
                <a:schemeClr val="dk1"/>
              </a:solidFill>
              <a:latin typeface="Times New Roman"/>
              <a:ea typeface="Times New Roman"/>
              <a:cs typeface="Times New Roman"/>
              <a:sym typeface="Times New Roman"/>
            </a:endParaRPr>
          </a:p>
        </p:txBody>
      </p:sp>
      <p:sp>
        <p:nvSpPr>
          <p:cNvPr id="178" name="Google Shape;178;g25b1bb62912_0_392"/>
          <p:cNvSpPr txBox="1"/>
          <p:nvPr/>
        </p:nvSpPr>
        <p:spPr>
          <a:xfrm>
            <a:off x="958725" y="1594775"/>
            <a:ext cx="9176400" cy="1200600"/>
          </a:xfrm>
          <a:prstGeom prst="rect">
            <a:avLst/>
          </a:prstGeom>
          <a:noFill/>
          <a:ln>
            <a:noFill/>
          </a:ln>
        </p:spPr>
        <p:txBody>
          <a:bodyPr spcFirstLastPara="1" wrap="square" lIns="91425" tIns="91425" rIns="91425" bIns="91425" anchor="t" anchorCtr="0">
            <a:spAutoFit/>
          </a:bodyPr>
          <a:lstStyle/>
          <a:p>
            <a:pPr marL="457200" lvl="0" indent="-355600" algn="just" rtl="0">
              <a:lnSpc>
                <a:spcPct val="115000"/>
              </a:lnSpc>
              <a:spcBef>
                <a:spcPts val="1500"/>
              </a:spcBef>
              <a:spcAft>
                <a:spcPts val="0"/>
              </a:spcAft>
              <a:buClr>
                <a:schemeClr val="dk1"/>
              </a:buClr>
              <a:buSzPts val="2000"/>
              <a:buFont typeface="Times New Roman"/>
              <a:buChar char="❏"/>
            </a:pPr>
            <a:r>
              <a:rPr lang="fr-FR" sz="2000" b="1" dirty="0">
                <a:solidFill>
                  <a:schemeClr val="dk1"/>
                </a:solidFill>
                <a:latin typeface="Times New Roman"/>
                <a:ea typeface="Times New Roman"/>
                <a:cs typeface="Times New Roman"/>
                <a:sym typeface="Times New Roman"/>
              </a:rPr>
              <a:t>TCP</a:t>
            </a:r>
            <a:r>
              <a:rPr lang="fr-FR" sz="2000" dirty="0">
                <a:solidFill>
                  <a:schemeClr val="dk1"/>
                </a:solidFill>
                <a:latin typeface="Times New Roman"/>
                <a:ea typeface="Times New Roman"/>
                <a:cs typeface="Times New Roman"/>
                <a:sym typeface="Times New Roman"/>
              </a:rPr>
              <a:t> (Transmission Control Protocol) est un protocole de la couche de transport qui assure une communication fiable et orientée connexion entre les appareils sur un réseau.</a:t>
            </a:r>
            <a:endParaRPr sz="2000" dirty="0">
              <a:solidFill>
                <a:schemeClr val="dk1"/>
              </a:solidFill>
              <a:latin typeface="Times New Roman"/>
              <a:ea typeface="Times New Roman"/>
              <a:cs typeface="Times New Roman"/>
              <a:sym typeface="Times New Roman"/>
            </a:endParaRPr>
          </a:p>
        </p:txBody>
      </p:sp>
      <p:sp>
        <p:nvSpPr>
          <p:cNvPr id="179" name="Google Shape;179;g25b1bb62912_0_392"/>
          <p:cNvSpPr txBox="1"/>
          <p:nvPr/>
        </p:nvSpPr>
        <p:spPr>
          <a:xfrm>
            <a:off x="2397550" y="1102175"/>
            <a:ext cx="3000000" cy="492600"/>
          </a:xfrm>
          <a:prstGeom prst="rect">
            <a:avLst/>
          </a:prstGeom>
          <a:noFill/>
          <a:ln>
            <a:noFill/>
          </a:ln>
        </p:spPr>
        <p:txBody>
          <a:bodyPr spcFirstLastPara="1" wrap="square" lIns="91425" tIns="91425" rIns="91425" bIns="91425" anchor="t" anchorCtr="0">
            <a:spAutoFit/>
          </a:bodyPr>
          <a:lstStyle/>
          <a:p>
            <a:pPr marL="457200" lvl="0" indent="0" algn="just" rtl="0">
              <a:lnSpc>
                <a:spcPct val="150000"/>
              </a:lnSpc>
              <a:spcBef>
                <a:spcPts val="0"/>
              </a:spcBef>
              <a:spcAft>
                <a:spcPts val="0"/>
              </a:spcAft>
              <a:buNone/>
            </a:pPr>
            <a:r>
              <a:rPr lang="fr-FR" sz="2000">
                <a:solidFill>
                  <a:schemeClr val="dk1"/>
                </a:solidFill>
                <a:latin typeface="Times New Roman"/>
                <a:ea typeface="Times New Roman"/>
                <a:cs typeface="Times New Roman"/>
                <a:sym typeface="Times New Roman"/>
              </a:rPr>
              <a:t>TCP/HTTP</a:t>
            </a:r>
            <a:endParaRPr/>
          </a:p>
        </p:txBody>
      </p:sp>
      <p:sp>
        <p:nvSpPr>
          <p:cNvPr id="180" name="Google Shape;180;g25b1bb62912_0_392"/>
          <p:cNvSpPr txBox="1"/>
          <p:nvPr/>
        </p:nvSpPr>
        <p:spPr>
          <a:xfrm>
            <a:off x="915300" y="2795375"/>
            <a:ext cx="10361400" cy="1200600"/>
          </a:xfrm>
          <a:prstGeom prst="rect">
            <a:avLst/>
          </a:prstGeom>
          <a:noFill/>
          <a:ln>
            <a:noFill/>
          </a:ln>
        </p:spPr>
        <p:txBody>
          <a:bodyPr spcFirstLastPara="1" wrap="square" lIns="91425" tIns="91425" rIns="91425" bIns="91425" anchor="t" anchorCtr="0">
            <a:spAutoFit/>
          </a:bodyPr>
          <a:lstStyle/>
          <a:p>
            <a:pPr marL="457200" lvl="0" indent="-355600" algn="l" rtl="0">
              <a:lnSpc>
                <a:spcPct val="115000"/>
              </a:lnSpc>
              <a:spcBef>
                <a:spcPts val="1500"/>
              </a:spcBef>
              <a:spcAft>
                <a:spcPts val="0"/>
              </a:spcAft>
              <a:buClr>
                <a:schemeClr val="dk1"/>
              </a:buClr>
              <a:buSzPts val="2000"/>
              <a:buFont typeface="Times New Roman"/>
              <a:buChar char="❏"/>
            </a:pPr>
            <a:r>
              <a:rPr lang="fr-FR" sz="2000" b="1" dirty="0">
                <a:solidFill>
                  <a:schemeClr val="dk1"/>
                </a:solidFill>
                <a:latin typeface="Times New Roman"/>
                <a:ea typeface="Times New Roman"/>
                <a:cs typeface="Times New Roman"/>
                <a:sym typeface="Times New Roman"/>
              </a:rPr>
              <a:t>HTTP</a:t>
            </a:r>
            <a:r>
              <a:rPr lang="fr-FR" sz="2000" dirty="0">
                <a:solidFill>
                  <a:schemeClr val="dk1"/>
                </a:solidFill>
                <a:latin typeface="Times New Roman"/>
                <a:ea typeface="Times New Roman"/>
                <a:cs typeface="Times New Roman"/>
                <a:sym typeface="Times New Roman"/>
              </a:rPr>
              <a:t> (</a:t>
            </a:r>
            <a:r>
              <a:rPr lang="fr-FR" sz="2000" dirty="0" err="1">
                <a:solidFill>
                  <a:schemeClr val="dk1"/>
                </a:solidFill>
                <a:latin typeface="Times New Roman"/>
                <a:ea typeface="Times New Roman"/>
                <a:cs typeface="Times New Roman"/>
                <a:sym typeface="Times New Roman"/>
              </a:rPr>
              <a:t>Hypertext</a:t>
            </a:r>
            <a:r>
              <a:rPr lang="fr-FR" sz="2000" dirty="0">
                <a:solidFill>
                  <a:schemeClr val="dk1"/>
                </a:solidFill>
                <a:latin typeface="Times New Roman"/>
                <a:ea typeface="Times New Roman"/>
                <a:cs typeface="Times New Roman"/>
                <a:sym typeface="Times New Roman"/>
              </a:rPr>
              <a:t> Transfer Protocol)  est un protocole de la couche application qui s'exécute au-dessus de TCP (ou d'autres protocoles de la couche de transport) et régit le transfert de ressources hypertexte (web) entre les clients et les serveurs sur le World Wide Web.</a:t>
            </a:r>
            <a:endParaRPr sz="2000" dirty="0">
              <a:solidFill>
                <a:schemeClr val="dk1"/>
              </a:solidFill>
              <a:latin typeface="Times New Roman"/>
              <a:ea typeface="Times New Roman"/>
              <a:cs typeface="Times New Roman"/>
              <a:sym typeface="Times New Roman"/>
            </a:endParaRPr>
          </a:p>
        </p:txBody>
      </p:sp>
      <p:pic>
        <p:nvPicPr>
          <p:cNvPr id="1026" name="Picture 2" descr="networking layers">
            <a:extLst>
              <a:ext uri="{FF2B5EF4-FFF2-40B4-BE49-F238E27FC236}">
                <a16:creationId xmlns:a16="http://schemas.microsoft.com/office/drawing/2014/main" id="{39166175-5BB5-C506-5B23-05333682EC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4350" y="4184480"/>
            <a:ext cx="3481740" cy="25799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grpSp>
        <p:nvGrpSpPr>
          <p:cNvPr id="8" name="Google Shape;89;p5">
            <a:extLst>
              <a:ext uri="{FF2B5EF4-FFF2-40B4-BE49-F238E27FC236}">
                <a16:creationId xmlns:a16="http://schemas.microsoft.com/office/drawing/2014/main" id="{6A818980-FFB8-15F5-4C2E-AD1A43C6349C}"/>
              </a:ext>
            </a:extLst>
          </p:cNvPr>
          <p:cNvGrpSpPr/>
          <p:nvPr/>
        </p:nvGrpSpPr>
        <p:grpSpPr>
          <a:xfrm>
            <a:off x="306491" y="1245230"/>
            <a:ext cx="12192000" cy="5287010"/>
            <a:chOff x="-15240" y="1143000"/>
            <a:chExt cx="12192000" cy="5287010"/>
          </a:xfrm>
        </p:grpSpPr>
        <p:sp>
          <p:nvSpPr>
            <p:cNvPr id="9" name="Google Shape;90;p5">
              <a:extLst>
                <a:ext uri="{FF2B5EF4-FFF2-40B4-BE49-F238E27FC236}">
                  <a16:creationId xmlns:a16="http://schemas.microsoft.com/office/drawing/2014/main" id="{95F67302-8878-ECA3-1C9C-95CE2D804F33}"/>
                </a:ext>
              </a:extLst>
            </p:cNvPr>
            <p:cNvSpPr/>
            <p:nvPr/>
          </p:nvSpPr>
          <p:spPr>
            <a:xfrm>
              <a:off x="-15240" y="1143000"/>
              <a:ext cx="12192000" cy="52870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solidFill>
              <a:schemeClr val="bg1">
                <a:lumMod val="95000"/>
              </a:scheme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0" name="Google Shape;91;p5">
              <a:extLst>
                <a:ext uri="{FF2B5EF4-FFF2-40B4-BE49-F238E27FC236}">
                  <a16:creationId xmlns:a16="http://schemas.microsoft.com/office/drawing/2014/main" id="{366F112D-3085-1424-305F-CC621AE6500D}"/>
                </a:ext>
              </a:extLst>
            </p:cNvPr>
            <p:cNvSpPr/>
            <p:nvPr/>
          </p:nvSpPr>
          <p:spPr>
            <a:xfrm>
              <a:off x="8474964" y="2142744"/>
              <a:ext cx="1621535" cy="142646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92;p5">
              <a:extLst>
                <a:ext uri="{FF2B5EF4-FFF2-40B4-BE49-F238E27FC236}">
                  <a16:creationId xmlns:a16="http://schemas.microsoft.com/office/drawing/2014/main" id="{5253D6E5-21C4-8D74-103E-7C3FB71FF8D2}"/>
                </a:ext>
              </a:extLst>
            </p:cNvPr>
            <p:cNvSpPr/>
            <p:nvPr/>
          </p:nvSpPr>
          <p:spPr>
            <a:xfrm>
              <a:off x="4704588" y="2566416"/>
              <a:ext cx="598932" cy="62179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93;p5">
              <a:extLst>
                <a:ext uri="{FF2B5EF4-FFF2-40B4-BE49-F238E27FC236}">
                  <a16:creationId xmlns:a16="http://schemas.microsoft.com/office/drawing/2014/main" id="{E32ED1E7-4F50-E861-6991-BDA7551C33FD}"/>
                </a:ext>
              </a:extLst>
            </p:cNvPr>
            <p:cNvSpPr/>
            <p:nvPr/>
          </p:nvSpPr>
          <p:spPr>
            <a:xfrm>
              <a:off x="5600700" y="2630424"/>
              <a:ext cx="3201924" cy="161544"/>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pic>
        <p:nvPicPr>
          <p:cNvPr id="85" name="Google Shape;85;g25b1bb62912_0_14" descr="Picture 2"/>
          <p:cNvPicPr preferRelativeResize="0"/>
          <p:nvPr/>
        </p:nvPicPr>
        <p:blipFill rotWithShape="1">
          <a:blip r:embed="rId6">
            <a:alphaModFix/>
          </a:blip>
          <a:srcRect/>
          <a:stretch/>
        </p:blipFill>
        <p:spPr>
          <a:xfrm>
            <a:off x="0" y="-14121"/>
            <a:ext cx="12652622" cy="6886241"/>
          </a:xfrm>
          <a:prstGeom prst="rect">
            <a:avLst/>
          </a:prstGeom>
          <a:noFill/>
          <a:ln>
            <a:noFill/>
          </a:ln>
        </p:spPr>
      </p:pic>
      <p:pic>
        <p:nvPicPr>
          <p:cNvPr id="87" name="Google Shape;87;g25b1bb62912_0_14" descr="Picture 3"/>
          <p:cNvPicPr preferRelativeResize="0"/>
          <p:nvPr/>
        </p:nvPicPr>
        <p:blipFill rotWithShape="1">
          <a:blip r:embed="rId7">
            <a:alphaModFix/>
          </a:blip>
          <a:srcRect/>
          <a:stretch/>
        </p:blipFill>
        <p:spPr>
          <a:xfrm flipH="1">
            <a:off x="9102766" y="-205530"/>
            <a:ext cx="3978841" cy="2344124"/>
          </a:xfrm>
          <a:prstGeom prst="rect">
            <a:avLst/>
          </a:prstGeom>
          <a:noFill/>
          <a:ln>
            <a:noFill/>
          </a:ln>
        </p:spPr>
      </p:pic>
      <p:pic>
        <p:nvPicPr>
          <p:cNvPr id="89" name="Google Shape;89;g25b1bb62912_0_14" descr="Image 10"/>
          <p:cNvPicPr preferRelativeResize="0"/>
          <p:nvPr/>
        </p:nvPicPr>
        <p:blipFill rotWithShape="1">
          <a:blip r:embed="rId8">
            <a:alphaModFix/>
          </a:blip>
          <a:srcRect/>
          <a:stretch/>
        </p:blipFill>
        <p:spPr>
          <a:xfrm>
            <a:off x="831813" y="359910"/>
            <a:ext cx="585321" cy="579782"/>
          </a:xfrm>
          <a:prstGeom prst="rect">
            <a:avLst/>
          </a:prstGeom>
          <a:noFill/>
          <a:ln>
            <a:noFill/>
          </a:ln>
        </p:spPr>
      </p:pic>
      <p:sp>
        <p:nvSpPr>
          <p:cNvPr id="90" name="Google Shape;90;g25b1bb62912_0_14"/>
          <p:cNvSpPr txBox="1"/>
          <p:nvPr/>
        </p:nvSpPr>
        <p:spPr>
          <a:xfrm>
            <a:off x="1478231" y="275007"/>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Contexte de communication</a:t>
            </a:r>
            <a:endParaRPr sz="2700" b="1" dirty="0">
              <a:solidFill>
                <a:schemeClr val="dk1"/>
              </a:solidFill>
              <a:latin typeface="Times New Roman"/>
              <a:ea typeface="Times New Roman"/>
              <a:cs typeface="Times New Roman"/>
              <a:sym typeface="Times New Roman"/>
            </a:endParaRPr>
          </a:p>
        </p:txBody>
      </p:sp>
      <p:sp>
        <p:nvSpPr>
          <p:cNvPr id="14" name="Google Shape;95;p5">
            <a:extLst>
              <a:ext uri="{FF2B5EF4-FFF2-40B4-BE49-F238E27FC236}">
                <a16:creationId xmlns:a16="http://schemas.microsoft.com/office/drawing/2014/main" id="{034E23B9-40C1-C6B3-9AB9-50B53882E4E5}"/>
              </a:ext>
            </a:extLst>
          </p:cNvPr>
          <p:cNvSpPr txBox="1"/>
          <p:nvPr/>
        </p:nvSpPr>
        <p:spPr>
          <a:xfrm>
            <a:off x="902171" y="1095761"/>
            <a:ext cx="8004809" cy="1568450"/>
          </a:xfrm>
          <a:prstGeom prst="rect">
            <a:avLst/>
          </a:prstGeom>
          <a:noFill/>
          <a:ln>
            <a:noFill/>
          </a:ln>
        </p:spPr>
        <p:txBody>
          <a:bodyPr spcFirstLastPara="1" wrap="square" lIns="0" tIns="137775" rIns="0" bIns="0" anchor="t" anchorCtr="0">
            <a:spAutoFit/>
          </a:bodyPr>
          <a:lstStyle/>
          <a:p>
            <a:pPr marL="12700" marR="0" lvl="0" indent="0" algn="l" rtl="0">
              <a:lnSpc>
                <a:spcPct val="100000"/>
              </a:lnSpc>
              <a:spcBef>
                <a:spcPts val="0"/>
              </a:spcBef>
              <a:spcAft>
                <a:spcPts val="0"/>
              </a:spcAft>
              <a:buNone/>
            </a:pPr>
            <a:r>
              <a:rPr lang="fr-FR" sz="2400" b="1" dirty="0">
                <a:solidFill>
                  <a:schemeClr val="dk1"/>
                </a:solidFill>
                <a:latin typeface="Arial"/>
                <a:ea typeface="Arial"/>
                <a:cs typeface="Arial"/>
                <a:sym typeface="Arial"/>
              </a:rPr>
              <a:t>Human-</a:t>
            </a:r>
            <a:r>
              <a:rPr lang="fr-FR" sz="2400" b="1" dirty="0" err="1">
                <a:solidFill>
                  <a:schemeClr val="dk1"/>
                </a:solidFill>
                <a:latin typeface="Arial"/>
                <a:ea typeface="Arial"/>
                <a:cs typeface="Arial"/>
                <a:sym typeface="Arial"/>
              </a:rPr>
              <a:t>centric</a:t>
            </a:r>
            <a:r>
              <a:rPr lang="fr-FR" sz="2400" b="1" dirty="0">
                <a:solidFill>
                  <a:schemeClr val="dk1"/>
                </a:solidFill>
                <a:latin typeface="Arial"/>
                <a:ea typeface="Arial"/>
                <a:cs typeface="Arial"/>
                <a:sym typeface="Arial"/>
              </a:rPr>
              <a:t> web</a:t>
            </a:r>
            <a:endParaRPr sz="2400" dirty="0">
              <a:solidFill>
                <a:schemeClr val="dk1"/>
              </a:solidFill>
              <a:latin typeface="Arial"/>
              <a:ea typeface="Arial"/>
              <a:cs typeface="Arial"/>
              <a:sym typeface="Arial"/>
            </a:endParaRPr>
          </a:p>
          <a:p>
            <a:pPr marL="414655" marR="0" lvl="0" indent="-186690" algn="l" rtl="0">
              <a:lnSpc>
                <a:spcPct val="100000"/>
              </a:lnSpc>
              <a:spcBef>
                <a:spcPts val="805"/>
              </a:spcBef>
              <a:spcAft>
                <a:spcPts val="0"/>
              </a:spcAft>
              <a:buClr>
                <a:schemeClr val="dk1"/>
              </a:buClr>
              <a:buSzPts val="2000"/>
              <a:buFont typeface="Noto Sans Symbols"/>
              <a:buChar char="▪"/>
            </a:pPr>
            <a:r>
              <a:rPr lang="fr-FR" sz="2000" dirty="0">
                <a:solidFill>
                  <a:schemeClr val="dk1"/>
                </a:solidFill>
                <a:latin typeface="Arial"/>
                <a:ea typeface="Arial"/>
                <a:cs typeface="Arial"/>
                <a:sym typeface="Arial"/>
              </a:rPr>
              <a:t>Le Web centré utilisateur implique que l’humain est l’acteur principal</a:t>
            </a:r>
            <a:endParaRPr sz="2000" dirty="0">
              <a:solidFill>
                <a:schemeClr val="dk1"/>
              </a:solidFill>
              <a:latin typeface="Arial"/>
              <a:ea typeface="Arial"/>
              <a:cs typeface="Arial"/>
              <a:sym typeface="Arial"/>
            </a:endParaRPr>
          </a:p>
          <a:p>
            <a:pPr marL="228600" marR="0" lvl="0" indent="0" algn="l" rtl="0">
              <a:lnSpc>
                <a:spcPct val="100000"/>
              </a:lnSpc>
              <a:spcBef>
                <a:spcPts val="5"/>
              </a:spcBef>
              <a:spcAft>
                <a:spcPts val="0"/>
              </a:spcAft>
              <a:buNone/>
            </a:pPr>
            <a:r>
              <a:rPr lang="fr-FR" sz="2000" dirty="0">
                <a:solidFill>
                  <a:schemeClr val="dk1"/>
                </a:solidFill>
                <a:latin typeface="Arial"/>
                <a:ea typeface="Arial"/>
                <a:cs typeface="Arial"/>
                <a:sym typeface="Arial"/>
              </a:rPr>
              <a:t>pour l’initialisation de l’ensemble des requêtes</a:t>
            </a:r>
            <a:endParaRPr sz="2000" dirty="0">
              <a:solidFill>
                <a:schemeClr val="dk1"/>
              </a:solidFill>
              <a:latin typeface="Arial"/>
              <a:ea typeface="Arial"/>
              <a:cs typeface="Arial"/>
              <a:sym typeface="Arial"/>
            </a:endParaRPr>
          </a:p>
          <a:p>
            <a:pPr marL="4485005" marR="0" lvl="0" indent="0" algn="l" rtl="0">
              <a:lnSpc>
                <a:spcPct val="100000"/>
              </a:lnSpc>
              <a:spcBef>
                <a:spcPts val="509"/>
              </a:spcBef>
              <a:spcAft>
                <a:spcPts val="0"/>
              </a:spcAft>
              <a:buNone/>
            </a:pPr>
            <a:r>
              <a:rPr lang="fr-FR" sz="1800" b="1" dirty="0">
                <a:solidFill>
                  <a:schemeClr val="dk1"/>
                </a:solidFill>
                <a:latin typeface="Arial"/>
                <a:ea typeface="Arial"/>
                <a:cs typeface="Arial"/>
                <a:sym typeface="Arial"/>
              </a:rPr>
              <a:t>Requête HTTP</a:t>
            </a:r>
            <a:endParaRPr sz="1800" dirty="0">
              <a:solidFill>
                <a:schemeClr val="dk1"/>
              </a:solidFill>
              <a:latin typeface="Arial"/>
              <a:ea typeface="Arial"/>
              <a:cs typeface="Arial"/>
              <a:sym typeface="Arial"/>
            </a:endParaRPr>
          </a:p>
        </p:txBody>
      </p:sp>
      <p:sp>
        <p:nvSpPr>
          <p:cNvPr id="15" name="Google Shape;96;p5">
            <a:extLst>
              <a:ext uri="{FF2B5EF4-FFF2-40B4-BE49-F238E27FC236}">
                <a16:creationId xmlns:a16="http://schemas.microsoft.com/office/drawing/2014/main" id="{3F11827B-46C2-D773-F03C-FA56C1EC2772}"/>
              </a:ext>
            </a:extLst>
          </p:cNvPr>
          <p:cNvSpPr txBox="1"/>
          <p:nvPr/>
        </p:nvSpPr>
        <p:spPr>
          <a:xfrm>
            <a:off x="1580681" y="2656786"/>
            <a:ext cx="2220595" cy="574675"/>
          </a:xfrm>
          <a:prstGeom prst="rect">
            <a:avLst/>
          </a:prstGeom>
          <a:noFill/>
          <a:ln>
            <a:noFill/>
          </a:ln>
        </p:spPr>
        <p:txBody>
          <a:bodyPr spcFirstLastPara="1" wrap="square" lIns="0" tIns="12050" rIns="0" bIns="0" anchor="t" anchorCtr="0">
            <a:spAutoFit/>
          </a:bodyPr>
          <a:lstStyle/>
          <a:p>
            <a:pPr marL="20955" marR="0" lvl="0" indent="0" algn="ctr" rtl="0">
              <a:lnSpc>
                <a:spcPct val="100000"/>
              </a:lnSpc>
              <a:spcBef>
                <a:spcPts val="0"/>
              </a:spcBef>
              <a:spcAft>
                <a:spcPts val="0"/>
              </a:spcAft>
              <a:buNone/>
            </a:pPr>
            <a:r>
              <a:rPr lang="fr-FR" sz="2000" b="1">
                <a:solidFill>
                  <a:srgbClr val="FF0000"/>
                </a:solidFill>
                <a:latin typeface="Arial"/>
                <a:ea typeface="Arial"/>
                <a:cs typeface="Arial"/>
                <a:sym typeface="Arial"/>
              </a:rPr>
              <a:t>B2C</a:t>
            </a:r>
            <a:endParaRPr sz="2000">
              <a:solidFill>
                <a:schemeClr val="dk1"/>
              </a:solidFill>
              <a:latin typeface="Arial"/>
              <a:ea typeface="Arial"/>
              <a:cs typeface="Arial"/>
              <a:sym typeface="Arial"/>
            </a:endParaRPr>
          </a:p>
          <a:p>
            <a:pPr marL="0" marR="0" lvl="0" indent="0" algn="ctr" rtl="0">
              <a:lnSpc>
                <a:spcPct val="100000"/>
              </a:lnSpc>
              <a:spcBef>
                <a:spcPts val="5"/>
              </a:spcBef>
              <a:spcAft>
                <a:spcPts val="0"/>
              </a:spcAft>
              <a:buNone/>
            </a:pPr>
            <a:r>
              <a:rPr lang="fr-FR" sz="1600" b="1">
                <a:solidFill>
                  <a:srgbClr val="FF0000"/>
                </a:solidFill>
                <a:latin typeface="Arial"/>
                <a:ea typeface="Arial"/>
                <a:cs typeface="Arial"/>
                <a:sym typeface="Arial"/>
              </a:rPr>
              <a:t>Business ToConsumer</a:t>
            </a:r>
            <a:endParaRPr sz="1600">
              <a:solidFill>
                <a:schemeClr val="dk1"/>
              </a:solidFill>
              <a:latin typeface="Arial"/>
              <a:ea typeface="Arial"/>
              <a:cs typeface="Arial"/>
              <a:sym typeface="Arial"/>
            </a:endParaRPr>
          </a:p>
        </p:txBody>
      </p:sp>
      <p:sp>
        <p:nvSpPr>
          <p:cNvPr id="16" name="Google Shape;97;p5">
            <a:extLst>
              <a:ext uri="{FF2B5EF4-FFF2-40B4-BE49-F238E27FC236}">
                <a16:creationId xmlns:a16="http://schemas.microsoft.com/office/drawing/2014/main" id="{E9843CB6-F75D-985C-A2FA-9CA375870B48}"/>
              </a:ext>
            </a:extLst>
          </p:cNvPr>
          <p:cNvSpPr/>
          <p:nvPr/>
        </p:nvSpPr>
        <p:spPr>
          <a:xfrm>
            <a:off x="5861471" y="3111497"/>
            <a:ext cx="3201923" cy="161544"/>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98;p5">
            <a:extLst>
              <a:ext uri="{FF2B5EF4-FFF2-40B4-BE49-F238E27FC236}">
                <a16:creationId xmlns:a16="http://schemas.microsoft.com/office/drawing/2014/main" id="{1BA8D28C-C0E2-9B1D-1FAB-931A2A7CB612}"/>
              </a:ext>
            </a:extLst>
          </p:cNvPr>
          <p:cNvSpPr txBox="1"/>
          <p:nvPr/>
        </p:nvSpPr>
        <p:spPr>
          <a:xfrm>
            <a:off x="6971577" y="3283200"/>
            <a:ext cx="2844800" cy="29972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None/>
            </a:pPr>
            <a:r>
              <a:rPr lang="fr-FR" sz="1800" b="1">
                <a:solidFill>
                  <a:schemeClr val="dk1"/>
                </a:solidFill>
                <a:latin typeface="Arial"/>
                <a:ea typeface="Arial"/>
                <a:cs typeface="Arial"/>
                <a:sym typeface="Arial"/>
              </a:rPr>
              <a:t>Réponse HTTP </a:t>
            </a:r>
            <a:r>
              <a:rPr lang="fr-FR" sz="2700" baseline="-25000">
                <a:solidFill>
                  <a:schemeClr val="dk1"/>
                </a:solidFill>
                <a:latin typeface="Arial"/>
                <a:ea typeface="Arial"/>
                <a:cs typeface="Arial"/>
                <a:sym typeface="Arial"/>
              </a:rPr>
              <a:t>Application</a:t>
            </a:r>
            <a:endParaRPr sz="2700" baseline="-25000">
              <a:solidFill>
                <a:schemeClr val="dk1"/>
              </a:solidFill>
              <a:latin typeface="Arial"/>
              <a:ea typeface="Arial"/>
              <a:cs typeface="Arial"/>
              <a:sym typeface="Arial"/>
            </a:endParaRPr>
          </a:p>
        </p:txBody>
      </p:sp>
      <p:sp>
        <p:nvSpPr>
          <p:cNvPr id="18" name="Google Shape;99;p5">
            <a:extLst>
              <a:ext uri="{FF2B5EF4-FFF2-40B4-BE49-F238E27FC236}">
                <a16:creationId xmlns:a16="http://schemas.microsoft.com/office/drawing/2014/main" id="{4FD285EA-D55D-DC00-17FD-73ACF0DD14C9}"/>
              </a:ext>
            </a:extLst>
          </p:cNvPr>
          <p:cNvSpPr txBox="1"/>
          <p:nvPr/>
        </p:nvSpPr>
        <p:spPr>
          <a:xfrm>
            <a:off x="4523779" y="3447157"/>
            <a:ext cx="103695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a:solidFill>
                  <a:schemeClr val="dk1"/>
                </a:solidFill>
                <a:latin typeface="Arial"/>
                <a:ea typeface="Arial"/>
                <a:cs typeface="Arial"/>
                <a:sym typeface="Arial"/>
              </a:rPr>
              <a:t>Utilisateur</a:t>
            </a:r>
            <a:endParaRPr sz="1800">
              <a:solidFill>
                <a:schemeClr val="dk1"/>
              </a:solidFill>
              <a:latin typeface="Arial"/>
              <a:ea typeface="Arial"/>
              <a:cs typeface="Arial"/>
              <a:sym typeface="Arial"/>
            </a:endParaRPr>
          </a:p>
        </p:txBody>
      </p:sp>
      <p:grpSp>
        <p:nvGrpSpPr>
          <p:cNvPr id="19" name="Google Shape;100;p5">
            <a:extLst>
              <a:ext uri="{FF2B5EF4-FFF2-40B4-BE49-F238E27FC236}">
                <a16:creationId xmlns:a16="http://schemas.microsoft.com/office/drawing/2014/main" id="{D1D88DBD-DC5B-3BF5-5149-4D04B91E8F05}"/>
              </a:ext>
            </a:extLst>
          </p:cNvPr>
          <p:cNvGrpSpPr/>
          <p:nvPr/>
        </p:nvGrpSpPr>
        <p:grpSpPr>
          <a:xfrm>
            <a:off x="4506634" y="2680204"/>
            <a:ext cx="3635375" cy="705611"/>
            <a:chOff x="4184903" y="2578607"/>
            <a:chExt cx="3635375" cy="705611"/>
          </a:xfrm>
        </p:grpSpPr>
        <p:sp>
          <p:nvSpPr>
            <p:cNvPr id="20" name="Google Shape;101;p5">
              <a:extLst>
                <a:ext uri="{FF2B5EF4-FFF2-40B4-BE49-F238E27FC236}">
                  <a16:creationId xmlns:a16="http://schemas.microsoft.com/office/drawing/2014/main" id="{A7810C6B-0D0B-AF2D-F39A-8D6F7F69371C}"/>
                </a:ext>
              </a:extLst>
            </p:cNvPr>
            <p:cNvSpPr/>
            <p:nvPr/>
          </p:nvSpPr>
          <p:spPr>
            <a:xfrm>
              <a:off x="4184903" y="2906267"/>
              <a:ext cx="431291" cy="377951"/>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102;p5">
              <a:extLst>
                <a:ext uri="{FF2B5EF4-FFF2-40B4-BE49-F238E27FC236}">
                  <a16:creationId xmlns:a16="http://schemas.microsoft.com/office/drawing/2014/main" id="{F5B6F2DD-8849-F353-8FA4-33D7E03F2FA2}"/>
                </a:ext>
              </a:extLst>
            </p:cNvPr>
            <p:cNvSpPr/>
            <p:nvPr/>
          </p:nvSpPr>
          <p:spPr>
            <a:xfrm>
              <a:off x="6710172" y="2578607"/>
              <a:ext cx="1109345" cy="648970"/>
            </a:xfrm>
            <a:custGeom>
              <a:avLst/>
              <a:gdLst/>
              <a:ahLst/>
              <a:cxnLst/>
              <a:rect l="l" t="t" r="r" b="b"/>
              <a:pathLst>
                <a:path w="1109345" h="648969" extrusionOk="0">
                  <a:moveTo>
                    <a:pt x="1109091" y="311023"/>
                  </a:moveTo>
                  <a:lnTo>
                    <a:pt x="1099693" y="268986"/>
                  </a:lnTo>
                  <a:lnTo>
                    <a:pt x="1073277" y="229870"/>
                  </a:lnTo>
                  <a:lnTo>
                    <a:pt x="1075690" y="225298"/>
                  </a:lnTo>
                  <a:lnTo>
                    <a:pt x="1077849" y="220599"/>
                  </a:lnTo>
                  <a:lnTo>
                    <a:pt x="1079500" y="215646"/>
                  </a:lnTo>
                  <a:lnTo>
                    <a:pt x="1083056" y="172339"/>
                  </a:lnTo>
                  <a:lnTo>
                    <a:pt x="1066292" y="132588"/>
                  </a:lnTo>
                  <a:lnTo>
                    <a:pt x="1032002" y="100838"/>
                  </a:lnTo>
                  <a:lnTo>
                    <a:pt x="983361" y="81407"/>
                  </a:lnTo>
                  <a:lnTo>
                    <a:pt x="981456" y="75819"/>
                  </a:lnTo>
                  <a:lnTo>
                    <a:pt x="955675" y="34925"/>
                  </a:lnTo>
                  <a:lnTo>
                    <a:pt x="897890" y="4445"/>
                  </a:lnTo>
                  <a:lnTo>
                    <a:pt x="850392" y="254"/>
                  </a:lnTo>
                  <a:lnTo>
                    <a:pt x="804418" y="10541"/>
                  </a:lnTo>
                  <a:lnTo>
                    <a:pt x="765556" y="34925"/>
                  </a:lnTo>
                  <a:lnTo>
                    <a:pt x="757301" y="27305"/>
                  </a:lnTo>
                  <a:lnTo>
                    <a:pt x="747903" y="20320"/>
                  </a:lnTo>
                  <a:lnTo>
                    <a:pt x="737616" y="14224"/>
                  </a:lnTo>
                  <a:lnTo>
                    <a:pt x="726440" y="9271"/>
                  </a:lnTo>
                  <a:lnTo>
                    <a:pt x="683514" y="0"/>
                  </a:lnTo>
                  <a:lnTo>
                    <a:pt x="640969" y="4445"/>
                  </a:lnTo>
                  <a:lnTo>
                    <a:pt x="603631" y="21336"/>
                  </a:lnTo>
                  <a:lnTo>
                    <a:pt x="576326" y="49276"/>
                  </a:lnTo>
                  <a:lnTo>
                    <a:pt x="568960" y="43942"/>
                  </a:lnTo>
                  <a:lnTo>
                    <a:pt x="561213" y="38989"/>
                  </a:lnTo>
                  <a:lnTo>
                    <a:pt x="553085" y="34671"/>
                  </a:lnTo>
                  <a:lnTo>
                    <a:pt x="544449" y="30607"/>
                  </a:lnTo>
                  <a:lnTo>
                    <a:pt x="492379" y="18288"/>
                  </a:lnTo>
                  <a:lnTo>
                    <a:pt x="440182" y="22733"/>
                  </a:lnTo>
                  <a:lnTo>
                    <a:pt x="393827" y="42418"/>
                  </a:lnTo>
                  <a:lnTo>
                    <a:pt x="359283" y="75819"/>
                  </a:lnTo>
                  <a:lnTo>
                    <a:pt x="333375" y="65913"/>
                  </a:lnTo>
                  <a:lnTo>
                    <a:pt x="305816" y="59563"/>
                  </a:lnTo>
                  <a:lnTo>
                    <a:pt x="277368" y="57023"/>
                  </a:lnTo>
                  <a:lnTo>
                    <a:pt x="195453" y="70993"/>
                  </a:lnTo>
                  <a:lnTo>
                    <a:pt x="151638" y="95631"/>
                  </a:lnTo>
                  <a:lnTo>
                    <a:pt x="119380" y="129159"/>
                  </a:lnTo>
                  <a:lnTo>
                    <a:pt x="101473" y="169418"/>
                  </a:lnTo>
                  <a:lnTo>
                    <a:pt x="100076" y="213614"/>
                  </a:lnTo>
                  <a:lnTo>
                    <a:pt x="99187" y="215646"/>
                  </a:lnTo>
                  <a:lnTo>
                    <a:pt x="50292" y="229362"/>
                  </a:lnTo>
                  <a:lnTo>
                    <a:pt x="14351" y="259207"/>
                  </a:lnTo>
                  <a:lnTo>
                    <a:pt x="0" y="292862"/>
                  </a:lnTo>
                  <a:lnTo>
                    <a:pt x="2667" y="327025"/>
                  </a:lnTo>
                  <a:lnTo>
                    <a:pt x="21209" y="357886"/>
                  </a:lnTo>
                  <a:lnTo>
                    <a:pt x="54229" y="381508"/>
                  </a:lnTo>
                  <a:lnTo>
                    <a:pt x="39497" y="397002"/>
                  </a:lnTo>
                  <a:lnTo>
                    <a:pt x="29591" y="414401"/>
                  </a:lnTo>
                  <a:lnTo>
                    <a:pt x="24638" y="433197"/>
                  </a:lnTo>
                  <a:lnTo>
                    <a:pt x="24892" y="452501"/>
                  </a:lnTo>
                  <a:lnTo>
                    <a:pt x="38608" y="486156"/>
                  </a:lnTo>
                  <a:lnTo>
                    <a:pt x="66675" y="511937"/>
                  </a:lnTo>
                  <a:lnTo>
                    <a:pt x="104775" y="527558"/>
                  </a:lnTo>
                  <a:lnTo>
                    <a:pt x="148971" y="530479"/>
                  </a:lnTo>
                  <a:lnTo>
                    <a:pt x="149606" y="531495"/>
                  </a:lnTo>
                  <a:lnTo>
                    <a:pt x="192024" y="572135"/>
                  </a:lnTo>
                  <a:lnTo>
                    <a:pt x="244221" y="597789"/>
                  </a:lnTo>
                  <a:lnTo>
                    <a:pt x="303022" y="609473"/>
                  </a:lnTo>
                  <a:lnTo>
                    <a:pt x="364109" y="606298"/>
                  </a:lnTo>
                  <a:lnTo>
                    <a:pt x="423037" y="587502"/>
                  </a:lnTo>
                  <a:lnTo>
                    <a:pt x="441579" y="606171"/>
                  </a:lnTo>
                  <a:lnTo>
                    <a:pt x="463804" y="621792"/>
                  </a:lnTo>
                  <a:lnTo>
                    <a:pt x="488950" y="634238"/>
                  </a:lnTo>
                  <a:lnTo>
                    <a:pt x="516763" y="643128"/>
                  </a:lnTo>
                  <a:lnTo>
                    <a:pt x="571754" y="648970"/>
                  </a:lnTo>
                  <a:lnTo>
                    <a:pt x="624332" y="641223"/>
                  </a:lnTo>
                  <a:lnTo>
                    <a:pt x="671195" y="621157"/>
                  </a:lnTo>
                  <a:lnTo>
                    <a:pt x="708533" y="590550"/>
                  </a:lnTo>
                  <a:lnTo>
                    <a:pt x="710438" y="587502"/>
                  </a:lnTo>
                  <a:lnTo>
                    <a:pt x="732917" y="550672"/>
                  </a:lnTo>
                  <a:lnTo>
                    <a:pt x="750951" y="558292"/>
                  </a:lnTo>
                  <a:lnTo>
                    <a:pt x="770001" y="563880"/>
                  </a:lnTo>
                  <a:lnTo>
                    <a:pt x="789813" y="567309"/>
                  </a:lnTo>
                  <a:lnTo>
                    <a:pt x="810260" y="568579"/>
                  </a:lnTo>
                  <a:lnTo>
                    <a:pt x="868172" y="559689"/>
                  </a:lnTo>
                  <a:lnTo>
                    <a:pt x="885317" y="550672"/>
                  </a:lnTo>
                  <a:lnTo>
                    <a:pt x="915543" y="534670"/>
                  </a:lnTo>
                  <a:lnTo>
                    <a:pt x="947801" y="497332"/>
                  </a:lnTo>
                  <a:lnTo>
                    <a:pt x="959866" y="451358"/>
                  </a:lnTo>
                  <a:lnTo>
                    <a:pt x="981710" y="447802"/>
                  </a:lnTo>
                  <a:lnTo>
                    <a:pt x="1041273" y="424180"/>
                  </a:lnTo>
                  <a:lnTo>
                    <a:pt x="1079373" y="391922"/>
                  </a:lnTo>
                  <a:lnTo>
                    <a:pt x="1102233" y="353060"/>
                  </a:lnTo>
                  <a:lnTo>
                    <a:pt x="1109091" y="311023"/>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103;p5">
              <a:extLst>
                <a:ext uri="{FF2B5EF4-FFF2-40B4-BE49-F238E27FC236}">
                  <a16:creationId xmlns:a16="http://schemas.microsoft.com/office/drawing/2014/main" id="{D6F16A04-9D2B-CDCF-731D-9334D0E4BF1D}"/>
                </a:ext>
              </a:extLst>
            </p:cNvPr>
            <p:cNvSpPr/>
            <p:nvPr/>
          </p:nvSpPr>
          <p:spPr>
            <a:xfrm>
              <a:off x="6710933" y="2579369"/>
              <a:ext cx="1109345" cy="648970"/>
            </a:xfrm>
            <a:custGeom>
              <a:avLst/>
              <a:gdLst/>
              <a:ahLst/>
              <a:cxnLst/>
              <a:rect l="l" t="t" r="r" b="b"/>
              <a:pathLst>
                <a:path w="1109345" h="648969" extrusionOk="0">
                  <a:moveTo>
                    <a:pt x="100075" y="213613"/>
                  </a:moveTo>
                  <a:lnTo>
                    <a:pt x="101473" y="169417"/>
                  </a:lnTo>
                  <a:lnTo>
                    <a:pt x="119380" y="129158"/>
                  </a:lnTo>
                  <a:lnTo>
                    <a:pt x="151638" y="95630"/>
                  </a:lnTo>
                  <a:lnTo>
                    <a:pt x="195452" y="70992"/>
                  </a:lnTo>
                  <a:lnTo>
                    <a:pt x="248539" y="58165"/>
                  </a:lnTo>
                  <a:lnTo>
                    <a:pt x="277368" y="57022"/>
                  </a:lnTo>
                  <a:lnTo>
                    <a:pt x="305816" y="59562"/>
                  </a:lnTo>
                  <a:lnTo>
                    <a:pt x="333375" y="65912"/>
                  </a:lnTo>
                  <a:lnTo>
                    <a:pt x="359283" y="75818"/>
                  </a:lnTo>
                  <a:lnTo>
                    <a:pt x="393826" y="42417"/>
                  </a:lnTo>
                  <a:lnTo>
                    <a:pt x="440182" y="22732"/>
                  </a:lnTo>
                  <a:lnTo>
                    <a:pt x="492379" y="18287"/>
                  </a:lnTo>
                  <a:lnTo>
                    <a:pt x="544449" y="30606"/>
                  </a:lnTo>
                  <a:lnTo>
                    <a:pt x="553085" y="34670"/>
                  </a:lnTo>
                  <a:lnTo>
                    <a:pt x="561213" y="38988"/>
                  </a:lnTo>
                  <a:lnTo>
                    <a:pt x="568960" y="43941"/>
                  </a:lnTo>
                  <a:lnTo>
                    <a:pt x="576326" y="49275"/>
                  </a:lnTo>
                  <a:lnTo>
                    <a:pt x="603631" y="21335"/>
                  </a:lnTo>
                  <a:lnTo>
                    <a:pt x="640969" y="4444"/>
                  </a:lnTo>
                  <a:lnTo>
                    <a:pt x="683514" y="0"/>
                  </a:lnTo>
                  <a:lnTo>
                    <a:pt x="726440" y="9270"/>
                  </a:lnTo>
                  <a:lnTo>
                    <a:pt x="737616" y="14224"/>
                  </a:lnTo>
                  <a:lnTo>
                    <a:pt x="747902" y="20319"/>
                  </a:lnTo>
                  <a:lnTo>
                    <a:pt x="757301" y="27304"/>
                  </a:lnTo>
                  <a:lnTo>
                    <a:pt x="765556" y="34925"/>
                  </a:lnTo>
                  <a:lnTo>
                    <a:pt x="804418" y="10540"/>
                  </a:lnTo>
                  <a:lnTo>
                    <a:pt x="850392" y="253"/>
                  </a:lnTo>
                  <a:lnTo>
                    <a:pt x="897890" y="4444"/>
                  </a:lnTo>
                  <a:lnTo>
                    <a:pt x="941197" y="23367"/>
                  </a:lnTo>
                  <a:lnTo>
                    <a:pt x="956437" y="35687"/>
                  </a:lnTo>
                  <a:lnTo>
                    <a:pt x="968629" y="49529"/>
                  </a:lnTo>
                  <a:lnTo>
                    <a:pt x="977646" y="64896"/>
                  </a:lnTo>
                  <a:lnTo>
                    <a:pt x="983361" y="81406"/>
                  </a:lnTo>
                  <a:lnTo>
                    <a:pt x="1032001" y="100837"/>
                  </a:lnTo>
                  <a:lnTo>
                    <a:pt x="1066292" y="132587"/>
                  </a:lnTo>
                  <a:lnTo>
                    <a:pt x="1083056" y="172338"/>
                  </a:lnTo>
                  <a:lnTo>
                    <a:pt x="1079500" y="215645"/>
                  </a:lnTo>
                  <a:lnTo>
                    <a:pt x="1077849" y="220599"/>
                  </a:lnTo>
                  <a:lnTo>
                    <a:pt x="1075690" y="225297"/>
                  </a:lnTo>
                  <a:lnTo>
                    <a:pt x="1073277" y="229869"/>
                  </a:lnTo>
                  <a:lnTo>
                    <a:pt x="1099693" y="268985"/>
                  </a:lnTo>
                  <a:lnTo>
                    <a:pt x="1109091" y="311022"/>
                  </a:lnTo>
                  <a:lnTo>
                    <a:pt x="1102233" y="353059"/>
                  </a:lnTo>
                  <a:lnTo>
                    <a:pt x="1079373" y="391921"/>
                  </a:lnTo>
                  <a:lnTo>
                    <a:pt x="1041273" y="424179"/>
                  </a:lnTo>
                  <a:lnTo>
                    <a:pt x="981710" y="447801"/>
                  </a:lnTo>
                  <a:lnTo>
                    <a:pt x="959866" y="451357"/>
                  </a:lnTo>
                  <a:lnTo>
                    <a:pt x="947801" y="497331"/>
                  </a:lnTo>
                  <a:lnTo>
                    <a:pt x="915543" y="534669"/>
                  </a:lnTo>
                  <a:lnTo>
                    <a:pt x="868172" y="559688"/>
                  </a:lnTo>
                  <a:lnTo>
                    <a:pt x="810260" y="568578"/>
                  </a:lnTo>
                  <a:lnTo>
                    <a:pt x="789813" y="567308"/>
                  </a:lnTo>
                  <a:lnTo>
                    <a:pt x="770001" y="563879"/>
                  </a:lnTo>
                  <a:lnTo>
                    <a:pt x="750951" y="558291"/>
                  </a:lnTo>
                  <a:lnTo>
                    <a:pt x="732917" y="550671"/>
                  </a:lnTo>
                  <a:lnTo>
                    <a:pt x="708533" y="590550"/>
                  </a:lnTo>
                  <a:lnTo>
                    <a:pt x="671195" y="621156"/>
                  </a:lnTo>
                  <a:lnTo>
                    <a:pt x="624332" y="641222"/>
                  </a:lnTo>
                  <a:lnTo>
                    <a:pt x="571754" y="648969"/>
                  </a:lnTo>
                  <a:lnTo>
                    <a:pt x="516763" y="643127"/>
                  </a:lnTo>
                  <a:lnTo>
                    <a:pt x="488950" y="634238"/>
                  </a:lnTo>
                  <a:lnTo>
                    <a:pt x="463804" y="621791"/>
                  </a:lnTo>
                  <a:lnTo>
                    <a:pt x="441579" y="606170"/>
                  </a:lnTo>
                  <a:lnTo>
                    <a:pt x="423037" y="587501"/>
                  </a:lnTo>
                  <a:lnTo>
                    <a:pt x="364109" y="606297"/>
                  </a:lnTo>
                  <a:lnTo>
                    <a:pt x="303022" y="609472"/>
                  </a:lnTo>
                  <a:lnTo>
                    <a:pt x="244221" y="597788"/>
                  </a:lnTo>
                  <a:lnTo>
                    <a:pt x="192024" y="572134"/>
                  </a:lnTo>
                  <a:lnTo>
                    <a:pt x="151130" y="533400"/>
                  </a:lnTo>
                  <a:lnTo>
                    <a:pt x="148971" y="530478"/>
                  </a:lnTo>
                  <a:lnTo>
                    <a:pt x="104775" y="527557"/>
                  </a:lnTo>
                  <a:lnTo>
                    <a:pt x="66675" y="511937"/>
                  </a:lnTo>
                  <a:lnTo>
                    <a:pt x="38608" y="486155"/>
                  </a:lnTo>
                  <a:lnTo>
                    <a:pt x="24892" y="452500"/>
                  </a:lnTo>
                  <a:lnTo>
                    <a:pt x="24638" y="433196"/>
                  </a:lnTo>
                  <a:lnTo>
                    <a:pt x="29591" y="414400"/>
                  </a:lnTo>
                  <a:lnTo>
                    <a:pt x="39497" y="397001"/>
                  </a:lnTo>
                  <a:lnTo>
                    <a:pt x="54229" y="381507"/>
                  </a:lnTo>
                  <a:lnTo>
                    <a:pt x="21209" y="357885"/>
                  </a:lnTo>
                  <a:lnTo>
                    <a:pt x="2667" y="327025"/>
                  </a:lnTo>
                  <a:lnTo>
                    <a:pt x="0" y="292862"/>
                  </a:lnTo>
                  <a:lnTo>
                    <a:pt x="14350" y="259206"/>
                  </a:lnTo>
                  <a:lnTo>
                    <a:pt x="30225" y="242442"/>
                  </a:lnTo>
                  <a:lnTo>
                    <a:pt x="50292" y="229362"/>
                  </a:lnTo>
                  <a:lnTo>
                    <a:pt x="73533" y="220217"/>
                  </a:lnTo>
                  <a:lnTo>
                    <a:pt x="99187" y="215645"/>
                  </a:lnTo>
                  <a:lnTo>
                    <a:pt x="100075" y="213613"/>
                  </a:lnTo>
                  <a:close/>
                </a:path>
                <a:path w="1109345" h="648969" extrusionOk="0">
                  <a:moveTo>
                    <a:pt x="120396" y="391540"/>
                  </a:moveTo>
                  <a:lnTo>
                    <a:pt x="103250" y="391667"/>
                  </a:lnTo>
                  <a:lnTo>
                    <a:pt x="86487" y="389635"/>
                  </a:lnTo>
                  <a:lnTo>
                    <a:pt x="70231" y="385571"/>
                  </a:lnTo>
                  <a:lnTo>
                    <a:pt x="54864" y="379475"/>
                  </a:lnTo>
                </a:path>
                <a:path w="1109345" h="648969" extrusionOk="0">
                  <a:moveTo>
                    <a:pt x="177926" y="522731"/>
                  </a:moveTo>
                  <a:lnTo>
                    <a:pt x="168910" y="525652"/>
                  </a:lnTo>
                  <a:lnTo>
                    <a:pt x="159258" y="527938"/>
                  </a:lnTo>
                  <a:lnTo>
                    <a:pt x="149351" y="528827"/>
                  </a:lnTo>
                </a:path>
                <a:path w="1109345" h="648969" extrusionOk="0">
                  <a:moveTo>
                    <a:pt x="422910" y="586231"/>
                  </a:moveTo>
                  <a:lnTo>
                    <a:pt x="417957" y="579754"/>
                  </a:lnTo>
                  <a:lnTo>
                    <a:pt x="413385" y="573151"/>
                  </a:lnTo>
                  <a:lnTo>
                    <a:pt x="409194" y="566292"/>
                  </a:lnTo>
                  <a:lnTo>
                    <a:pt x="405384" y="559307"/>
                  </a:lnTo>
                </a:path>
                <a:path w="1109345" h="648969" extrusionOk="0">
                  <a:moveTo>
                    <a:pt x="740029" y="519683"/>
                  </a:moveTo>
                  <a:lnTo>
                    <a:pt x="739013" y="527303"/>
                  </a:lnTo>
                  <a:lnTo>
                    <a:pt x="737489" y="534796"/>
                  </a:lnTo>
                  <a:lnTo>
                    <a:pt x="735457" y="542289"/>
                  </a:lnTo>
                  <a:lnTo>
                    <a:pt x="733044" y="549655"/>
                  </a:lnTo>
                </a:path>
                <a:path w="1109345" h="648969" extrusionOk="0">
                  <a:moveTo>
                    <a:pt x="876300" y="342900"/>
                  </a:moveTo>
                  <a:lnTo>
                    <a:pt x="911098" y="361568"/>
                  </a:lnTo>
                  <a:lnTo>
                    <a:pt x="937514" y="386714"/>
                  </a:lnTo>
                  <a:lnTo>
                    <a:pt x="954151" y="416559"/>
                  </a:lnTo>
                  <a:lnTo>
                    <a:pt x="959739" y="449452"/>
                  </a:lnTo>
                </a:path>
                <a:path w="1109345" h="648969" extrusionOk="0">
                  <a:moveTo>
                    <a:pt x="1072769" y="228600"/>
                  </a:moveTo>
                  <a:lnTo>
                    <a:pt x="1065784" y="240029"/>
                  </a:lnTo>
                  <a:lnTo>
                    <a:pt x="1057402" y="250697"/>
                  </a:lnTo>
                  <a:lnTo>
                    <a:pt x="1047496" y="260476"/>
                  </a:lnTo>
                  <a:lnTo>
                    <a:pt x="1036320" y="269239"/>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104;p5">
              <a:extLst>
                <a:ext uri="{FF2B5EF4-FFF2-40B4-BE49-F238E27FC236}">
                  <a16:creationId xmlns:a16="http://schemas.microsoft.com/office/drawing/2014/main" id="{C9807C98-2BE6-4EA3-8E1F-131C09FC6013}"/>
                </a:ext>
              </a:extLst>
            </p:cNvPr>
            <p:cNvSpPr/>
            <p:nvPr/>
          </p:nvSpPr>
          <p:spPr>
            <a:xfrm>
              <a:off x="7693913" y="2658617"/>
              <a:ext cx="2540" cy="19685"/>
            </a:xfrm>
            <a:custGeom>
              <a:avLst/>
              <a:gdLst/>
              <a:ahLst/>
              <a:cxnLst/>
              <a:rect l="l" t="t" r="r" b="b"/>
              <a:pathLst>
                <a:path w="2540" h="19685" extrusionOk="0">
                  <a:moveTo>
                    <a:pt x="0" y="0"/>
                  </a:moveTo>
                  <a:lnTo>
                    <a:pt x="1650" y="6477"/>
                  </a:lnTo>
                  <a:lnTo>
                    <a:pt x="2412" y="13081"/>
                  </a:lnTo>
                  <a:lnTo>
                    <a:pt x="2285" y="19685"/>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105;p5">
              <a:extLst>
                <a:ext uri="{FF2B5EF4-FFF2-40B4-BE49-F238E27FC236}">
                  <a16:creationId xmlns:a16="http://schemas.microsoft.com/office/drawing/2014/main" id="{D57F4416-BE0D-8581-343A-30D206F3B12F}"/>
                </a:ext>
              </a:extLst>
            </p:cNvPr>
            <p:cNvSpPr/>
            <p:nvPr/>
          </p:nvSpPr>
          <p:spPr>
            <a:xfrm>
              <a:off x="6809993" y="2612897"/>
              <a:ext cx="665480" cy="202565"/>
            </a:xfrm>
            <a:custGeom>
              <a:avLst/>
              <a:gdLst/>
              <a:ahLst/>
              <a:cxnLst/>
              <a:rect l="l" t="t" r="r" b="b"/>
              <a:pathLst>
                <a:path w="665479" h="202564" extrusionOk="0">
                  <a:moveTo>
                    <a:pt x="647700" y="23875"/>
                  </a:moveTo>
                  <a:lnTo>
                    <a:pt x="651382" y="17525"/>
                  </a:lnTo>
                  <a:lnTo>
                    <a:pt x="655574" y="11429"/>
                  </a:lnTo>
                  <a:lnTo>
                    <a:pt x="660273" y="5587"/>
                  </a:lnTo>
                  <a:lnTo>
                    <a:pt x="665479" y="0"/>
                  </a:lnTo>
                </a:path>
                <a:path w="665479" h="202564" extrusionOk="0">
                  <a:moveTo>
                    <a:pt x="469391" y="34925"/>
                  </a:moveTo>
                  <a:lnTo>
                    <a:pt x="471424" y="28066"/>
                  </a:lnTo>
                  <a:lnTo>
                    <a:pt x="474345" y="21462"/>
                  </a:lnTo>
                  <a:lnTo>
                    <a:pt x="478408" y="15239"/>
                  </a:lnTo>
                </a:path>
                <a:path w="665479" h="202564" extrusionOk="0">
                  <a:moveTo>
                    <a:pt x="260603" y="42672"/>
                  </a:moveTo>
                  <a:lnTo>
                    <a:pt x="269366" y="46989"/>
                  </a:lnTo>
                  <a:lnTo>
                    <a:pt x="277749" y="51688"/>
                  </a:lnTo>
                  <a:lnTo>
                    <a:pt x="285876" y="56896"/>
                  </a:lnTo>
                  <a:lnTo>
                    <a:pt x="293624" y="62484"/>
                  </a:lnTo>
                </a:path>
                <a:path w="665479" h="202564" extrusionOk="0">
                  <a:moveTo>
                    <a:pt x="6096" y="202437"/>
                  </a:moveTo>
                  <a:lnTo>
                    <a:pt x="3301" y="195072"/>
                  </a:lnTo>
                  <a:lnTo>
                    <a:pt x="1397" y="187451"/>
                  </a:lnTo>
                  <a:lnTo>
                    <a:pt x="0" y="179831"/>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5" name="Google Shape;106;p5">
            <a:extLst>
              <a:ext uri="{FF2B5EF4-FFF2-40B4-BE49-F238E27FC236}">
                <a16:creationId xmlns:a16="http://schemas.microsoft.com/office/drawing/2014/main" id="{735C5A14-BF61-B4A0-38E8-C2F5F7BDDBF0}"/>
              </a:ext>
            </a:extLst>
          </p:cNvPr>
          <p:cNvSpPr txBox="1"/>
          <p:nvPr/>
        </p:nvSpPr>
        <p:spPr>
          <a:xfrm>
            <a:off x="7212497" y="2857446"/>
            <a:ext cx="64008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a:solidFill>
                  <a:schemeClr val="dk1"/>
                </a:solidFill>
                <a:latin typeface="Verdana"/>
                <a:ea typeface="Verdana"/>
                <a:cs typeface="Verdana"/>
                <a:sym typeface="Verdana"/>
              </a:rPr>
              <a:t>Internet</a:t>
            </a:r>
            <a:endParaRPr sz="1800">
              <a:solidFill>
                <a:schemeClr val="dk1"/>
              </a:solidFill>
              <a:latin typeface="Verdana"/>
              <a:ea typeface="Verdana"/>
              <a:cs typeface="Verdana"/>
              <a:sym typeface="Verdana"/>
            </a:endParaRPr>
          </a:p>
        </p:txBody>
      </p:sp>
      <p:grpSp>
        <p:nvGrpSpPr>
          <p:cNvPr id="26" name="Google Shape;107;p5">
            <a:extLst>
              <a:ext uri="{FF2B5EF4-FFF2-40B4-BE49-F238E27FC236}">
                <a16:creationId xmlns:a16="http://schemas.microsoft.com/office/drawing/2014/main" id="{31836DDB-6093-54A2-3F53-4C6F16804EBF}"/>
              </a:ext>
            </a:extLst>
          </p:cNvPr>
          <p:cNvGrpSpPr/>
          <p:nvPr/>
        </p:nvGrpSpPr>
        <p:grpSpPr>
          <a:xfrm>
            <a:off x="5084231" y="5018020"/>
            <a:ext cx="5905499" cy="1429512"/>
            <a:chOff x="4762500" y="4916423"/>
            <a:chExt cx="5905499" cy="1429512"/>
          </a:xfrm>
        </p:grpSpPr>
        <p:sp>
          <p:nvSpPr>
            <p:cNvPr id="27" name="Google Shape;108;p5">
              <a:extLst>
                <a:ext uri="{FF2B5EF4-FFF2-40B4-BE49-F238E27FC236}">
                  <a16:creationId xmlns:a16="http://schemas.microsoft.com/office/drawing/2014/main" id="{43477041-E27E-7415-8BB3-638130CA71B1}"/>
                </a:ext>
              </a:extLst>
            </p:cNvPr>
            <p:cNvSpPr/>
            <p:nvPr/>
          </p:nvSpPr>
          <p:spPr>
            <a:xfrm>
              <a:off x="4762500" y="4916423"/>
              <a:ext cx="1655064" cy="1383792"/>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 name="Google Shape;109;p5">
              <a:extLst>
                <a:ext uri="{FF2B5EF4-FFF2-40B4-BE49-F238E27FC236}">
                  <a16:creationId xmlns:a16="http://schemas.microsoft.com/office/drawing/2014/main" id="{A0FB1F55-E38F-8E02-25E4-ECF780295630}"/>
                </a:ext>
              </a:extLst>
            </p:cNvPr>
            <p:cNvSpPr/>
            <p:nvPr/>
          </p:nvSpPr>
          <p:spPr>
            <a:xfrm>
              <a:off x="9012935" y="4960619"/>
              <a:ext cx="1655064" cy="1385316"/>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110;p5">
              <a:extLst>
                <a:ext uri="{FF2B5EF4-FFF2-40B4-BE49-F238E27FC236}">
                  <a16:creationId xmlns:a16="http://schemas.microsoft.com/office/drawing/2014/main" id="{87CEDF28-2CDC-FD4F-B43C-DA80B46AF459}"/>
                </a:ext>
              </a:extLst>
            </p:cNvPr>
            <p:cNvSpPr/>
            <p:nvPr/>
          </p:nvSpPr>
          <p:spPr>
            <a:xfrm>
              <a:off x="6080760" y="5370575"/>
              <a:ext cx="3268980" cy="158496"/>
            </a:xfrm>
            <a:prstGeom prst="rect">
              <a:avLst/>
            </a:prstGeom>
            <a:blipFill rotWithShape="1">
              <a:blip r:embed="rId1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111;p5">
              <a:extLst>
                <a:ext uri="{FF2B5EF4-FFF2-40B4-BE49-F238E27FC236}">
                  <a16:creationId xmlns:a16="http://schemas.microsoft.com/office/drawing/2014/main" id="{D806D268-2A8A-C442-DE74-7B04B475B881}"/>
                </a:ext>
              </a:extLst>
            </p:cNvPr>
            <p:cNvSpPr/>
            <p:nvPr/>
          </p:nvSpPr>
          <p:spPr>
            <a:xfrm>
              <a:off x="6019800" y="5739383"/>
              <a:ext cx="3265932" cy="156972"/>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31" name="Google Shape;112;p5">
            <a:extLst>
              <a:ext uri="{FF2B5EF4-FFF2-40B4-BE49-F238E27FC236}">
                <a16:creationId xmlns:a16="http://schemas.microsoft.com/office/drawing/2014/main" id="{FA5CA9C1-2E91-FB65-9BE6-D641615B6E5E}"/>
              </a:ext>
            </a:extLst>
          </p:cNvPr>
          <p:cNvSpPr txBox="1"/>
          <p:nvPr/>
        </p:nvSpPr>
        <p:spPr>
          <a:xfrm>
            <a:off x="5418367" y="6194650"/>
            <a:ext cx="113919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a:solidFill>
                  <a:schemeClr val="dk1"/>
                </a:solidFill>
                <a:latin typeface="Arial"/>
                <a:ea typeface="Arial"/>
                <a:cs typeface="Arial"/>
                <a:sym typeface="Arial"/>
              </a:rPr>
              <a:t>Application</a:t>
            </a:r>
            <a:endParaRPr sz="1800">
              <a:solidFill>
                <a:schemeClr val="dk1"/>
              </a:solidFill>
              <a:latin typeface="Arial"/>
              <a:ea typeface="Arial"/>
              <a:cs typeface="Arial"/>
              <a:sym typeface="Arial"/>
            </a:endParaRPr>
          </a:p>
        </p:txBody>
      </p:sp>
      <p:grpSp>
        <p:nvGrpSpPr>
          <p:cNvPr id="64" name="Google Shape;113;p5">
            <a:extLst>
              <a:ext uri="{FF2B5EF4-FFF2-40B4-BE49-F238E27FC236}">
                <a16:creationId xmlns:a16="http://schemas.microsoft.com/office/drawing/2014/main" id="{EB422AAE-F57F-E3D3-3592-7D2F6FE33523}"/>
              </a:ext>
            </a:extLst>
          </p:cNvPr>
          <p:cNvGrpSpPr/>
          <p:nvPr/>
        </p:nvGrpSpPr>
        <p:grpSpPr>
          <a:xfrm>
            <a:off x="7534823" y="5421880"/>
            <a:ext cx="1132966" cy="633222"/>
            <a:chOff x="7213092" y="5320283"/>
            <a:chExt cx="1132966" cy="633222"/>
          </a:xfrm>
        </p:grpSpPr>
        <p:sp>
          <p:nvSpPr>
            <p:cNvPr id="65" name="Google Shape;114;p5">
              <a:extLst>
                <a:ext uri="{FF2B5EF4-FFF2-40B4-BE49-F238E27FC236}">
                  <a16:creationId xmlns:a16="http://schemas.microsoft.com/office/drawing/2014/main" id="{1C1A01BC-2C0B-BD90-970A-E3E38ED8AFBF}"/>
                </a:ext>
              </a:extLst>
            </p:cNvPr>
            <p:cNvSpPr/>
            <p:nvPr/>
          </p:nvSpPr>
          <p:spPr>
            <a:xfrm>
              <a:off x="7213092" y="5320283"/>
              <a:ext cx="1132205" cy="632460"/>
            </a:xfrm>
            <a:custGeom>
              <a:avLst/>
              <a:gdLst/>
              <a:ahLst/>
              <a:cxnLst/>
              <a:rect l="l" t="t" r="r" b="b"/>
              <a:pathLst>
                <a:path w="1132204" h="632460" extrusionOk="0">
                  <a:moveTo>
                    <a:pt x="988314" y="48006"/>
                  </a:moveTo>
                  <a:lnTo>
                    <a:pt x="976122" y="34671"/>
                  </a:lnTo>
                  <a:lnTo>
                    <a:pt x="975360" y="34163"/>
                  </a:lnTo>
                  <a:lnTo>
                    <a:pt x="960628" y="22860"/>
                  </a:lnTo>
                  <a:lnTo>
                    <a:pt x="916432" y="4318"/>
                  </a:lnTo>
                  <a:lnTo>
                    <a:pt x="867918" y="381"/>
                  </a:lnTo>
                  <a:lnTo>
                    <a:pt x="821055" y="10414"/>
                  </a:lnTo>
                  <a:lnTo>
                    <a:pt x="781431" y="34163"/>
                  </a:lnTo>
                  <a:lnTo>
                    <a:pt x="772922" y="26543"/>
                  </a:lnTo>
                  <a:lnTo>
                    <a:pt x="763270" y="19812"/>
                  </a:lnTo>
                  <a:lnTo>
                    <a:pt x="752856" y="13970"/>
                  </a:lnTo>
                  <a:lnTo>
                    <a:pt x="741426" y="9017"/>
                  </a:lnTo>
                  <a:lnTo>
                    <a:pt x="697611" y="0"/>
                  </a:lnTo>
                  <a:lnTo>
                    <a:pt x="654177" y="4318"/>
                  </a:lnTo>
                  <a:lnTo>
                    <a:pt x="616077" y="20828"/>
                  </a:lnTo>
                  <a:lnTo>
                    <a:pt x="588137" y="48006"/>
                  </a:lnTo>
                  <a:lnTo>
                    <a:pt x="988314" y="48006"/>
                  </a:lnTo>
                  <a:close/>
                </a:path>
                <a:path w="1132204" h="632460" extrusionOk="0">
                  <a:moveTo>
                    <a:pt x="1131951" y="302920"/>
                  </a:moveTo>
                  <a:lnTo>
                    <a:pt x="1122299" y="261874"/>
                  </a:lnTo>
                  <a:lnTo>
                    <a:pt x="1095375" y="223901"/>
                  </a:lnTo>
                  <a:lnTo>
                    <a:pt x="1097915" y="219456"/>
                  </a:lnTo>
                  <a:lnTo>
                    <a:pt x="1099947" y="214757"/>
                  </a:lnTo>
                  <a:lnTo>
                    <a:pt x="1101598" y="209931"/>
                  </a:lnTo>
                  <a:lnTo>
                    <a:pt x="1105408" y="167767"/>
                  </a:lnTo>
                  <a:lnTo>
                    <a:pt x="1088136" y="129159"/>
                  </a:lnTo>
                  <a:lnTo>
                    <a:pt x="1053211" y="98298"/>
                  </a:lnTo>
                  <a:lnTo>
                    <a:pt x="1003681" y="79375"/>
                  </a:lnTo>
                  <a:lnTo>
                    <a:pt x="1001649" y="73914"/>
                  </a:lnTo>
                  <a:lnTo>
                    <a:pt x="366776" y="73914"/>
                  </a:lnTo>
                  <a:lnTo>
                    <a:pt x="340233" y="64262"/>
                  </a:lnTo>
                  <a:lnTo>
                    <a:pt x="312039" y="58039"/>
                  </a:lnTo>
                  <a:lnTo>
                    <a:pt x="199390" y="69215"/>
                  </a:lnTo>
                  <a:lnTo>
                    <a:pt x="154686" y="93091"/>
                  </a:lnTo>
                  <a:lnTo>
                    <a:pt x="121920" y="125857"/>
                  </a:lnTo>
                  <a:lnTo>
                    <a:pt x="103505" y="164973"/>
                  </a:lnTo>
                  <a:lnTo>
                    <a:pt x="102235" y="208026"/>
                  </a:lnTo>
                  <a:lnTo>
                    <a:pt x="101219" y="209931"/>
                  </a:lnTo>
                  <a:lnTo>
                    <a:pt x="51308" y="223266"/>
                  </a:lnTo>
                  <a:lnTo>
                    <a:pt x="14732" y="252476"/>
                  </a:lnTo>
                  <a:lnTo>
                    <a:pt x="0" y="285140"/>
                  </a:lnTo>
                  <a:lnTo>
                    <a:pt x="2794" y="318427"/>
                  </a:lnTo>
                  <a:lnTo>
                    <a:pt x="21717" y="348475"/>
                  </a:lnTo>
                  <a:lnTo>
                    <a:pt x="55372" y="371487"/>
                  </a:lnTo>
                  <a:lnTo>
                    <a:pt x="40386" y="386588"/>
                  </a:lnTo>
                  <a:lnTo>
                    <a:pt x="30226" y="403593"/>
                  </a:lnTo>
                  <a:lnTo>
                    <a:pt x="25019" y="421843"/>
                  </a:lnTo>
                  <a:lnTo>
                    <a:pt x="25273" y="440715"/>
                  </a:lnTo>
                  <a:lnTo>
                    <a:pt x="39370" y="473392"/>
                  </a:lnTo>
                  <a:lnTo>
                    <a:pt x="67945" y="498551"/>
                  </a:lnTo>
                  <a:lnTo>
                    <a:pt x="106807" y="513765"/>
                  </a:lnTo>
                  <a:lnTo>
                    <a:pt x="152019" y="516597"/>
                  </a:lnTo>
                  <a:lnTo>
                    <a:pt x="154178" y="519379"/>
                  </a:lnTo>
                  <a:lnTo>
                    <a:pt x="195961" y="557098"/>
                  </a:lnTo>
                  <a:lnTo>
                    <a:pt x="249174" y="582091"/>
                  </a:lnTo>
                  <a:lnTo>
                    <a:pt x="309118" y="593496"/>
                  </a:lnTo>
                  <a:lnTo>
                    <a:pt x="371475" y="590448"/>
                  </a:lnTo>
                  <a:lnTo>
                    <a:pt x="431546" y="572084"/>
                  </a:lnTo>
                  <a:lnTo>
                    <a:pt x="450596" y="590194"/>
                  </a:lnTo>
                  <a:lnTo>
                    <a:pt x="473329" y="605459"/>
                  </a:lnTo>
                  <a:lnTo>
                    <a:pt x="499110" y="617550"/>
                  </a:lnTo>
                  <a:lnTo>
                    <a:pt x="527304" y="626173"/>
                  </a:lnTo>
                  <a:lnTo>
                    <a:pt x="583438" y="631939"/>
                  </a:lnTo>
                  <a:lnTo>
                    <a:pt x="637159" y="624344"/>
                  </a:lnTo>
                  <a:lnTo>
                    <a:pt x="684911" y="604875"/>
                  </a:lnTo>
                  <a:lnTo>
                    <a:pt x="723011" y="575017"/>
                  </a:lnTo>
                  <a:lnTo>
                    <a:pt x="724916" y="572084"/>
                  </a:lnTo>
                  <a:lnTo>
                    <a:pt x="747903" y="536244"/>
                  </a:lnTo>
                  <a:lnTo>
                    <a:pt x="766318" y="543687"/>
                  </a:lnTo>
                  <a:lnTo>
                    <a:pt x="785876" y="549122"/>
                  </a:lnTo>
                  <a:lnTo>
                    <a:pt x="806069" y="552475"/>
                  </a:lnTo>
                  <a:lnTo>
                    <a:pt x="826897" y="553694"/>
                  </a:lnTo>
                  <a:lnTo>
                    <a:pt x="885952" y="545007"/>
                  </a:lnTo>
                  <a:lnTo>
                    <a:pt x="903351" y="536244"/>
                  </a:lnTo>
                  <a:lnTo>
                    <a:pt x="934466" y="520649"/>
                  </a:lnTo>
                  <a:lnTo>
                    <a:pt x="967232" y="484263"/>
                  </a:lnTo>
                  <a:lnTo>
                    <a:pt x="979551" y="439559"/>
                  </a:lnTo>
                  <a:lnTo>
                    <a:pt x="1001903" y="436003"/>
                  </a:lnTo>
                  <a:lnTo>
                    <a:pt x="1062609" y="413016"/>
                  </a:lnTo>
                  <a:lnTo>
                    <a:pt x="1101598" y="381596"/>
                  </a:lnTo>
                  <a:lnTo>
                    <a:pt x="1124839" y="343865"/>
                  </a:lnTo>
                  <a:lnTo>
                    <a:pt x="1131951" y="30292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 name="Google Shape;115;p5">
              <a:extLst>
                <a:ext uri="{FF2B5EF4-FFF2-40B4-BE49-F238E27FC236}">
                  <a16:creationId xmlns:a16="http://schemas.microsoft.com/office/drawing/2014/main" id="{4E1480B7-50B1-B9B1-7FA1-B7CA0A5415E1}"/>
                </a:ext>
              </a:extLst>
            </p:cNvPr>
            <p:cNvSpPr/>
            <p:nvPr/>
          </p:nvSpPr>
          <p:spPr>
            <a:xfrm>
              <a:off x="7213853" y="5321045"/>
              <a:ext cx="1132205" cy="632460"/>
            </a:xfrm>
            <a:custGeom>
              <a:avLst/>
              <a:gdLst/>
              <a:ahLst/>
              <a:cxnLst/>
              <a:rect l="l" t="t" r="r" b="b"/>
              <a:pathLst>
                <a:path w="1132204" h="632460" extrusionOk="0">
                  <a:moveTo>
                    <a:pt x="102235" y="208025"/>
                  </a:moveTo>
                  <a:lnTo>
                    <a:pt x="103504" y="164972"/>
                  </a:lnTo>
                  <a:lnTo>
                    <a:pt x="121920" y="125856"/>
                  </a:lnTo>
                  <a:lnTo>
                    <a:pt x="154686" y="93090"/>
                  </a:lnTo>
                  <a:lnTo>
                    <a:pt x="199390" y="69214"/>
                  </a:lnTo>
                  <a:lnTo>
                    <a:pt x="253492" y="56768"/>
                  </a:lnTo>
                  <a:lnTo>
                    <a:pt x="282955" y="55625"/>
                  </a:lnTo>
                  <a:lnTo>
                    <a:pt x="312039" y="58038"/>
                  </a:lnTo>
                  <a:lnTo>
                    <a:pt x="340232" y="64261"/>
                  </a:lnTo>
                  <a:lnTo>
                    <a:pt x="366775" y="73913"/>
                  </a:lnTo>
                  <a:lnTo>
                    <a:pt x="401954" y="41274"/>
                  </a:lnTo>
                  <a:lnTo>
                    <a:pt x="449199" y="22097"/>
                  </a:lnTo>
                  <a:lnTo>
                    <a:pt x="502412" y="17906"/>
                  </a:lnTo>
                  <a:lnTo>
                    <a:pt x="555625" y="29971"/>
                  </a:lnTo>
                  <a:lnTo>
                    <a:pt x="564388" y="33781"/>
                  </a:lnTo>
                  <a:lnTo>
                    <a:pt x="572770" y="38099"/>
                  </a:lnTo>
                  <a:lnTo>
                    <a:pt x="580644" y="42798"/>
                  </a:lnTo>
                  <a:lnTo>
                    <a:pt x="588137" y="48005"/>
                  </a:lnTo>
                  <a:lnTo>
                    <a:pt x="616076" y="20827"/>
                  </a:lnTo>
                  <a:lnTo>
                    <a:pt x="654176" y="4317"/>
                  </a:lnTo>
                  <a:lnTo>
                    <a:pt x="697611" y="0"/>
                  </a:lnTo>
                  <a:lnTo>
                    <a:pt x="741426" y="9016"/>
                  </a:lnTo>
                  <a:lnTo>
                    <a:pt x="752855" y="13969"/>
                  </a:lnTo>
                  <a:lnTo>
                    <a:pt x="763270" y="19811"/>
                  </a:lnTo>
                  <a:lnTo>
                    <a:pt x="772922" y="26542"/>
                  </a:lnTo>
                  <a:lnTo>
                    <a:pt x="781430" y="34162"/>
                  </a:lnTo>
                  <a:lnTo>
                    <a:pt x="821054" y="10413"/>
                  </a:lnTo>
                  <a:lnTo>
                    <a:pt x="867918" y="380"/>
                  </a:lnTo>
                  <a:lnTo>
                    <a:pt x="916431" y="4317"/>
                  </a:lnTo>
                  <a:lnTo>
                    <a:pt x="960627" y="22859"/>
                  </a:lnTo>
                  <a:lnTo>
                    <a:pt x="976122" y="34670"/>
                  </a:lnTo>
                  <a:lnTo>
                    <a:pt x="988568" y="48259"/>
                  </a:lnTo>
                  <a:lnTo>
                    <a:pt x="997839" y="63245"/>
                  </a:lnTo>
                  <a:lnTo>
                    <a:pt x="1003680" y="79374"/>
                  </a:lnTo>
                  <a:lnTo>
                    <a:pt x="1053211" y="98297"/>
                  </a:lnTo>
                  <a:lnTo>
                    <a:pt x="1088136" y="129158"/>
                  </a:lnTo>
                  <a:lnTo>
                    <a:pt x="1105407" y="167766"/>
                  </a:lnTo>
                  <a:lnTo>
                    <a:pt x="1101598" y="209930"/>
                  </a:lnTo>
                  <a:lnTo>
                    <a:pt x="1099947" y="214756"/>
                  </a:lnTo>
                  <a:lnTo>
                    <a:pt x="1097915" y="219455"/>
                  </a:lnTo>
                  <a:lnTo>
                    <a:pt x="1095375" y="223900"/>
                  </a:lnTo>
                  <a:lnTo>
                    <a:pt x="1122299" y="261873"/>
                  </a:lnTo>
                  <a:lnTo>
                    <a:pt x="1131951" y="302920"/>
                  </a:lnTo>
                  <a:lnTo>
                    <a:pt x="1124839" y="343865"/>
                  </a:lnTo>
                  <a:lnTo>
                    <a:pt x="1101598" y="381596"/>
                  </a:lnTo>
                  <a:lnTo>
                    <a:pt x="1062609" y="413016"/>
                  </a:lnTo>
                  <a:lnTo>
                    <a:pt x="1001902" y="436003"/>
                  </a:lnTo>
                  <a:lnTo>
                    <a:pt x="979551" y="439559"/>
                  </a:lnTo>
                  <a:lnTo>
                    <a:pt x="967231" y="484263"/>
                  </a:lnTo>
                  <a:lnTo>
                    <a:pt x="934466" y="520649"/>
                  </a:lnTo>
                  <a:lnTo>
                    <a:pt x="885951" y="545007"/>
                  </a:lnTo>
                  <a:lnTo>
                    <a:pt x="826897" y="553694"/>
                  </a:lnTo>
                  <a:lnTo>
                    <a:pt x="806069" y="552475"/>
                  </a:lnTo>
                  <a:lnTo>
                    <a:pt x="785876" y="549122"/>
                  </a:lnTo>
                  <a:lnTo>
                    <a:pt x="766318" y="543686"/>
                  </a:lnTo>
                  <a:lnTo>
                    <a:pt x="747902" y="536244"/>
                  </a:lnTo>
                  <a:lnTo>
                    <a:pt x="723011" y="575017"/>
                  </a:lnTo>
                  <a:lnTo>
                    <a:pt x="684911" y="604875"/>
                  </a:lnTo>
                  <a:lnTo>
                    <a:pt x="637159" y="624344"/>
                  </a:lnTo>
                  <a:lnTo>
                    <a:pt x="583438" y="631939"/>
                  </a:lnTo>
                  <a:lnTo>
                    <a:pt x="527303" y="626173"/>
                  </a:lnTo>
                  <a:lnTo>
                    <a:pt x="499110" y="617550"/>
                  </a:lnTo>
                  <a:lnTo>
                    <a:pt x="473328" y="605459"/>
                  </a:lnTo>
                  <a:lnTo>
                    <a:pt x="450596" y="590194"/>
                  </a:lnTo>
                  <a:lnTo>
                    <a:pt x="431546" y="572084"/>
                  </a:lnTo>
                  <a:lnTo>
                    <a:pt x="371475" y="590448"/>
                  </a:lnTo>
                  <a:lnTo>
                    <a:pt x="309118" y="593496"/>
                  </a:lnTo>
                  <a:lnTo>
                    <a:pt x="249174" y="582091"/>
                  </a:lnTo>
                  <a:lnTo>
                    <a:pt x="195961" y="557098"/>
                  </a:lnTo>
                  <a:lnTo>
                    <a:pt x="154177" y="519379"/>
                  </a:lnTo>
                  <a:lnTo>
                    <a:pt x="152019" y="516597"/>
                  </a:lnTo>
                  <a:lnTo>
                    <a:pt x="106806" y="513765"/>
                  </a:lnTo>
                  <a:lnTo>
                    <a:pt x="67945" y="498551"/>
                  </a:lnTo>
                  <a:lnTo>
                    <a:pt x="39370" y="473392"/>
                  </a:lnTo>
                  <a:lnTo>
                    <a:pt x="25273" y="440715"/>
                  </a:lnTo>
                  <a:lnTo>
                    <a:pt x="25019" y="421843"/>
                  </a:lnTo>
                  <a:lnTo>
                    <a:pt x="30225" y="403593"/>
                  </a:lnTo>
                  <a:lnTo>
                    <a:pt x="40386" y="386587"/>
                  </a:lnTo>
                  <a:lnTo>
                    <a:pt x="55372" y="371487"/>
                  </a:lnTo>
                  <a:lnTo>
                    <a:pt x="21717" y="348475"/>
                  </a:lnTo>
                  <a:lnTo>
                    <a:pt x="2794" y="318427"/>
                  </a:lnTo>
                  <a:lnTo>
                    <a:pt x="0" y="285140"/>
                  </a:lnTo>
                  <a:lnTo>
                    <a:pt x="14731" y="252475"/>
                  </a:lnTo>
                  <a:lnTo>
                    <a:pt x="30861" y="236092"/>
                  </a:lnTo>
                  <a:lnTo>
                    <a:pt x="51307" y="223265"/>
                  </a:lnTo>
                  <a:lnTo>
                    <a:pt x="75056" y="214375"/>
                  </a:lnTo>
                  <a:lnTo>
                    <a:pt x="101219" y="209930"/>
                  </a:lnTo>
                  <a:lnTo>
                    <a:pt x="102235" y="208025"/>
                  </a:lnTo>
                  <a:close/>
                </a:path>
                <a:path w="1132204" h="632460" extrusionOk="0">
                  <a:moveTo>
                    <a:pt x="122809" y="380593"/>
                  </a:moveTo>
                  <a:lnTo>
                    <a:pt x="105410" y="380606"/>
                  </a:lnTo>
                  <a:lnTo>
                    <a:pt x="88392" y="378612"/>
                  </a:lnTo>
                  <a:lnTo>
                    <a:pt x="72009" y="374662"/>
                  </a:lnTo>
                  <a:lnTo>
                    <a:pt x="56388" y="368807"/>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116;p5">
              <a:extLst>
                <a:ext uri="{FF2B5EF4-FFF2-40B4-BE49-F238E27FC236}">
                  <a16:creationId xmlns:a16="http://schemas.microsoft.com/office/drawing/2014/main" id="{77AEC832-70C2-7FB3-A1FC-7BA24CE3FB2A}"/>
                </a:ext>
              </a:extLst>
            </p:cNvPr>
            <p:cNvSpPr/>
            <p:nvPr/>
          </p:nvSpPr>
          <p:spPr>
            <a:xfrm>
              <a:off x="7366253" y="5830061"/>
              <a:ext cx="29845" cy="5080"/>
            </a:xfrm>
            <a:custGeom>
              <a:avLst/>
              <a:gdLst/>
              <a:ahLst/>
              <a:cxnLst/>
              <a:rect l="l" t="t" r="r" b="b"/>
              <a:pathLst>
                <a:path w="29845" h="5079" extrusionOk="0">
                  <a:moveTo>
                    <a:pt x="29718" y="0"/>
                  </a:moveTo>
                  <a:lnTo>
                    <a:pt x="20320" y="2260"/>
                  </a:lnTo>
                  <a:lnTo>
                    <a:pt x="10287" y="3759"/>
                  </a:lnTo>
                  <a:lnTo>
                    <a:pt x="0" y="447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117;p5">
              <a:extLst>
                <a:ext uri="{FF2B5EF4-FFF2-40B4-BE49-F238E27FC236}">
                  <a16:creationId xmlns:a16="http://schemas.microsoft.com/office/drawing/2014/main" id="{9F3AD8EB-627A-89D5-0710-19BB042950C8}"/>
                </a:ext>
              </a:extLst>
            </p:cNvPr>
            <p:cNvSpPr/>
            <p:nvPr/>
          </p:nvSpPr>
          <p:spPr>
            <a:xfrm>
              <a:off x="7628381" y="5353049"/>
              <a:ext cx="679450" cy="537845"/>
            </a:xfrm>
            <a:custGeom>
              <a:avLst/>
              <a:gdLst/>
              <a:ahLst/>
              <a:cxnLst/>
              <a:rect l="l" t="t" r="r" b="b"/>
              <a:pathLst>
                <a:path w="679450" h="537845" extrusionOk="0">
                  <a:moveTo>
                    <a:pt x="16383" y="537387"/>
                  </a:moveTo>
                  <a:lnTo>
                    <a:pt x="11684" y="531329"/>
                  </a:lnTo>
                  <a:lnTo>
                    <a:pt x="7366" y="525081"/>
                  </a:lnTo>
                  <a:lnTo>
                    <a:pt x="3428" y="518655"/>
                  </a:lnTo>
                  <a:lnTo>
                    <a:pt x="0" y="512063"/>
                  </a:lnTo>
                </a:path>
                <a:path w="679450" h="537845" extrusionOk="0">
                  <a:moveTo>
                    <a:pt x="340741" y="473963"/>
                  </a:moveTo>
                  <a:lnTo>
                    <a:pt x="339725" y="480910"/>
                  </a:lnTo>
                  <a:lnTo>
                    <a:pt x="338200" y="487819"/>
                  </a:lnTo>
                  <a:lnTo>
                    <a:pt x="336169" y="494639"/>
                  </a:lnTo>
                  <a:lnTo>
                    <a:pt x="333756" y="501383"/>
                  </a:lnTo>
                </a:path>
                <a:path w="679450" h="537845" extrusionOk="0">
                  <a:moveTo>
                    <a:pt x="478536" y="301752"/>
                  </a:moveTo>
                  <a:lnTo>
                    <a:pt x="513969" y="320078"/>
                  </a:lnTo>
                  <a:lnTo>
                    <a:pt x="540893" y="344741"/>
                  </a:lnTo>
                  <a:lnTo>
                    <a:pt x="557784" y="374091"/>
                  </a:lnTo>
                  <a:lnTo>
                    <a:pt x="563499" y="406501"/>
                  </a:lnTo>
                </a:path>
                <a:path w="679450" h="537845" extrusionOk="0">
                  <a:moveTo>
                    <a:pt x="679323" y="190500"/>
                  </a:moveTo>
                  <a:lnTo>
                    <a:pt x="672211" y="201549"/>
                  </a:lnTo>
                  <a:lnTo>
                    <a:pt x="663448" y="211962"/>
                  </a:lnTo>
                  <a:lnTo>
                    <a:pt x="653288" y="221361"/>
                  </a:lnTo>
                  <a:lnTo>
                    <a:pt x="641603" y="229869"/>
                  </a:lnTo>
                </a:path>
                <a:path w="679450" h="537845" extrusionOk="0">
                  <a:moveTo>
                    <a:pt x="588264" y="45719"/>
                  </a:moveTo>
                  <a:lnTo>
                    <a:pt x="589915" y="51815"/>
                  </a:lnTo>
                  <a:lnTo>
                    <a:pt x="590676" y="57912"/>
                  </a:lnTo>
                  <a:lnTo>
                    <a:pt x="590550" y="64008"/>
                  </a:lnTo>
                </a:path>
                <a:path w="679450" h="537845" extrusionOk="0">
                  <a:moveTo>
                    <a:pt x="347472" y="24384"/>
                  </a:moveTo>
                  <a:lnTo>
                    <a:pt x="351282" y="17906"/>
                  </a:lnTo>
                  <a:lnTo>
                    <a:pt x="355600" y="11556"/>
                  </a:lnTo>
                  <a:lnTo>
                    <a:pt x="360425" y="5587"/>
                  </a:lnTo>
                  <a:lnTo>
                    <a:pt x="365760" y="0"/>
                  </a:lnTo>
                </a:path>
                <a:path w="679450" h="537845" extrusionOk="0">
                  <a:moveTo>
                    <a:pt x="164592" y="35052"/>
                  </a:moveTo>
                  <a:lnTo>
                    <a:pt x="166750" y="28066"/>
                  </a:lnTo>
                  <a:lnTo>
                    <a:pt x="170052" y="21462"/>
                  </a:lnTo>
                  <a:lnTo>
                    <a:pt x="174498" y="1524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 name="Google Shape;118;p5">
              <a:extLst>
                <a:ext uri="{FF2B5EF4-FFF2-40B4-BE49-F238E27FC236}">
                  <a16:creationId xmlns:a16="http://schemas.microsoft.com/office/drawing/2014/main" id="{A465923A-4FE9-D2DB-844C-9AF44E0CC4AD}"/>
                </a:ext>
              </a:extLst>
            </p:cNvPr>
            <p:cNvSpPr/>
            <p:nvPr/>
          </p:nvSpPr>
          <p:spPr>
            <a:xfrm>
              <a:off x="7581137" y="5394197"/>
              <a:ext cx="33020" cy="20320"/>
            </a:xfrm>
            <a:custGeom>
              <a:avLst/>
              <a:gdLst/>
              <a:ahLst/>
              <a:cxnLst/>
              <a:rect l="l" t="t" r="r" b="b"/>
              <a:pathLst>
                <a:path w="33020" h="20320" extrusionOk="0">
                  <a:moveTo>
                    <a:pt x="0" y="0"/>
                  </a:moveTo>
                  <a:lnTo>
                    <a:pt x="8762" y="4317"/>
                  </a:lnTo>
                  <a:lnTo>
                    <a:pt x="17271" y="9143"/>
                  </a:lnTo>
                  <a:lnTo>
                    <a:pt x="25272" y="14223"/>
                  </a:lnTo>
                  <a:lnTo>
                    <a:pt x="32892" y="19811"/>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 name="Google Shape;119;p5">
              <a:extLst>
                <a:ext uri="{FF2B5EF4-FFF2-40B4-BE49-F238E27FC236}">
                  <a16:creationId xmlns:a16="http://schemas.microsoft.com/office/drawing/2014/main" id="{B02B592D-EEF5-F1BA-3C0B-43518104B864}"/>
                </a:ext>
              </a:extLst>
            </p:cNvPr>
            <p:cNvSpPr/>
            <p:nvPr/>
          </p:nvSpPr>
          <p:spPr>
            <a:xfrm>
              <a:off x="7315961" y="5529833"/>
              <a:ext cx="6350" cy="19685"/>
            </a:xfrm>
            <a:custGeom>
              <a:avLst/>
              <a:gdLst/>
              <a:ahLst/>
              <a:cxnLst/>
              <a:rect l="l" t="t" r="r" b="b"/>
              <a:pathLst>
                <a:path w="6350" h="19685" extrusionOk="0">
                  <a:moveTo>
                    <a:pt x="6096" y="19557"/>
                  </a:moveTo>
                  <a:lnTo>
                    <a:pt x="3302" y="13207"/>
                  </a:lnTo>
                  <a:lnTo>
                    <a:pt x="1270" y="6603"/>
                  </a:lnTo>
                  <a:lnTo>
                    <a:pt x="0" y="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71" name="Google Shape;120;p5">
            <a:extLst>
              <a:ext uri="{FF2B5EF4-FFF2-40B4-BE49-F238E27FC236}">
                <a16:creationId xmlns:a16="http://schemas.microsoft.com/office/drawing/2014/main" id="{A7461F03-73FA-3CB2-5A63-E0147FE65AEA}"/>
              </a:ext>
            </a:extLst>
          </p:cNvPr>
          <p:cNvSpPr txBox="1"/>
          <p:nvPr/>
        </p:nvSpPr>
        <p:spPr>
          <a:xfrm>
            <a:off x="7668681" y="5597242"/>
            <a:ext cx="64008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a:solidFill>
                  <a:schemeClr val="dk1"/>
                </a:solidFill>
                <a:latin typeface="Verdana"/>
                <a:ea typeface="Verdana"/>
                <a:cs typeface="Verdana"/>
                <a:sym typeface="Verdana"/>
              </a:rPr>
              <a:t>Internet</a:t>
            </a:r>
            <a:endParaRPr sz="1800">
              <a:solidFill>
                <a:schemeClr val="dk1"/>
              </a:solidFill>
              <a:latin typeface="Verdana"/>
              <a:ea typeface="Verdana"/>
              <a:cs typeface="Verdana"/>
              <a:sym typeface="Verdana"/>
            </a:endParaRPr>
          </a:p>
        </p:txBody>
      </p:sp>
      <p:sp>
        <p:nvSpPr>
          <p:cNvPr id="72" name="Google Shape;121;p5">
            <a:extLst>
              <a:ext uri="{FF2B5EF4-FFF2-40B4-BE49-F238E27FC236}">
                <a16:creationId xmlns:a16="http://schemas.microsoft.com/office/drawing/2014/main" id="{5D863E72-7FD7-B2E0-BC08-902E7843CF81}"/>
              </a:ext>
            </a:extLst>
          </p:cNvPr>
          <p:cNvSpPr txBox="1"/>
          <p:nvPr/>
        </p:nvSpPr>
        <p:spPr>
          <a:xfrm>
            <a:off x="8155217" y="4408878"/>
            <a:ext cx="2956560" cy="329565"/>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2000">
                <a:solidFill>
                  <a:schemeClr val="dk1"/>
                </a:solidFill>
                <a:latin typeface="Arial"/>
                <a:ea typeface="Arial"/>
                <a:cs typeface="Arial"/>
                <a:sym typeface="Arial"/>
              </a:rPr>
              <a:t>applications de différentes</a:t>
            </a:r>
            <a:endParaRPr sz="2000">
              <a:solidFill>
                <a:schemeClr val="dk1"/>
              </a:solidFill>
              <a:latin typeface="Arial"/>
              <a:ea typeface="Arial"/>
              <a:cs typeface="Arial"/>
              <a:sym typeface="Arial"/>
            </a:endParaRPr>
          </a:p>
        </p:txBody>
      </p:sp>
      <p:sp>
        <p:nvSpPr>
          <p:cNvPr id="73" name="Google Shape;122;p5">
            <a:extLst>
              <a:ext uri="{FF2B5EF4-FFF2-40B4-BE49-F238E27FC236}">
                <a16:creationId xmlns:a16="http://schemas.microsoft.com/office/drawing/2014/main" id="{37106A41-5448-51B0-3A17-411EB0ED778C}"/>
              </a:ext>
            </a:extLst>
          </p:cNvPr>
          <p:cNvSpPr txBox="1"/>
          <p:nvPr/>
        </p:nvSpPr>
        <p:spPr>
          <a:xfrm>
            <a:off x="902171" y="3727304"/>
            <a:ext cx="7108825" cy="1315720"/>
          </a:xfrm>
          <a:prstGeom prst="rect">
            <a:avLst/>
          </a:prstGeom>
          <a:noFill/>
          <a:ln>
            <a:noFill/>
          </a:ln>
        </p:spPr>
        <p:txBody>
          <a:bodyPr spcFirstLastPara="1" wrap="square" lIns="0" tIns="184775" rIns="0" bIns="0" anchor="t" anchorCtr="0">
            <a:spAutoFit/>
          </a:bodyPr>
          <a:lstStyle/>
          <a:p>
            <a:pPr marL="12700" marR="0" lvl="0" indent="0" algn="l" rtl="0">
              <a:lnSpc>
                <a:spcPct val="100000"/>
              </a:lnSpc>
              <a:spcBef>
                <a:spcPts val="0"/>
              </a:spcBef>
              <a:spcAft>
                <a:spcPts val="0"/>
              </a:spcAft>
              <a:buNone/>
            </a:pPr>
            <a:r>
              <a:rPr lang="fr-FR" sz="2400" b="1">
                <a:solidFill>
                  <a:schemeClr val="dk1"/>
                </a:solidFill>
                <a:latin typeface="Arial"/>
                <a:ea typeface="Arial"/>
                <a:cs typeface="Arial"/>
                <a:sym typeface="Arial"/>
              </a:rPr>
              <a:t>Application-centric web</a:t>
            </a:r>
            <a:endParaRPr sz="2400">
              <a:solidFill>
                <a:schemeClr val="dk1"/>
              </a:solidFill>
              <a:latin typeface="Arial"/>
              <a:ea typeface="Arial"/>
              <a:cs typeface="Arial"/>
              <a:sym typeface="Arial"/>
            </a:endParaRPr>
          </a:p>
          <a:p>
            <a:pPr marL="339725" marR="0" lvl="0" indent="-114300" algn="l" rtl="0">
              <a:lnSpc>
                <a:spcPct val="100000"/>
              </a:lnSpc>
              <a:spcBef>
                <a:spcPts val="1125"/>
              </a:spcBef>
              <a:spcAft>
                <a:spcPts val="0"/>
              </a:spcAft>
              <a:buClr>
                <a:schemeClr val="dk1"/>
              </a:buClr>
              <a:buSzPts val="1800"/>
              <a:buFont typeface="Noto Sans Symbols"/>
              <a:buChar char="▪"/>
            </a:pPr>
            <a:r>
              <a:rPr lang="fr-FR" sz="2000">
                <a:solidFill>
                  <a:schemeClr val="dk1"/>
                </a:solidFill>
                <a:latin typeface="Arial"/>
                <a:ea typeface="Arial"/>
                <a:cs typeface="Arial"/>
                <a:sym typeface="Arial"/>
              </a:rPr>
              <a:t>Le Web centré application a pour objectif de permettre à des</a:t>
            </a:r>
            <a:endParaRPr sz="2000">
              <a:solidFill>
                <a:schemeClr val="dk1"/>
              </a:solidFill>
              <a:latin typeface="Arial"/>
              <a:ea typeface="Arial"/>
              <a:cs typeface="Arial"/>
              <a:sym typeface="Arial"/>
            </a:endParaRPr>
          </a:p>
          <a:p>
            <a:pPr marL="228600" marR="0" lvl="0" indent="0" algn="l" rtl="0">
              <a:lnSpc>
                <a:spcPct val="100000"/>
              </a:lnSpc>
              <a:spcBef>
                <a:spcPts val="0"/>
              </a:spcBef>
              <a:spcAft>
                <a:spcPts val="0"/>
              </a:spcAft>
              <a:buNone/>
            </a:pPr>
            <a:r>
              <a:rPr lang="fr-FR" sz="2000">
                <a:solidFill>
                  <a:schemeClr val="dk1"/>
                </a:solidFill>
                <a:latin typeface="Arial"/>
                <a:ea typeface="Arial"/>
                <a:cs typeface="Arial"/>
                <a:sym typeface="Arial"/>
              </a:rPr>
              <a:t>organisations de communiquer entre elles</a:t>
            </a:r>
            <a:endParaRPr sz="2000">
              <a:solidFill>
                <a:schemeClr val="dk1"/>
              </a:solidFill>
              <a:latin typeface="Arial"/>
              <a:ea typeface="Arial"/>
              <a:cs typeface="Arial"/>
              <a:sym typeface="Arial"/>
            </a:endParaRPr>
          </a:p>
        </p:txBody>
      </p:sp>
      <p:sp>
        <p:nvSpPr>
          <p:cNvPr id="74" name="Google Shape;123;p5">
            <a:extLst>
              <a:ext uri="{FF2B5EF4-FFF2-40B4-BE49-F238E27FC236}">
                <a16:creationId xmlns:a16="http://schemas.microsoft.com/office/drawing/2014/main" id="{E5BDC7CF-B61D-0334-FFD7-56664EDA83EC}"/>
              </a:ext>
            </a:extLst>
          </p:cNvPr>
          <p:cNvSpPr txBox="1"/>
          <p:nvPr/>
        </p:nvSpPr>
        <p:spPr>
          <a:xfrm>
            <a:off x="9479827" y="6181239"/>
            <a:ext cx="1139190"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a:solidFill>
                  <a:schemeClr val="dk1"/>
                </a:solidFill>
                <a:latin typeface="Arial"/>
                <a:ea typeface="Arial"/>
                <a:cs typeface="Arial"/>
                <a:sym typeface="Arial"/>
              </a:rPr>
              <a:t>Application</a:t>
            </a:r>
            <a:endParaRPr sz="1800">
              <a:solidFill>
                <a:schemeClr val="dk1"/>
              </a:solidFill>
              <a:latin typeface="Arial"/>
              <a:ea typeface="Arial"/>
              <a:cs typeface="Arial"/>
              <a:sym typeface="Arial"/>
            </a:endParaRPr>
          </a:p>
        </p:txBody>
      </p:sp>
      <p:sp>
        <p:nvSpPr>
          <p:cNvPr id="75" name="Google Shape;124;p5">
            <a:extLst>
              <a:ext uri="{FF2B5EF4-FFF2-40B4-BE49-F238E27FC236}">
                <a16:creationId xmlns:a16="http://schemas.microsoft.com/office/drawing/2014/main" id="{6E7317F4-3EAA-79B5-380F-AF6AB5EE9078}"/>
              </a:ext>
            </a:extLst>
          </p:cNvPr>
          <p:cNvSpPr txBox="1"/>
          <p:nvPr/>
        </p:nvSpPr>
        <p:spPr>
          <a:xfrm>
            <a:off x="1642277" y="5299199"/>
            <a:ext cx="2120265" cy="575310"/>
          </a:xfrm>
          <a:prstGeom prst="rect">
            <a:avLst/>
          </a:prstGeom>
          <a:noFill/>
          <a:ln>
            <a:noFill/>
          </a:ln>
        </p:spPr>
        <p:txBody>
          <a:bodyPr spcFirstLastPara="1" wrap="square" lIns="0" tIns="11425" rIns="0" bIns="0" anchor="t" anchorCtr="0">
            <a:spAutoFit/>
          </a:bodyPr>
          <a:lstStyle/>
          <a:p>
            <a:pPr marL="1905" marR="0" lvl="0" indent="0" algn="ctr" rtl="0">
              <a:lnSpc>
                <a:spcPct val="100000"/>
              </a:lnSpc>
              <a:spcBef>
                <a:spcPts val="0"/>
              </a:spcBef>
              <a:spcAft>
                <a:spcPts val="0"/>
              </a:spcAft>
              <a:buNone/>
            </a:pPr>
            <a:r>
              <a:rPr lang="fr-FR" sz="2000" b="1">
                <a:solidFill>
                  <a:srgbClr val="FF0000"/>
                </a:solidFill>
                <a:latin typeface="Arial"/>
                <a:ea typeface="Arial"/>
                <a:cs typeface="Arial"/>
                <a:sym typeface="Arial"/>
              </a:rPr>
              <a:t>B2B</a:t>
            </a:r>
            <a:endParaRPr sz="2000">
              <a:solidFill>
                <a:schemeClr val="dk1"/>
              </a:solidFill>
              <a:latin typeface="Arial"/>
              <a:ea typeface="Arial"/>
              <a:cs typeface="Arial"/>
              <a:sym typeface="Arial"/>
            </a:endParaRPr>
          </a:p>
          <a:p>
            <a:pPr marL="0" marR="0" lvl="0" indent="0" algn="ctr" rtl="0">
              <a:lnSpc>
                <a:spcPct val="100000"/>
              </a:lnSpc>
              <a:spcBef>
                <a:spcPts val="15"/>
              </a:spcBef>
              <a:spcAft>
                <a:spcPts val="0"/>
              </a:spcAft>
              <a:buNone/>
            </a:pPr>
            <a:r>
              <a:rPr lang="fr-FR" sz="1600" b="1">
                <a:solidFill>
                  <a:srgbClr val="FF0000"/>
                </a:solidFill>
                <a:latin typeface="Arial"/>
                <a:ea typeface="Arial"/>
                <a:cs typeface="Arial"/>
                <a:sym typeface="Arial"/>
              </a:rPr>
              <a:t>Business To Business</a:t>
            </a:r>
            <a:endParaRPr sz="1600">
              <a:solidFill>
                <a:schemeClr val="dk1"/>
              </a:solidFill>
              <a:latin typeface="Arial"/>
              <a:ea typeface="Arial"/>
              <a:cs typeface="Arial"/>
              <a:sym typeface="Arial"/>
            </a:endParaRPr>
          </a:p>
        </p:txBody>
      </p:sp>
      <p:sp>
        <p:nvSpPr>
          <p:cNvPr id="76" name="Google Shape;125;p5">
            <a:extLst>
              <a:ext uri="{FF2B5EF4-FFF2-40B4-BE49-F238E27FC236}">
                <a16:creationId xmlns:a16="http://schemas.microsoft.com/office/drawing/2014/main" id="{64319A37-D51B-7B8D-7990-9DA692CF0707}"/>
              </a:ext>
            </a:extLst>
          </p:cNvPr>
          <p:cNvSpPr txBox="1">
            <a:spLocks/>
          </p:cNvSpPr>
          <p:nvPr/>
        </p:nvSpPr>
        <p:spPr>
          <a:xfrm>
            <a:off x="11392066" y="6532240"/>
            <a:ext cx="228600" cy="203200"/>
          </a:xfrm>
          <a:prstGeom prst="rect">
            <a:avLst/>
          </a:prstGeom>
          <a:noFill/>
          <a:ln>
            <a:noFill/>
          </a:ln>
        </p:spPr>
        <p:txBody>
          <a:bodyPr spcFirstLastPara="1" wrap="square" lIns="0" tIns="3800" rIns="0" bIns="0" anchor="t" anchorCtr="0">
            <a:sp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38100" algn="l"/>
            <a:fld id="{00000000-1234-1234-1234-123412341234}" type="slidenum">
              <a:rPr lang="fr-FR" smtClean="0"/>
              <a:pPr marL="38100" algn="l"/>
              <a:t>9</a:t>
            </a:fld>
            <a:endParaRPr lang="fr-FR"/>
          </a:p>
        </p:txBody>
      </p:sp>
    </p:spTree>
    <p:extLst>
      <p:ext uri="{BB962C8B-B14F-4D97-AF65-F5344CB8AC3E}">
        <p14:creationId xmlns:p14="http://schemas.microsoft.com/office/powerpoint/2010/main" val="323049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11" name="Google Shape;85;g25b1bb62912_0_14" descr="Picture 2">
            <a:extLst>
              <a:ext uri="{FF2B5EF4-FFF2-40B4-BE49-F238E27FC236}">
                <a16:creationId xmlns:a16="http://schemas.microsoft.com/office/drawing/2014/main" id="{D35D651C-815B-E5CE-DE71-EA9383849442}"/>
              </a:ext>
            </a:extLst>
          </p:cNvPr>
          <p:cNvPicPr preferRelativeResize="0"/>
          <p:nvPr/>
        </p:nvPicPr>
        <p:blipFill rotWithShape="1">
          <a:blip r:embed="rId3">
            <a:alphaModFix/>
          </a:blip>
          <a:srcRect/>
          <a:stretch/>
        </p:blipFill>
        <p:spPr>
          <a:xfrm>
            <a:off x="0" y="-14121"/>
            <a:ext cx="12652622" cy="6886241"/>
          </a:xfrm>
          <a:prstGeom prst="rect">
            <a:avLst/>
          </a:prstGeom>
          <a:noFill/>
          <a:ln>
            <a:noFill/>
          </a:ln>
        </p:spPr>
      </p:pic>
      <p:sp>
        <p:nvSpPr>
          <p:cNvPr id="86" name="Google Shape;86;g25b1bb62912_0_1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10</a:t>
            </a:fld>
            <a:endParaRPr/>
          </a:p>
        </p:txBody>
      </p:sp>
      <p:pic>
        <p:nvPicPr>
          <p:cNvPr id="87" name="Google Shape;87;g25b1bb62912_0_14" descr="Picture 3"/>
          <p:cNvPicPr preferRelativeResize="0"/>
          <p:nvPr/>
        </p:nvPicPr>
        <p:blipFill rotWithShape="1">
          <a:blip r:embed="rId4">
            <a:alphaModFix/>
          </a:blip>
          <a:srcRect/>
          <a:stretch/>
        </p:blipFill>
        <p:spPr>
          <a:xfrm flipH="1">
            <a:off x="9100400" y="-250686"/>
            <a:ext cx="3978841" cy="2344124"/>
          </a:xfrm>
          <a:prstGeom prst="rect">
            <a:avLst/>
          </a:prstGeom>
          <a:noFill/>
          <a:ln>
            <a:noFill/>
          </a:ln>
        </p:spPr>
      </p:pic>
      <p:sp>
        <p:nvSpPr>
          <p:cNvPr id="90" name="Google Shape;90;g25b1bb62912_0_14"/>
          <p:cNvSpPr txBox="1"/>
          <p:nvPr/>
        </p:nvSpPr>
        <p:spPr>
          <a:xfrm>
            <a:off x="1289010" y="306344"/>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Contexte de communication</a:t>
            </a:r>
            <a:endParaRPr sz="2700" b="1" dirty="0">
              <a:solidFill>
                <a:schemeClr val="dk1"/>
              </a:solidFill>
              <a:latin typeface="Times New Roman"/>
              <a:ea typeface="Times New Roman"/>
              <a:cs typeface="Times New Roman"/>
              <a:sym typeface="Times New Roman"/>
            </a:endParaRPr>
          </a:p>
        </p:txBody>
      </p:sp>
      <p:sp>
        <p:nvSpPr>
          <p:cNvPr id="4" name="Google Shape;133;p6">
            <a:extLst>
              <a:ext uri="{FF2B5EF4-FFF2-40B4-BE49-F238E27FC236}">
                <a16:creationId xmlns:a16="http://schemas.microsoft.com/office/drawing/2014/main" id="{6974D6C0-6F2E-1902-4B2F-1E93223C0B29}"/>
              </a:ext>
            </a:extLst>
          </p:cNvPr>
          <p:cNvSpPr txBox="1"/>
          <p:nvPr/>
        </p:nvSpPr>
        <p:spPr>
          <a:xfrm>
            <a:off x="539495" y="1311586"/>
            <a:ext cx="2274570" cy="45402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None/>
            </a:pPr>
            <a:r>
              <a:rPr lang="fr-FR" sz="2800" b="1">
                <a:solidFill>
                  <a:srgbClr val="005195"/>
                </a:solidFill>
                <a:latin typeface="Arial"/>
                <a:ea typeface="Arial"/>
                <a:cs typeface="Arial"/>
                <a:sym typeface="Arial"/>
              </a:rPr>
              <a:t>Historique</a:t>
            </a:r>
            <a:endParaRPr sz="2800">
              <a:solidFill>
                <a:schemeClr val="dk1"/>
              </a:solidFill>
              <a:latin typeface="Arial"/>
              <a:ea typeface="Arial"/>
              <a:cs typeface="Arial"/>
              <a:sym typeface="Arial"/>
            </a:endParaRPr>
          </a:p>
        </p:txBody>
      </p:sp>
      <p:pic>
        <p:nvPicPr>
          <p:cNvPr id="6" name="Google Shape;136;p6">
            <a:extLst>
              <a:ext uri="{FF2B5EF4-FFF2-40B4-BE49-F238E27FC236}">
                <a16:creationId xmlns:a16="http://schemas.microsoft.com/office/drawing/2014/main" id="{978F4BD8-8232-1A7A-D8FD-0C738F17DB94}"/>
              </a:ext>
            </a:extLst>
          </p:cNvPr>
          <p:cNvPicPr preferRelativeResize="0"/>
          <p:nvPr/>
        </p:nvPicPr>
        <p:blipFill rotWithShape="1">
          <a:blip r:embed="rId5">
            <a:alphaModFix/>
          </a:blip>
          <a:srcRect/>
          <a:stretch/>
        </p:blipFill>
        <p:spPr>
          <a:xfrm>
            <a:off x="1742951" y="1803175"/>
            <a:ext cx="8964776" cy="4331076"/>
          </a:xfrm>
          <a:prstGeom prst="rect">
            <a:avLst/>
          </a:prstGeom>
          <a:noFill/>
          <a:ln>
            <a:noFill/>
          </a:ln>
        </p:spPr>
      </p:pic>
      <p:sp>
        <p:nvSpPr>
          <p:cNvPr id="7" name="Google Shape;137;p6">
            <a:extLst>
              <a:ext uri="{FF2B5EF4-FFF2-40B4-BE49-F238E27FC236}">
                <a16:creationId xmlns:a16="http://schemas.microsoft.com/office/drawing/2014/main" id="{1913D635-03CC-6FC0-8706-19AE6E7FE2B7}"/>
              </a:ext>
            </a:extLst>
          </p:cNvPr>
          <p:cNvSpPr txBox="1"/>
          <p:nvPr/>
        </p:nvSpPr>
        <p:spPr>
          <a:xfrm>
            <a:off x="2344378" y="6125954"/>
            <a:ext cx="8683625" cy="579646"/>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fr-FR" sz="1800">
                <a:solidFill>
                  <a:schemeClr val="dk1"/>
                </a:solidFill>
                <a:latin typeface="Arial"/>
                <a:ea typeface="Arial"/>
                <a:cs typeface="Arial"/>
                <a:sym typeface="Arial"/>
              </a:rPr>
              <a:t>Source: </a:t>
            </a:r>
            <a:r>
              <a:rPr lang="fr-FR" sz="1800" u="sng">
                <a:solidFill>
                  <a:srgbClr val="0461C1"/>
                </a:solidFill>
                <a:latin typeface="Arial"/>
                <a:ea typeface="Arial"/>
                <a:cs typeface="Arial"/>
                <a:sym typeface="Arial"/>
              </a:rPr>
              <a:t>https://www.ibisc.univ-evry.fr/~tmelliti/cours/CPAR/cours6.pdf</a:t>
            </a:r>
            <a:endParaRPr/>
          </a:p>
          <a:p>
            <a:pPr marL="12700" marR="0" lvl="0" indent="0" algn="l" rtl="0">
              <a:lnSpc>
                <a:spcPct val="100000"/>
              </a:lnSpc>
              <a:spcBef>
                <a:spcPts val="100"/>
              </a:spcBef>
              <a:spcAft>
                <a:spcPts val="0"/>
              </a:spcAft>
              <a:buNone/>
            </a:pPr>
            <a:endParaRPr sz="1800">
              <a:solidFill>
                <a:schemeClr val="dk1"/>
              </a:solidFill>
              <a:latin typeface="Arial"/>
              <a:ea typeface="Arial"/>
              <a:cs typeface="Arial"/>
              <a:sym typeface="Arial"/>
            </a:endParaRPr>
          </a:p>
        </p:txBody>
      </p:sp>
      <p:pic>
        <p:nvPicPr>
          <p:cNvPr id="12" name="Google Shape;89;g25b1bb62912_0_14" descr="Image 10">
            <a:extLst>
              <a:ext uri="{FF2B5EF4-FFF2-40B4-BE49-F238E27FC236}">
                <a16:creationId xmlns:a16="http://schemas.microsoft.com/office/drawing/2014/main" id="{FDB8D613-B00C-BAB5-E202-148A8D1B5189}"/>
              </a:ext>
            </a:extLst>
          </p:cNvPr>
          <p:cNvPicPr preferRelativeResize="0"/>
          <p:nvPr/>
        </p:nvPicPr>
        <p:blipFill rotWithShape="1">
          <a:blip r:embed="rId6">
            <a:alphaModFix/>
          </a:blip>
          <a:srcRect/>
          <a:stretch/>
        </p:blipFill>
        <p:spPr>
          <a:xfrm>
            <a:off x="831813" y="359910"/>
            <a:ext cx="585321" cy="579782"/>
          </a:xfrm>
          <a:prstGeom prst="rect">
            <a:avLst/>
          </a:prstGeom>
          <a:noFill/>
          <a:ln>
            <a:noFill/>
          </a:ln>
        </p:spPr>
      </p:pic>
    </p:spTree>
    <p:extLst>
      <p:ext uri="{BB962C8B-B14F-4D97-AF65-F5344CB8AC3E}">
        <p14:creationId xmlns:p14="http://schemas.microsoft.com/office/powerpoint/2010/main" val="136671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100" name="Google Shape;85;g25b1bb62912_0_14" descr="Picture 2">
            <a:extLst>
              <a:ext uri="{FF2B5EF4-FFF2-40B4-BE49-F238E27FC236}">
                <a16:creationId xmlns:a16="http://schemas.microsoft.com/office/drawing/2014/main" id="{C94DAA91-DF67-C5DB-4C40-A7109832C2EE}"/>
              </a:ext>
            </a:extLst>
          </p:cNvPr>
          <p:cNvPicPr preferRelativeResize="0"/>
          <p:nvPr/>
        </p:nvPicPr>
        <p:blipFill rotWithShape="1">
          <a:blip r:embed="rId3">
            <a:alphaModFix/>
          </a:blip>
          <a:srcRect/>
          <a:stretch/>
        </p:blipFill>
        <p:spPr>
          <a:xfrm>
            <a:off x="0" y="-14121"/>
            <a:ext cx="12652622" cy="6886241"/>
          </a:xfrm>
          <a:prstGeom prst="rect">
            <a:avLst/>
          </a:prstGeom>
          <a:noFill/>
          <a:ln>
            <a:noFill/>
          </a:ln>
        </p:spPr>
      </p:pic>
      <p:sp>
        <p:nvSpPr>
          <p:cNvPr id="3" name="Google Shape;143;p7">
            <a:extLst>
              <a:ext uri="{FF2B5EF4-FFF2-40B4-BE49-F238E27FC236}">
                <a16:creationId xmlns:a16="http://schemas.microsoft.com/office/drawing/2014/main" id="{D977BB65-F9B9-C610-8844-DFFA1864BAF6}"/>
              </a:ext>
            </a:extLst>
          </p:cNvPr>
          <p:cNvSpPr/>
          <p:nvPr/>
        </p:nvSpPr>
        <p:spPr>
          <a:xfrm>
            <a:off x="358711" y="1298193"/>
            <a:ext cx="12192000" cy="52870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6" name="Google Shape;86;g25b1bb62912_0_1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11</a:t>
            </a:fld>
            <a:endParaRPr/>
          </a:p>
        </p:txBody>
      </p:sp>
      <p:pic>
        <p:nvPicPr>
          <p:cNvPr id="87" name="Google Shape;87;g25b1bb62912_0_14" descr="Picture 3"/>
          <p:cNvPicPr preferRelativeResize="0"/>
          <p:nvPr/>
        </p:nvPicPr>
        <p:blipFill rotWithShape="1">
          <a:blip r:embed="rId4">
            <a:alphaModFix/>
          </a:blip>
          <a:srcRect/>
          <a:stretch/>
        </p:blipFill>
        <p:spPr>
          <a:xfrm flipH="1">
            <a:off x="9102766" y="-205530"/>
            <a:ext cx="3978841" cy="2344124"/>
          </a:xfrm>
          <a:prstGeom prst="rect">
            <a:avLst/>
          </a:prstGeom>
          <a:noFill/>
          <a:ln>
            <a:noFill/>
          </a:ln>
        </p:spPr>
      </p:pic>
      <p:sp>
        <p:nvSpPr>
          <p:cNvPr id="90" name="Google Shape;90;g25b1bb62912_0_14"/>
          <p:cNvSpPr txBox="1"/>
          <p:nvPr/>
        </p:nvSpPr>
        <p:spPr>
          <a:xfrm>
            <a:off x="1276379" y="367438"/>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Contexte de communication</a:t>
            </a:r>
            <a:endParaRPr sz="2700" b="1" dirty="0">
              <a:solidFill>
                <a:schemeClr val="dk1"/>
              </a:solidFill>
              <a:latin typeface="Times New Roman"/>
              <a:ea typeface="Times New Roman"/>
              <a:cs typeface="Times New Roman"/>
              <a:sym typeface="Times New Roman"/>
            </a:endParaRPr>
          </a:p>
        </p:txBody>
      </p:sp>
      <p:sp>
        <p:nvSpPr>
          <p:cNvPr id="9" name="Google Shape;145;p7">
            <a:extLst>
              <a:ext uri="{FF2B5EF4-FFF2-40B4-BE49-F238E27FC236}">
                <a16:creationId xmlns:a16="http://schemas.microsoft.com/office/drawing/2014/main" id="{F8F5B8B2-71E5-BB7A-6AC2-FEE9CF290793}"/>
              </a:ext>
            </a:extLst>
          </p:cNvPr>
          <p:cNvSpPr txBox="1"/>
          <p:nvPr/>
        </p:nvSpPr>
        <p:spPr>
          <a:xfrm>
            <a:off x="577215" y="1356550"/>
            <a:ext cx="3701274" cy="444973"/>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None/>
            </a:pPr>
            <a:r>
              <a:rPr lang="fr-FR" sz="2800" b="1" dirty="0">
                <a:solidFill>
                  <a:srgbClr val="005195"/>
                </a:solidFill>
                <a:latin typeface="Arial"/>
                <a:ea typeface="Arial"/>
                <a:cs typeface="Arial"/>
                <a:sym typeface="Arial"/>
              </a:rPr>
              <a:t>Exemple B2B</a:t>
            </a:r>
            <a:endParaRPr sz="2800" dirty="0">
              <a:solidFill>
                <a:schemeClr val="dk1"/>
              </a:solidFill>
              <a:latin typeface="Arial"/>
              <a:ea typeface="Arial"/>
              <a:cs typeface="Arial"/>
              <a:sym typeface="Arial"/>
            </a:endParaRPr>
          </a:p>
        </p:txBody>
      </p:sp>
      <p:grpSp>
        <p:nvGrpSpPr>
          <p:cNvPr id="10" name="Google Shape;146;p7">
            <a:extLst>
              <a:ext uri="{FF2B5EF4-FFF2-40B4-BE49-F238E27FC236}">
                <a16:creationId xmlns:a16="http://schemas.microsoft.com/office/drawing/2014/main" id="{28481977-C769-0B7C-DDF2-9B738B05FBD3}"/>
              </a:ext>
            </a:extLst>
          </p:cNvPr>
          <p:cNvGrpSpPr/>
          <p:nvPr/>
        </p:nvGrpSpPr>
        <p:grpSpPr>
          <a:xfrm>
            <a:off x="339852" y="2255520"/>
            <a:ext cx="10805158" cy="3329940"/>
            <a:chOff x="339852" y="2255520"/>
            <a:chExt cx="10805158" cy="3329940"/>
          </a:xfrm>
        </p:grpSpPr>
        <p:sp>
          <p:nvSpPr>
            <p:cNvPr id="11" name="Google Shape;147;p7">
              <a:extLst>
                <a:ext uri="{FF2B5EF4-FFF2-40B4-BE49-F238E27FC236}">
                  <a16:creationId xmlns:a16="http://schemas.microsoft.com/office/drawing/2014/main" id="{DBE19C2E-0519-6FB8-E1CE-2D99666A7EB0}"/>
                </a:ext>
              </a:extLst>
            </p:cNvPr>
            <p:cNvSpPr/>
            <p:nvPr/>
          </p:nvSpPr>
          <p:spPr>
            <a:xfrm>
              <a:off x="339852" y="4541520"/>
              <a:ext cx="2535936" cy="104394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48;p7">
              <a:extLst>
                <a:ext uri="{FF2B5EF4-FFF2-40B4-BE49-F238E27FC236}">
                  <a16:creationId xmlns:a16="http://schemas.microsoft.com/office/drawing/2014/main" id="{76A8A93D-EE35-8828-2948-029A3CA13776}"/>
                </a:ext>
              </a:extLst>
            </p:cNvPr>
            <p:cNvSpPr/>
            <p:nvPr/>
          </p:nvSpPr>
          <p:spPr>
            <a:xfrm>
              <a:off x="381000" y="4572000"/>
              <a:ext cx="2382012" cy="928116"/>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49;p7">
              <a:extLst>
                <a:ext uri="{FF2B5EF4-FFF2-40B4-BE49-F238E27FC236}">
                  <a16:creationId xmlns:a16="http://schemas.microsoft.com/office/drawing/2014/main" id="{90215984-2E89-B0AC-F87E-955689CCA3FF}"/>
                </a:ext>
              </a:extLst>
            </p:cNvPr>
            <p:cNvSpPr/>
            <p:nvPr/>
          </p:nvSpPr>
          <p:spPr>
            <a:xfrm>
              <a:off x="1239012" y="5000244"/>
              <a:ext cx="665988" cy="499872"/>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150;p7">
              <a:extLst>
                <a:ext uri="{FF2B5EF4-FFF2-40B4-BE49-F238E27FC236}">
                  <a16:creationId xmlns:a16="http://schemas.microsoft.com/office/drawing/2014/main" id="{92D7E0CE-BA15-B9F4-DF24-8B29E41F8E00}"/>
                </a:ext>
              </a:extLst>
            </p:cNvPr>
            <p:cNvSpPr/>
            <p:nvPr/>
          </p:nvSpPr>
          <p:spPr>
            <a:xfrm>
              <a:off x="339852" y="2255520"/>
              <a:ext cx="2535936" cy="972312"/>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151;p7">
              <a:extLst>
                <a:ext uri="{FF2B5EF4-FFF2-40B4-BE49-F238E27FC236}">
                  <a16:creationId xmlns:a16="http://schemas.microsoft.com/office/drawing/2014/main" id="{59244CAB-897C-D2F6-52D1-A08C529A8470}"/>
                </a:ext>
              </a:extLst>
            </p:cNvPr>
            <p:cNvSpPr/>
            <p:nvPr/>
          </p:nvSpPr>
          <p:spPr>
            <a:xfrm>
              <a:off x="381000" y="2286000"/>
              <a:ext cx="2382012" cy="858012"/>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52;p7">
              <a:extLst>
                <a:ext uri="{FF2B5EF4-FFF2-40B4-BE49-F238E27FC236}">
                  <a16:creationId xmlns:a16="http://schemas.microsoft.com/office/drawing/2014/main" id="{F33B8C80-5331-8085-1C91-DFD1B8240591}"/>
                </a:ext>
              </a:extLst>
            </p:cNvPr>
            <p:cNvSpPr/>
            <p:nvPr/>
          </p:nvSpPr>
          <p:spPr>
            <a:xfrm>
              <a:off x="1239012" y="2572512"/>
              <a:ext cx="571500" cy="428244"/>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153;p7">
              <a:extLst>
                <a:ext uri="{FF2B5EF4-FFF2-40B4-BE49-F238E27FC236}">
                  <a16:creationId xmlns:a16="http://schemas.microsoft.com/office/drawing/2014/main" id="{4461854A-4B57-9517-BB54-3F13ED23E98F}"/>
                </a:ext>
              </a:extLst>
            </p:cNvPr>
            <p:cNvSpPr/>
            <p:nvPr/>
          </p:nvSpPr>
          <p:spPr>
            <a:xfrm>
              <a:off x="8761475" y="3212592"/>
              <a:ext cx="2383535" cy="1432560"/>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154;p7">
              <a:extLst>
                <a:ext uri="{FF2B5EF4-FFF2-40B4-BE49-F238E27FC236}">
                  <a16:creationId xmlns:a16="http://schemas.microsoft.com/office/drawing/2014/main" id="{A8857A1C-02E4-58C5-E433-9189BB7F761B}"/>
                </a:ext>
              </a:extLst>
            </p:cNvPr>
            <p:cNvSpPr/>
            <p:nvPr/>
          </p:nvSpPr>
          <p:spPr>
            <a:xfrm>
              <a:off x="8762999" y="3214116"/>
              <a:ext cx="2381885" cy="1430020"/>
            </a:xfrm>
            <a:custGeom>
              <a:avLst/>
              <a:gdLst/>
              <a:ahLst/>
              <a:cxnLst/>
              <a:rect l="l" t="t" r="r" b="b"/>
              <a:pathLst>
                <a:path w="2381884" h="1430020" extrusionOk="0">
                  <a:moveTo>
                    <a:pt x="0" y="1429512"/>
                  </a:moveTo>
                  <a:lnTo>
                    <a:pt x="2381630" y="1429512"/>
                  </a:lnTo>
                  <a:lnTo>
                    <a:pt x="2381630" y="0"/>
                  </a:lnTo>
                  <a:lnTo>
                    <a:pt x="0" y="0"/>
                  </a:lnTo>
                  <a:lnTo>
                    <a:pt x="0" y="1429512"/>
                  </a:lnTo>
                  <a:close/>
                </a:path>
              </a:pathLst>
            </a:custGeom>
            <a:noFill/>
            <a:ln w="12675" cap="flat" cmpd="sng">
              <a:solidFill>
                <a:srgbClr val="F8F8F8"/>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 name="Google Shape;155;p7">
              <a:extLst>
                <a:ext uri="{FF2B5EF4-FFF2-40B4-BE49-F238E27FC236}">
                  <a16:creationId xmlns:a16="http://schemas.microsoft.com/office/drawing/2014/main" id="{EB05C077-8E55-E828-22AC-CBB17EEA1149}"/>
                </a:ext>
              </a:extLst>
            </p:cNvPr>
            <p:cNvSpPr/>
            <p:nvPr/>
          </p:nvSpPr>
          <p:spPr>
            <a:xfrm>
              <a:off x="339852" y="3468624"/>
              <a:ext cx="2535936" cy="973836"/>
            </a:xfrm>
            <a:prstGeom prst="rect">
              <a:avLst/>
            </a:prstGeom>
            <a:blipFill rotWithShape="1">
              <a:blip r:embed="rId1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156;p7">
              <a:extLst>
                <a:ext uri="{FF2B5EF4-FFF2-40B4-BE49-F238E27FC236}">
                  <a16:creationId xmlns:a16="http://schemas.microsoft.com/office/drawing/2014/main" id="{A36C41D4-E406-8FE0-3359-9B01F7329854}"/>
                </a:ext>
              </a:extLst>
            </p:cNvPr>
            <p:cNvSpPr/>
            <p:nvPr/>
          </p:nvSpPr>
          <p:spPr>
            <a:xfrm>
              <a:off x="381000" y="3500628"/>
              <a:ext cx="2382012" cy="856488"/>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157;p7">
              <a:extLst>
                <a:ext uri="{FF2B5EF4-FFF2-40B4-BE49-F238E27FC236}">
                  <a16:creationId xmlns:a16="http://schemas.microsoft.com/office/drawing/2014/main" id="{8FA65741-EF00-3C11-D071-01F8D131D8C0}"/>
                </a:ext>
              </a:extLst>
            </p:cNvPr>
            <p:cNvSpPr/>
            <p:nvPr/>
          </p:nvSpPr>
          <p:spPr>
            <a:xfrm>
              <a:off x="1239012" y="3701796"/>
              <a:ext cx="475488" cy="585215"/>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2" name="Google Shape;158;p7">
            <a:extLst>
              <a:ext uri="{FF2B5EF4-FFF2-40B4-BE49-F238E27FC236}">
                <a16:creationId xmlns:a16="http://schemas.microsoft.com/office/drawing/2014/main" id="{459CCF01-6BE6-0659-40A4-04A0A0077D1F}"/>
              </a:ext>
            </a:extLst>
          </p:cNvPr>
          <p:cNvSpPr txBox="1"/>
          <p:nvPr/>
        </p:nvSpPr>
        <p:spPr>
          <a:xfrm>
            <a:off x="381000" y="2286000"/>
            <a:ext cx="2382520" cy="251460"/>
          </a:xfrm>
          <a:prstGeom prst="rect">
            <a:avLst/>
          </a:prstGeom>
          <a:noFill/>
          <a:ln w="12700" cap="flat" cmpd="sng">
            <a:solidFill>
              <a:srgbClr val="F8F8F8"/>
            </a:solidFill>
            <a:prstDash val="solid"/>
            <a:round/>
            <a:headEnd type="none" w="sm" len="sm"/>
            <a:tailEnd type="none" w="sm" len="sm"/>
          </a:ln>
        </p:spPr>
        <p:txBody>
          <a:bodyPr spcFirstLastPara="1" wrap="square" lIns="0" tIns="27300" rIns="0" bIns="0" anchor="t" anchorCtr="0">
            <a:spAutoFit/>
          </a:bodyPr>
          <a:lstStyle/>
          <a:p>
            <a:pPr marL="14604" marR="0" lvl="0" indent="0" algn="l" rtl="0">
              <a:lnSpc>
                <a:spcPct val="100000"/>
              </a:lnSpc>
              <a:spcBef>
                <a:spcPts val="0"/>
              </a:spcBef>
              <a:spcAft>
                <a:spcPts val="0"/>
              </a:spcAft>
              <a:buNone/>
            </a:pPr>
            <a:r>
              <a:rPr lang="fr-FR" sz="1400">
                <a:solidFill>
                  <a:schemeClr val="dk1"/>
                </a:solidFill>
                <a:latin typeface="Arial"/>
                <a:ea typeface="Arial"/>
                <a:cs typeface="Arial"/>
                <a:sym typeface="Arial"/>
              </a:rPr>
              <a:t>Compagnie aérienne</a:t>
            </a:r>
            <a:endParaRPr sz="1400">
              <a:solidFill>
                <a:schemeClr val="dk1"/>
              </a:solidFill>
              <a:latin typeface="Arial"/>
              <a:ea typeface="Arial"/>
              <a:cs typeface="Arial"/>
              <a:sym typeface="Arial"/>
            </a:endParaRPr>
          </a:p>
        </p:txBody>
      </p:sp>
      <p:sp>
        <p:nvSpPr>
          <p:cNvPr id="23" name="Google Shape;159;p7">
            <a:extLst>
              <a:ext uri="{FF2B5EF4-FFF2-40B4-BE49-F238E27FC236}">
                <a16:creationId xmlns:a16="http://schemas.microsoft.com/office/drawing/2014/main" id="{8DCBED17-009E-DEC8-C4B8-00A7F282C2BE}"/>
              </a:ext>
            </a:extLst>
          </p:cNvPr>
          <p:cNvSpPr txBox="1"/>
          <p:nvPr/>
        </p:nvSpPr>
        <p:spPr>
          <a:xfrm>
            <a:off x="381000" y="3500628"/>
            <a:ext cx="2382520" cy="239395"/>
          </a:xfrm>
          <a:prstGeom prst="rect">
            <a:avLst/>
          </a:prstGeom>
          <a:noFill/>
          <a:ln w="12700" cap="flat" cmpd="sng">
            <a:solidFill>
              <a:srgbClr val="F8F8F8"/>
            </a:solidFill>
            <a:prstDash val="solid"/>
            <a:round/>
            <a:headEnd type="none" w="sm" len="sm"/>
            <a:tailEnd type="none" w="sm" len="sm"/>
          </a:ln>
        </p:spPr>
        <p:txBody>
          <a:bodyPr spcFirstLastPara="1" wrap="square" lIns="0" tIns="15875" rIns="0" bIns="0" anchor="t" anchorCtr="0">
            <a:spAutoFit/>
          </a:bodyPr>
          <a:lstStyle/>
          <a:p>
            <a:pPr marL="228600" marR="0" lvl="0" indent="0" algn="l" rtl="0">
              <a:lnSpc>
                <a:spcPct val="100000"/>
              </a:lnSpc>
              <a:spcBef>
                <a:spcPts val="0"/>
              </a:spcBef>
              <a:spcAft>
                <a:spcPts val="0"/>
              </a:spcAft>
              <a:buNone/>
            </a:pPr>
            <a:r>
              <a:rPr lang="fr-FR" sz="1400">
                <a:solidFill>
                  <a:schemeClr val="dk1"/>
                </a:solidFill>
                <a:latin typeface="Arial"/>
                <a:ea typeface="Arial"/>
                <a:cs typeface="Arial"/>
                <a:sym typeface="Arial"/>
              </a:rPr>
              <a:t>Chaîne hôtelière</a:t>
            </a:r>
            <a:endParaRPr sz="1400">
              <a:solidFill>
                <a:schemeClr val="dk1"/>
              </a:solidFill>
              <a:latin typeface="Arial"/>
              <a:ea typeface="Arial"/>
              <a:cs typeface="Arial"/>
              <a:sym typeface="Arial"/>
            </a:endParaRPr>
          </a:p>
        </p:txBody>
      </p:sp>
      <p:sp>
        <p:nvSpPr>
          <p:cNvPr id="24" name="Google Shape;160;p7">
            <a:extLst>
              <a:ext uri="{FF2B5EF4-FFF2-40B4-BE49-F238E27FC236}">
                <a16:creationId xmlns:a16="http://schemas.microsoft.com/office/drawing/2014/main" id="{0C6D8B39-D9AB-D0BE-5C0E-986DE9D62FA4}"/>
              </a:ext>
            </a:extLst>
          </p:cNvPr>
          <p:cNvSpPr txBox="1"/>
          <p:nvPr/>
        </p:nvSpPr>
        <p:spPr>
          <a:xfrm>
            <a:off x="381000" y="4572000"/>
            <a:ext cx="2382520" cy="445134"/>
          </a:xfrm>
          <a:prstGeom prst="rect">
            <a:avLst/>
          </a:prstGeom>
          <a:noFill/>
          <a:ln w="12700" cap="flat" cmpd="sng">
            <a:solidFill>
              <a:srgbClr val="F8F8F8"/>
            </a:solidFill>
            <a:prstDash val="solid"/>
            <a:round/>
            <a:headEnd type="none" w="sm" len="sm"/>
            <a:tailEnd type="none" w="sm" len="sm"/>
          </a:ln>
        </p:spPr>
        <p:txBody>
          <a:bodyPr spcFirstLastPara="1" wrap="square" lIns="0" tIns="6975" rIns="0" bIns="0" anchor="t" anchorCtr="0">
            <a:spAutoFit/>
          </a:bodyPr>
          <a:lstStyle/>
          <a:p>
            <a:pPr marL="716280" marR="459105" lvl="0" indent="-277495" algn="l" rtl="0">
              <a:lnSpc>
                <a:spcPct val="100000"/>
              </a:lnSpc>
              <a:spcBef>
                <a:spcPts val="0"/>
              </a:spcBef>
              <a:spcAft>
                <a:spcPts val="0"/>
              </a:spcAft>
              <a:buNone/>
            </a:pPr>
            <a:r>
              <a:rPr lang="fr-FR" sz="1400">
                <a:solidFill>
                  <a:schemeClr val="dk1"/>
                </a:solidFill>
                <a:latin typeface="Arial"/>
                <a:ea typeface="Arial"/>
                <a:cs typeface="Arial"/>
                <a:sym typeface="Arial"/>
              </a:rPr>
              <a:t>Agence de location  des voitures</a:t>
            </a:r>
            <a:endParaRPr sz="1400">
              <a:solidFill>
                <a:schemeClr val="dk1"/>
              </a:solidFill>
              <a:latin typeface="Arial"/>
              <a:ea typeface="Arial"/>
              <a:cs typeface="Arial"/>
              <a:sym typeface="Arial"/>
            </a:endParaRPr>
          </a:p>
        </p:txBody>
      </p:sp>
      <p:sp>
        <p:nvSpPr>
          <p:cNvPr id="25" name="Google Shape;161;p7">
            <a:extLst>
              <a:ext uri="{FF2B5EF4-FFF2-40B4-BE49-F238E27FC236}">
                <a16:creationId xmlns:a16="http://schemas.microsoft.com/office/drawing/2014/main" id="{2FF9471C-AA27-213E-BC81-AD0C12390F2D}"/>
              </a:ext>
            </a:extLst>
          </p:cNvPr>
          <p:cNvSpPr txBox="1"/>
          <p:nvPr/>
        </p:nvSpPr>
        <p:spPr>
          <a:xfrm>
            <a:off x="9202673" y="3518357"/>
            <a:ext cx="1604645" cy="849630"/>
          </a:xfrm>
          <a:prstGeom prst="rect">
            <a:avLst/>
          </a:prstGeom>
          <a:noFill/>
          <a:ln>
            <a:noFill/>
          </a:ln>
        </p:spPr>
        <p:txBody>
          <a:bodyPr spcFirstLastPara="1" wrap="square" lIns="0" tIns="12700" rIns="0" bIns="0" anchor="t" anchorCtr="0">
            <a:spAutoFit/>
          </a:bodyPr>
          <a:lstStyle/>
          <a:p>
            <a:pPr marL="12700" marR="5080" lvl="0" indent="27305" algn="just" rtl="0">
              <a:lnSpc>
                <a:spcPct val="100000"/>
              </a:lnSpc>
              <a:spcBef>
                <a:spcPts val="0"/>
              </a:spcBef>
              <a:spcAft>
                <a:spcPts val="0"/>
              </a:spcAft>
              <a:buNone/>
            </a:pPr>
            <a:r>
              <a:rPr lang="fr-FR" sz="1800">
                <a:solidFill>
                  <a:schemeClr val="dk1"/>
                </a:solidFill>
                <a:latin typeface="Arial"/>
                <a:ea typeface="Arial"/>
                <a:cs typeface="Arial"/>
                <a:sym typeface="Arial"/>
              </a:rPr>
              <a:t>Application de  l’agence de  voyage</a:t>
            </a:r>
            <a:endParaRPr sz="1800">
              <a:solidFill>
                <a:schemeClr val="dk1"/>
              </a:solidFill>
              <a:latin typeface="Arial"/>
              <a:ea typeface="Arial"/>
              <a:cs typeface="Arial"/>
              <a:sym typeface="Arial"/>
            </a:endParaRPr>
          </a:p>
        </p:txBody>
      </p:sp>
      <p:sp>
        <p:nvSpPr>
          <p:cNvPr id="26" name="Google Shape;162;p7">
            <a:extLst>
              <a:ext uri="{FF2B5EF4-FFF2-40B4-BE49-F238E27FC236}">
                <a16:creationId xmlns:a16="http://schemas.microsoft.com/office/drawing/2014/main" id="{361D3826-A20C-A41B-B322-41775C4D0A4E}"/>
              </a:ext>
            </a:extLst>
          </p:cNvPr>
          <p:cNvSpPr/>
          <p:nvPr/>
        </p:nvSpPr>
        <p:spPr>
          <a:xfrm>
            <a:off x="11335511" y="3572255"/>
            <a:ext cx="665988" cy="499872"/>
          </a:xfrm>
          <a:prstGeom prst="rect">
            <a:avLst/>
          </a:prstGeom>
          <a:blipFill rotWithShape="1">
            <a:blip r:embed="rId1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27" name="Google Shape;163;p7">
            <a:extLst>
              <a:ext uri="{FF2B5EF4-FFF2-40B4-BE49-F238E27FC236}">
                <a16:creationId xmlns:a16="http://schemas.microsoft.com/office/drawing/2014/main" id="{1DD6B015-D351-CA25-694E-C0FF3FE97F65}"/>
              </a:ext>
            </a:extLst>
          </p:cNvPr>
          <p:cNvGrpSpPr/>
          <p:nvPr/>
        </p:nvGrpSpPr>
        <p:grpSpPr>
          <a:xfrm>
            <a:off x="2799588" y="2368295"/>
            <a:ext cx="6172200" cy="3216402"/>
            <a:chOff x="2799588" y="2368295"/>
            <a:chExt cx="6172200" cy="3216402"/>
          </a:xfrm>
        </p:grpSpPr>
        <p:sp>
          <p:nvSpPr>
            <p:cNvPr id="28" name="Google Shape;164;p7">
              <a:extLst>
                <a:ext uri="{FF2B5EF4-FFF2-40B4-BE49-F238E27FC236}">
                  <a16:creationId xmlns:a16="http://schemas.microsoft.com/office/drawing/2014/main" id="{9BF070DF-CF51-EA7C-E010-CD7472C55296}"/>
                </a:ext>
              </a:extLst>
            </p:cNvPr>
            <p:cNvSpPr/>
            <p:nvPr/>
          </p:nvSpPr>
          <p:spPr>
            <a:xfrm>
              <a:off x="2799588" y="4893565"/>
              <a:ext cx="591312" cy="112774"/>
            </a:xfrm>
            <a:prstGeom prst="rect">
              <a:avLst/>
            </a:prstGeom>
            <a:blipFill rotWithShape="1">
              <a:blip r:embed="rId1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165;p7">
              <a:extLst>
                <a:ext uri="{FF2B5EF4-FFF2-40B4-BE49-F238E27FC236}">
                  <a16:creationId xmlns:a16="http://schemas.microsoft.com/office/drawing/2014/main" id="{B0A12CBD-3306-A798-A5BC-BF53E11BB3D1}"/>
                </a:ext>
              </a:extLst>
            </p:cNvPr>
            <p:cNvSpPr/>
            <p:nvPr/>
          </p:nvSpPr>
          <p:spPr>
            <a:xfrm>
              <a:off x="2858262" y="4929377"/>
              <a:ext cx="476884" cy="3175"/>
            </a:xfrm>
            <a:custGeom>
              <a:avLst/>
              <a:gdLst/>
              <a:ahLst/>
              <a:cxnLst/>
              <a:rect l="l" t="t" r="r" b="b"/>
              <a:pathLst>
                <a:path w="476885" h="3175" extrusionOk="0">
                  <a:moveTo>
                    <a:pt x="0" y="0"/>
                  </a:moveTo>
                  <a:lnTo>
                    <a:pt x="476630" y="2667"/>
                  </a:lnTo>
                </a:path>
              </a:pathLst>
            </a:custGeom>
            <a:noFill/>
            <a:ln w="259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166;p7">
              <a:extLst>
                <a:ext uri="{FF2B5EF4-FFF2-40B4-BE49-F238E27FC236}">
                  <a16:creationId xmlns:a16="http://schemas.microsoft.com/office/drawing/2014/main" id="{F8E1E504-4199-473C-EF9D-37C0EBB1F773}"/>
                </a:ext>
              </a:extLst>
            </p:cNvPr>
            <p:cNvSpPr/>
            <p:nvPr/>
          </p:nvSpPr>
          <p:spPr>
            <a:xfrm>
              <a:off x="2799588" y="2607565"/>
              <a:ext cx="687324" cy="112774"/>
            </a:xfrm>
            <a:prstGeom prst="rect">
              <a:avLst/>
            </a:prstGeom>
            <a:blipFill rotWithShape="1">
              <a:blip r:embed="rId1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 name="Google Shape;167;p7">
              <a:extLst>
                <a:ext uri="{FF2B5EF4-FFF2-40B4-BE49-F238E27FC236}">
                  <a16:creationId xmlns:a16="http://schemas.microsoft.com/office/drawing/2014/main" id="{6BCD93AE-502B-5F5B-FFD7-E87EBEA24864}"/>
                </a:ext>
              </a:extLst>
            </p:cNvPr>
            <p:cNvSpPr/>
            <p:nvPr/>
          </p:nvSpPr>
          <p:spPr>
            <a:xfrm>
              <a:off x="2858262" y="2643377"/>
              <a:ext cx="571500" cy="2540"/>
            </a:xfrm>
            <a:custGeom>
              <a:avLst/>
              <a:gdLst/>
              <a:ahLst/>
              <a:cxnLst/>
              <a:rect l="l" t="t" r="r" b="b"/>
              <a:pathLst>
                <a:path w="571500" h="2539" extrusionOk="0">
                  <a:moveTo>
                    <a:pt x="0" y="0"/>
                  </a:moveTo>
                  <a:lnTo>
                    <a:pt x="571500" y="2412"/>
                  </a:lnTo>
                </a:path>
              </a:pathLst>
            </a:custGeom>
            <a:noFill/>
            <a:ln w="259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 name="Google Shape;168;p7">
              <a:extLst>
                <a:ext uri="{FF2B5EF4-FFF2-40B4-BE49-F238E27FC236}">
                  <a16:creationId xmlns:a16="http://schemas.microsoft.com/office/drawing/2014/main" id="{54F8C00D-2919-B86B-057A-77DA600AAC8A}"/>
                </a:ext>
              </a:extLst>
            </p:cNvPr>
            <p:cNvSpPr/>
            <p:nvPr/>
          </p:nvSpPr>
          <p:spPr>
            <a:xfrm>
              <a:off x="7644384" y="2685287"/>
              <a:ext cx="1327403" cy="1348739"/>
            </a:xfrm>
            <a:prstGeom prst="rect">
              <a:avLst/>
            </a:prstGeom>
            <a:blipFill rotWithShape="1">
              <a:blip r:embed="rId1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 name="Google Shape;169;p7">
              <a:extLst>
                <a:ext uri="{FF2B5EF4-FFF2-40B4-BE49-F238E27FC236}">
                  <a16:creationId xmlns:a16="http://schemas.microsoft.com/office/drawing/2014/main" id="{9DAC8703-C254-3D14-FBC8-F653A2E64F24}"/>
                </a:ext>
              </a:extLst>
            </p:cNvPr>
            <p:cNvSpPr/>
            <p:nvPr/>
          </p:nvSpPr>
          <p:spPr>
            <a:xfrm>
              <a:off x="8618092" y="3734944"/>
              <a:ext cx="144906" cy="121918"/>
            </a:xfrm>
            <a:prstGeom prst="rect">
              <a:avLst/>
            </a:prstGeom>
            <a:blipFill rotWithShape="1">
              <a:blip r:embed="rId1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 name="Google Shape;170;p7">
              <a:extLst>
                <a:ext uri="{FF2B5EF4-FFF2-40B4-BE49-F238E27FC236}">
                  <a16:creationId xmlns:a16="http://schemas.microsoft.com/office/drawing/2014/main" id="{CC746E37-1F3C-7E32-38B6-A1CA725BA34A}"/>
                </a:ext>
              </a:extLst>
            </p:cNvPr>
            <p:cNvSpPr/>
            <p:nvPr/>
          </p:nvSpPr>
          <p:spPr>
            <a:xfrm>
              <a:off x="7700772" y="2706623"/>
              <a:ext cx="1024255" cy="1108710"/>
            </a:xfrm>
            <a:custGeom>
              <a:avLst/>
              <a:gdLst/>
              <a:ahLst/>
              <a:cxnLst/>
              <a:rect l="l" t="t" r="r" b="b"/>
              <a:pathLst>
                <a:path w="1024254" h="1108710" extrusionOk="0">
                  <a:moveTo>
                    <a:pt x="27939" y="0"/>
                  </a:moveTo>
                  <a:lnTo>
                    <a:pt x="0" y="14477"/>
                  </a:lnTo>
                  <a:lnTo>
                    <a:pt x="993521" y="1097914"/>
                  </a:lnTo>
                  <a:lnTo>
                    <a:pt x="1024127" y="1108709"/>
                  </a:lnTo>
                  <a:lnTo>
                    <a:pt x="1021714" y="1083690"/>
                  </a:lnTo>
                  <a:lnTo>
                    <a:pt x="27939"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171;p7">
              <a:extLst>
                <a:ext uri="{FF2B5EF4-FFF2-40B4-BE49-F238E27FC236}">
                  <a16:creationId xmlns:a16="http://schemas.microsoft.com/office/drawing/2014/main" id="{098F5B5C-41DF-FB37-D48A-24DED59B905B}"/>
                </a:ext>
              </a:extLst>
            </p:cNvPr>
            <p:cNvSpPr/>
            <p:nvPr/>
          </p:nvSpPr>
          <p:spPr>
            <a:xfrm>
              <a:off x="7088123" y="3794760"/>
              <a:ext cx="1883664" cy="312419"/>
            </a:xfrm>
            <a:prstGeom prst="rect">
              <a:avLst/>
            </a:prstGeom>
            <a:blipFill rotWithShape="1">
              <a:blip r:embed="rId1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 name="Google Shape;172;p7">
              <a:extLst>
                <a:ext uri="{FF2B5EF4-FFF2-40B4-BE49-F238E27FC236}">
                  <a16:creationId xmlns:a16="http://schemas.microsoft.com/office/drawing/2014/main" id="{649D6F18-6F1C-E50B-7399-E1E94092DBCE}"/>
                </a:ext>
              </a:extLst>
            </p:cNvPr>
            <p:cNvSpPr/>
            <p:nvPr/>
          </p:nvSpPr>
          <p:spPr>
            <a:xfrm>
              <a:off x="8608059" y="3870961"/>
              <a:ext cx="154558" cy="118616"/>
            </a:xfrm>
            <a:prstGeom prst="rect">
              <a:avLst/>
            </a:prstGeom>
            <a:blipFill rotWithShape="1">
              <a:blip r:embed="rId20">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 name="Google Shape;173;p7">
              <a:extLst>
                <a:ext uri="{FF2B5EF4-FFF2-40B4-BE49-F238E27FC236}">
                  <a16:creationId xmlns:a16="http://schemas.microsoft.com/office/drawing/2014/main" id="{67726C03-F356-BD15-887E-1787912C662A}"/>
                </a:ext>
              </a:extLst>
            </p:cNvPr>
            <p:cNvSpPr/>
            <p:nvPr/>
          </p:nvSpPr>
          <p:spPr>
            <a:xfrm>
              <a:off x="7142988" y="3929506"/>
              <a:ext cx="1552575" cy="0"/>
            </a:xfrm>
            <a:custGeom>
              <a:avLst/>
              <a:gdLst/>
              <a:ahLst/>
              <a:cxnLst/>
              <a:rect l="l" t="t" r="r" b="b"/>
              <a:pathLst>
                <a:path w="1552575" h="120000" extrusionOk="0">
                  <a:moveTo>
                    <a:pt x="0" y="0"/>
                  </a:moveTo>
                  <a:lnTo>
                    <a:pt x="1552447" y="0"/>
                  </a:lnTo>
                </a:path>
              </a:pathLst>
            </a:custGeom>
            <a:noFill/>
            <a:ln w="271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 name="Google Shape;174;p7">
              <a:extLst>
                <a:ext uri="{FF2B5EF4-FFF2-40B4-BE49-F238E27FC236}">
                  <a16:creationId xmlns:a16="http://schemas.microsoft.com/office/drawing/2014/main" id="{A1144BF0-D1D0-716C-AB22-875DAD0A0E9A}"/>
                </a:ext>
              </a:extLst>
            </p:cNvPr>
            <p:cNvSpPr/>
            <p:nvPr/>
          </p:nvSpPr>
          <p:spPr>
            <a:xfrm>
              <a:off x="8666607" y="3917568"/>
              <a:ext cx="62865" cy="24130"/>
            </a:xfrm>
            <a:custGeom>
              <a:avLst/>
              <a:gdLst/>
              <a:ahLst/>
              <a:cxnLst/>
              <a:rect l="l" t="t" r="r" b="b"/>
              <a:pathLst>
                <a:path w="62865" h="24129" extrusionOk="0">
                  <a:moveTo>
                    <a:pt x="62484" y="0"/>
                  </a:moveTo>
                  <a:lnTo>
                    <a:pt x="0" y="0"/>
                  </a:lnTo>
                  <a:lnTo>
                    <a:pt x="28829" y="12700"/>
                  </a:lnTo>
                  <a:lnTo>
                    <a:pt x="53848" y="23876"/>
                  </a:lnTo>
                  <a:lnTo>
                    <a:pt x="62484" y="23876"/>
                  </a:lnTo>
                  <a:lnTo>
                    <a:pt x="62484" y="1651"/>
                  </a:lnTo>
                  <a:lnTo>
                    <a:pt x="62484"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 name="Google Shape;175;p7">
              <a:extLst>
                <a:ext uri="{FF2B5EF4-FFF2-40B4-BE49-F238E27FC236}">
                  <a16:creationId xmlns:a16="http://schemas.microsoft.com/office/drawing/2014/main" id="{4A084DD0-DC57-04AC-777C-C1B568FC6B96}"/>
                </a:ext>
              </a:extLst>
            </p:cNvPr>
            <p:cNvSpPr/>
            <p:nvPr/>
          </p:nvSpPr>
          <p:spPr>
            <a:xfrm>
              <a:off x="7740396" y="3864863"/>
              <a:ext cx="1231392" cy="1205484"/>
            </a:xfrm>
            <a:prstGeom prst="rect">
              <a:avLst/>
            </a:prstGeom>
            <a:blipFill rotWithShape="1">
              <a:blip r:embed="rId2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2" name="Google Shape;176;p7">
              <a:extLst>
                <a:ext uri="{FF2B5EF4-FFF2-40B4-BE49-F238E27FC236}">
                  <a16:creationId xmlns:a16="http://schemas.microsoft.com/office/drawing/2014/main" id="{E99213CE-6AC9-F2EB-D71E-6D4D9F49FA75}"/>
                </a:ext>
              </a:extLst>
            </p:cNvPr>
            <p:cNvSpPr/>
            <p:nvPr/>
          </p:nvSpPr>
          <p:spPr>
            <a:xfrm>
              <a:off x="7796784" y="4041394"/>
              <a:ext cx="926465" cy="966469"/>
            </a:xfrm>
            <a:custGeom>
              <a:avLst/>
              <a:gdLst/>
              <a:ahLst/>
              <a:cxnLst/>
              <a:rect l="l" t="t" r="r" b="b"/>
              <a:pathLst>
                <a:path w="926465" h="966470" extrusionOk="0">
                  <a:moveTo>
                    <a:pt x="926465" y="0"/>
                  </a:moveTo>
                  <a:lnTo>
                    <a:pt x="896112" y="10286"/>
                  </a:lnTo>
                  <a:lnTo>
                    <a:pt x="0" y="951483"/>
                  </a:lnTo>
                  <a:lnTo>
                    <a:pt x="27432" y="966215"/>
                  </a:lnTo>
                  <a:lnTo>
                    <a:pt x="923417" y="25145"/>
                  </a:lnTo>
                  <a:lnTo>
                    <a:pt x="926465"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3" name="Google Shape;177;p7">
              <a:extLst>
                <a:ext uri="{FF2B5EF4-FFF2-40B4-BE49-F238E27FC236}">
                  <a16:creationId xmlns:a16="http://schemas.microsoft.com/office/drawing/2014/main" id="{31C5890B-4061-F82A-0186-61D8A0F2856A}"/>
                </a:ext>
              </a:extLst>
            </p:cNvPr>
            <p:cNvSpPr/>
            <p:nvPr/>
          </p:nvSpPr>
          <p:spPr>
            <a:xfrm>
              <a:off x="8616315" y="4000501"/>
              <a:ext cx="146050" cy="121537"/>
            </a:xfrm>
            <a:prstGeom prst="rect">
              <a:avLst/>
            </a:prstGeom>
            <a:blipFill rotWithShape="1">
              <a:blip r:embed="rId2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 name="Google Shape;178;p7">
              <a:extLst>
                <a:ext uri="{FF2B5EF4-FFF2-40B4-BE49-F238E27FC236}">
                  <a16:creationId xmlns:a16="http://schemas.microsoft.com/office/drawing/2014/main" id="{2647536F-994C-3F04-3350-166EB1941934}"/>
                </a:ext>
              </a:extLst>
            </p:cNvPr>
            <p:cNvSpPr/>
            <p:nvPr/>
          </p:nvSpPr>
          <p:spPr>
            <a:xfrm>
              <a:off x="4828921" y="4996687"/>
              <a:ext cx="2320290" cy="587375"/>
            </a:xfrm>
            <a:custGeom>
              <a:avLst/>
              <a:gdLst/>
              <a:ahLst/>
              <a:cxnLst/>
              <a:rect l="l" t="t" r="r" b="b"/>
              <a:pathLst>
                <a:path w="2320290" h="587375" extrusionOk="0">
                  <a:moveTo>
                    <a:pt x="2320290" y="0"/>
                  </a:moveTo>
                  <a:lnTo>
                    <a:pt x="0" y="0"/>
                  </a:lnTo>
                  <a:lnTo>
                    <a:pt x="4191" y="9398"/>
                  </a:lnTo>
                  <a:lnTo>
                    <a:pt x="33274" y="67945"/>
                  </a:lnTo>
                  <a:lnTo>
                    <a:pt x="62865" y="117856"/>
                  </a:lnTo>
                  <a:lnTo>
                    <a:pt x="94996" y="163957"/>
                  </a:lnTo>
                  <a:lnTo>
                    <a:pt x="129540" y="205994"/>
                  </a:lnTo>
                  <a:lnTo>
                    <a:pt x="166116" y="244094"/>
                  </a:lnTo>
                  <a:lnTo>
                    <a:pt x="204470" y="278003"/>
                  </a:lnTo>
                  <a:lnTo>
                    <a:pt x="244602" y="307721"/>
                  </a:lnTo>
                  <a:lnTo>
                    <a:pt x="286258" y="333248"/>
                  </a:lnTo>
                  <a:lnTo>
                    <a:pt x="329184" y="354330"/>
                  </a:lnTo>
                  <a:lnTo>
                    <a:pt x="417830" y="383540"/>
                  </a:lnTo>
                  <a:lnTo>
                    <a:pt x="509143" y="394462"/>
                  </a:lnTo>
                  <a:lnTo>
                    <a:pt x="555117" y="392938"/>
                  </a:lnTo>
                  <a:lnTo>
                    <a:pt x="647065" y="375793"/>
                  </a:lnTo>
                  <a:lnTo>
                    <a:pt x="737235" y="339090"/>
                  </a:lnTo>
                  <a:lnTo>
                    <a:pt x="781177" y="313182"/>
                  </a:lnTo>
                  <a:lnTo>
                    <a:pt x="824103" y="282321"/>
                  </a:lnTo>
                  <a:lnTo>
                    <a:pt x="854837" y="336677"/>
                  </a:lnTo>
                  <a:lnTo>
                    <a:pt x="889127" y="386461"/>
                  </a:lnTo>
                  <a:lnTo>
                    <a:pt x="926973" y="431546"/>
                  </a:lnTo>
                  <a:lnTo>
                    <a:pt x="967867" y="471424"/>
                  </a:lnTo>
                  <a:lnTo>
                    <a:pt x="1011555" y="505841"/>
                  </a:lnTo>
                  <a:lnTo>
                    <a:pt x="1057783" y="534670"/>
                  </a:lnTo>
                  <a:lnTo>
                    <a:pt x="1106297" y="557403"/>
                  </a:lnTo>
                  <a:lnTo>
                    <a:pt x="1198499" y="582549"/>
                  </a:lnTo>
                  <a:lnTo>
                    <a:pt x="1244346" y="586867"/>
                  </a:lnTo>
                  <a:lnTo>
                    <a:pt x="1289812" y="585724"/>
                  </a:lnTo>
                  <a:lnTo>
                    <a:pt x="1378712" y="568198"/>
                  </a:lnTo>
                  <a:lnTo>
                    <a:pt x="1463294" y="531114"/>
                  </a:lnTo>
                  <a:lnTo>
                    <a:pt x="1503299" y="505714"/>
                  </a:lnTo>
                  <a:lnTo>
                    <a:pt x="1541526" y="475996"/>
                  </a:lnTo>
                  <a:lnTo>
                    <a:pt x="1577848" y="442087"/>
                  </a:lnTo>
                  <a:lnTo>
                    <a:pt x="1611884" y="403987"/>
                  </a:lnTo>
                  <a:lnTo>
                    <a:pt x="1643380" y="362077"/>
                  </a:lnTo>
                  <a:lnTo>
                    <a:pt x="1672209" y="316484"/>
                  </a:lnTo>
                  <a:lnTo>
                    <a:pt x="1690243" y="282321"/>
                  </a:lnTo>
                  <a:lnTo>
                    <a:pt x="1698244" y="267335"/>
                  </a:lnTo>
                  <a:lnTo>
                    <a:pt x="1720977" y="214757"/>
                  </a:lnTo>
                  <a:lnTo>
                    <a:pt x="1740408" y="158877"/>
                  </a:lnTo>
                  <a:lnTo>
                    <a:pt x="1756156" y="99949"/>
                  </a:lnTo>
                  <a:lnTo>
                    <a:pt x="1810385" y="137795"/>
                  </a:lnTo>
                  <a:lnTo>
                    <a:pt x="1867916" y="165481"/>
                  </a:lnTo>
                  <a:lnTo>
                    <a:pt x="1927733" y="182499"/>
                  </a:lnTo>
                  <a:lnTo>
                    <a:pt x="1989074" y="188722"/>
                  </a:lnTo>
                  <a:lnTo>
                    <a:pt x="2034794" y="186182"/>
                  </a:lnTo>
                  <a:lnTo>
                    <a:pt x="2122043" y="163830"/>
                  </a:lnTo>
                  <a:lnTo>
                    <a:pt x="2202307" y="120269"/>
                  </a:lnTo>
                  <a:lnTo>
                    <a:pt x="2239391" y="91313"/>
                  </a:lnTo>
                  <a:lnTo>
                    <a:pt x="2273935" y="58039"/>
                  </a:lnTo>
                  <a:lnTo>
                    <a:pt x="2305812" y="20574"/>
                  </a:lnTo>
                  <a:lnTo>
                    <a:pt x="232029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 name="Google Shape;179;p7">
              <a:extLst>
                <a:ext uri="{FF2B5EF4-FFF2-40B4-BE49-F238E27FC236}">
                  <a16:creationId xmlns:a16="http://schemas.microsoft.com/office/drawing/2014/main" id="{C2E3CBC1-069A-38BE-A296-3FF38D74682B}"/>
                </a:ext>
              </a:extLst>
            </p:cNvPr>
            <p:cNvSpPr/>
            <p:nvPr/>
          </p:nvSpPr>
          <p:spPr>
            <a:xfrm>
              <a:off x="3848100" y="2607565"/>
              <a:ext cx="589788" cy="112774"/>
            </a:xfrm>
            <a:prstGeom prst="rect">
              <a:avLst/>
            </a:prstGeom>
            <a:blipFill rotWithShape="1">
              <a:blip r:embed="rId2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6" name="Google Shape;180;p7">
              <a:extLst>
                <a:ext uri="{FF2B5EF4-FFF2-40B4-BE49-F238E27FC236}">
                  <a16:creationId xmlns:a16="http://schemas.microsoft.com/office/drawing/2014/main" id="{08BDCF4A-9F6D-6D18-E8DC-77B5E2DF14D8}"/>
                </a:ext>
              </a:extLst>
            </p:cNvPr>
            <p:cNvSpPr/>
            <p:nvPr/>
          </p:nvSpPr>
          <p:spPr>
            <a:xfrm>
              <a:off x="3906774" y="2643377"/>
              <a:ext cx="474980" cy="2540"/>
            </a:xfrm>
            <a:custGeom>
              <a:avLst/>
              <a:gdLst/>
              <a:ahLst/>
              <a:cxnLst/>
              <a:rect l="l" t="t" r="r" b="b"/>
              <a:pathLst>
                <a:path w="474979" h="2539" extrusionOk="0">
                  <a:moveTo>
                    <a:pt x="0" y="0"/>
                  </a:moveTo>
                  <a:lnTo>
                    <a:pt x="474979" y="2412"/>
                  </a:lnTo>
                </a:path>
              </a:pathLst>
            </a:custGeom>
            <a:noFill/>
            <a:ln w="259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7" name="Google Shape;181;p7">
              <a:extLst>
                <a:ext uri="{FF2B5EF4-FFF2-40B4-BE49-F238E27FC236}">
                  <a16:creationId xmlns:a16="http://schemas.microsoft.com/office/drawing/2014/main" id="{215BE145-633D-4753-74D9-784DAAAEECDA}"/>
                </a:ext>
              </a:extLst>
            </p:cNvPr>
            <p:cNvSpPr/>
            <p:nvPr/>
          </p:nvSpPr>
          <p:spPr>
            <a:xfrm>
              <a:off x="3848100" y="3893821"/>
              <a:ext cx="589788" cy="112774"/>
            </a:xfrm>
            <a:prstGeom prst="rect">
              <a:avLst/>
            </a:prstGeom>
            <a:blipFill rotWithShape="1">
              <a:blip r:embed="rId2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8" name="Google Shape;182;p7">
              <a:extLst>
                <a:ext uri="{FF2B5EF4-FFF2-40B4-BE49-F238E27FC236}">
                  <a16:creationId xmlns:a16="http://schemas.microsoft.com/office/drawing/2014/main" id="{88AB5D83-6A84-9A02-A5A5-CD61A256E8C0}"/>
                </a:ext>
              </a:extLst>
            </p:cNvPr>
            <p:cNvSpPr/>
            <p:nvPr/>
          </p:nvSpPr>
          <p:spPr>
            <a:xfrm>
              <a:off x="3906774" y="3929633"/>
              <a:ext cx="474980" cy="1270"/>
            </a:xfrm>
            <a:custGeom>
              <a:avLst/>
              <a:gdLst/>
              <a:ahLst/>
              <a:cxnLst/>
              <a:rect l="l" t="t" r="r" b="b"/>
              <a:pathLst>
                <a:path w="474979" h="1270" extrusionOk="0">
                  <a:moveTo>
                    <a:pt x="0" y="0"/>
                  </a:moveTo>
                  <a:lnTo>
                    <a:pt x="474979" y="1270"/>
                  </a:lnTo>
                </a:path>
              </a:pathLst>
            </a:custGeom>
            <a:noFill/>
            <a:ln w="259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9" name="Google Shape;183;p7">
              <a:extLst>
                <a:ext uri="{FF2B5EF4-FFF2-40B4-BE49-F238E27FC236}">
                  <a16:creationId xmlns:a16="http://schemas.microsoft.com/office/drawing/2014/main" id="{CD77A067-2AD3-5775-15E9-9FE1757DE383}"/>
                </a:ext>
              </a:extLst>
            </p:cNvPr>
            <p:cNvSpPr/>
            <p:nvPr/>
          </p:nvSpPr>
          <p:spPr>
            <a:xfrm>
              <a:off x="3944112" y="4893565"/>
              <a:ext cx="589788" cy="112774"/>
            </a:xfrm>
            <a:prstGeom prst="rect">
              <a:avLst/>
            </a:prstGeom>
            <a:blipFill rotWithShape="1">
              <a:blip r:embed="rId2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 name="Google Shape;184;p7">
              <a:extLst>
                <a:ext uri="{FF2B5EF4-FFF2-40B4-BE49-F238E27FC236}">
                  <a16:creationId xmlns:a16="http://schemas.microsoft.com/office/drawing/2014/main" id="{0BB1B677-2258-7EEE-3C28-7D8A029AAE8C}"/>
                </a:ext>
              </a:extLst>
            </p:cNvPr>
            <p:cNvSpPr/>
            <p:nvPr/>
          </p:nvSpPr>
          <p:spPr>
            <a:xfrm>
              <a:off x="4001262" y="4929377"/>
              <a:ext cx="476884" cy="3175"/>
            </a:xfrm>
            <a:custGeom>
              <a:avLst/>
              <a:gdLst/>
              <a:ahLst/>
              <a:cxnLst/>
              <a:rect l="l" t="t" r="r" b="b"/>
              <a:pathLst>
                <a:path w="476885" h="3175" extrusionOk="0">
                  <a:moveTo>
                    <a:pt x="0" y="0"/>
                  </a:moveTo>
                  <a:lnTo>
                    <a:pt x="476630" y="2667"/>
                  </a:lnTo>
                </a:path>
              </a:pathLst>
            </a:custGeom>
            <a:noFill/>
            <a:ln w="259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 name="Google Shape;185;p7">
              <a:extLst>
                <a:ext uri="{FF2B5EF4-FFF2-40B4-BE49-F238E27FC236}">
                  <a16:creationId xmlns:a16="http://schemas.microsoft.com/office/drawing/2014/main" id="{6B88BD5F-2EC5-A5AE-C7E7-A1438068E76C}"/>
                </a:ext>
              </a:extLst>
            </p:cNvPr>
            <p:cNvSpPr/>
            <p:nvPr/>
          </p:nvSpPr>
          <p:spPr>
            <a:xfrm>
              <a:off x="4378452" y="2368295"/>
              <a:ext cx="3338829" cy="2631440"/>
            </a:xfrm>
            <a:custGeom>
              <a:avLst/>
              <a:gdLst/>
              <a:ahLst/>
              <a:cxnLst/>
              <a:rect l="l" t="t" r="r" b="b"/>
              <a:pathLst>
                <a:path w="3338829" h="2631440" extrusionOk="0">
                  <a:moveTo>
                    <a:pt x="2915158" y="244729"/>
                  </a:moveTo>
                  <a:lnTo>
                    <a:pt x="2892425" y="199263"/>
                  </a:lnTo>
                  <a:lnTo>
                    <a:pt x="2833497" y="116967"/>
                  </a:lnTo>
                  <a:lnTo>
                    <a:pt x="2792476" y="77343"/>
                  </a:lnTo>
                  <a:lnTo>
                    <a:pt x="2748788" y="45974"/>
                  </a:lnTo>
                  <a:lnTo>
                    <a:pt x="2703195" y="22860"/>
                  </a:lnTo>
                  <a:lnTo>
                    <a:pt x="2656078" y="8001"/>
                  </a:lnTo>
                  <a:lnTo>
                    <a:pt x="2608326" y="1143"/>
                  </a:lnTo>
                  <a:lnTo>
                    <a:pt x="2512949" y="11430"/>
                  </a:lnTo>
                  <a:lnTo>
                    <a:pt x="2466594" y="28448"/>
                  </a:lnTo>
                  <a:lnTo>
                    <a:pt x="2422017" y="53213"/>
                  </a:lnTo>
                  <a:lnTo>
                    <a:pt x="2379853" y="85852"/>
                  </a:lnTo>
                  <a:lnTo>
                    <a:pt x="2340737" y="126111"/>
                  </a:lnTo>
                  <a:lnTo>
                    <a:pt x="2305177" y="173990"/>
                  </a:lnTo>
                  <a:lnTo>
                    <a:pt x="2280158" y="135636"/>
                  </a:lnTo>
                  <a:lnTo>
                    <a:pt x="2251964" y="101346"/>
                  </a:lnTo>
                  <a:lnTo>
                    <a:pt x="2187702" y="46355"/>
                  </a:lnTo>
                  <a:lnTo>
                    <a:pt x="2141474" y="21590"/>
                  </a:lnTo>
                  <a:lnTo>
                    <a:pt x="2094230" y="6223"/>
                  </a:lnTo>
                  <a:lnTo>
                    <a:pt x="2046605" y="0"/>
                  </a:lnTo>
                  <a:lnTo>
                    <a:pt x="1953006" y="13970"/>
                  </a:lnTo>
                  <a:lnTo>
                    <a:pt x="1908429" y="33528"/>
                  </a:lnTo>
                  <a:lnTo>
                    <a:pt x="1866265" y="61087"/>
                  </a:lnTo>
                  <a:lnTo>
                    <a:pt x="1827149" y="96266"/>
                  </a:lnTo>
                  <a:lnTo>
                    <a:pt x="1791970" y="138811"/>
                  </a:lnTo>
                  <a:lnTo>
                    <a:pt x="1761236" y="188341"/>
                  </a:lnTo>
                  <a:lnTo>
                    <a:pt x="1735836" y="244729"/>
                  </a:lnTo>
                  <a:lnTo>
                    <a:pt x="2915158" y="244729"/>
                  </a:lnTo>
                  <a:close/>
                </a:path>
                <a:path w="3338829" h="2631440" extrusionOk="0">
                  <a:moveTo>
                    <a:pt x="3338449" y="1571752"/>
                  </a:moveTo>
                  <a:lnTo>
                    <a:pt x="3337814" y="1521460"/>
                  </a:lnTo>
                  <a:lnTo>
                    <a:pt x="3334512" y="1471295"/>
                  </a:lnTo>
                  <a:lnTo>
                    <a:pt x="3328289" y="1421384"/>
                  </a:lnTo>
                  <a:lnTo>
                    <a:pt x="3319145" y="1371981"/>
                  </a:lnTo>
                  <a:lnTo>
                    <a:pt x="3307207" y="1323213"/>
                  </a:lnTo>
                  <a:lnTo>
                    <a:pt x="3292475" y="1275461"/>
                  </a:lnTo>
                  <a:lnTo>
                    <a:pt x="3274695" y="1228737"/>
                  </a:lnTo>
                  <a:lnTo>
                    <a:pt x="3253994" y="1183398"/>
                  </a:lnTo>
                  <a:lnTo>
                    <a:pt x="3230372" y="1139698"/>
                  </a:lnTo>
                  <a:lnTo>
                    <a:pt x="3235706" y="1122172"/>
                  </a:lnTo>
                  <a:lnTo>
                    <a:pt x="3249168" y="1068578"/>
                  </a:lnTo>
                  <a:lnTo>
                    <a:pt x="3258566" y="1010793"/>
                  </a:lnTo>
                  <a:lnTo>
                    <a:pt x="3263138" y="953262"/>
                  </a:lnTo>
                  <a:lnTo>
                    <a:pt x="3263138" y="896239"/>
                  </a:lnTo>
                  <a:lnTo>
                    <a:pt x="3258439" y="840232"/>
                  </a:lnTo>
                  <a:lnTo>
                    <a:pt x="3249549" y="785622"/>
                  </a:lnTo>
                  <a:lnTo>
                    <a:pt x="3236341" y="732790"/>
                  </a:lnTo>
                  <a:lnTo>
                    <a:pt x="3219323" y="682117"/>
                  </a:lnTo>
                  <a:lnTo>
                    <a:pt x="3198368" y="634111"/>
                  </a:lnTo>
                  <a:lnTo>
                    <a:pt x="3173857" y="589026"/>
                  </a:lnTo>
                  <a:lnTo>
                    <a:pt x="3145790" y="547370"/>
                  </a:lnTo>
                  <a:lnTo>
                    <a:pt x="3114548" y="509524"/>
                  </a:lnTo>
                  <a:lnTo>
                    <a:pt x="3080131" y="475869"/>
                  </a:lnTo>
                  <a:lnTo>
                    <a:pt x="3042920" y="446913"/>
                  </a:lnTo>
                  <a:lnTo>
                    <a:pt x="3002788" y="422910"/>
                  </a:lnTo>
                  <a:lnTo>
                    <a:pt x="2960116" y="404368"/>
                  </a:lnTo>
                  <a:lnTo>
                    <a:pt x="2955036" y="376555"/>
                  </a:lnTo>
                  <a:lnTo>
                    <a:pt x="2935224" y="296418"/>
                  </a:lnTo>
                  <a:lnTo>
                    <a:pt x="2915920" y="246253"/>
                  </a:lnTo>
                  <a:lnTo>
                    <a:pt x="1735836" y="244729"/>
                  </a:lnTo>
                  <a:lnTo>
                    <a:pt x="1713865" y="218313"/>
                  </a:lnTo>
                  <a:lnTo>
                    <a:pt x="1665859" y="172212"/>
                  </a:lnTo>
                  <a:lnTo>
                    <a:pt x="1596390" y="126238"/>
                  </a:lnTo>
                  <a:lnTo>
                    <a:pt x="1551686" y="107061"/>
                  </a:lnTo>
                  <a:lnTo>
                    <a:pt x="1506347" y="94869"/>
                  </a:lnTo>
                  <a:lnTo>
                    <a:pt x="1460627" y="89662"/>
                  </a:lnTo>
                  <a:lnTo>
                    <a:pt x="1370330" y="98933"/>
                  </a:lnTo>
                  <a:lnTo>
                    <a:pt x="1284097" y="133604"/>
                  </a:lnTo>
                  <a:lnTo>
                    <a:pt x="1243584" y="160020"/>
                  </a:lnTo>
                  <a:lnTo>
                    <a:pt x="1205357" y="192278"/>
                  </a:lnTo>
                  <a:lnTo>
                    <a:pt x="1169797" y="230251"/>
                  </a:lnTo>
                  <a:lnTo>
                    <a:pt x="1137412" y="273685"/>
                  </a:lnTo>
                  <a:lnTo>
                    <a:pt x="1108583" y="322580"/>
                  </a:lnTo>
                  <a:lnTo>
                    <a:pt x="1083564" y="376555"/>
                  </a:lnTo>
                  <a:lnTo>
                    <a:pt x="1031875" y="341757"/>
                  </a:lnTo>
                  <a:lnTo>
                    <a:pt x="977900" y="314833"/>
                  </a:lnTo>
                  <a:lnTo>
                    <a:pt x="922147" y="295910"/>
                  </a:lnTo>
                  <a:lnTo>
                    <a:pt x="865251" y="285242"/>
                  </a:lnTo>
                  <a:lnTo>
                    <a:pt x="807593" y="282829"/>
                  </a:lnTo>
                  <a:lnTo>
                    <a:pt x="749808" y="288925"/>
                  </a:lnTo>
                  <a:lnTo>
                    <a:pt x="662686" y="314452"/>
                  </a:lnTo>
                  <a:lnTo>
                    <a:pt x="582422" y="357632"/>
                  </a:lnTo>
                  <a:lnTo>
                    <a:pt x="545084" y="385318"/>
                  </a:lnTo>
                  <a:lnTo>
                    <a:pt x="509905" y="416687"/>
                  </a:lnTo>
                  <a:lnTo>
                    <a:pt x="476885" y="451612"/>
                  </a:lnTo>
                  <a:lnTo>
                    <a:pt x="446278" y="489712"/>
                  </a:lnTo>
                  <a:lnTo>
                    <a:pt x="418211" y="530860"/>
                  </a:lnTo>
                  <a:lnTo>
                    <a:pt x="392684" y="574802"/>
                  </a:lnTo>
                  <a:lnTo>
                    <a:pt x="369951" y="621411"/>
                  </a:lnTo>
                  <a:lnTo>
                    <a:pt x="350139" y="670306"/>
                  </a:lnTo>
                  <a:lnTo>
                    <a:pt x="333248" y="721233"/>
                  </a:lnTo>
                  <a:lnTo>
                    <a:pt x="319659" y="774192"/>
                  </a:lnTo>
                  <a:lnTo>
                    <a:pt x="309245" y="828675"/>
                  </a:lnTo>
                  <a:lnTo>
                    <a:pt x="302387" y="884555"/>
                  </a:lnTo>
                  <a:lnTo>
                    <a:pt x="298958" y="941705"/>
                  </a:lnTo>
                  <a:lnTo>
                    <a:pt x="299339" y="999744"/>
                  </a:lnTo>
                  <a:lnTo>
                    <a:pt x="303530" y="1058545"/>
                  </a:lnTo>
                  <a:lnTo>
                    <a:pt x="300736" y="1068578"/>
                  </a:lnTo>
                  <a:lnTo>
                    <a:pt x="248666" y="1081151"/>
                  </a:lnTo>
                  <a:lnTo>
                    <a:pt x="199390" y="1104138"/>
                  </a:lnTo>
                  <a:lnTo>
                    <a:pt x="153543" y="1136650"/>
                  </a:lnTo>
                  <a:lnTo>
                    <a:pt x="112141" y="1178052"/>
                  </a:lnTo>
                  <a:lnTo>
                    <a:pt x="75946" y="1227709"/>
                  </a:lnTo>
                  <a:lnTo>
                    <a:pt x="45720" y="1284986"/>
                  </a:lnTo>
                  <a:lnTo>
                    <a:pt x="26670" y="1334643"/>
                  </a:lnTo>
                  <a:lnTo>
                    <a:pt x="12827" y="1385824"/>
                  </a:lnTo>
                  <a:lnTo>
                    <a:pt x="3937" y="1438021"/>
                  </a:lnTo>
                  <a:lnTo>
                    <a:pt x="0" y="1490599"/>
                  </a:lnTo>
                  <a:lnTo>
                    <a:pt x="762" y="1543177"/>
                  </a:lnTo>
                  <a:lnTo>
                    <a:pt x="6223" y="1594866"/>
                  </a:lnTo>
                  <a:lnTo>
                    <a:pt x="16256" y="1645412"/>
                  </a:lnTo>
                  <a:lnTo>
                    <a:pt x="30734" y="1694180"/>
                  </a:lnTo>
                  <a:lnTo>
                    <a:pt x="49530" y="1740408"/>
                  </a:lnTo>
                  <a:lnTo>
                    <a:pt x="72517" y="1783715"/>
                  </a:lnTo>
                  <a:lnTo>
                    <a:pt x="99568" y="1823466"/>
                  </a:lnTo>
                  <a:lnTo>
                    <a:pt x="130683" y="1859153"/>
                  </a:lnTo>
                  <a:lnTo>
                    <a:pt x="165608" y="1890141"/>
                  </a:lnTo>
                  <a:lnTo>
                    <a:pt x="138811" y="1932686"/>
                  </a:lnTo>
                  <a:lnTo>
                    <a:pt x="116459" y="1978914"/>
                  </a:lnTo>
                  <a:lnTo>
                    <a:pt x="98679" y="2028063"/>
                  </a:lnTo>
                  <a:lnTo>
                    <a:pt x="85725" y="2079498"/>
                  </a:lnTo>
                  <a:lnTo>
                    <a:pt x="77724" y="2132838"/>
                  </a:lnTo>
                  <a:lnTo>
                    <a:pt x="74803" y="2187321"/>
                  </a:lnTo>
                  <a:lnTo>
                    <a:pt x="77089" y="2242439"/>
                  </a:lnTo>
                  <a:lnTo>
                    <a:pt x="85471" y="2301240"/>
                  </a:lnTo>
                  <a:lnTo>
                    <a:pt x="99441" y="2356866"/>
                  </a:lnTo>
                  <a:lnTo>
                    <a:pt x="118618" y="2408555"/>
                  </a:lnTo>
                  <a:lnTo>
                    <a:pt x="142494" y="2456180"/>
                  </a:lnTo>
                  <a:lnTo>
                    <a:pt x="170688" y="2498979"/>
                  </a:lnTo>
                  <a:lnTo>
                    <a:pt x="202692" y="2536571"/>
                  </a:lnTo>
                  <a:lnTo>
                    <a:pt x="238125" y="2568702"/>
                  </a:lnTo>
                  <a:lnTo>
                    <a:pt x="276479" y="2594610"/>
                  </a:lnTo>
                  <a:lnTo>
                    <a:pt x="360299" y="2626487"/>
                  </a:lnTo>
                  <a:lnTo>
                    <a:pt x="404749" y="2631440"/>
                  </a:lnTo>
                  <a:lnTo>
                    <a:pt x="450469" y="2628392"/>
                  </a:lnTo>
                  <a:lnTo>
                    <a:pt x="2770759" y="2628392"/>
                  </a:lnTo>
                  <a:lnTo>
                    <a:pt x="2811399" y="2562987"/>
                  </a:lnTo>
                  <a:lnTo>
                    <a:pt x="2834005" y="2514981"/>
                  </a:lnTo>
                  <a:lnTo>
                    <a:pt x="2853182" y="2463927"/>
                  </a:lnTo>
                  <a:lnTo>
                    <a:pt x="2868422" y="2410333"/>
                  </a:lnTo>
                  <a:lnTo>
                    <a:pt x="2879852" y="2354453"/>
                  </a:lnTo>
                  <a:lnTo>
                    <a:pt x="2886837" y="2296414"/>
                  </a:lnTo>
                  <a:lnTo>
                    <a:pt x="2889504" y="2236597"/>
                  </a:lnTo>
                  <a:lnTo>
                    <a:pt x="2942336" y="2223008"/>
                  </a:lnTo>
                  <a:lnTo>
                    <a:pt x="2993644" y="2202434"/>
                  </a:lnTo>
                  <a:lnTo>
                    <a:pt x="3042920" y="2175256"/>
                  </a:lnTo>
                  <a:lnTo>
                    <a:pt x="3089910" y="2141474"/>
                  </a:lnTo>
                  <a:lnTo>
                    <a:pt x="3134106" y="2101469"/>
                  </a:lnTo>
                  <a:lnTo>
                    <a:pt x="3165602" y="2067179"/>
                  </a:lnTo>
                  <a:lnTo>
                    <a:pt x="3194431" y="2030476"/>
                  </a:lnTo>
                  <a:lnTo>
                    <a:pt x="3220720" y="1991360"/>
                  </a:lnTo>
                  <a:lnTo>
                    <a:pt x="3244469" y="1950212"/>
                  </a:lnTo>
                  <a:lnTo>
                    <a:pt x="3265678" y="1907159"/>
                  </a:lnTo>
                  <a:lnTo>
                    <a:pt x="3284093" y="1862455"/>
                  </a:lnTo>
                  <a:lnTo>
                    <a:pt x="3299968" y="1816354"/>
                  </a:lnTo>
                  <a:lnTo>
                    <a:pt x="3313049" y="1768983"/>
                  </a:lnTo>
                  <a:lnTo>
                    <a:pt x="3323463" y="1720596"/>
                  </a:lnTo>
                  <a:lnTo>
                    <a:pt x="3331210" y="1671574"/>
                  </a:lnTo>
                  <a:lnTo>
                    <a:pt x="3336163" y="1621790"/>
                  </a:lnTo>
                  <a:lnTo>
                    <a:pt x="3338449" y="1571752"/>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 name="Google Shape;186;p7">
              <a:extLst>
                <a:ext uri="{FF2B5EF4-FFF2-40B4-BE49-F238E27FC236}">
                  <a16:creationId xmlns:a16="http://schemas.microsoft.com/office/drawing/2014/main" id="{FB556CE8-6765-F2CF-03CE-90EE4FA1E6A7}"/>
                </a:ext>
              </a:extLst>
            </p:cNvPr>
            <p:cNvSpPr/>
            <p:nvPr/>
          </p:nvSpPr>
          <p:spPr>
            <a:xfrm>
              <a:off x="4379213" y="2369057"/>
              <a:ext cx="3338829" cy="3215640"/>
            </a:xfrm>
            <a:custGeom>
              <a:avLst/>
              <a:gdLst/>
              <a:ahLst/>
              <a:cxnLst/>
              <a:rect l="l" t="t" r="r" b="b"/>
              <a:pathLst>
                <a:path w="3338829" h="3215640" extrusionOk="0">
                  <a:moveTo>
                    <a:pt x="303530" y="1058544"/>
                  </a:moveTo>
                  <a:lnTo>
                    <a:pt x="299338" y="999743"/>
                  </a:lnTo>
                  <a:lnTo>
                    <a:pt x="298958" y="941704"/>
                  </a:lnTo>
                  <a:lnTo>
                    <a:pt x="302387" y="884554"/>
                  </a:lnTo>
                  <a:lnTo>
                    <a:pt x="309245" y="828675"/>
                  </a:lnTo>
                  <a:lnTo>
                    <a:pt x="319659" y="774191"/>
                  </a:lnTo>
                  <a:lnTo>
                    <a:pt x="333248" y="721232"/>
                  </a:lnTo>
                  <a:lnTo>
                    <a:pt x="350138" y="670305"/>
                  </a:lnTo>
                  <a:lnTo>
                    <a:pt x="369950" y="621411"/>
                  </a:lnTo>
                  <a:lnTo>
                    <a:pt x="392684" y="574801"/>
                  </a:lnTo>
                  <a:lnTo>
                    <a:pt x="418211" y="530859"/>
                  </a:lnTo>
                  <a:lnTo>
                    <a:pt x="446277" y="489712"/>
                  </a:lnTo>
                  <a:lnTo>
                    <a:pt x="476885" y="451612"/>
                  </a:lnTo>
                  <a:lnTo>
                    <a:pt x="509905" y="416687"/>
                  </a:lnTo>
                  <a:lnTo>
                    <a:pt x="545084" y="385317"/>
                  </a:lnTo>
                  <a:lnTo>
                    <a:pt x="582422" y="357631"/>
                  </a:lnTo>
                  <a:lnTo>
                    <a:pt x="662686" y="314451"/>
                  </a:lnTo>
                  <a:lnTo>
                    <a:pt x="749808" y="288925"/>
                  </a:lnTo>
                  <a:lnTo>
                    <a:pt x="807593" y="282828"/>
                  </a:lnTo>
                  <a:lnTo>
                    <a:pt x="865251" y="285241"/>
                  </a:lnTo>
                  <a:lnTo>
                    <a:pt x="922147" y="295909"/>
                  </a:lnTo>
                  <a:lnTo>
                    <a:pt x="977900" y="314832"/>
                  </a:lnTo>
                  <a:lnTo>
                    <a:pt x="1031875" y="341756"/>
                  </a:lnTo>
                  <a:lnTo>
                    <a:pt x="1083564" y="376554"/>
                  </a:lnTo>
                  <a:lnTo>
                    <a:pt x="1108583" y="322579"/>
                  </a:lnTo>
                  <a:lnTo>
                    <a:pt x="1137412" y="273684"/>
                  </a:lnTo>
                  <a:lnTo>
                    <a:pt x="1169797" y="230250"/>
                  </a:lnTo>
                  <a:lnTo>
                    <a:pt x="1205357" y="192277"/>
                  </a:lnTo>
                  <a:lnTo>
                    <a:pt x="1243584" y="160019"/>
                  </a:lnTo>
                  <a:lnTo>
                    <a:pt x="1284097" y="133603"/>
                  </a:lnTo>
                  <a:lnTo>
                    <a:pt x="1370330" y="98932"/>
                  </a:lnTo>
                  <a:lnTo>
                    <a:pt x="1460627" y="89662"/>
                  </a:lnTo>
                  <a:lnTo>
                    <a:pt x="1506347" y="94868"/>
                  </a:lnTo>
                  <a:lnTo>
                    <a:pt x="1596389" y="126237"/>
                  </a:lnTo>
                  <a:lnTo>
                    <a:pt x="1640077" y="152653"/>
                  </a:lnTo>
                  <a:lnTo>
                    <a:pt x="1690497" y="194182"/>
                  </a:lnTo>
                  <a:lnTo>
                    <a:pt x="1735836" y="244728"/>
                  </a:lnTo>
                  <a:lnTo>
                    <a:pt x="1761236" y="188340"/>
                  </a:lnTo>
                  <a:lnTo>
                    <a:pt x="1791970" y="138811"/>
                  </a:lnTo>
                  <a:lnTo>
                    <a:pt x="1827149" y="96265"/>
                  </a:lnTo>
                  <a:lnTo>
                    <a:pt x="1866264" y="61087"/>
                  </a:lnTo>
                  <a:lnTo>
                    <a:pt x="1908428" y="33527"/>
                  </a:lnTo>
                  <a:lnTo>
                    <a:pt x="1953006" y="13969"/>
                  </a:lnTo>
                  <a:lnTo>
                    <a:pt x="2046605" y="0"/>
                  </a:lnTo>
                  <a:lnTo>
                    <a:pt x="2094230" y="6222"/>
                  </a:lnTo>
                  <a:lnTo>
                    <a:pt x="2141474" y="21589"/>
                  </a:lnTo>
                  <a:lnTo>
                    <a:pt x="2187702" y="46354"/>
                  </a:lnTo>
                  <a:lnTo>
                    <a:pt x="2251964" y="101345"/>
                  </a:lnTo>
                  <a:lnTo>
                    <a:pt x="2280158" y="135636"/>
                  </a:lnTo>
                  <a:lnTo>
                    <a:pt x="2305177" y="173989"/>
                  </a:lnTo>
                  <a:lnTo>
                    <a:pt x="2340737" y="126111"/>
                  </a:lnTo>
                  <a:lnTo>
                    <a:pt x="2379853" y="85851"/>
                  </a:lnTo>
                  <a:lnTo>
                    <a:pt x="2422016" y="53212"/>
                  </a:lnTo>
                  <a:lnTo>
                    <a:pt x="2466593" y="28447"/>
                  </a:lnTo>
                  <a:lnTo>
                    <a:pt x="2512949" y="11429"/>
                  </a:lnTo>
                  <a:lnTo>
                    <a:pt x="2608326" y="1142"/>
                  </a:lnTo>
                  <a:lnTo>
                    <a:pt x="2656078" y="8000"/>
                  </a:lnTo>
                  <a:lnTo>
                    <a:pt x="2703194" y="22859"/>
                  </a:lnTo>
                  <a:lnTo>
                    <a:pt x="2748788" y="45974"/>
                  </a:lnTo>
                  <a:lnTo>
                    <a:pt x="2792476" y="77342"/>
                  </a:lnTo>
                  <a:lnTo>
                    <a:pt x="2833496" y="116966"/>
                  </a:lnTo>
                  <a:lnTo>
                    <a:pt x="2864866" y="156082"/>
                  </a:lnTo>
                  <a:lnTo>
                    <a:pt x="2892425" y="199262"/>
                  </a:lnTo>
                  <a:lnTo>
                    <a:pt x="2915919" y="246252"/>
                  </a:lnTo>
                  <a:lnTo>
                    <a:pt x="2935224" y="296417"/>
                  </a:lnTo>
                  <a:lnTo>
                    <a:pt x="2950083" y="349250"/>
                  </a:lnTo>
                  <a:lnTo>
                    <a:pt x="2960116" y="404367"/>
                  </a:lnTo>
                  <a:lnTo>
                    <a:pt x="3002788" y="422909"/>
                  </a:lnTo>
                  <a:lnTo>
                    <a:pt x="3042919" y="446913"/>
                  </a:lnTo>
                  <a:lnTo>
                    <a:pt x="3080131" y="475868"/>
                  </a:lnTo>
                  <a:lnTo>
                    <a:pt x="3114547" y="509524"/>
                  </a:lnTo>
                  <a:lnTo>
                    <a:pt x="3145790" y="547369"/>
                  </a:lnTo>
                  <a:lnTo>
                    <a:pt x="3173857" y="589026"/>
                  </a:lnTo>
                  <a:lnTo>
                    <a:pt x="3198367" y="634111"/>
                  </a:lnTo>
                  <a:lnTo>
                    <a:pt x="3219322" y="682116"/>
                  </a:lnTo>
                  <a:lnTo>
                    <a:pt x="3236341" y="732789"/>
                  </a:lnTo>
                  <a:lnTo>
                    <a:pt x="3249549" y="785621"/>
                  </a:lnTo>
                  <a:lnTo>
                    <a:pt x="3258439" y="840231"/>
                  </a:lnTo>
                  <a:lnTo>
                    <a:pt x="3263138" y="896238"/>
                  </a:lnTo>
                  <a:lnTo>
                    <a:pt x="3263138" y="953262"/>
                  </a:lnTo>
                  <a:lnTo>
                    <a:pt x="3258566" y="1010792"/>
                  </a:lnTo>
                  <a:lnTo>
                    <a:pt x="3249167" y="1068577"/>
                  </a:lnTo>
                  <a:lnTo>
                    <a:pt x="3235706" y="1122171"/>
                  </a:lnTo>
                  <a:lnTo>
                    <a:pt x="3230371" y="1139697"/>
                  </a:lnTo>
                  <a:lnTo>
                    <a:pt x="3253993" y="1183386"/>
                  </a:lnTo>
                  <a:lnTo>
                    <a:pt x="3274694" y="1228725"/>
                  </a:lnTo>
                  <a:lnTo>
                    <a:pt x="3292475" y="1275460"/>
                  </a:lnTo>
                  <a:lnTo>
                    <a:pt x="3307207" y="1323212"/>
                  </a:lnTo>
                  <a:lnTo>
                    <a:pt x="3319144" y="1371980"/>
                  </a:lnTo>
                  <a:lnTo>
                    <a:pt x="3328289" y="1421383"/>
                  </a:lnTo>
                  <a:lnTo>
                    <a:pt x="3334512" y="1471294"/>
                  </a:lnTo>
                  <a:lnTo>
                    <a:pt x="3337814" y="1521459"/>
                  </a:lnTo>
                  <a:lnTo>
                    <a:pt x="3338449" y="1571752"/>
                  </a:lnTo>
                  <a:lnTo>
                    <a:pt x="3336163" y="1621789"/>
                  </a:lnTo>
                  <a:lnTo>
                    <a:pt x="3331210" y="1671573"/>
                  </a:lnTo>
                  <a:lnTo>
                    <a:pt x="3323463" y="1720595"/>
                  </a:lnTo>
                  <a:lnTo>
                    <a:pt x="3313049" y="1768983"/>
                  </a:lnTo>
                  <a:lnTo>
                    <a:pt x="3299967" y="1816353"/>
                  </a:lnTo>
                  <a:lnTo>
                    <a:pt x="3284092" y="1862454"/>
                  </a:lnTo>
                  <a:lnTo>
                    <a:pt x="3265678" y="1907158"/>
                  </a:lnTo>
                  <a:lnTo>
                    <a:pt x="3244468" y="1950211"/>
                  </a:lnTo>
                  <a:lnTo>
                    <a:pt x="3220719" y="1991359"/>
                  </a:lnTo>
                  <a:lnTo>
                    <a:pt x="3194431" y="2030475"/>
                  </a:lnTo>
                  <a:lnTo>
                    <a:pt x="3165602" y="2067178"/>
                  </a:lnTo>
                  <a:lnTo>
                    <a:pt x="3134106" y="2101468"/>
                  </a:lnTo>
                  <a:lnTo>
                    <a:pt x="3089910" y="2141473"/>
                  </a:lnTo>
                  <a:lnTo>
                    <a:pt x="3042919" y="2175255"/>
                  </a:lnTo>
                  <a:lnTo>
                    <a:pt x="2993643" y="2202434"/>
                  </a:lnTo>
                  <a:lnTo>
                    <a:pt x="2942336" y="2223008"/>
                  </a:lnTo>
                  <a:lnTo>
                    <a:pt x="2889504" y="2236597"/>
                  </a:lnTo>
                  <a:lnTo>
                    <a:pt x="2886837" y="2296414"/>
                  </a:lnTo>
                  <a:lnTo>
                    <a:pt x="2879852" y="2354453"/>
                  </a:lnTo>
                  <a:lnTo>
                    <a:pt x="2868421" y="2410333"/>
                  </a:lnTo>
                  <a:lnTo>
                    <a:pt x="2853182" y="2463927"/>
                  </a:lnTo>
                  <a:lnTo>
                    <a:pt x="2834005" y="2514980"/>
                  </a:lnTo>
                  <a:lnTo>
                    <a:pt x="2811399" y="2562986"/>
                  </a:lnTo>
                  <a:lnTo>
                    <a:pt x="2785364" y="2607691"/>
                  </a:lnTo>
                  <a:lnTo>
                    <a:pt x="2756281" y="2648966"/>
                  </a:lnTo>
                  <a:lnTo>
                    <a:pt x="2724404" y="2686430"/>
                  </a:lnTo>
                  <a:lnTo>
                    <a:pt x="2689860" y="2719704"/>
                  </a:lnTo>
                  <a:lnTo>
                    <a:pt x="2652776" y="2748660"/>
                  </a:lnTo>
                  <a:lnTo>
                    <a:pt x="2572512" y="2792222"/>
                  </a:lnTo>
                  <a:lnTo>
                    <a:pt x="2485263" y="2814573"/>
                  </a:lnTo>
                  <a:lnTo>
                    <a:pt x="2439542" y="2817114"/>
                  </a:lnTo>
                  <a:lnTo>
                    <a:pt x="2378202" y="2810891"/>
                  </a:lnTo>
                  <a:lnTo>
                    <a:pt x="2318385" y="2793872"/>
                  </a:lnTo>
                  <a:lnTo>
                    <a:pt x="2260854" y="2766186"/>
                  </a:lnTo>
                  <a:lnTo>
                    <a:pt x="2206625" y="2728341"/>
                  </a:lnTo>
                  <a:lnTo>
                    <a:pt x="2190877" y="2787268"/>
                  </a:lnTo>
                  <a:lnTo>
                    <a:pt x="2171445" y="2843148"/>
                  </a:lnTo>
                  <a:lnTo>
                    <a:pt x="2148713" y="2895727"/>
                  </a:lnTo>
                  <a:lnTo>
                    <a:pt x="2122678" y="2944876"/>
                  </a:lnTo>
                  <a:lnTo>
                    <a:pt x="2093849" y="2990468"/>
                  </a:lnTo>
                  <a:lnTo>
                    <a:pt x="2062352" y="3032379"/>
                  </a:lnTo>
                  <a:lnTo>
                    <a:pt x="2028316" y="3070479"/>
                  </a:lnTo>
                  <a:lnTo>
                    <a:pt x="1991995" y="3104388"/>
                  </a:lnTo>
                  <a:lnTo>
                    <a:pt x="1953768" y="3134105"/>
                  </a:lnTo>
                  <a:lnTo>
                    <a:pt x="1913763" y="3159505"/>
                  </a:lnTo>
                  <a:lnTo>
                    <a:pt x="1829181" y="3196590"/>
                  </a:lnTo>
                  <a:lnTo>
                    <a:pt x="1740281" y="3214116"/>
                  </a:lnTo>
                  <a:lnTo>
                    <a:pt x="1694814" y="3215258"/>
                  </a:lnTo>
                  <a:lnTo>
                    <a:pt x="1648968" y="3210941"/>
                  </a:lnTo>
                  <a:lnTo>
                    <a:pt x="1556765" y="3185794"/>
                  </a:lnTo>
                  <a:lnTo>
                    <a:pt x="1508252" y="3163061"/>
                  </a:lnTo>
                  <a:lnTo>
                    <a:pt x="1462024" y="3134232"/>
                  </a:lnTo>
                  <a:lnTo>
                    <a:pt x="1418336" y="3099816"/>
                  </a:lnTo>
                  <a:lnTo>
                    <a:pt x="1377441" y="3059938"/>
                  </a:lnTo>
                  <a:lnTo>
                    <a:pt x="1339596" y="3014853"/>
                  </a:lnTo>
                  <a:lnTo>
                    <a:pt x="1305306" y="2965068"/>
                  </a:lnTo>
                  <a:lnTo>
                    <a:pt x="1274572" y="2910713"/>
                  </a:lnTo>
                  <a:lnTo>
                    <a:pt x="1231646" y="2941573"/>
                  </a:lnTo>
                  <a:lnTo>
                    <a:pt x="1187703" y="2967481"/>
                  </a:lnTo>
                  <a:lnTo>
                    <a:pt x="1143000" y="2988310"/>
                  </a:lnTo>
                  <a:lnTo>
                    <a:pt x="1051687" y="3015233"/>
                  </a:lnTo>
                  <a:lnTo>
                    <a:pt x="959612" y="3022854"/>
                  </a:lnTo>
                  <a:lnTo>
                    <a:pt x="913764" y="3019679"/>
                  </a:lnTo>
                  <a:lnTo>
                    <a:pt x="823595" y="2999485"/>
                  </a:lnTo>
                  <a:lnTo>
                    <a:pt x="736726" y="2961640"/>
                  </a:lnTo>
                  <a:lnTo>
                    <a:pt x="695071" y="2936113"/>
                  </a:lnTo>
                  <a:lnTo>
                    <a:pt x="654938" y="2906394"/>
                  </a:lnTo>
                  <a:lnTo>
                    <a:pt x="616585" y="2872485"/>
                  </a:lnTo>
                  <a:lnTo>
                    <a:pt x="580009" y="2834385"/>
                  </a:lnTo>
                  <a:lnTo>
                    <a:pt x="545464" y="2792348"/>
                  </a:lnTo>
                  <a:lnTo>
                    <a:pt x="513334" y="2746247"/>
                  </a:lnTo>
                  <a:lnTo>
                    <a:pt x="483743" y="2696336"/>
                  </a:lnTo>
                  <a:lnTo>
                    <a:pt x="456946" y="2642489"/>
                  </a:lnTo>
                  <a:lnTo>
                    <a:pt x="450469" y="2628391"/>
                  </a:lnTo>
                  <a:lnTo>
                    <a:pt x="360299" y="2626486"/>
                  </a:lnTo>
                  <a:lnTo>
                    <a:pt x="276478" y="2594610"/>
                  </a:lnTo>
                  <a:lnTo>
                    <a:pt x="238125" y="2568702"/>
                  </a:lnTo>
                  <a:lnTo>
                    <a:pt x="202691" y="2536571"/>
                  </a:lnTo>
                  <a:lnTo>
                    <a:pt x="170687" y="2498979"/>
                  </a:lnTo>
                  <a:lnTo>
                    <a:pt x="142494" y="2456179"/>
                  </a:lnTo>
                  <a:lnTo>
                    <a:pt x="118618" y="2408554"/>
                  </a:lnTo>
                  <a:lnTo>
                    <a:pt x="99440" y="2356866"/>
                  </a:lnTo>
                  <a:lnTo>
                    <a:pt x="85471" y="2301240"/>
                  </a:lnTo>
                  <a:lnTo>
                    <a:pt x="77088" y="2242439"/>
                  </a:lnTo>
                  <a:lnTo>
                    <a:pt x="74802" y="2187321"/>
                  </a:lnTo>
                  <a:lnTo>
                    <a:pt x="77724" y="2132837"/>
                  </a:lnTo>
                  <a:lnTo>
                    <a:pt x="85725" y="2079497"/>
                  </a:lnTo>
                  <a:lnTo>
                    <a:pt x="98678" y="2028062"/>
                  </a:lnTo>
                  <a:lnTo>
                    <a:pt x="116459" y="1978914"/>
                  </a:lnTo>
                  <a:lnTo>
                    <a:pt x="138811" y="1932685"/>
                  </a:lnTo>
                  <a:lnTo>
                    <a:pt x="165608" y="1890140"/>
                  </a:lnTo>
                  <a:lnTo>
                    <a:pt x="130683" y="1859152"/>
                  </a:lnTo>
                  <a:lnTo>
                    <a:pt x="99568" y="1823465"/>
                  </a:lnTo>
                  <a:lnTo>
                    <a:pt x="72516" y="1783714"/>
                  </a:lnTo>
                  <a:lnTo>
                    <a:pt x="49530" y="1740408"/>
                  </a:lnTo>
                  <a:lnTo>
                    <a:pt x="30734" y="1694179"/>
                  </a:lnTo>
                  <a:lnTo>
                    <a:pt x="16256" y="1645411"/>
                  </a:lnTo>
                  <a:lnTo>
                    <a:pt x="6223" y="1594865"/>
                  </a:lnTo>
                  <a:lnTo>
                    <a:pt x="762" y="1543177"/>
                  </a:lnTo>
                  <a:lnTo>
                    <a:pt x="0" y="1490598"/>
                  </a:lnTo>
                  <a:lnTo>
                    <a:pt x="3937" y="1438020"/>
                  </a:lnTo>
                  <a:lnTo>
                    <a:pt x="12826" y="1385823"/>
                  </a:lnTo>
                  <a:lnTo>
                    <a:pt x="26670" y="1334642"/>
                  </a:lnTo>
                  <a:lnTo>
                    <a:pt x="45720" y="1284985"/>
                  </a:lnTo>
                  <a:lnTo>
                    <a:pt x="75946" y="1227708"/>
                  </a:lnTo>
                  <a:lnTo>
                    <a:pt x="112140" y="1178052"/>
                  </a:lnTo>
                  <a:lnTo>
                    <a:pt x="153543" y="1136650"/>
                  </a:lnTo>
                  <a:lnTo>
                    <a:pt x="199389" y="1104138"/>
                  </a:lnTo>
                  <a:lnTo>
                    <a:pt x="248665" y="1081151"/>
                  </a:lnTo>
                  <a:lnTo>
                    <a:pt x="300736" y="1068577"/>
                  </a:lnTo>
                  <a:lnTo>
                    <a:pt x="303530" y="1058544"/>
                  </a:lnTo>
                  <a:close/>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3" name="Google Shape;187;p7">
              <a:extLst>
                <a:ext uri="{FF2B5EF4-FFF2-40B4-BE49-F238E27FC236}">
                  <a16:creationId xmlns:a16="http://schemas.microsoft.com/office/drawing/2014/main" id="{D42B5051-775F-1C2B-E7D8-42D3AD41E7FA}"/>
                </a:ext>
              </a:extLst>
            </p:cNvPr>
            <p:cNvSpPr/>
            <p:nvPr/>
          </p:nvSpPr>
          <p:spPr>
            <a:xfrm>
              <a:off x="4548377" y="4246626"/>
              <a:ext cx="196850" cy="59690"/>
            </a:xfrm>
            <a:custGeom>
              <a:avLst/>
              <a:gdLst/>
              <a:ahLst/>
              <a:cxnLst/>
              <a:rect l="l" t="t" r="r" b="b"/>
              <a:pathLst>
                <a:path w="196850" h="59689" extrusionOk="0">
                  <a:moveTo>
                    <a:pt x="196596" y="59055"/>
                  </a:moveTo>
                  <a:lnTo>
                    <a:pt x="145287" y="59181"/>
                  </a:lnTo>
                  <a:lnTo>
                    <a:pt x="94869" y="49149"/>
                  </a:lnTo>
                  <a:lnTo>
                    <a:pt x="46100" y="29337"/>
                  </a:lnTo>
                  <a:lnTo>
                    <a:pt x="0" y="0"/>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4" name="Google Shape;188;p7">
              <a:extLst>
                <a:ext uri="{FF2B5EF4-FFF2-40B4-BE49-F238E27FC236}">
                  <a16:creationId xmlns:a16="http://schemas.microsoft.com/office/drawing/2014/main" id="{C39CE598-4153-D0EE-8E35-6D75BBC63DD3}"/>
                </a:ext>
              </a:extLst>
            </p:cNvPr>
            <p:cNvSpPr/>
            <p:nvPr/>
          </p:nvSpPr>
          <p:spPr>
            <a:xfrm>
              <a:off x="4682489" y="2532125"/>
              <a:ext cx="2926080" cy="2735580"/>
            </a:xfrm>
            <a:custGeom>
              <a:avLst/>
              <a:gdLst/>
              <a:ahLst/>
              <a:cxnLst/>
              <a:rect l="l" t="t" r="r" b="b"/>
              <a:pathLst>
                <a:path w="2926079" h="2735579" extrusionOk="0">
                  <a:moveTo>
                    <a:pt x="234696" y="2423160"/>
                  </a:moveTo>
                  <a:lnTo>
                    <a:pt x="213868" y="2433193"/>
                  </a:lnTo>
                  <a:lnTo>
                    <a:pt x="192659" y="2441321"/>
                  </a:lnTo>
                  <a:lnTo>
                    <a:pt x="171196" y="2447544"/>
                  </a:lnTo>
                  <a:lnTo>
                    <a:pt x="149351" y="2451989"/>
                  </a:lnTo>
                </a:path>
                <a:path w="2926079" h="2735579" extrusionOk="0">
                  <a:moveTo>
                    <a:pt x="970788" y="2735580"/>
                  </a:moveTo>
                  <a:lnTo>
                    <a:pt x="956310" y="2704592"/>
                  </a:lnTo>
                  <a:lnTo>
                    <a:pt x="943101" y="2672588"/>
                  </a:lnTo>
                  <a:lnTo>
                    <a:pt x="931163" y="2639695"/>
                  </a:lnTo>
                  <a:lnTo>
                    <a:pt x="920496" y="2606040"/>
                  </a:lnTo>
                </a:path>
                <a:path w="2926079" h="2735579" extrusionOk="0">
                  <a:moveTo>
                    <a:pt x="1924177" y="2412492"/>
                  </a:moveTo>
                  <a:lnTo>
                    <a:pt x="1921129" y="2448433"/>
                  </a:lnTo>
                  <a:lnTo>
                    <a:pt x="1916684" y="2483993"/>
                  </a:lnTo>
                  <a:lnTo>
                    <a:pt x="1910841" y="2519299"/>
                  </a:lnTo>
                  <a:lnTo>
                    <a:pt x="1903476" y="2554097"/>
                  </a:lnTo>
                </a:path>
                <a:path w="2926079" h="2735579" extrusionOk="0">
                  <a:moveTo>
                    <a:pt x="2333243" y="1534668"/>
                  </a:moveTo>
                  <a:lnTo>
                    <a:pt x="2370709" y="1561465"/>
                  </a:lnTo>
                  <a:lnTo>
                    <a:pt x="2405634" y="1592580"/>
                  </a:lnTo>
                  <a:lnTo>
                    <a:pt x="2437891" y="1627378"/>
                  </a:lnTo>
                  <a:lnTo>
                    <a:pt x="2467229" y="1665859"/>
                  </a:lnTo>
                  <a:lnTo>
                    <a:pt x="2493771" y="1707515"/>
                  </a:lnTo>
                  <a:lnTo>
                    <a:pt x="2517140" y="1752219"/>
                  </a:lnTo>
                  <a:lnTo>
                    <a:pt x="2537206" y="1799463"/>
                  </a:lnTo>
                  <a:lnTo>
                    <a:pt x="2553969" y="1848993"/>
                  </a:lnTo>
                  <a:lnTo>
                    <a:pt x="2567178" y="1900682"/>
                  </a:lnTo>
                  <a:lnTo>
                    <a:pt x="2576703" y="1954022"/>
                  </a:lnTo>
                  <a:lnTo>
                    <a:pt x="2582291" y="2008632"/>
                  </a:lnTo>
                  <a:lnTo>
                    <a:pt x="2584068" y="2064512"/>
                  </a:lnTo>
                </a:path>
                <a:path w="2926079" h="2735579" extrusionOk="0">
                  <a:moveTo>
                    <a:pt x="2926080" y="969263"/>
                  </a:moveTo>
                  <a:lnTo>
                    <a:pt x="2904616" y="1024889"/>
                  </a:lnTo>
                  <a:lnTo>
                    <a:pt x="2878582" y="1076706"/>
                  </a:lnTo>
                  <a:lnTo>
                    <a:pt x="2847975" y="1124331"/>
                  </a:lnTo>
                  <a:lnTo>
                    <a:pt x="2813304" y="1167130"/>
                  </a:lnTo>
                </a:path>
                <a:path w="2926079" h="2735579" extrusionOk="0">
                  <a:moveTo>
                    <a:pt x="2657856" y="230124"/>
                  </a:moveTo>
                  <a:lnTo>
                    <a:pt x="2660015" y="253237"/>
                  </a:lnTo>
                  <a:lnTo>
                    <a:pt x="2661539" y="276478"/>
                  </a:lnTo>
                  <a:lnTo>
                    <a:pt x="2662301" y="299720"/>
                  </a:lnTo>
                  <a:lnTo>
                    <a:pt x="2662428" y="323088"/>
                  </a:lnTo>
                </a:path>
                <a:path w="2926079" h="2735579" extrusionOk="0">
                  <a:moveTo>
                    <a:pt x="1943100" y="120269"/>
                  </a:moveTo>
                  <a:lnTo>
                    <a:pt x="1954911" y="88264"/>
                  </a:lnTo>
                  <a:lnTo>
                    <a:pt x="1968627" y="57403"/>
                  </a:lnTo>
                  <a:lnTo>
                    <a:pt x="1983866" y="27939"/>
                  </a:lnTo>
                  <a:lnTo>
                    <a:pt x="2000631" y="0"/>
                  </a:lnTo>
                </a:path>
                <a:path w="2926079" h="2735579" extrusionOk="0">
                  <a:moveTo>
                    <a:pt x="1408176" y="176657"/>
                  </a:moveTo>
                  <a:lnTo>
                    <a:pt x="1413129" y="150368"/>
                  </a:lnTo>
                  <a:lnTo>
                    <a:pt x="1419352" y="124587"/>
                  </a:lnTo>
                  <a:lnTo>
                    <a:pt x="1426845" y="99313"/>
                  </a:lnTo>
                  <a:lnTo>
                    <a:pt x="1435481" y="74675"/>
                  </a:lnTo>
                </a:path>
                <a:path w="2926079" h="2735579" extrusionOk="0">
                  <a:moveTo>
                    <a:pt x="780288" y="211836"/>
                  </a:moveTo>
                  <a:lnTo>
                    <a:pt x="807085" y="233934"/>
                  </a:lnTo>
                  <a:lnTo>
                    <a:pt x="832738" y="258063"/>
                  </a:lnTo>
                  <a:lnTo>
                    <a:pt x="857250" y="284225"/>
                  </a:lnTo>
                  <a:lnTo>
                    <a:pt x="880490" y="312420"/>
                  </a:lnTo>
                </a:path>
                <a:path w="2926079" h="2735579" extrusionOk="0">
                  <a:moveTo>
                    <a:pt x="18161" y="1000760"/>
                  </a:moveTo>
                  <a:lnTo>
                    <a:pt x="12319" y="974978"/>
                  </a:lnTo>
                  <a:lnTo>
                    <a:pt x="7365" y="948816"/>
                  </a:lnTo>
                  <a:lnTo>
                    <a:pt x="3301" y="922527"/>
                  </a:lnTo>
                  <a:lnTo>
                    <a:pt x="0" y="896112"/>
                  </a:lnTo>
                </a:path>
              </a:pathLst>
            </a:custGeom>
            <a:noFill/>
            <a:ln w="25900" cap="flat" cmpd="sng">
              <a:solidFill>
                <a:srgbClr val="B8DFE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5" name="Google Shape;189;p7">
              <a:extLst>
                <a:ext uri="{FF2B5EF4-FFF2-40B4-BE49-F238E27FC236}">
                  <a16:creationId xmlns:a16="http://schemas.microsoft.com/office/drawing/2014/main" id="{B4BA79F4-C6DB-64F0-5B10-550A914F5AA9}"/>
                </a:ext>
              </a:extLst>
            </p:cNvPr>
            <p:cNvSpPr/>
            <p:nvPr/>
          </p:nvSpPr>
          <p:spPr>
            <a:xfrm>
              <a:off x="3334512" y="2429255"/>
              <a:ext cx="762000" cy="548639"/>
            </a:xfrm>
            <a:prstGeom prst="rect">
              <a:avLst/>
            </a:prstGeom>
            <a:blipFill rotWithShape="1">
              <a:blip r:embed="rId2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8" name="Google Shape;190;p7">
              <a:extLst>
                <a:ext uri="{FF2B5EF4-FFF2-40B4-BE49-F238E27FC236}">
                  <a16:creationId xmlns:a16="http://schemas.microsoft.com/office/drawing/2014/main" id="{9426453F-12E8-4B76-2919-9E2A4E685E69}"/>
                </a:ext>
              </a:extLst>
            </p:cNvPr>
            <p:cNvSpPr/>
            <p:nvPr/>
          </p:nvSpPr>
          <p:spPr>
            <a:xfrm>
              <a:off x="3429000" y="3643883"/>
              <a:ext cx="762000" cy="548639"/>
            </a:xfrm>
            <a:prstGeom prst="rect">
              <a:avLst/>
            </a:prstGeom>
            <a:blipFill rotWithShape="1">
              <a:blip r:embed="rId2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9" name="Google Shape;191;p7">
              <a:extLst>
                <a:ext uri="{FF2B5EF4-FFF2-40B4-BE49-F238E27FC236}">
                  <a16:creationId xmlns:a16="http://schemas.microsoft.com/office/drawing/2014/main" id="{49365AEE-EB97-7619-8B03-1ED934D6FF21}"/>
                </a:ext>
              </a:extLst>
            </p:cNvPr>
            <p:cNvSpPr/>
            <p:nvPr/>
          </p:nvSpPr>
          <p:spPr>
            <a:xfrm>
              <a:off x="3334512" y="4664963"/>
              <a:ext cx="762000" cy="550163"/>
            </a:xfrm>
            <a:prstGeom prst="rect">
              <a:avLst/>
            </a:prstGeom>
            <a:blipFill rotWithShape="1">
              <a:blip r:embed="rId2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91" name="Google Shape;192;p7">
            <a:extLst>
              <a:ext uri="{FF2B5EF4-FFF2-40B4-BE49-F238E27FC236}">
                <a16:creationId xmlns:a16="http://schemas.microsoft.com/office/drawing/2014/main" id="{D0F3CF56-6CA6-03AD-19D9-093C07A5C736}"/>
              </a:ext>
            </a:extLst>
          </p:cNvPr>
          <p:cNvSpPr txBox="1"/>
          <p:nvPr/>
        </p:nvSpPr>
        <p:spPr>
          <a:xfrm>
            <a:off x="3147441" y="2141677"/>
            <a:ext cx="617855" cy="238125"/>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1400" b="1">
                <a:solidFill>
                  <a:srgbClr val="0033CC"/>
                </a:solidFill>
                <a:latin typeface="Arial"/>
                <a:ea typeface="Arial"/>
                <a:cs typeface="Arial"/>
                <a:sym typeface="Arial"/>
              </a:rPr>
              <a:t>contrat</a:t>
            </a:r>
            <a:endParaRPr sz="1400">
              <a:solidFill>
                <a:schemeClr val="dk1"/>
              </a:solidFill>
              <a:latin typeface="Arial"/>
              <a:ea typeface="Arial"/>
              <a:cs typeface="Arial"/>
              <a:sym typeface="Arial"/>
            </a:endParaRPr>
          </a:p>
        </p:txBody>
      </p:sp>
      <p:sp>
        <p:nvSpPr>
          <p:cNvPr id="92" name="Google Shape;193;p7">
            <a:extLst>
              <a:ext uri="{FF2B5EF4-FFF2-40B4-BE49-F238E27FC236}">
                <a16:creationId xmlns:a16="http://schemas.microsoft.com/office/drawing/2014/main" id="{E4E40B30-D8DE-6799-1D8A-47E9E2EAFDC8}"/>
              </a:ext>
            </a:extLst>
          </p:cNvPr>
          <p:cNvSpPr txBox="1"/>
          <p:nvPr/>
        </p:nvSpPr>
        <p:spPr>
          <a:xfrm>
            <a:off x="5822060" y="3527501"/>
            <a:ext cx="1265302"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b="1">
                <a:solidFill>
                  <a:schemeClr val="dk1"/>
                </a:solidFill>
                <a:latin typeface="Verdana"/>
                <a:ea typeface="Verdana"/>
                <a:cs typeface="Verdana"/>
                <a:sym typeface="Verdana"/>
              </a:rPr>
              <a:t>Internet</a:t>
            </a:r>
            <a:endParaRPr sz="1800" b="1">
              <a:solidFill>
                <a:schemeClr val="dk1"/>
              </a:solidFill>
              <a:latin typeface="Verdana"/>
              <a:ea typeface="Verdana"/>
              <a:cs typeface="Verdana"/>
              <a:sym typeface="Verdana"/>
            </a:endParaRPr>
          </a:p>
        </p:txBody>
      </p:sp>
      <p:grpSp>
        <p:nvGrpSpPr>
          <p:cNvPr id="93" name="Google Shape;194;p7">
            <a:extLst>
              <a:ext uri="{FF2B5EF4-FFF2-40B4-BE49-F238E27FC236}">
                <a16:creationId xmlns:a16="http://schemas.microsoft.com/office/drawing/2014/main" id="{74FC471B-EFAC-34AE-A4E3-E12F101DA156}"/>
              </a:ext>
            </a:extLst>
          </p:cNvPr>
          <p:cNvGrpSpPr/>
          <p:nvPr/>
        </p:nvGrpSpPr>
        <p:grpSpPr>
          <a:xfrm>
            <a:off x="2799588" y="3892297"/>
            <a:ext cx="687324" cy="112774"/>
            <a:chOff x="2799588" y="3892297"/>
            <a:chExt cx="687324" cy="112774"/>
          </a:xfrm>
        </p:grpSpPr>
        <p:sp>
          <p:nvSpPr>
            <p:cNvPr id="94" name="Google Shape;195;p7">
              <a:extLst>
                <a:ext uri="{FF2B5EF4-FFF2-40B4-BE49-F238E27FC236}">
                  <a16:creationId xmlns:a16="http://schemas.microsoft.com/office/drawing/2014/main" id="{029003CF-4BAB-681D-D89C-26E739AF0054}"/>
                </a:ext>
              </a:extLst>
            </p:cNvPr>
            <p:cNvSpPr/>
            <p:nvPr/>
          </p:nvSpPr>
          <p:spPr>
            <a:xfrm>
              <a:off x="2799588" y="3892297"/>
              <a:ext cx="687324" cy="112774"/>
            </a:xfrm>
            <a:prstGeom prst="rect">
              <a:avLst/>
            </a:prstGeom>
            <a:blipFill rotWithShape="1">
              <a:blip r:embed="rId2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5" name="Google Shape;196;p7">
              <a:extLst>
                <a:ext uri="{FF2B5EF4-FFF2-40B4-BE49-F238E27FC236}">
                  <a16:creationId xmlns:a16="http://schemas.microsoft.com/office/drawing/2014/main" id="{DEE48E97-A741-19CB-7F78-006E251897DE}"/>
                </a:ext>
              </a:extLst>
            </p:cNvPr>
            <p:cNvSpPr/>
            <p:nvPr/>
          </p:nvSpPr>
          <p:spPr>
            <a:xfrm>
              <a:off x="2858262" y="3928110"/>
              <a:ext cx="571500" cy="1270"/>
            </a:xfrm>
            <a:custGeom>
              <a:avLst/>
              <a:gdLst/>
              <a:ahLst/>
              <a:cxnLst/>
              <a:rect l="l" t="t" r="r" b="b"/>
              <a:pathLst>
                <a:path w="571500" h="1270" extrusionOk="0">
                  <a:moveTo>
                    <a:pt x="0" y="0"/>
                  </a:moveTo>
                  <a:lnTo>
                    <a:pt x="571500" y="1269"/>
                  </a:lnTo>
                </a:path>
              </a:pathLst>
            </a:custGeom>
            <a:noFill/>
            <a:ln w="259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96" name="Google Shape;197;p7">
            <a:extLst>
              <a:ext uri="{FF2B5EF4-FFF2-40B4-BE49-F238E27FC236}">
                <a16:creationId xmlns:a16="http://schemas.microsoft.com/office/drawing/2014/main" id="{6276DC9E-83B6-3E2B-85B8-C7E934BF750E}"/>
              </a:ext>
            </a:extLst>
          </p:cNvPr>
          <p:cNvSpPr txBox="1">
            <a:spLocks/>
          </p:cNvSpPr>
          <p:nvPr/>
        </p:nvSpPr>
        <p:spPr>
          <a:xfrm>
            <a:off x="11070335" y="6430643"/>
            <a:ext cx="228600" cy="203200"/>
          </a:xfrm>
          <a:prstGeom prst="rect">
            <a:avLst/>
          </a:prstGeom>
          <a:noFill/>
          <a:ln>
            <a:noFill/>
          </a:ln>
        </p:spPr>
        <p:txBody>
          <a:bodyPr spcFirstLastPara="1" wrap="square" lIns="0" tIns="3800" rIns="0" bIns="0" anchor="t" anchorCtr="0">
            <a:sp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38100" algn="l"/>
            <a:fld id="{00000000-1234-1234-1234-123412341234}" type="slidenum">
              <a:rPr lang="fr-FR" smtClean="0"/>
              <a:pPr marL="38100" algn="l"/>
              <a:t>11</a:t>
            </a:fld>
            <a:endParaRPr lang="fr-FR"/>
          </a:p>
        </p:txBody>
      </p:sp>
      <p:pic>
        <p:nvPicPr>
          <p:cNvPr id="101" name="Google Shape;89;g25b1bb62912_0_14" descr="Image 10">
            <a:extLst>
              <a:ext uri="{FF2B5EF4-FFF2-40B4-BE49-F238E27FC236}">
                <a16:creationId xmlns:a16="http://schemas.microsoft.com/office/drawing/2014/main" id="{E264DF1B-1607-4DCD-40AE-B30F441A5AB8}"/>
              </a:ext>
            </a:extLst>
          </p:cNvPr>
          <p:cNvPicPr preferRelativeResize="0"/>
          <p:nvPr/>
        </p:nvPicPr>
        <p:blipFill rotWithShape="1">
          <a:blip r:embed="rId28">
            <a:alphaModFix/>
          </a:blip>
          <a:srcRect/>
          <a:stretch/>
        </p:blipFill>
        <p:spPr>
          <a:xfrm>
            <a:off x="831813" y="359910"/>
            <a:ext cx="585321" cy="579782"/>
          </a:xfrm>
          <a:prstGeom prst="rect">
            <a:avLst/>
          </a:prstGeom>
          <a:noFill/>
          <a:ln>
            <a:noFill/>
          </a:ln>
        </p:spPr>
      </p:pic>
    </p:spTree>
    <p:extLst>
      <p:ext uri="{BB962C8B-B14F-4D97-AF65-F5344CB8AC3E}">
        <p14:creationId xmlns:p14="http://schemas.microsoft.com/office/powerpoint/2010/main" val="3804762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g25b1bb62912_0_180"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186" name="Google Shape;186;g25b1bb62912_0_180"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187" name="Google Shape;187;g25b1bb62912_0_180"/>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12</a:t>
            </a:fld>
            <a:endParaRPr/>
          </a:p>
        </p:txBody>
      </p:sp>
      <p:pic>
        <p:nvPicPr>
          <p:cNvPr id="188" name="Google Shape;188;g25b1bb62912_0_180" descr="Picture 3"/>
          <p:cNvPicPr preferRelativeResize="0"/>
          <p:nvPr/>
        </p:nvPicPr>
        <p:blipFill rotWithShape="1">
          <a:blip r:embed="rId5">
            <a:alphaModFix/>
          </a:blip>
          <a:srcRect/>
          <a:stretch/>
        </p:blipFill>
        <p:spPr>
          <a:xfrm flipH="1">
            <a:off x="9102766" y="-205530"/>
            <a:ext cx="3978841" cy="2344124"/>
          </a:xfrm>
          <a:prstGeom prst="rect">
            <a:avLst/>
          </a:prstGeom>
          <a:noFill/>
          <a:ln>
            <a:noFill/>
          </a:ln>
        </p:spPr>
      </p:pic>
      <p:pic>
        <p:nvPicPr>
          <p:cNvPr id="190" name="Google Shape;190;g25b1bb62912_0_180"/>
          <p:cNvPicPr preferRelativeResize="0"/>
          <p:nvPr/>
        </p:nvPicPr>
        <p:blipFill rotWithShape="1">
          <a:blip r:embed="rId6">
            <a:alphaModFix/>
          </a:blip>
          <a:srcRect t="2731" b="2741"/>
          <a:stretch/>
        </p:blipFill>
        <p:spPr>
          <a:xfrm>
            <a:off x="5747674" y="2873625"/>
            <a:ext cx="5434300" cy="2957650"/>
          </a:xfrm>
          <a:prstGeom prst="rect">
            <a:avLst/>
          </a:prstGeom>
          <a:noFill/>
          <a:ln>
            <a:noFill/>
          </a:ln>
        </p:spPr>
      </p:pic>
      <p:sp>
        <p:nvSpPr>
          <p:cNvPr id="191" name="Google Shape;191;g25b1bb62912_0_180"/>
          <p:cNvSpPr txBox="1"/>
          <p:nvPr/>
        </p:nvSpPr>
        <p:spPr>
          <a:xfrm>
            <a:off x="921425" y="1382125"/>
            <a:ext cx="80163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a:latin typeface="Times New Roman"/>
                <a:ea typeface="Times New Roman"/>
                <a:cs typeface="Times New Roman"/>
                <a:sym typeface="Times New Roman"/>
              </a:rPr>
              <a:t>Le terme de paradigme est employé pour exprimer la façon dont un système a été conçu et pensé dans ses grandes lignes.</a:t>
            </a:r>
            <a:endParaRPr>
              <a:latin typeface="Times New Roman"/>
              <a:ea typeface="Times New Roman"/>
              <a:cs typeface="Times New Roman"/>
              <a:sym typeface="Times New Roman"/>
            </a:endParaRPr>
          </a:p>
        </p:txBody>
      </p:sp>
      <p:sp>
        <p:nvSpPr>
          <p:cNvPr id="192" name="Google Shape;192;g25b1bb62912_0_180"/>
          <p:cNvSpPr txBox="1"/>
          <p:nvPr/>
        </p:nvSpPr>
        <p:spPr>
          <a:xfrm>
            <a:off x="2198250" y="2579975"/>
            <a:ext cx="38700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a:latin typeface="Times New Roman"/>
                <a:ea typeface="Times New Roman"/>
                <a:cs typeface="Times New Roman"/>
                <a:sym typeface="Times New Roman"/>
              </a:rPr>
              <a:t>Objectif:</a:t>
            </a:r>
            <a:endParaRPr sz="2000" b="1">
              <a:latin typeface="Times New Roman"/>
              <a:ea typeface="Times New Roman"/>
              <a:cs typeface="Times New Roman"/>
              <a:sym typeface="Times New Roman"/>
            </a:endParaRPr>
          </a:p>
          <a:p>
            <a:pPr marL="0" lvl="0" indent="0" algn="l" rtl="0">
              <a:spcBef>
                <a:spcPts val="0"/>
              </a:spcBef>
              <a:spcAft>
                <a:spcPts val="0"/>
              </a:spcAft>
              <a:buNone/>
            </a:pPr>
            <a:r>
              <a:rPr lang="fr-FR" sz="2000">
                <a:latin typeface="Times New Roman"/>
                <a:ea typeface="Times New Roman"/>
                <a:cs typeface="Times New Roman"/>
                <a:sym typeface="Times New Roman"/>
              </a:rPr>
              <a:t>Développer une application de facturation</a:t>
            </a:r>
            <a:endParaRPr sz="2000">
              <a:latin typeface="Times New Roman"/>
              <a:ea typeface="Times New Roman"/>
              <a:cs typeface="Times New Roman"/>
              <a:sym typeface="Times New Roman"/>
            </a:endParaRPr>
          </a:p>
        </p:txBody>
      </p:sp>
      <p:sp>
        <p:nvSpPr>
          <p:cNvPr id="193" name="Google Shape;193;g25b1bb62912_0_180"/>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Paradigmes des architectures logicielles</a:t>
            </a:r>
            <a:endParaRPr sz="2700" b="1" dirty="0">
              <a:solidFill>
                <a:schemeClr val="dk1"/>
              </a:solidFill>
              <a:latin typeface="Times New Roman"/>
              <a:ea typeface="Times New Roman"/>
              <a:cs typeface="Times New Roman"/>
              <a:sym typeface="Times New Roman"/>
            </a:endParaRPr>
          </a:p>
        </p:txBody>
      </p:sp>
      <p:pic>
        <p:nvPicPr>
          <p:cNvPr id="194" name="Google Shape;194;g25b1bb62912_0_180"/>
          <p:cNvPicPr preferRelativeResize="0"/>
          <p:nvPr/>
        </p:nvPicPr>
        <p:blipFill>
          <a:blip r:embed="rId7">
            <a:alphaModFix/>
          </a:blip>
          <a:stretch>
            <a:fillRect/>
          </a:stretch>
        </p:blipFill>
        <p:spPr>
          <a:xfrm>
            <a:off x="1032575" y="2550600"/>
            <a:ext cx="1047200" cy="1047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g25b1bb62912_0_194"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200" name="Google Shape;200;g25b1bb62912_0_194"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201" name="Google Shape;201;g25b1bb62912_0_194"/>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13</a:t>
            </a:fld>
            <a:endParaRPr/>
          </a:p>
        </p:txBody>
      </p:sp>
      <p:pic>
        <p:nvPicPr>
          <p:cNvPr id="202" name="Google Shape;202;g25b1bb62912_0_194" descr="Picture 3"/>
          <p:cNvPicPr preferRelativeResize="0"/>
          <p:nvPr/>
        </p:nvPicPr>
        <p:blipFill rotWithShape="1">
          <a:blip r:embed="rId5">
            <a:alphaModFix/>
          </a:blip>
          <a:srcRect/>
          <a:stretch/>
        </p:blipFill>
        <p:spPr>
          <a:xfrm flipH="1">
            <a:off x="9102766" y="-205530"/>
            <a:ext cx="3978841" cy="2344124"/>
          </a:xfrm>
          <a:prstGeom prst="rect">
            <a:avLst/>
          </a:prstGeom>
          <a:noFill/>
          <a:ln>
            <a:noFill/>
          </a:ln>
        </p:spPr>
      </p:pic>
      <p:sp>
        <p:nvSpPr>
          <p:cNvPr id="204" name="Google Shape;204;g25b1bb62912_0_194"/>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Paradigmes des architectures logicielles</a:t>
            </a:r>
            <a:endParaRPr sz="2700" b="1" dirty="0">
              <a:solidFill>
                <a:schemeClr val="dk1"/>
              </a:solidFill>
              <a:latin typeface="Times New Roman"/>
              <a:ea typeface="Times New Roman"/>
              <a:cs typeface="Times New Roman"/>
              <a:sym typeface="Times New Roman"/>
            </a:endParaRPr>
          </a:p>
        </p:txBody>
      </p:sp>
      <p:sp>
        <p:nvSpPr>
          <p:cNvPr id="205" name="Google Shape;205;g25b1bb62912_0_194"/>
          <p:cNvSpPr txBox="1"/>
          <p:nvPr/>
        </p:nvSpPr>
        <p:spPr>
          <a:xfrm>
            <a:off x="1026725" y="1169875"/>
            <a:ext cx="7897800" cy="11082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Les révolutions informatiques coïncident généralement avec un changement de paradigme.</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Niveau d’abstraction grandissant avec l’évolution des paradigmes</a:t>
            </a:r>
            <a:endParaRPr/>
          </a:p>
        </p:txBody>
      </p:sp>
      <p:pic>
        <p:nvPicPr>
          <p:cNvPr id="206" name="Google Shape;206;g25b1bb62912_0_194"/>
          <p:cNvPicPr preferRelativeResize="0"/>
          <p:nvPr/>
        </p:nvPicPr>
        <p:blipFill>
          <a:blip r:embed="rId6">
            <a:alphaModFix/>
          </a:blip>
          <a:stretch>
            <a:fillRect/>
          </a:stretch>
        </p:blipFill>
        <p:spPr>
          <a:xfrm>
            <a:off x="1235325" y="2635163"/>
            <a:ext cx="10118500" cy="341205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g25b1bb62912_0_211"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212" name="Google Shape;212;g25b1bb62912_0_211"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213" name="Google Shape;213;g25b1bb62912_0_211"/>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14</a:t>
            </a:fld>
            <a:endParaRPr/>
          </a:p>
        </p:txBody>
      </p:sp>
      <p:pic>
        <p:nvPicPr>
          <p:cNvPr id="214" name="Google Shape;214;g25b1bb62912_0_211" descr="Picture 3"/>
          <p:cNvPicPr preferRelativeResize="0"/>
          <p:nvPr/>
        </p:nvPicPr>
        <p:blipFill rotWithShape="1">
          <a:blip r:embed="rId5">
            <a:alphaModFix/>
          </a:blip>
          <a:srcRect/>
          <a:stretch/>
        </p:blipFill>
        <p:spPr>
          <a:xfrm flipH="1">
            <a:off x="9102766" y="-205530"/>
            <a:ext cx="3978841" cy="2344124"/>
          </a:xfrm>
          <a:prstGeom prst="rect">
            <a:avLst/>
          </a:prstGeom>
          <a:noFill/>
          <a:ln>
            <a:noFill/>
          </a:ln>
        </p:spPr>
      </p:pic>
      <p:sp>
        <p:nvSpPr>
          <p:cNvPr id="216" name="Google Shape;216;g25b1bb62912_0_211"/>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Paradigmes des architectures logicielles</a:t>
            </a:r>
            <a:endParaRPr sz="2700" b="1" dirty="0">
              <a:solidFill>
                <a:schemeClr val="dk1"/>
              </a:solidFill>
              <a:latin typeface="Times New Roman"/>
              <a:ea typeface="Times New Roman"/>
              <a:cs typeface="Times New Roman"/>
              <a:sym typeface="Times New Roman"/>
            </a:endParaRPr>
          </a:p>
        </p:txBody>
      </p:sp>
      <p:sp>
        <p:nvSpPr>
          <p:cNvPr id="217" name="Google Shape;217;g25b1bb62912_0_211"/>
          <p:cNvSpPr txBox="1"/>
          <p:nvPr/>
        </p:nvSpPr>
        <p:spPr>
          <a:xfrm>
            <a:off x="2553625" y="1108400"/>
            <a:ext cx="47913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700">
                <a:solidFill>
                  <a:schemeClr val="dk1"/>
                </a:solidFill>
                <a:latin typeface="Times New Roman"/>
                <a:ea typeface="Times New Roman"/>
                <a:cs typeface="Times New Roman"/>
                <a:sym typeface="Times New Roman"/>
              </a:rPr>
              <a:t>Paradigme procédural</a:t>
            </a:r>
            <a:endParaRPr sz="2700">
              <a:solidFill>
                <a:schemeClr val="dk1"/>
              </a:solidFill>
              <a:latin typeface="Times New Roman"/>
              <a:ea typeface="Times New Roman"/>
              <a:cs typeface="Times New Roman"/>
              <a:sym typeface="Times New Roman"/>
            </a:endParaRPr>
          </a:p>
        </p:txBody>
      </p:sp>
      <p:sp>
        <p:nvSpPr>
          <p:cNvPr id="218" name="Google Shape;218;g25b1bb62912_0_211"/>
          <p:cNvSpPr txBox="1"/>
          <p:nvPr/>
        </p:nvSpPr>
        <p:spPr>
          <a:xfrm>
            <a:off x="1022225" y="1803350"/>
            <a:ext cx="9087000" cy="14160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le code est organisé en procédures (ou fonctions) qui contiennent des séquences d'instructions. Ces procédures sont appelées successivement pour accomplir une tâche spécifique.</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Un Système informatique </a:t>
            </a:r>
            <a:r>
              <a:rPr lang="fr-FR" sz="2000" b="1">
                <a:latin typeface="Times New Roman"/>
                <a:ea typeface="Times New Roman"/>
                <a:cs typeface="Times New Roman"/>
                <a:sym typeface="Times New Roman"/>
              </a:rPr>
              <a:t>désordonné</a:t>
            </a:r>
            <a:endParaRPr sz="1200" b="1">
              <a:solidFill>
                <a:srgbClr val="374151"/>
              </a:solidFill>
              <a:highlight>
                <a:srgbClr val="F7F7F8"/>
              </a:highlight>
              <a:latin typeface="Roboto"/>
              <a:ea typeface="Roboto"/>
              <a:cs typeface="Roboto"/>
              <a:sym typeface="Roboto"/>
            </a:endParaRPr>
          </a:p>
        </p:txBody>
      </p:sp>
      <p:sp>
        <p:nvSpPr>
          <p:cNvPr id="219" name="Google Shape;219;g25b1bb62912_0_211"/>
          <p:cNvSpPr txBox="1"/>
          <p:nvPr/>
        </p:nvSpPr>
        <p:spPr>
          <a:xfrm>
            <a:off x="1105725" y="3429000"/>
            <a:ext cx="67395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a:latin typeface="Times New Roman"/>
                <a:ea typeface="Times New Roman"/>
                <a:cs typeface="Times New Roman"/>
                <a:sym typeface="Times New Roman"/>
              </a:rPr>
              <a:t>Limites :</a:t>
            </a:r>
            <a:endParaRPr sz="2000" b="1">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Tend à générer du code "Spaghetti"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Maintenance complexe</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Modularité et abstraction absente</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Réutilisation ardue</a:t>
            </a:r>
            <a:endParaRPr/>
          </a:p>
        </p:txBody>
      </p:sp>
      <p:pic>
        <p:nvPicPr>
          <p:cNvPr id="220" name="Google Shape;220;g25b1bb62912_0_211"/>
          <p:cNvPicPr preferRelativeResize="0"/>
          <p:nvPr/>
        </p:nvPicPr>
        <p:blipFill>
          <a:blip r:embed="rId6">
            <a:alphaModFix/>
          </a:blip>
          <a:stretch>
            <a:fillRect/>
          </a:stretch>
        </p:blipFill>
        <p:spPr>
          <a:xfrm>
            <a:off x="6262100" y="3152600"/>
            <a:ext cx="3197725" cy="2649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g25b1bb62912_0_225"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226" name="Google Shape;226;g25b1bb62912_0_225"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227" name="Google Shape;227;g25b1bb62912_0_22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15</a:t>
            </a:fld>
            <a:endParaRPr/>
          </a:p>
        </p:txBody>
      </p:sp>
      <p:pic>
        <p:nvPicPr>
          <p:cNvPr id="228" name="Google Shape;228;g25b1bb62912_0_225" descr="Picture 3"/>
          <p:cNvPicPr preferRelativeResize="0"/>
          <p:nvPr/>
        </p:nvPicPr>
        <p:blipFill rotWithShape="1">
          <a:blip r:embed="rId5">
            <a:alphaModFix/>
          </a:blip>
          <a:srcRect/>
          <a:stretch/>
        </p:blipFill>
        <p:spPr>
          <a:xfrm flipH="1">
            <a:off x="9102766" y="-205530"/>
            <a:ext cx="3978841" cy="2344124"/>
          </a:xfrm>
          <a:prstGeom prst="rect">
            <a:avLst/>
          </a:prstGeom>
          <a:noFill/>
          <a:ln>
            <a:noFill/>
          </a:ln>
        </p:spPr>
      </p:pic>
      <p:sp>
        <p:nvSpPr>
          <p:cNvPr id="230" name="Google Shape;230;g25b1bb62912_0_225"/>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Paradigmes des architectures logicielles</a:t>
            </a:r>
            <a:endParaRPr sz="2700" b="1" dirty="0">
              <a:solidFill>
                <a:schemeClr val="dk1"/>
              </a:solidFill>
              <a:latin typeface="Times New Roman"/>
              <a:ea typeface="Times New Roman"/>
              <a:cs typeface="Times New Roman"/>
              <a:sym typeface="Times New Roman"/>
            </a:endParaRPr>
          </a:p>
        </p:txBody>
      </p:sp>
      <p:sp>
        <p:nvSpPr>
          <p:cNvPr id="231" name="Google Shape;231;g25b1bb62912_0_225"/>
          <p:cNvSpPr txBox="1"/>
          <p:nvPr/>
        </p:nvSpPr>
        <p:spPr>
          <a:xfrm>
            <a:off x="2553625" y="1108400"/>
            <a:ext cx="47913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700">
                <a:solidFill>
                  <a:schemeClr val="dk1"/>
                </a:solidFill>
                <a:latin typeface="Times New Roman"/>
                <a:ea typeface="Times New Roman"/>
                <a:cs typeface="Times New Roman"/>
                <a:sym typeface="Times New Roman"/>
              </a:rPr>
              <a:t>Paradigme objet</a:t>
            </a:r>
            <a:endParaRPr sz="2700">
              <a:solidFill>
                <a:schemeClr val="dk1"/>
              </a:solidFill>
              <a:latin typeface="Times New Roman"/>
              <a:ea typeface="Times New Roman"/>
              <a:cs typeface="Times New Roman"/>
              <a:sym typeface="Times New Roman"/>
            </a:endParaRPr>
          </a:p>
        </p:txBody>
      </p:sp>
      <p:sp>
        <p:nvSpPr>
          <p:cNvPr id="232" name="Google Shape;232;g25b1bb62912_0_225"/>
          <p:cNvSpPr txBox="1"/>
          <p:nvPr/>
        </p:nvSpPr>
        <p:spPr>
          <a:xfrm>
            <a:off x="737150" y="1869175"/>
            <a:ext cx="8365500" cy="1723800"/>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SzPts val="2000"/>
              <a:buFont typeface="Times New Roman"/>
              <a:buChar char="❏"/>
            </a:pPr>
            <a:r>
              <a:rPr lang="fr-FR" sz="2000">
                <a:latin typeface="Times New Roman"/>
                <a:ea typeface="Times New Roman"/>
                <a:cs typeface="Times New Roman"/>
                <a:sym typeface="Times New Roman"/>
              </a:rPr>
              <a:t>L'idée est de concevoir les programmes non plus comme des lignes de codes qui s'exécutent séquentiellement, mais comme des objets qui dialoguent</a:t>
            </a:r>
            <a:endParaRPr sz="2000">
              <a:latin typeface="Times New Roman"/>
              <a:ea typeface="Times New Roman"/>
              <a:cs typeface="Times New Roman"/>
              <a:sym typeface="Times New Roman"/>
            </a:endParaRPr>
          </a:p>
          <a:p>
            <a:pPr marL="457200" lvl="0" indent="-355600" algn="just" rtl="0">
              <a:spcBef>
                <a:spcPts val="0"/>
              </a:spcBef>
              <a:spcAft>
                <a:spcPts val="0"/>
              </a:spcAft>
              <a:buSzPts val="2000"/>
              <a:buFont typeface="Times New Roman"/>
              <a:buChar char="❏"/>
            </a:pPr>
            <a:r>
              <a:rPr lang="fr-FR" sz="2000">
                <a:latin typeface="Times New Roman"/>
                <a:ea typeface="Times New Roman"/>
                <a:cs typeface="Times New Roman"/>
                <a:sym typeface="Times New Roman"/>
              </a:rPr>
              <a:t>Ses principes incluent l'abstraction encapsulation,de données, polymorphisme et héritage.</a:t>
            </a:r>
            <a:endParaRPr/>
          </a:p>
        </p:txBody>
      </p:sp>
      <p:sp>
        <p:nvSpPr>
          <p:cNvPr id="233" name="Google Shape;233;g25b1bb62912_0_225"/>
          <p:cNvSpPr txBox="1"/>
          <p:nvPr/>
        </p:nvSpPr>
        <p:spPr>
          <a:xfrm>
            <a:off x="895100" y="3981850"/>
            <a:ext cx="67395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a:latin typeface="Times New Roman"/>
                <a:ea typeface="Times New Roman"/>
                <a:cs typeface="Times New Roman"/>
                <a:sym typeface="Times New Roman"/>
              </a:rPr>
              <a:t>Limites :</a:t>
            </a:r>
            <a:endParaRPr sz="2000" b="1">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Réutilisation difficile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Couplage fort </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Problème de maintenance </a:t>
            </a:r>
            <a:endParaRPr>
              <a:solidFill>
                <a:schemeClr val="dk1"/>
              </a:solidFill>
            </a:endParaRPr>
          </a:p>
        </p:txBody>
      </p:sp>
      <p:pic>
        <p:nvPicPr>
          <p:cNvPr id="234" name="Google Shape;234;g25b1bb62912_0_225"/>
          <p:cNvPicPr preferRelativeResize="0"/>
          <p:nvPr/>
        </p:nvPicPr>
        <p:blipFill>
          <a:blip r:embed="rId6">
            <a:alphaModFix/>
          </a:blip>
          <a:stretch>
            <a:fillRect/>
          </a:stretch>
        </p:blipFill>
        <p:spPr>
          <a:xfrm>
            <a:off x="5327500" y="3271050"/>
            <a:ext cx="3197725" cy="2649200"/>
          </a:xfrm>
          <a:prstGeom prst="rect">
            <a:avLst/>
          </a:prstGeom>
          <a:noFill/>
          <a:ln>
            <a:noFill/>
          </a:ln>
        </p:spPr>
      </p:pic>
      <p:cxnSp>
        <p:nvCxnSpPr>
          <p:cNvPr id="235" name="Google Shape;235;g25b1bb62912_0_225"/>
          <p:cNvCxnSpPr/>
          <p:nvPr/>
        </p:nvCxnSpPr>
        <p:spPr>
          <a:xfrm>
            <a:off x="8258300" y="4515250"/>
            <a:ext cx="1104300" cy="0"/>
          </a:xfrm>
          <a:prstGeom prst="straightConnector1">
            <a:avLst/>
          </a:prstGeom>
          <a:noFill/>
          <a:ln w="28575" cap="flat" cmpd="sng">
            <a:solidFill>
              <a:schemeClr val="dk1"/>
            </a:solidFill>
            <a:prstDash val="solid"/>
            <a:round/>
            <a:headEnd type="none" w="med" len="med"/>
            <a:tailEnd type="triangle" w="med" len="med"/>
          </a:ln>
        </p:spPr>
      </p:cxnSp>
      <p:sp>
        <p:nvSpPr>
          <p:cNvPr id="236" name="Google Shape;236;g25b1bb62912_0_225"/>
          <p:cNvSpPr/>
          <p:nvPr/>
        </p:nvSpPr>
        <p:spPr>
          <a:xfrm>
            <a:off x="10130750" y="3604300"/>
            <a:ext cx="1421700" cy="355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g25b1bb62912_0_225"/>
          <p:cNvSpPr/>
          <p:nvPr/>
        </p:nvSpPr>
        <p:spPr>
          <a:xfrm>
            <a:off x="11012000" y="4871400"/>
            <a:ext cx="1421700" cy="50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g25b1bb62912_0_225"/>
          <p:cNvSpPr/>
          <p:nvPr/>
        </p:nvSpPr>
        <p:spPr>
          <a:xfrm>
            <a:off x="9334725" y="4897750"/>
            <a:ext cx="1421700" cy="500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9" name="Google Shape;239;g25b1bb62912_0_225"/>
          <p:cNvCxnSpPr>
            <a:stCxn id="238" idx="0"/>
          </p:cNvCxnSpPr>
          <p:nvPr/>
        </p:nvCxnSpPr>
        <p:spPr>
          <a:xfrm rot="10800000">
            <a:off x="10039575" y="4542550"/>
            <a:ext cx="6000" cy="355200"/>
          </a:xfrm>
          <a:prstGeom prst="straightConnector1">
            <a:avLst/>
          </a:prstGeom>
          <a:noFill/>
          <a:ln w="38100" cap="flat" cmpd="sng">
            <a:solidFill>
              <a:schemeClr val="dk1"/>
            </a:solidFill>
            <a:prstDash val="solid"/>
            <a:round/>
            <a:headEnd type="none" w="med" len="med"/>
            <a:tailEnd type="none" w="med" len="med"/>
          </a:ln>
        </p:spPr>
      </p:cxnSp>
      <p:cxnSp>
        <p:nvCxnSpPr>
          <p:cNvPr id="240" name="Google Shape;240;g25b1bb62912_0_225"/>
          <p:cNvCxnSpPr/>
          <p:nvPr/>
        </p:nvCxnSpPr>
        <p:spPr>
          <a:xfrm rot="10800000" flipH="1">
            <a:off x="11645775" y="4524850"/>
            <a:ext cx="2100" cy="372900"/>
          </a:xfrm>
          <a:prstGeom prst="straightConnector1">
            <a:avLst/>
          </a:prstGeom>
          <a:noFill/>
          <a:ln w="38100" cap="flat" cmpd="sng">
            <a:solidFill>
              <a:schemeClr val="dk1"/>
            </a:solidFill>
            <a:prstDash val="solid"/>
            <a:round/>
            <a:headEnd type="none" w="med" len="med"/>
            <a:tailEnd type="none" w="med" len="med"/>
          </a:ln>
        </p:spPr>
      </p:cxnSp>
      <p:cxnSp>
        <p:nvCxnSpPr>
          <p:cNvPr id="241" name="Google Shape;241;g25b1bb62912_0_225"/>
          <p:cNvCxnSpPr/>
          <p:nvPr/>
        </p:nvCxnSpPr>
        <p:spPr>
          <a:xfrm rot="10800000" flipH="1">
            <a:off x="10028600" y="4506400"/>
            <a:ext cx="1626000" cy="17700"/>
          </a:xfrm>
          <a:prstGeom prst="straightConnector1">
            <a:avLst/>
          </a:prstGeom>
          <a:noFill/>
          <a:ln w="38100" cap="flat" cmpd="sng">
            <a:solidFill>
              <a:schemeClr val="dk1"/>
            </a:solidFill>
            <a:prstDash val="solid"/>
            <a:round/>
            <a:headEnd type="none" w="med" len="med"/>
            <a:tailEnd type="none" w="med" len="med"/>
          </a:ln>
        </p:spPr>
      </p:cxnSp>
      <p:cxnSp>
        <p:nvCxnSpPr>
          <p:cNvPr id="242" name="Google Shape;242;g25b1bb62912_0_225"/>
          <p:cNvCxnSpPr>
            <a:endCxn id="236" idx="2"/>
          </p:cNvCxnSpPr>
          <p:nvPr/>
        </p:nvCxnSpPr>
        <p:spPr>
          <a:xfrm rot="10800000" flipH="1">
            <a:off x="10835000" y="3959500"/>
            <a:ext cx="6600" cy="565500"/>
          </a:xfrm>
          <a:prstGeom prst="straightConnector1">
            <a:avLst/>
          </a:prstGeom>
          <a:noFill/>
          <a:ln w="19050" cap="flat" cmpd="sng">
            <a:solidFill>
              <a:schemeClr val="dk1"/>
            </a:solidFill>
            <a:prstDash val="solid"/>
            <a:round/>
            <a:headEnd type="none" w="med" len="me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g25b1bb62912_0_235"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248" name="Google Shape;248;g25b1bb62912_0_235"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249" name="Google Shape;249;g25b1bb62912_0_23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16</a:t>
            </a:fld>
            <a:endParaRPr/>
          </a:p>
        </p:txBody>
      </p:sp>
      <p:pic>
        <p:nvPicPr>
          <p:cNvPr id="250" name="Google Shape;250;g25b1bb62912_0_235" descr="Picture 3"/>
          <p:cNvPicPr preferRelativeResize="0"/>
          <p:nvPr/>
        </p:nvPicPr>
        <p:blipFill rotWithShape="1">
          <a:blip r:embed="rId5">
            <a:alphaModFix/>
          </a:blip>
          <a:srcRect/>
          <a:stretch/>
        </p:blipFill>
        <p:spPr>
          <a:xfrm flipH="1">
            <a:off x="9102766" y="-205530"/>
            <a:ext cx="3978841" cy="2344124"/>
          </a:xfrm>
          <a:prstGeom prst="rect">
            <a:avLst/>
          </a:prstGeom>
          <a:noFill/>
          <a:ln>
            <a:noFill/>
          </a:ln>
        </p:spPr>
      </p:pic>
      <p:sp>
        <p:nvSpPr>
          <p:cNvPr id="252" name="Google Shape;252;g25b1bb62912_0_235"/>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Paradigmes des architectures logicielles</a:t>
            </a:r>
            <a:endParaRPr sz="2700" b="1" dirty="0">
              <a:solidFill>
                <a:schemeClr val="dk1"/>
              </a:solidFill>
              <a:latin typeface="Times New Roman"/>
              <a:ea typeface="Times New Roman"/>
              <a:cs typeface="Times New Roman"/>
              <a:sym typeface="Times New Roman"/>
            </a:endParaRPr>
          </a:p>
        </p:txBody>
      </p:sp>
      <p:sp>
        <p:nvSpPr>
          <p:cNvPr id="253" name="Google Shape;253;g25b1bb62912_0_235"/>
          <p:cNvSpPr txBox="1"/>
          <p:nvPr/>
        </p:nvSpPr>
        <p:spPr>
          <a:xfrm>
            <a:off x="2553625" y="1108400"/>
            <a:ext cx="57786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fr-FR" sz="2700">
                <a:solidFill>
                  <a:schemeClr val="dk1"/>
                </a:solidFill>
                <a:latin typeface="Times New Roman"/>
                <a:ea typeface="Times New Roman"/>
                <a:cs typeface="Times New Roman"/>
                <a:sym typeface="Times New Roman"/>
              </a:rPr>
              <a:t>Paradigme composant</a:t>
            </a:r>
            <a:endParaRPr sz="2700">
              <a:solidFill>
                <a:schemeClr val="dk1"/>
              </a:solidFill>
              <a:latin typeface="Times New Roman"/>
              <a:ea typeface="Times New Roman"/>
              <a:cs typeface="Times New Roman"/>
              <a:sym typeface="Times New Roman"/>
            </a:endParaRPr>
          </a:p>
          <a:p>
            <a:pPr marL="0" lvl="0" indent="0" algn="l" rtl="0">
              <a:spcBef>
                <a:spcPts val="0"/>
              </a:spcBef>
              <a:spcAft>
                <a:spcPts val="0"/>
              </a:spcAft>
              <a:buNone/>
            </a:pPr>
            <a:endParaRPr sz="2700">
              <a:solidFill>
                <a:schemeClr val="dk1"/>
              </a:solidFill>
              <a:latin typeface="Times New Roman"/>
              <a:ea typeface="Times New Roman"/>
              <a:cs typeface="Times New Roman"/>
              <a:sym typeface="Times New Roman"/>
            </a:endParaRPr>
          </a:p>
        </p:txBody>
      </p:sp>
      <p:sp>
        <p:nvSpPr>
          <p:cNvPr id="254" name="Google Shape;254;g25b1bb62912_0_235"/>
          <p:cNvSpPr txBox="1"/>
          <p:nvPr/>
        </p:nvSpPr>
        <p:spPr>
          <a:xfrm>
            <a:off x="919125" y="1892650"/>
            <a:ext cx="9045900" cy="1416000"/>
          </a:xfrm>
          <a:prstGeom prst="rect">
            <a:avLst/>
          </a:prstGeom>
          <a:noFill/>
          <a:ln>
            <a:noFill/>
          </a:ln>
        </p:spPr>
        <p:txBody>
          <a:bodyPr spcFirstLastPara="1" wrap="square" lIns="91425" tIns="91425" rIns="91425" bIns="91425" anchor="t" anchorCtr="0">
            <a:spAutoFit/>
          </a:bodyPr>
          <a:lstStyle/>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Construire une application composée par un ensemble de briques de base configurables et réutilisables.</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Il s'agit d'externaliser le code fonctionnel d'une application afin de le rendre réutilisable dans d'autres applications</a:t>
            </a:r>
            <a:endParaRPr sz="2000">
              <a:latin typeface="Times New Roman"/>
              <a:ea typeface="Times New Roman"/>
              <a:cs typeface="Times New Roman"/>
              <a:sym typeface="Times New Roman"/>
            </a:endParaRPr>
          </a:p>
        </p:txBody>
      </p:sp>
      <p:sp>
        <p:nvSpPr>
          <p:cNvPr id="255" name="Google Shape;255;g25b1bb62912_0_235"/>
          <p:cNvSpPr txBox="1"/>
          <p:nvPr/>
        </p:nvSpPr>
        <p:spPr>
          <a:xfrm>
            <a:off x="1091200" y="3802475"/>
            <a:ext cx="6063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a:latin typeface="Times New Roman"/>
                <a:ea typeface="Times New Roman"/>
                <a:cs typeface="Times New Roman"/>
                <a:sym typeface="Times New Roman"/>
              </a:rPr>
              <a:t>Limites :</a:t>
            </a:r>
            <a:endParaRPr sz="2000" b="1">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Complexité de gestion des dépendances</a:t>
            </a:r>
            <a:endParaRPr sz="200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a:latin typeface="Times New Roman"/>
                <a:ea typeface="Times New Roman"/>
                <a:cs typeface="Times New Roman"/>
                <a:sym typeface="Times New Roman"/>
              </a:rPr>
              <a:t>Interopérabilité entre composants hétérogènes</a:t>
            </a:r>
            <a:endParaRPr/>
          </a:p>
        </p:txBody>
      </p:sp>
      <p:sp>
        <p:nvSpPr>
          <p:cNvPr id="256" name="Google Shape;256;g25b1bb62912_0_235"/>
          <p:cNvSpPr/>
          <p:nvPr/>
        </p:nvSpPr>
        <p:spPr>
          <a:xfrm>
            <a:off x="7772653" y="5175200"/>
            <a:ext cx="1004700" cy="219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g25b1bb62912_0_235"/>
          <p:cNvSpPr/>
          <p:nvPr/>
        </p:nvSpPr>
        <p:spPr>
          <a:xfrm>
            <a:off x="8395462" y="5958117"/>
            <a:ext cx="1004700" cy="309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g25b1bb62912_0_235"/>
          <p:cNvSpPr/>
          <p:nvPr/>
        </p:nvSpPr>
        <p:spPr>
          <a:xfrm>
            <a:off x="7210075" y="5974398"/>
            <a:ext cx="1004700" cy="309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9" name="Google Shape;259;g25b1bb62912_0_235"/>
          <p:cNvCxnSpPr>
            <a:stCxn id="258" idx="0"/>
          </p:cNvCxnSpPr>
          <p:nvPr/>
        </p:nvCxnSpPr>
        <p:spPr>
          <a:xfrm rot="10800000">
            <a:off x="7708225" y="5754798"/>
            <a:ext cx="4200" cy="219600"/>
          </a:xfrm>
          <a:prstGeom prst="straightConnector1">
            <a:avLst/>
          </a:prstGeom>
          <a:noFill/>
          <a:ln w="38100" cap="flat" cmpd="sng">
            <a:solidFill>
              <a:schemeClr val="dk1"/>
            </a:solidFill>
            <a:prstDash val="solid"/>
            <a:round/>
            <a:headEnd type="none" w="med" len="med"/>
            <a:tailEnd type="none" w="med" len="med"/>
          </a:ln>
        </p:spPr>
      </p:cxnSp>
      <p:cxnSp>
        <p:nvCxnSpPr>
          <p:cNvPr id="260" name="Google Shape;260;g25b1bb62912_0_235"/>
          <p:cNvCxnSpPr/>
          <p:nvPr/>
        </p:nvCxnSpPr>
        <p:spPr>
          <a:xfrm rot="10800000" flipH="1">
            <a:off x="8843372" y="5743998"/>
            <a:ext cx="1500" cy="230400"/>
          </a:xfrm>
          <a:prstGeom prst="straightConnector1">
            <a:avLst/>
          </a:prstGeom>
          <a:noFill/>
          <a:ln w="38100" cap="flat" cmpd="sng">
            <a:solidFill>
              <a:schemeClr val="dk1"/>
            </a:solidFill>
            <a:prstDash val="solid"/>
            <a:round/>
            <a:headEnd type="none" w="med" len="med"/>
            <a:tailEnd type="none" w="med" len="med"/>
          </a:ln>
        </p:spPr>
      </p:cxnSp>
      <p:cxnSp>
        <p:nvCxnSpPr>
          <p:cNvPr id="261" name="Google Shape;261;g25b1bb62912_0_235"/>
          <p:cNvCxnSpPr/>
          <p:nvPr/>
        </p:nvCxnSpPr>
        <p:spPr>
          <a:xfrm rot="10800000" flipH="1">
            <a:off x="7700460" y="5732727"/>
            <a:ext cx="1149000" cy="10800"/>
          </a:xfrm>
          <a:prstGeom prst="straightConnector1">
            <a:avLst/>
          </a:prstGeom>
          <a:noFill/>
          <a:ln w="38100" cap="flat" cmpd="sng">
            <a:solidFill>
              <a:schemeClr val="dk1"/>
            </a:solidFill>
            <a:prstDash val="solid"/>
            <a:round/>
            <a:headEnd type="none" w="med" len="med"/>
            <a:tailEnd type="none" w="med" len="med"/>
          </a:ln>
        </p:spPr>
      </p:cxnSp>
      <p:cxnSp>
        <p:nvCxnSpPr>
          <p:cNvPr id="262" name="Google Shape;262;g25b1bb62912_0_235"/>
          <p:cNvCxnSpPr>
            <a:endCxn id="256" idx="2"/>
          </p:cNvCxnSpPr>
          <p:nvPr/>
        </p:nvCxnSpPr>
        <p:spPr>
          <a:xfrm rot="10800000" flipH="1">
            <a:off x="8270203" y="5394800"/>
            <a:ext cx="4800" cy="349500"/>
          </a:xfrm>
          <a:prstGeom prst="straightConnector1">
            <a:avLst/>
          </a:prstGeom>
          <a:noFill/>
          <a:ln w="19050" cap="flat" cmpd="sng">
            <a:solidFill>
              <a:schemeClr val="dk1"/>
            </a:solidFill>
            <a:prstDash val="solid"/>
            <a:round/>
            <a:headEnd type="none" w="med" len="med"/>
            <a:tailEnd type="triangle" w="med" len="med"/>
          </a:ln>
        </p:spPr>
      </p:cxnSp>
      <p:cxnSp>
        <p:nvCxnSpPr>
          <p:cNvPr id="263" name="Google Shape;263;g25b1bb62912_0_235"/>
          <p:cNvCxnSpPr/>
          <p:nvPr/>
        </p:nvCxnSpPr>
        <p:spPr>
          <a:xfrm rot="10800000" flipH="1">
            <a:off x="6844525" y="4847525"/>
            <a:ext cx="4245300" cy="13500"/>
          </a:xfrm>
          <a:prstGeom prst="straightConnector1">
            <a:avLst/>
          </a:prstGeom>
          <a:noFill/>
          <a:ln w="28575" cap="flat" cmpd="sng">
            <a:solidFill>
              <a:schemeClr val="dk2"/>
            </a:solidFill>
            <a:prstDash val="solid"/>
            <a:round/>
            <a:headEnd type="none" w="med" len="med"/>
            <a:tailEnd type="none" w="med" len="med"/>
          </a:ln>
        </p:spPr>
      </p:cxnSp>
      <p:sp>
        <p:nvSpPr>
          <p:cNvPr id="264" name="Google Shape;264;g25b1bb62912_0_235"/>
          <p:cNvSpPr/>
          <p:nvPr/>
        </p:nvSpPr>
        <p:spPr>
          <a:xfrm>
            <a:off x="9159000" y="3688525"/>
            <a:ext cx="870900" cy="7791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g25b1bb62912_0_235"/>
          <p:cNvSpPr/>
          <p:nvPr/>
        </p:nvSpPr>
        <p:spPr>
          <a:xfrm>
            <a:off x="6844525" y="3688538"/>
            <a:ext cx="870900" cy="7791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6" name="Google Shape;266;g25b1bb62912_0_235"/>
          <p:cNvCxnSpPr>
            <a:stCxn id="256" idx="0"/>
          </p:cNvCxnSpPr>
          <p:nvPr/>
        </p:nvCxnSpPr>
        <p:spPr>
          <a:xfrm rot="10800000" flipH="1">
            <a:off x="8275003" y="4156400"/>
            <a:ext cx="1179600" cy="1018800"/>
          </a:xfrm>
          <a:prstGeom prst="straightConnector1">
            <a:avLst/>
          </a:prstGeom>
          <a:noFill/>
          <a:ln w="28575" cap="flat" cmpd="sng">
            <a:solidFill>
              <a:srgbClr val="9E0000"/>
            </a:solidFill>
            <a:prstDash val="solid"/>
            <a:round/>
            <a:headEnd type="none" w="med" len="med"/>
            <a:tailEnd type="triangle" w="med" len="med"/>
          </a:ln>
        </p:spPr>
      </p:cxnSp>
      <p:cxnSp>
        <p:nvCxnSpPr>
          <p:cNvPr id="267" name="Google Shape;267;g25b1bb62912_0_235"/>
          <p:cNvCxnSpPr>
            <a:stCxn id="256" idx="0"/>
          </p:cNvCxnSpPr>
          <p:nvPr/>
        </p:nvCxnSpPr>
        <p:spPr>
          <a:xfrm rot="10800000">
            <a:off x="7345603" y="4142600"/>
            <a:ext cx="929400" cy="1032600"/>
          </a:xfrm>
          <a:prstGeom prst="straightConnector1">
            <a:avLst/>
          </a:prstGeom>
          <a:noFill/>
          <a:ln w="28575" cap="flat" cmpd="sng">
            <a:solidFill>
              <a:srgbClr val="9E0000"/>
            </a:solidFill>
            <a:prstDash val="solid"/>
            <a:round/>
            <a:headEnd type="none" w="med" len="med"/>
            <a:tailEnd type="triangle" w="med" len="med"/>
          </a:ln>
        </p:spPr>
      </p:cxnSp>
      <p:sp>
        <p:nvSpPr>
          <p:cNvPr id="268" name="Google Shape;268;g25b1bb62912_0_235"/>
          <p:cNvSpPr txBox="1"/>
          <p:nvPr/>
        </p:nvSpPr>
        <p:spPr>
          <a:xfrm>
            <a:off x="10208100" y="4110275"/>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a:solidFill>
                  <a:schemeClr val="dk1"/>
                </a:solidFill>
                <a:latin typeface="Times New Roman"/>
                <a:ea typeface="Times New Roman"/>
                <a:cs typeface="Times New Roman"/>
                <a:sym typeface="Times New Roman"/>
              </a:rPr>
              <a:t>Composant</a:t>
            </a:r>
            <a:endParaRPr b="1"/>
          </a:p>
        </p:txBody>
      </p:sp>
      <p:sp>
        <p:nvSpPr>
          <p:cNvPr id="269" name="Google Shape;269;g25b1bb62912_0_235"/>
          <p:cNvSpPr txBox="1"/>
          <p:nvPr/>
        </p:nvSpPr>
        <p:spPr>
          <a:xfrm>
            <a:off x="9454600" y="5325913"/>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b="1">
                <a:solidFill>
                  <a:schemeClr val="dk1"/>
                </a:solidFill>
                <a:latin typeface="Times New Roman"/>
                <a:ea typeface="Times New Roman"/>
                <a:cs typeface="Times New Roman"/>
                <a:sym typeface="Times New Roman"/>
              </a:rPr>
              <a:t>Objet</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pic>
        <p:nvPicPr>
          <p:cNvPr id="274" name="Google Shape;274;g25b1bb62912_0_245"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275" name="Google Shape;275;g25b1bb62912_0_245"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276" name="Google Shape;276;g25b1bb62912_0_245"/>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17</a:t>
            </a:fld>
            <a:endParaRPr/>
          </a:p>
        </p:txBody>
      </p:sp>
      <p:pic>
        <p:nvPicPr>
          <p:cNvPr id="277" name="Google Shape;277;g25b1bb62912_0_245" descr="Picture 3"/>
          <p:cNvPicPr preferRelativeResize="0"/>
          <p:nvPr/>
        </p:nvPicPr>
        <p:blipFill rotWithShape="1">
          <a:blip r:embed="rId5">
            <a:alphaModFix/>
          </a:blip>
          <a:srcRect/>
          <a:stretch/>
        </p:blipFill>
        <p:spPr>
          <a:xfrm flipH="1">
            <a:off x="9102766" y="-205530"/>
            <a:ext cx="3978841" cy="2344124"/>
          </a:xfrm>
          <a:prstGeom prst="rect">
            <a:avLst/>
          </a:prstGeom>
          <a:noFill/>
          <a:ln>
            <a:noFill/>
          </a:ln>
        </p:spPr>
      </p:pic>
      <p:sp>
        <p:nvSpPr>
          <p:cNvPr id="279" name="Google Shape;279;g25b1bb62912_0_245"/>
          <p:cNvSpPr txBox="1"/>
          <p:nvPr/>
        </p:nvSpPr>
        <p:spPr>
          <a:xfrm>
            <a:off x="1503500" y="508100"/>
            <a:ext cx="7212000" cy="633348"/>
          </a:xfrm>
          <a:prstGeom prst="rect">
            <a:avLst/>
          </a:prstGeom>
          <a:noFill/>
          <a:ln>
            <a:noFill/>
          </a:ln>
        </p:spPr>
        <p:txBody>
          <a:bodyPr spcFirstLastPara="1" wrap="square" lIns="91425" tIns="91425" rIns="91425" bIns="91425" anchor="t" anchorCtr="0">
            <a:spAutoFit/>
          </a:bodyPr>
          <a:lstStyle/>
          <a:p>
            <a:pPr marL="0" lvl="0" indent="0" algn="l" rtl="0">
              <a:lnSpc>
                <a:spcPct val="107916"/>
              </a:lnSpc>
              <a:spcBef>
                <a:spcPts val="0"/>
              </a:spcBef>
              <a:spcAft>
                <a:spcPts val="0"/>
              </a:spcAft>
              <a:buNone/>
            </a:pPr>
            <a:r>
              <a:rPr lang="fr-FR" sz="2700" b="1" dirty="0">
                <a:solidFill>
                  <a:schemeClr val="dk1"/>
                </a:solidFill>
                <a:latin typeface="Times New Roman"/>
                <a:ea typeface="Times New Roman"/>
                <a:cs typeface="Times New Roman"/>
                <a:sym typeface="Times New Roman"/>
              </a:rPr>
              <a:t>Paradigmes des architectures logicielles</a:t>
            </a:r>
            <a:endParaRPr sz="2700" b="1" dirty="0">
              <a:solidFill>
                <a:schemeClr val="dk1"/>
              </a:solidFill>
              <a:latin typeface="Times New Roman"/>
              <a:ea typeface="Times New Roman"/>
              <a:cs typeface="Times New Roman"/>
              <a:sym typeface="Times New Roman"/>
            </a:endParaRPr>
          </a:p>
        </p:txBody>
      </p:sp>
      <p:sp>
        <p:nvSpPr>
          <p:cNvPr id="280" name="Google Shape;280;g25b1bb62912_0_245"/>
          <p:cNvSpPr txBox="1"/>
          <p:nvPr/>
        </p:nvSpPr>
        <p:spPr>
          <a:xfrm>
            <a:off x="2553625" y="1108400"/>
            <a:ext cx="47913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700" dirty="0">
                <a:solidFill>
                  <a:schemeClr val="dk1"/>
                </a:solidFill>
                <a:latin typeface="Times New Roman"/>
                <a:ea typeface="Times New Roman"/>
                <a:cs typeface="Times New Roman"/>
                <a:sym typeface="Times New Roman"/>
              </a:rPr>
              <a:t>Paradigme service</a:t>
            </a:r>
            <a:endParaRPr sz="2700" dirty="0">
              <a:solidFill>
                <a:schemeClr val="dk1"/>
              </a:solidFill>
              <a:latin typeface="Times New Roman"/>
              <a:ea typeface="Times New Roman"/>
              <a:cs typeface="Times New Roman"/>
              <a:sym typeface="Times New Roman"/>
            </a:endParaRPr>
          </a:p>
        </p:txBody>
      </p:sp>
      <p:sp>
        <p:nvSpPr>
          <p:cNvPr id="281" name="Google Shape;281;g25b1bb62912_0_245"/>
          <p:cNvSpPr txBox="1"/>
          <p:nvPr/>
        </p:nvSpPr>
        <p:spPr>
          <a:xfrm>
            <a:off x="762000" y="1605625"/>
            <a:ext cx="8815200" cy="2955300"/>
          </a:xfrm>
          <a:prstGeom prst="rect">
            <a:avLst/>
          </a:prstGeom>
          <a:noFill/>
          <a:ln>
            <a:noFill/>
          </a:ln>
        </p:spPr>
        <p:txBody>
          <a:bodyPr spcFirstLastPara="1" wrap="square" lIns="91425" tIns="91425" rIns="91425" bIns="91425" anchor="t" anchorCtr="0">
            <a:spAutoFit/>
          </a:bodyPr>
          <a:lstStyle/>
          <a:p>
            <a:pPr marL="457200" lvl="0" indent="-355600" algn="just" rtl="0">
              <a:spcBef>
                <a:spcPts val="0"/>
              </a:spcBef>
              <a:spcAft>
                <a:spcPts val="0"/>
              </a:spcAft>
              <a:buSzPts val="2000"/>
              <a:buFont typeface="Times New Roman"/>
              <a:buChar char="❏"/>
            </a:pPr>
            <a:r>
              <a:rPr lang="fr-FR" sz="2000" dirty="0">
                <a:latin typeface="Times New Roman"/>
                <a:ea typeface="Times New Roman"/>
                <a:cs typeface="Times New Roman"/>
                <a:sym typeface="Times New Roman"/>
              </a:rPr>
              <a:t>Prise en charge de la diversité et de  l’hétérogénéité des termes de langages systèmes de programmation, et de logiciels, en de technologies de conception (et de réalisation) ou de plates-formes d’exécution</a:t>
            </a:r>
            <a:endParaRPr sz="2000" dirty="0">
              <a:latin typeface="Times New Roman"/>
              <a:ea typeface="Times New Roman"/>
              <a:cs typeface="Times New Roman"/>
              <a:sym typeface="Times New Roman"/>
            </a:endParaRPr>
          </a:p>
          <a:p>
            <a:pPr marL="0" lvl="0" indent="0" algn="l" rtl="0">
              <a:spcBef>
                <a:spcPts val="0"/>
              </a:spcBef>
              <a:spcAft>
                <a:spcPts val="0"/>
              </a:spcAft>
              <a:buNone/>
            </a:pPr>
            <a:endParaRPr sz="2000" dirty="0">
              <a:latin typeface="Times New Roman"/>
              <a:ea typeface="Times New Roman"/>
              <a:cs typeface="Times New Roman"/>
              <a:sym typeface="Times New Roman"/>
            </a:endParaRPr>
          </a:p>
          <a:p>
            <a:pPr marL="457200" lvl="0" indent="-355600" algn="l" rtl="0">
              <a:spcBef>
                <a:spcPts val="0"/>
              </a:spcBef>
              <a:spcAft>
                <a:spcPts val="0"/>
              </a:spcAft>
              <a:buSzPts val="2000"/>
              <a:buFont typeface="Times New Roman"/>
              <a:buChar char="❏"/>
            </a:pPr>
            <a:r>
              <a:rPr lang="fr-FR" sz="2000" dirty="0">
                <a:latin typeface="Times New Roman"/>
                <a:ea typeface="Times New Roman"/>
                <a:cs typeface="Times New Roman"/>
                <a:sym typeface="Times New Roman"/>
              </a:rPr>
              <a:t> Le paradigme service permet de:</a:t>
            </a:r>
            <a:endParaRPr sz="2000" dirty="0">
              <a:latin typeface="Times New Roman"/>
              <a:ea typeface="Times New Roman"/>
              <a:cs typeface="Times New Roman"/>
              <a:sym typeface="Times New Roman"/>
            </a:endParaRPr>
          </a:p>
          <a:p>
            <a:pPr marL="0" lvl="0" indent="0" algn="l" rtl="0">
              <a:spcBef>
                <a:spcPts val="0"/>
              </a:spcBef>
              <a:spcAft>
                <a:spcPts val="0"/>
              </a:spcAft>
              <a:buNone/>
            </a:pPr>
            <a:endParaRPr sz="2000" dirty="0">
              <a:latin typeface="Times New Roman"/>
              <a:ea typeface="Times New Roman"/>
              <a:cs typeface="Times New Roman"/>
              <a:sym typeface="Times New Roman"/>
            </a:endParaRP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a:ea typeface="Times New Roman"/>
                <a:cs typeface="Times New Roman"/>
                <a:sym typeface="Times New Roman"/>
              </a:rPr>
              <a:t>réduire le couplage</a:t>
            </a:r>
            <a:endParaRPr sz="2000" dirty="0">
              <a:latin typeface="Times New Roman"/>
              <a:ea typeface="Times New Roman"/>
              <a:cs typeface="Times New Roman"/>
              <a:sym typeface="Times New Roman"/>
            </a:endParaRP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a:ea typeface="Times New Roman"/>
                <a:cs typeface="Times New Roman"/>
                <a:sym typeface="Times New Roman"/>
              </a:rPr>
              <a:t>améliorer la réutilisation</a:t>
            </a:r>
            <a:endParaRPr sz="2000" dirty="0">
              <a:latin typeface="Times New Roman"/>
              <a:ea typeface="Times New Roman"/>
              <a:cs typeface="Times New Roman"/>
              <a:sym typeface="Times New Roman"/>
            </a:endParaRPr>
          </a:p>
          <a:p>
            <a:pPr marL="457200" lvl="0" indent="-355600" algn="l" rtl="0">
              <a:spcBef>
                <a:spcPts val="0"/>
              </a:spcBef>
              <a:spcAft>
                <a:spcPts val="0"/>
              </a:spcAft>
              <a:buSzPts val="2000"/>
              <a:buFont typeface="Arial" panose="020B0604020202020204" pitchFamily="34" charset="0"/>
              <a:buChar char="•"/>
            </a:pPr>
            <a:r>
              <a:rPr lang="fr-FR" sz="2000" dirty="0">
                <a:latin typeface="Times New Roman"/>
                <a:ea typeface="Times New Roman"/>
                <a:cs typeface="Times New Roman"/>
                <a:sym typeface="Times New Roman"/>
              </a:rPr>
              <a:t>augmenter l’abstraction</a:t>
            </a:r>
            <a:endParaRPr dirty="0"/>
          </a:p>
        </p:txBody>
      </p:sp>
      <p:grpSp>
        <p:nvGrpSpPr>
          <p:cNvPr id="2" name="Google Shape;334;p13">
            <a:extLst>
              <a:ext uri="{FF2B5EF4-FFF2-40B4-BE49-F238E27FC236}">
                <a16:creationId xmlns:a16="http://schemas.microsoft.com/office/drawing/2014/main" id="{D8D5C5DE-01C5-00D9-3A93-3AE89755AB86}"/>
              </a:ext>
            </a:extLst>
          </p:cNvPr>
          <p:cNvGrpSpPr/>
          <p:nvPr/>
        </p:nvGrpSpPr>
        <p:grpSpPr>
          <a:xfrm>
            <a:off x="8001000" y="3940571"/>
            <a:ext cx="2954401" cy="2215261"/>
            <a:chOff x="8001000" y="3849623"/>
            <a:chExt cx="2954401" cy="2215261"/>
          </a:xfrm>
        </p:grpSpPr>
        <p:sp>
          <p:nvSpPr>
            <p:cNvPr id="3" name="Google Shape;336;p13">
              <a:extLst>
                <a:ext uri="{FF2B5EF4-FFF2-40B4-BE49-F238E27FC236}">
                  <a16:creationId xmlns:a16="http://schemas.microsoft.com/office/drawing/2014/main" id="{35852EEF-2910-0B49-8A93-6EEBC6003A42}"/>
                </a:ext>
              </a:extLst>
            </p:cNvPr>
            <p:cNvSpPr/>
            <p:nvPr/>
          </p:nvSpPr>
          <p:spPr>
            <a:xfrm>
              <a:off x="9014459" y="5135879"/>
              <a:ext cx="1211579" cy="14020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Google Shape;337;p13">
              <a:extLst>
                <a:ext uri="{FF2B5EF4-FFF2-40B4-BE49-F238E27FC236}">
                  <a16:creationId xmlns:a16="http://schemas.microsoft.com/office/drawing/2014/main" id="{478EAF5A-5632-C444-4C1E-647B60C805F1}"/>
                </a:ext>
              </a:extLst>
            </p:cNvPr>
            <p:cNvSpPr/>
            <p:nvPr/>
          </p:nvSpPr>
          <p:spPr>
            <a:xfrm>
              <a:off x="9015221" y="5136641"/>
              <a:ext cx="1211580" cy="140335"/>
            </a:xfrm>
            <a:custGeom>
              <a:avLst/>
              <a:gdLst/>
              <a:ahLst/>
              <a:cxnLst/>
              <a:rect l="l" t="t" r="r" b="b"/>
              <a:pathLst>
                <a:path w="1211579" h="140335" extrusionOk="0">
                  <a:moveTo>
                    <a:pt x="0" y="140207"/>
                  </a:moveTo>
                  <a:lnTo>
                    <a:pt x="1211579" y="140207"/>
                  </a:lnTo>
                  <a:lnTo>
                    <a:pt x="1211579" y="0"/>
                  </a:lnTo>
                  <a:lnTo>
                    <a:pt x="0" y="0"/>
                  </a:lnTo>
                  <a:lnTo>
                    <a:pt x="0" y="140207"/>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 name="Google Shape;338;p13">
              <a:extLst>
                <a:ext uri="{FF2B5EF4-FFF2-40B4-BE49-F238E27FC236}">
                  <a16:creationId xmlns:a16="http://schemas.microsoft.com/office/drawing/2014/main" id="{84634F4A-C0D7-3B83-762A-B3DC0F21ADF6}"/>
                </a:ext>
              </a:extLst>
            </p:cNvPr>
            <p:cNvSpPr/>
            <p:nvPr/>
          </p:nvSpPr>
          <p:spPr>
            <a:xfrm>
              <a:off x="9014459" y="5274564"/>
              <a:ext cx="1211579" cy="185928"/>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 name="Google Shape;339;p13">
              <a:extLst>
                <a:ext uri="{FF2B5EF4-FFF2-40B4-BE49-F238E27FC236}">
                  <a16:creationId xmlns:a16="http://schemas.microsoft.com/office/drawing/2014/main" id="{7B6F28F5-2E88-9EF8-DF85-F85CEC3D1CA4}"/>
                </a:ext>
              </a:extLst>
            </p:cNvPr>
            <p:cNvSpPr/>
            <p:nvPr/>
          </p:nvSpPr>
          <p:spPr>
            <a:xfrm>
              <a:off x="9015221" y="5275262"/>
              <a:ext cx="1211580" cy="187325"/>
            </a:xfrm>
            <a:custGeom>
              <a:avLst/>
              <a:gdLst/>
              <a:ahLst/>
              <a:cxnLst/>
              <a:rect l="l" t="t" r="r" b="b"/>
              <a:pathLst>
                <a:path w="1211579" h="187325" extrusionOk="0">
                  <a:moveTo>
                    <a:pt x="0" y="187134"/>
                  </a:moveTo>
                  <a:lnTo>
                    <a:pt x="1211579" y="187134"/>
                  </a:lnTo>
                  <a:lnTo>
                    <a:pt x="1211579" y="0"/>
                  </a:lnTo>
                  <a:lnTo>
                    <a:pt x="0" y="0"/>
                  </a:lnTo>
                  <a:lnTo>
                    <a:pt x="0" y="187134"/>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Google Shape;340;p13">
              <a:extLst>
                <a:ext uri="{FF2B5EF4-FFF2-40B4-BE49-F238E27FC236}">
                  <a16:creationId xmlns:a16="http://schemas.microsoft.com/office/drawing/2014/main" id="{81092BAF-1FF9-23AC-2B1A-18661286F97D}"/>
                </a:ext>
              </a:extLst>
            </p:cNvPr>
            <p:cNvSpPr/>
            <p:nvPr/>
          </p:nvSpPr>
          <p:spPr>
            <a:xfrm>
              <a:off x="9741407" y="5739384"/>
              <a:ext cx="1213103" cy="138684"/>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 name="Google Shape;341;p13">
              <a:extLst>
                <a:ext uri="{FF2B5EF4-FFF2-40B4-BE49-F238E27FC236}">
                  <a16:creationId xmlns:a16="http://schemas.microsoft.com/office/drawing/2014/main" id="{8A223B43-A88C-C7F5-B065-95F38E2D46E5}"/>
                </a:ext>
              </a:extLst>
            </p:cNvPr>
            <p:cNvSpPr/>
            <p:nvPr/>
          </p:nvSpPr>
          <p:spPr>
            <a:xfrm>
              <a:off x="9742169" y="5740146"/>
              <a:ext cx="1212850" cy="139065"/>
            </a:xfrm>
            <a:custGeom>
              <a:avLst/>
              <a:gdLst/>
              <a:ahLst/>
              <a:cxnLst/>
              <a:rect l="l" t="t" r="r" b="b"/>
              <a:pathLst>
                <a:path w="1212850" h="139064" extrusionOk="0">
                  <a:moveTo>
                    <a:pt x="0" y="138683"/>
                  </a:moveTo>
                  <a:lnTo>
                    <a:pt x="1212684" y="138683"/>
                  </a:lnTo>
                  <a:lnTo>
                    <a:pt x="1212684" y="0"/>
                  </a:lnTo>
                  <a:lnTo>
                    <a:pt x="0" y="0"/>
                  </a:lnTo>
                  <a:lnTo>
                    <a:pt x="0" y="138683"/>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342;p13">
              <a:extLst>
                <a:ext uri="{FF2B5EF4-FFF2-40B4-BE49-F238E27FC236}">
                  <a16:creationId xmlns:a16="http://schemas.microsoft.com/office/drawing/2014/main" id="{C61F5CD7-4514-DD96-00AF-FDA92BF08A75}"/>
                </a:ext>
              </a:extLst>
            </p:cNvPr>
            <p:cNvSpPr/>
            <p:nvPr/>
          </p:nvSpPr>
          <p:spPr>
            <a:xfrm>
              <a:off x="9741407" y="5878067"/>
              <a:ext cx="1213103" cy="185927"/>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 name="Google Shape;343;p13">
              <a:extLst>
                <a:ext uri="{FF2B5EF4-FFF2-40B4-BE49-F238E27FC236}">
                  <a16:creationId xmlns:a16="http://schemas.microsoft.com/office/drawing/2014/main" id="{07C59F2B-BB39-6BD6-F482-D50092604037}"/>
                </a:ext>
              </a:extLst>
            </p:cNvPr>
            <p:cNvSpPr/>
            <p:nvPr/>
          </p:nvSpPr>
          <p:spPr>
            <a:xfrm>
              <a:off x="9742169" y="5878829"/>
              <a:ext cx="1212850" cy="186055"/>
            </a:xfrm>
            <a:custGeom>
              <a:avLst/>
              <a:gdLst/>
              <a:ahLst/>
              <a:cxnLst/>
              <a:rect l="l" t="t" r="r" b="b"/>
              <a:pathLst>
                <a:path w="1212850" h="186054" extrusionOk="0">
                  <a:moveTo>
                    <a:pt x="0" y="185610"/>
                  </a:moveTo>
                  <a:lnTo>
                    <a:pt x="1212684" y="185610"/>
                  </a:lnTo>
                  <a:lnTo>
                    <a:pt x="1212684" y="0"/>
                  </a:lnTo>
                  <a:lnTo>
                    <a:pt x="0" y="0"/>
                  </a:lnTo>
                  <a:lnTo>
                    <a:pt x="0" y="185610"/>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344;p13">
              <a:extLst>
                <a:ext uri="{FF2B5EF4-FFF2-40B4-BE49-F238E27FC236}">
                  <a16:creationId xmlns:a16="http://schemas.microsoft.com/office/drawing/2014/main" id="{1E213463-1D0A-9B24-9F4A-ED2E0BC4BE5F}"/>
                </a:ext>
              </a:extLst>
            </p:cNvPr>
            <p:cNvSpPr/>
            <p:nvPr/>
          </p:nvSpPr>
          <p:spPr>
            <a:xfrm>
              <a:off x="8287511" y="5739384"/>
              <a:ext cx="1211579" cy="138684"/>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345;p13">
              <a:extLst>
                <a:ext uri="{FF2B5EF4-FFF2-40B4-BE49-F238E27FC236}">
                  <a16:creationId xmlns:a16="http://schemas.microsoft.com/office/drawing/2014/main" id="{312C9E9C-4A99-8439-64FA-F5C4A8B58281}"/>
                </a:ext>
              </a:extLst>
            </p:cNvPr>
            <p:cNvSpPr/>
            <p:nvPr/>
          </p:nvSpPr>
          <p:spPr>
            <a:xfrm>
              <a:off x="8288273" y="5740146"/>
              <a:ext cx="1212850" cy="139065"/>
            </a:xfrm>
            <a:custGeom>
              <a:avLst/>
              <a:gdLst/>
              <a:ahLst/>
              <a:cxnLst/>
              <a:rect l="l" t="t" r="r" b="b"/>
              <a:pathLst>
                <a:path w="1212850" h="139064" extrusionOk="0">
                  <a:moveTo>
                    <a:pt x="0" y="138683"/>
                  </a:moveTo>
                  <a:lnTo>
                    <a:pt x="1212684" y="138683"/>
                  </a:lnTo>
                  <a:lnTo>
                    <a:pt x="1212684" y="0"/>
                  </a:lnTo>
                  <a:lnTo>
                    <a:pt x="0" y="0"/>
                  </a:lnTo>
                  <a:lnTo>
                    <a:pt x="0" y="138683"/>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346;p13">
              <a:extLst>
                <a:ext uri="{FF2B5EF4-FFF2-40B4-BE49-F238E27FC236}">
                  <a16:creationId xmlns:a16="http://schemas.microsoft.com/office/drawing/2014/main" id="{D1029282-843F-078F-AEB4-5F991839B2E2}"/>
                </a:ext>
              </a:extLst>
            </p:cNvPr>
            <p:cNvSpPr/>
            <p:nvPr/>
          </p:nvSpPr>
          <p:spPr>
            <a:xfrm>
              <a:off x="8287511" y="5878067"/>
              <a:ext cx="1211579" cy="185927"/>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347;p13">
              <a:extLst>
                <a:ext uri="{FF2B5EF4-FFF2-40B4-BE49-F238E27FC236}">
                  <a16:creationId xmlns:a16="http://schemas.microsoft.com/office/drawing/2014/main" id="{2768DDA0-A825-FBBF-1B42-91FB229BE34F}"/>
                </a:ext>
              </a:extLst>
            </p:cNvPr>
            <p:cNvSpPr/>
            <p:nvPr/>
          </p:nvSpPr>
          <p:spPr>
            <a:xfrm>
              <a:off x="8288273" y="5878829"/>
              <a:ext cx="1212850" cy="186055"/>
            </a:xfrm>
            <a:custGeom>
              <a:avLst/>
              <a:gdLst/>
              <a:ahLst/>
              <a:cxnLst/>
              <a:rect l="l" t="t" r="r" b="b"/>
              <a:pathLst>
                <a:path w="1212850" h="186054" extrusionOk="0">
                  <a:moveTo>
                    <a:pt x="0" y="185610"/>
                  </a:moveTo>
                  <a:lnTo>
                    <a:pt x="1212684" y="185610"/>
                  </a:lnTo>
                  <a:lnTo>
                    <a:pt x="1212684" y="0"/>
                  </a:lnTo>
                  <a:lnTo>
                    <a:pt x="0" y="0"/>
                  </a:lnTo>
                  <a:lnTo>
                    <a:pt x="0" y="185610"/>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348;p13">
              <a:extLst>
                <a:ext uri="{FF2B5EF4-FFF2-40B4-BE49-F238E27FC236}">
                  <a16:creationId xmlns:a16="http://schemas.microsoft.com/office/drawing/2014/main" id="{53455F61-2A13-CB1F-9F29-89922D390EB7}"/>
                </a:ext>
              </a:extLst>
            </p:cNvPr>
            <p:cNvSpPr/>
            <p:nvPr/>
          </p:nvSpPr>
          <p:spPr>
            <a:xfrm>
              <a:off x="9453371" y="5324855"/>
              <a:ext cx="414527" cy="338328"/>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349;p13">
              <a:extLst>
                <a:ext uri="{FF2B5EF4-FFF2-40B4-BE49-F238E27FC236}">
                  <a16:creationId xmlns:a16="http://schemas.microsoft.com/office/drawing/2014/main" id="{3F782461-6557-CF53-C27F-C0DC9AE70734}"/>
                </a:ext>
              </a:extLst>
            </p:cNvPr>
            <p:cNvSpPr/>
            <p:nvPr/>
          </p:nvSpPr>
          <p:spPr>
            <a:xfrm>
              <a:off x="9581388" y="5460491"/>
              <a:ext cx="158115" cy="140207"/>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350;p13">
              <a:extLst>
                <a:ext uri="{FF2B5EF4-FFF2-40B4-BE49-F238E27FC236}">
                  <a16:creationId xmlns:a16="http://schemas.microsoft.com/office/drawing/2014/main" id="{281E33D7-F00B-977E-EFBC-260BC733A54B}"/>
                </a:ext>
              </a:extLst>
            </p:cNvPr>
            <p:cNvSpPr/>
            <p:nvPr/>
          </p:nvSpPr>
          <p:spPr>
            <a:xfrm>
              <a:off x="8851392" y="5600700"/>
              <a:ext cx="1537970" cy="0"/>
            </a:xfrm>
            <a:custGeom>
              <a:avLst/>
              <a:gdLst/>
              <a:ahLst/>
              <a:cxnLst/>
              <a:rect l="l" t="t" r="r" b="b"/>
              <a:pathLst>
                <a:path w="1537970" h="120000" extrusionOk="0">
                  <a:moveTo>
                    <a:pt x="0" y="0"/>
                  </a:moveTo>
                  <a:lnTo>
                    <a:pt x="1537715" y="0"/>
                  </a:lnTo>
                </a:path>
              </a:pathLst>
            </a:custGeom>
            <a:noFill/>
            <a:ln w="12700" cap="flat" cmpd="sng">
              <a:solidFill>
                <a:srgbClr val="006DC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351;p13">
              <a:extLst>
                <a:ext uri="{FF2B5EF4-FFF2-40B4-BE49-F238E27FC236}">
                  <a16:creationId xmlns:a16="http://schemas.microsoft.com/office/drawing/2014/main" id="{A66DF545-7035-F362-F361-550BF33B40DC}"/>
                </a:ext>
              </a:extLst>
            </p:cNvPr>
            <p:cNvSpPr/>
            <p:nvPr/>
          </p:nvSpPr>
          <p:spPr>
            <a:xfrm>
              <a:off x="10386059" y="5600700"/>
              <a:ext cx="2540" cy="138430"/>
            </a:xfrm>
            <a:custGeom>
              <a:avLst/>
              <a:gdLst/>
              <a:ahLst/>
              <a:cxnLst/>
              <a:rect l="l" t="t" r="r" b="b"/>
              <a:pathLst>
                <a:path w="2540" h="138429" extrusionOk="0">
                  <a:moveTo>
                    <a:pt x="1206" y="-6350"/>
                  </a:moveTo>
                  <a:lnTo>
                    <a:pt x="1206" y="144716"/>
                  </a:lnTo>
                </a:path>
              </a:pathLst>
            </a:custGeom>
            <a:noFill/>
            <a:ln w="15100" cap="flat" cmpd="sng">
              <a:solidFill>
                <a:srgbClr val="006DC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 name="Google Shape;352;p13">
              <a:extLst>
                <a:ext uri="{FF2B5EF4-FFF2-40B4-BE49-F238E27FC236}">
                  <a16:creationId xmlns:a16="http://schemas.microsoft.com/office/drawing/2014/main" id="{993FD68D-7BA2-DA92-984C-419AE5EEDC58}"/>
                </a:ext>
              </a:extLst>
            </p:cNvPr>
            <p:cNvSpPr/>
            <p:nvPr/>
          </p:nvSpPr>
          <p:spPr>
            <a:xfrm>
              <a:off x="8851392" y="5600700"/>
              <a:ext cx="2540" cy="138430"/>
            </a:xfrm>
            <a:custGeom>
              <a:avLst/>
              <a:gdLst/>
              <a:ahLst/>
              <a:cxnLst/>
              <a:rect l="l" t="t" r="r" b="b"/>
              <a:pathLst>
                <a:path w="2540" h="138429" extrusionOk="0">
                  <a:moveTo>
                    <a:pt x="1206" y="-6350"/>
                  </a:moveTo>
                  <a:lnTo>
                    <a:pt x="1206" y="144716"/>
                  </a:lnTo>
                </a:path>
              </a:pathLst>
            </a:custGeom>
            <a:noFill/>
            <a:ln w="15100" cap="flat" cmpd="sng">
              <a:solidFill>
                <a:srgbClr val="006DC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353;p13">
              <a:extLst>
                <a:ext uri="{FF2B5EF4-FFF2-40B4-BE49-F238E27FC236}">
                  <a16:creationId xmlns:a16="http://schemas.microsoft.com/office/drawing/2014/main" id="{79A0EF64-ED41-3734-9C7A-110DE4A76FA2}"/>
                </a:ext>
              </a:extLst>
            </p:cNvPr>
            <p:cNvSpPr/>
            <p:nvPr/>
          </p:nvSpPr>
          <p:spPr>
            <a:xfrm>
              <a:off x="10181843" y="3849623"/>
              <a:ext cx="772795" cy="715010"/>
            </a:xfrm>
            <a:custGeom>
              <a:avLst/>
              <a:gdLst/>
              <a:ahLst/>
              <a:cxnLst/>
              <a:rect l="l" t="t" r="r" b="b"/>
              <a:pathLst>
                <a:path w="772795" h="715010" extrusionOk="0">
                  <a:moveTo>
                    <a:pt x="772248" y="0"/>
                  </a:moveTo>
                  <a:lnTo>
                    <a:pt x="0" y="0"/>
                  </a:lnTo>
                  <a:lnTo>
                    <a:pt x="0" y="714756"/>
                  </a:lnTo>
                  <a:lnTo>
                    <a:pt x="772248" y="714756"/>
                  </a:lnTo>
                  <a:lnTo>
                    <a:pt x="772248" y="0"/>
                  </a:lnTo>
                  <a:close/>
                </a:path>
              </a:pathLst>
            </a:custGeom>
            <a:solidFill>
              <a:srgbClr val="39899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354;p13">
              <a:extLst>
                <a:ext uri="{FF2B5EF4-FFF2-40B4-BE49-F238E27FC236}">
                  <a16:creationId xmlns:a16="http://schemas.microsoft.com/office/drawing/2014/main" id="{C459EDB0-F846-F478-63A7-48D80E87FAA0}"/>
                </a:ext>
              </a:extLst>
            </p:cNvPr>
            <p:cNvSpPr/>
            <p:nvPr/>
          </p:nvSpPr>
          <p:spPr>
            <a:xfrm>
              <a:off x="10182606" y="3850385"/>
              <a:ext cx="772795" cy="715010"/>
            </a:xfrm>
            <a:custGeom>
              <a:avLst/>
              <a:gdLst/>
              <a:ahLst/>
              <a:cxnLst/>
              <a:rect l="l" t="t" r="r" b="b"/>
              <a:pathLst>
                <a:path w="772795" h="715010" extrusionOk="0">
                  <a:moveTo>
                    <a:pt x="0" y="714756"/>
                  </a:moveTo>
                  <a:lnTo>
                    <a:pt x="772248" y="714756"/>
                  </a:lnTo>
                  <a:lnTo>
                    <a:pt x="772248" y="0"/>
                  </a:lnTo>
                  <a:lnTo>
                    <a:pt x="0" y="0"/>
                  </a:lnTo>
                  <a:lnTo>
                    <a:pt x="0" y="714756"/>
                  </a:lnTo>
                  <a:close/>
                </a:path>
              </a:pathLst>
            </a:custGeom>
            <a:noFill/>
            <a:ln w="25900" cap="flat" cmpd="sng">
              <a:solidFill>
                <a:srgbClr val="39899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355;p13">
              <a:extLst>
                <a:ext uri="{FF2B5EF4-FFF2-40B4-BE49-F238E27FC236}">
                  <a16:creationId xmlns:a16="http://schemas.microsoft.com/office/drawing/2014/main" id="{861C5C49-302E-4740-9850-5C0D4FD95BDC}"/>
                </a:ext>
              </a:extLst>
            </p:cNvPr>
            <p:cNvSpPr/>
            <p:nvPr/>
          </p:nvSpPr>
          <p:spPr>
            <a:xfrm>
              <a:off x="9829800" y="4044695"/>
              <a:ext cx="352425" cy="1270"/>
            </a:xfrm>
            <a:custGeom>
              <a:avLst/>
              <a:gdLst/>
              <a:ahLst/>
              <a:cxnLst/>
              <a:rect l="l" t="t" r="r" b="b"/>
              <a:pathLst>
                <a:path w="352425" h="1270" extrusionOk="0">
                  <a:moveTo>
                    <a:pt x="0" y="0"/>
                  </a:moveTo>
                  <a:lnTo>
                    <a:pt x="352044" y="1269"/>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356;p13">
              <a:extLst>
                <a:ext uri="{FF2B5EF4-FFF2-40B4-BE49-F238E27FC236}">
                  <a16:creationId xmlns:a16="http://schemas.microsoft.com/office/drawing/2014/main" id="{ECD0B4D5-74DB-B8D1-8D6E-39D27634C8FF}"/>
                </a:ext>
              </a:extLst>
            </p:cNvPr>
            <p:cNvSpPr/>
            <p:nvPr/>
          </p:nvSpPr>
          <p:spPr>
            <a:xfrm>
              <a:off x="9617964" y="3915155"/>
              <a:ext cx="281940" cy="260985"/>
            </a:xfrm>
            <a:custGeom>
              <a:avLst/>
              <a:gdLst/>
              <a:ahLst/>
              <a:cxnLst/>
              <a:rect l="l" t="t" r="r" b="b"/>
              <a:pathLst>
                <a:path w="281940" h="260985" extrusionOk="0">
                  <a:moveTo>
                    <a:pt x="140715" y="0"/>
                  </a:moveTo>
                  <a:lnTo>
                    <a:pt x="85978" y="10287"/>
                  </a:lnTo>
                  <a:lnTo>
                    <a:pt x="41147" y="38227"/>
                  </a:lnTo>
                  <a:lnTo>
                    <a:pt x="11049" y="79629"/>
                  </a:lnTo>
                  <a:lnTo>
                    <a:pt x="0" y="130302"/>
                  </a:lnTo>
                  <a:lnTo>
                    <a:pt x="11049" y="180975"/>
                  </a:lnTo>
                  <a:lnTo>
                    <a:pt x="41147" y="222377"/>
                  </a:lnTo>
                  <a:lnTo>
                    <a:pt x="85978" y="250317"/>
                  </a:lnTo>
                  <a:lnTo>
                    <a:pt x="140715" y="260604"/>
                  </a:lnTo>
                  <a:lnTo>
                    <a:pt x="195579" y="250317"/>
                  </a:lnTo>
                  <a:lnTo>
                    <a:pt x="240283" y="222377"/>
                  </a:lnTo>
                  <a:lnTo>
                    <a:pt x="270509" y="180975"/>
                  </a:lnTo>
                  <a:lnTo>
                    <a:pt x="281558" y="130302"/>
                  </a:lnTo>
                  <a:lnTo>
                    <a:pt x="270509" y="79629"/>
                  </a:lnTo>
                  <a:lnTo>
                    <a:pt x="240283" y="38227"/>
                  </a:lnTo>
                  <a:lnTo>
                    <a:pt x="195579" y="10287"/>
                  </a:lnTo>
                  <a:lnTo>
                    <a:pt x="140715" y="0"/>
                  </a:lnTo>
                  <a:close/>
                </a:path>
              </a:pathLst>
            </a:custGeom>
            <a:solidFill>
              <a:srgbClr val="1F1F6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357;p13">
              <a:extLst>
                <a:ext uri="{FF2B5EF4-FFF2-40B4-BE49-F238E27FC236}">
                  <a16:creationId xmlns:a16="http://schemas.microsoft.com/office/drawing/2014/main" id="{09A3010E-A371-2D14-25EF-17749893AEAB}"/>
                </a:ext>
              </a:extLst>
            </p:cNvPr>
            <p:cNvSpPr/>
            <p:nvPr/>
          </p:nvSpPr>
          <p:spPr>
            <a:xfrm>
              <a:off x="9618726" y="3915917"/>
              <a:ext cx="281940" cy="260985"/>
            </a:xfrm>
            <a:custGeom>
              <a:avLst/>
              <a:gdLst/>
              <a:ahLst/>
              <a:cxnLst/>
              <a:rect l="l" t="t" r="r" b="b"/>
              <a:pathLst>
                <a:path w="281940" h="260985" extrusionOk="0">
                  <a:moveTo>
                    <a:pt x="0" y="130301"/>
                  </a:moveTo>
                  <a:lnTo>
                    <a:pt x="11049" y="79628"/>
                  </a:lnTo>
                  <a:lnTo>
                    <a:pt x="41148" y="38226"/>
                  </a:lnTo>
                  <a:lnTo>
                    <a:pt x="85978" y="10286"/>
                  </a:lnTo>
                  <a:lnTo>
                    <a:pt x="140716" y="0"/>
                  </a:lnTo>
                  <a:lnTo>
                    <a:pt x="195579" y="10286"/>
                  </a:lnTo>
                  <a:lnTo>
                    <a:pt x="240283" y="38226"/>
                  </a:lnTo>
                  <a:lnTo>
                    <a:pt x="270509" y="79628"/>
                  </a:lnTo>
                  <a:lnTo>
                    <a:pt x="281558" y="130301"/>
                  </a:lnTo>
                  <a:lnTo>
                    <a:pt x="270509" y="180974"/>
                  </a:lnTo>
                  <a:lnTo>
                    <a:pt x="240283" y="222376"/>
                  </a:lnTo>
                  <a:lnTo>
                    <a:pt x="195579" y="250316"/>
                  </a:lnTo>
                  <a:lnTo>
                    <a:pt x="140716" y="260603"/>
                  </a:lnTo>
                  <a:lnTo>
                    <a:pt x="85978" y="250316"/>
                  </a:lnTo>
                  <a:lnTo>
                    <a:pt x="41148" y="222376"/>
                  </a:lnTo>
                  <a:lnTo>
                    <a:pt x="11049" y="180974"/>
                  </a:lnTo>
                  <a:lnTo>
                    <a:pt x="0" y="130301"/>
                  </a:lnTo>
                  <a:close/>
                </a:path>
              </a:pathLst>
            </a:custGeom>
            <a:noFill/>
            <a:ln w="25900" cap="flat" cmpd="sng">
              <a:solidFill>
                <a:srgbClr val="2C2C8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 name="Google Shape;358;p13">
              <a:extLst>
                <a:ext uri="{FF2B5EF4-FFF2-40B4-BE49-F238E27FC236}">
                  <a16:creationId xmlns:a16="http://schemas.microsoft.com/office/drawing/2014/main" id="{17C68332-C5FD-93B1-F8AA-4B503F43DDF6}"/>
                </a:ext>
              </a:extLst>
            </p:cNvPr>
            <p:cNvSpPr/>
            <p:nvPr/>
          </p:nvSpPr>
          <p:spPr>
            <a:xfrm>
              <a:off x="9829800" y="4369307"/>
              <a:ext cx="352425" cy="1270"/>
            </a:xfrm>
            <a:custGeom>
              <a:avLst/>
              <a:gdLst/>
              <a:ahLst/>
              <a:cxnLst/>
              <a:rect l="l" t="t" r="r" b="b"/>
              <a:pathLst>
                <a:path w="352425" h="1270" extrusionOk="0">
                  <a:moveTo>
                    <a:pt x="0" y="0"/>
                  </a:moveTo>
                  <a:lnTo>
                    <a:pt x="352044" y="127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 name="Google Shape;359;p13">
              <a:extLst>
                <a:ext uri="{FF2B5EF4-FFF2-40B4-BE49-F238E27FC236}">
                  <a16:creationId xmlns:a16="http://schemas.microsoft.com/office/drawing/2014/main" id="{EEA2AC46-D570-9575-E65A-9125C6153EBA}"/>
                </a:ext>
              </a:extLst>
            </p:cNvPr>
            <p:cNvSpPr/>
            <p:nvPr/>
          </p:nvSpPr>
          <p:spPr>
            <a:xfrm>
              <a:off x="9617964" y="4238244"/>
              <a:ext cx="281940" cy="260985"/>
            </a:xfrm>
            <a:custGeom>
              <a:avLst/>
              <a:gdLst/>
              <a:ahLst/>
              <a:cxnLst/>
              <a:rect l="l" t="t" r="r" b="b"/>
              <a:pathLst>
                <a:path w="281940" h="260985" extrusionOk="0">
                  <a:moveTo>
                    <a:pt x="140715" y="0"/>
                  </a:moveTo>
                  <a:lnTo>
                    <a:pt x="85978" y="10286"/>
                  </a:lnTo>
                  <a:lnTo>
                    <a:pt x="41147" y="38226"/>
                  </a:lnTo>
                  <a:lnTo>
                    <a:pt x="11049" y="79628"/>
                  </a:lnTo>
                  <a:lnTo>
                    <a:pt x="0" y="130301"/>
                  </a:lnTo>
                  <a:lnTo>
                    <a:pt x="11049" y="180974"/>
                  </a:lnTo>
                  <a:lnTo>
                    <a:pt x="41147" y="222376"/>
                  </a:lnTo>
                  <a:lnTo>
                    <a:pt x="85978" y="250316"/>
                  </a:lnTo>
                  <a:lnTo>
                    <a:pt x="140715" y="260603"/>
                  </a:lnTo>
                  <a:lnTo>
                    <a:pt x="195579" y="250316"/>
                  </a:lnTo>
                  <a:lnTo>
                    <a:pt x="240283" y="222376"/>
                  </a:lnTo>
                  <a:lnTo>
                    <a:pt x="270509" y="180974"/>
                  </a:lnTo>
                  <a:lnTo>
                    <a:pt x="281558" y="130301"/>
                  </a:lnTo>
                  <a:lnTo>
                    <a:pt x="270509" y="79628"/>
                  </a:lnTo>
                  <a:lnTo>
                    <a:pt x="240283" y="38226"/>
                  </a:lnTo>
                  <a:lnTo>
                    <a:pt x="195579" y="10286"/>
                  </a:lnTo>
                  <a:lnTo>
                    <a:pt x="140715" y="0"/>
                  </a:lnTo>
                  <a:close/>
                </a:path>
              </a:pathLst>
            </a:custGeom>
            <a:solidFill>
              <a:srgbClr val="1F1F6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 name="Google Shape;360;p13">
              <a:extLst>
                <a:ext uri="{FF2B5EF4-FFF2-40B4-BE49-F238E27FC236}">
                  <a16:creationId xmlns:a16="http://schemas.microsoft.com/office/drawing/2014/main" id="{CF7F6B7F-CE08-AF27-AAD8-32434CE67B82}"/>
                </a:ext>
              </a:extLst>
            </p:cNvPr>
            <p:cNvSpPr/>
            <p:nvPr/>
          </p:nvSpPr>
          <p:spPr>
            <a:xfrm>
              <a:off x="9618726" y="4239005"/>
              <a:ext cx="281940" cy="260985"/>
            </a:xfrm>
            <a:custGeom>
              <a:avLst/>
              <a:gdLst/>
              <a:ahLst/>
              <a:cxnLst/>
              <a:rect l="l" t="t" r="r" b="b"/>
              <a:pathLst>
                <a:path w="281940" h="260985" extrusionOk="0">
                  <a:moveTo>
                    <a:pt x="0" y="130302"/>
                  </a:moveTo>
                  <a:lnTo>
                    <a:pt x="11049" y="79629"/>
                  </a:lnTo>
                  <a:lnTo>
                    <a:pt x="41148" y="38227"/>
                  </a:lnTo>
                  <a:lnTo>
                    <a:pt x="85978" y="10287"/>
                  </a:lnTo>
                  <a:lnTo>
                    <a:pt x="140716" y="0"/>
                  </a:lnTo>
                  <a:lnTo>
                    <a:pt x="195579" y="10287"/>
                  </a:lnTo>
                  <a:lnTo>
                    <a:pt x="240283" y="38227"/>
                  </a:lnTo>
                  <a:lnTo>
                    <a:pt x="270509" y="79629"/>
                  </a:lnTo>
                  <a:lnTo>
                    <a:pt x="281558" y="130302"/>
                  </a:lnTo>
                  <a:lnTo>
                    <a:pt x="270509" y="180975"/>
                  </a:lnTo>
                  <a:lnTo>
                    <a:pt x="240283" y="222377"/>
                  </a:lnTo>
                  <a:lnTo>
                    <a:pt x="195579" y="250317"/>
                  </a:lnTo>
                  <a:lnTo>
                    <a:pt x="140716" y="260604"/>
                  </a:lnTo>
                  <a:lnTo>
                    <a:pt x="85978" y="250317"/>
                  </a:lnTo>
                  <a:lnTo>
                    <a:pt x="41148" y="222377"/>
                  </a:lnTo>
                  <a:lnTo>
                    <a:pt x="11049" y="180975"/>
                  </a:lnTo>
                  <a:lnTo>
                    <a:pt x="0" y="130302"/>
                  </a:lnTo>
                  <a:close/>
                </a:path>
              </a:pathLst>
            </a:custGeom>
            <a:noFill/>
            <a:ln w="25900" cap="flat" cmpd="sng">
              <a:solidFill>
                <a:srgbClr val="2C2C8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 name="Google Shape;361;p13">
              <a:extLst>
                <a:ext uri="{FF2B5EF4-FFF2-40B4-BE49-F238E27FC236}">
                  <a16:creationId xmlns:a16="http://schemas.microsoft.com/office/drawing/2014/main" id="{1AC30EA3-F062-9125-AC81-E17555B3F988}"/>
                </a:ext>
              </a:extLst>
            </p:cNvPr>
            <p:cNvSpPr/>
            <p:nvPr/>
          </p:nvSpPr>
          <p:spPr>
            <a:xfrm>
              <a:off x="8563356" y="3849623"/>
              <a:ext cx="774065" cy="715010"/>
            </a:xfrm>
            <a:custGeom>
              <a:avLst/>
              <a:gdLst/>
              <a:ahLst/>
              <a:cxnLst/>
              <a:rect l="l" t="t" r="r" b="b"/>
              <a:pathLst>
                <a:path w="774065" h="715010" extrusionOk="0">
                  <a:moveTo>
                    <a:pt x="773772" y="0"/>
                  </a:moveTo>
                  <a:lnTo>
                    <a:pt x="0" y="0"/>
                  </a:lnTo>
                  <a:lnTo>
                    <a:pt x="0" y="714756"/>
                  </a:lnTo>
                  <a:lnTo>
                    <a:pt x="773772" y="714756"/>
                  </a:lnTo>
                  <a:lnTo>
                    <a:pt x="773772" y="0"/>
                  </a:lnTo>
                  <a:close/>
                </a:path>
              </a:pathLst>
            </a:custGeom>
            <a:solidFill>
              <a:srgbClr val="39899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 name="Google Shape;362;p13">
              <a:extLst>
                <a:ext uri="{FF2B5EF4-FFF2-40B4-BE49-F238E27FC236}">
                  <a16:creationId xmlns:a16="http://schemas.microsoft.com/office/drawing/2014/main" id="{D088CBB2-8F93-27E4-E4A1-349BDB255F7A}"/>
                </a:ext>
              </a:extLst>
            </p:cNvPr>
            <p:cNvSpPr/>
            <p:nvPr/>
          </p:nvSpPr>
          <p:spPr>
            <a:xfrm>
              <a:off x="8564118" y="3850385"/>
              <a:ext cx="774065" cy="715010"/>
            </a:xfrm>
            <a:custGeom>
              <a:avLst/>
              <a:gdLst/>
              <a:ahLst/>
              <a:cxnLst/>
              <a:rect l="l" t="t" r="r" b="b"/>
              <a:pathLst>
                <a:path w="774065" h="715010" extrusionOk="0">
                  <a:moveTo>
                    <a:pt x="0" y="714756"/>
                  </a:moveTo>
                  <a:lnTo>
                    <a:pt x="773772" y="714756"/>
                  </a:lnTo>
                  <a:lnTo>
                    <a:pt x="773772" y="0"/>
                  </a:lnTo>
                  <a:lnTo>
                    <a:pt x="0" y="0"/>
                  </a:lnTo>
                  <a:lnTo>
                    <a:pt x="0" y="714756"/>
                  </a:lnTo>
                  <a:close/>
                </a:path>
              </a:pathLst>
            </a:custGeom>
            <a:noFill/>
            <a:ln w="25900" cap="flat" cmpd="sng">
              <a:solidFill>
                <a:srgbClr val="39899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 name="Google Shape;363;p13">
              <a:extLst>
                <a:ext uri="{FF2B5EF4-FFF2-40B4-BE49-F238E27FC236}">
                  <a16:creationId xmlns:a16="http://schemas.microsoft.com/office/drawing/2014/main" id="{46E8E2D2-D25B-0552-05AE-B2F60E0B48D1}"/>
                </a:ext>
              </a:extLst>
            </p:cNvPr>
            <p:cNvSpPr/>
            <p:nvPr/>
          </p:nvSpPr>
          <p:spPr>
            <a:xfrm>
              <a:off x="8212835" y="4044695"/>
              <a:ext cx="350520" cy="1270"/>
            </a:xfrm>
            <a:custGeom>
              <a:avLst/>
              <a:gdLst/>
              <a:ahLst/>
              <a:cxnLst/>
              <a:rect l="l" t="t" r="r" b="b"/>
              <a:pathLst>
                <a:path w="350520" h="1270" extrusionOk="0">
                  <a:moveTo>
                    <a:pt x="0" y="0"/>
                  </a:moveTo>
                  <a:lnTo>
                    <a:pt x="350520" y="1269"/>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 name="Google Shape;364;p13">
              <a:extLst>
                <a:ext uri="{FF2B5EF4-FFF2-40B4-BE49-F238E27FC236}">
                  <a16:creationId xmlns:a16="http://schemas.microsoft.com/office/drawing/2014/main" id="{EBD66477-447A-E1AC-4966-2F20781B1BCE}"/>
                </a:ext>
              </a:extLst>
            </p:cNvPr>
            <p:cNvSpPr/>
            <p:nvPr/>
          </p:nvSpPr>
          <p:spPr>
            <a:xfrm>
              <a:off x="8001000" y="3915155"/>
              <a:ext cx="281940" cy="260985"/>
            </a:xfrm>
            <a:custGeom>
              <a:avLst/>
              <a:gdLst/>
              <a:ahLst/>
              <a:cxnLst/>
              <a:rect l="l" t="t" r="r" b="b"/>
              <a:pathLst>
                <a:path w="281940" h="260985" extrusionOk="0">
                  <a:moveTo>
                    <a:pt x="140716" y="0"/>
                  </a:moveTo>
                  <a:lnTo>
                    <a:pt x="85978" y="10287"/>
                  </a:lnTo>
                  <a:lnTo>
                    <a:pt x="41148" y="38227"/>
                  </a:lnTo>
                  <a:lnTo>
                    <a:pt x="11049" y="79629"/>
                  </a:lnTo>
                  <a:lnTo>
                    <a:pt x="0" y="130302"/>
                  </a:lnTo>
                  <a:lnTo>
                    <a:pt x="11049" y="180975"/>
                  </a:lnTo>
                  <a:lnTo>
                    <a:pt x="41148" y="222377"/>
                  </a:lnTo>
                  <a:lnTo>
                    <a:pt x="85978" y="250317"/>
                  </a:lnTo>
                  <a:lnTo>
                    <a:pt x="140716" y="260604"/>
                  </a:lnTo>
                  <a:lnTo>
                    <a:pt x="195579" y="250317"/>
                  </a:lnTo>
                  <a:lnTo>
                    <a:pt x="240283" y="222377"/>
                  </a:lnTo>
                  <a:lnTo>
                    <a:pt x="270509" y="180975"/>
                  </a:lnTo>
                  <a:lnTo>
                    <a:pt x="281558" y="130302"/>
                  </a:lnTo>
                  <a:lnTo>
                    <a:pt x="270509" y="79629"/>
                  </a:lnTo>
                  <a:lnTo>
                    <a:pt x="240283" y="38227"/>
                  </a:lnTo>
                  <a:lnTo>
                    <a:pt x="195579" y="10287"/>
                  </a:lnTo>
                  <a:lnTo>
                    <a:pt x="140716" y="0"/>
                  </a:lnTo>
                  <a:close/>
                </a:path>
              </a:pathLst>
            </a:custGeom>
            <a:solidFill>
              <a:srgbClr val="1F1F6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6" name="Google Shape;365;p13">
              <a:extLst>
                <a:ext uri="{FF2B5EF4-FFF2-40B4-BE49-F238E27FC236}">
                  <a16:creationId xmlns:a16="http://schemas.microsoft.com/office/drawing/2014/main" id="{55FC8667-BF0E-7BDD-9DE7-FAF98EE8BAED}"/>
                </a:ext>
              </a:extLst>
            </p:cNvPr>
            <p:cNvSpPr/>
            <p:nvPr/>
          </p:nvSpPr>
          <p:spPr>
            <a:xfrm>
              <a:off x="8001761" y="3915917"/>
              <a:ext cx="281940" cy="260985"/>
            </a:xfrm>
            <a:custGeom>
              <a:avLst/>
              <a:gdLst/>
              <a:ahLst/>
              <a:cxnLst/>
              <a:rect l="l" t="t" r="r" b="b"/>
              <a:pathLst>
                <a:path w="281940" h="260985" extrusionOk="0">
                  <a:moveTo>
                    <a:pt x="0" y="130301"/>
                  </a:moveTo>
                  <a:lnTo>
                    <a:pt x="11049" y="79628"/>
                  </a:lnTo>
                  <a:lnTo>
                    <a:pt x="41148" y="38226"/>
                  </a:lnTo>
                  <a:lnTo>
                    <a:pt x="85979" y="10286"/>
                  </a:lnTo>
                  <a:lnTo>
                    <a:pt x="140716" y="0"/>
                  </a:lnTo>
                  <a:lnTo>
                    <a:pt x="195580" y="10286"/>
                  </a:lnTo>
                  <a:lnTo>
                    <a:pt x="240284" y="38226"/>
                  </a:lnTo>
                  <a:lnTo>
                    <a:pt x="270510" y="79628"/>
                  </a:lnTo>
                  <a:lnTo>
                    <a:pt x="281559" y="130301"/>
                  </a:lnTo>
                  <a:lnTo>
                    <a:pt x="270510" y="180974"/>
                  </a:lnTo>
                  <a:lnTo>
                    <a:pt x="240284" y="222376"/>
                  </a:lnTo>
                  <a:lnTo>
                    <a:pt x="195580" y="250316"/>
                  </a:lnTo>
                  <a:lnTo>
                    <a:pt x="140716" y="260603"/>
                  </a:lnTo>
                  <a:lnTo>
                    <a:pt x="85979" y="250316"/>
                  </a:lnTo>
                  <a:lnTo>
                    <a:pt x="41148" y="222376"/>
                  </a:lnTo>
                  <a:lnTo>
                    <a:pt x="11049" y="180974"/>
                  </a:lnTo>
                  <a:lnTo>
                    <a:pt x="0" y="130301"/>
                  </a:lnTo>
                  <a:close/>
                </a:path>
              </a:pathLst>
            </a:custGeom>
            <a:noFill/>
            <a:ln w="25900" cap="flat" cmpd="sng">
              <a:solidFill>
                <a:srgbClr val="00AD5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7" name="Google Shape;366;p13">
              <a:extLst>
                <a:ext uri="{FF2B5EF4-FFF2-40B4-BE49-F238E27FC236}">
                  <a16:creationId xmlns:a16="http://schemas.microsoft.com/office/drawing/2014/main" id="{67F56A82-5C7C-5A36-7F01-6C8D52F5D314}"/>
                </a:ext>
              </a:extLst>
            </p:cNvPr>
            <p:cNvSpPr/>
            <p:nvPr/>
          </p:nvSpPr>
          <p:spPr>
            <a:xfrm>
              <a:off x="8212835" y="4369307"/>
              <a:ext cx="350520" cy="1270"/>
            </a:xfrm>
            <a:custGeom>
              <a:avLst/>
              <a:gdLst/>
              <a:ahLst/>
              <a:cxnLst/>
              <a:rect l="l" t="t" r="r" b="b"/>
              <a:pathLst>
                <a:path w="350520" h="1270" extrusionOk="0">
                  <a:moveTo>
                    <a:pt x="0" y="0"/>
                  </a:moveTo>
                  <a:lnTo>
                    <a:pt x="350520" y="127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367;p13">
              <a:extLst>
                <a:ext uri="{FF2B5EF4-FFF2-40B4-BE49-F238E27FC236}">
                  <a16:creationId xmlns:a16="http://schemas.microsoft.com/office/drawing/2014/main" id="{0A0026AD-2678-A7B4-BEC3-0A8A02DCE559}"/>
                </a:ext>
              </a:extLst>
            </p:cNvPr>
            <p:cNvSpPr/>
            <p:nvPr/>
          </p:nvSpPr>
          <p:spPr>
            <a:xfrm>
              <a:off x="8001000" y="4238244"/>
              <a:ext cx="281940" cy="260985"/>
            </a:xfrm>
            <a:custGeom>
              <a:avLst/>
              <a:gdLst/>
              <a:ahLst/>
              <a:cxnLst/>
              <a:rect l="l" t="t" r="r" b="b"/>
              <a:pathLst>
                <a:path w="281940" h="260985" extrusionOk="0">
                  <a:moveTo>
                    <a:pt x="140716" y="0"/>
                  </a:moveTo>
                  <a:lnTo>
                    <a:pt x="85978" y="10286"/>
                  </a:lnTo>
                  <a:lnTo>
                    <a:pt x="41148" y="38226"/>
                  </a:lnTo>
                  <a:lnTo>
                    <a:pt x="11049" y="79628"/>
                  </a:lnTo>
                  <a:lnTo>
                    <a:pt x="0" y="130301"/>
                  </a:lnTo>
                  <a:lnTo>
                    <a:pt x="11049" y="180974"/>
                  </a:lnTo>
                  <a:lnTo>
                    <a:pt x="41148" y="222376"/>
                  </a:lnTo>
                  <a:lnTo>
                    <a:pt x="85978" y="250316"/>
                  </a:lnTo>
                  <a:lnTo>
                    <a:pt x="140716" y="260603"/>
                  </a:lnTo>
                  <a:lnTo>
                    <a:pt x="195579" y="250316"/>
                  </a:lnTo>
                  <a:lnTo>
                    <a:pt x="240283" y="222376"/>
                  </a:lnTo>
                  <a:lnTo>
                    <a:pt x="270509" y="180974"/>
                  </a:lnTo>
                  <a:lnTo>
                    <a:pt x="281558" y="130301"/>
                  </a:lnTo>
                  <a:lnTo>
                    <a:pt x="270509" y="79628"/>
                  </a:lnTo>
                  <a:lnTo>
                    <a:pt x="240283" y="38226"/>
                  </a:lnTo>
                  <a:lnTo>
                    <a:pt x="195579" y="10286"/>
                  </a:lnTo>
                  <a:lnTo>
                    <a:pt x="140716" y="0"/>
                  </a:lnTo>
                  <a:close/>
                </a:path>
              </a:pathLst>
            </a:custGeom>
            <a:solidFill>
              <a:srgbClr val="1F1F68"/>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9" name="Google Shape;368;p13">
              <a:extLst>
                <a:ext uri="{FF2B5EF4-FFF2-40B4-BE49-F238E27FC236}">
                  <a16:creationId xmlns:a16="http://schemas.microsoft.com/office/drawing/2014/main" id="{3B2EB6E7-ADBF-DD71-89B5-E91C76A94690}"/>
                </a:ext>
              </a:extLst>
            </p:cNvPr>
            <p:cNvSpPr/>
            <p:nvPr/>
          </p:nvSpPr>
          <p:spPr>
            <a:xfrm>
              <a:off x="8001761" y="4239005"/>
              <a:ext cx="281940" cy="260985"/>
            </a:xfrm>
            <a:custGeom>
              <a:avLst/>
              <a:gdLst/>
              <a:ahLst/>
              <a:cxnLst/>
              <a:rect l="l" t="t" r="r" b="b"/>
              <a:pathLst>
                <a:path w="281940" h="260985" extrusionOk="0">
                  <a:moveTo>
                    <a:pt x="0" y="130302"/>
                  </a:moveTo>
                  <a:lnTo>
                    <a:pt x="11049" y="79629"/>
                  </a:lnTo>
                  <a:lnTo>
                    <a:pt x="41148" y="38227"/>
                  </a:lnTo>
                  <a:lnTo>
                    <a:pt x="85979" y="10287"/>
                  </a:lnTo>
                  <a:lnTo>
                    <a:pt x="140716" y="0"/>
                  </a:lnTo>
                  <a:lnTo>
                    <a:pt x="195580" y="10287"/>
                  </a:lnTo>
                  <a:lnTo>
                    <a:pt x="240284" y="38227"/>
                  </a:lnTo>
                  <a:lnTo>
                    <a:pt x="270510" y="79629"/>
                  </a:lnTo>
                  <a:lnTo>
                    <a:pt x="281559" y="130302"/>
                  </a:lnTo>
                  <a:lnTo>
                    <a:pt x="270510" y="180975"/>
                  </a:lnTo>
                  <a:lnTo>
                    <a:pt x="240284" y="222377"/>
                  </a:lnTo>
                  <a:lnTo>
                    <a:pt x="195580" y="250317"/>
                  </a:lnTo>
                  <a:lnTo>
                    <a:pt x="140716" y="260604"/>
                  </a:lnTo>
                  <a:lnTo>
                    <a:pt x="85979" y="250317"/>
                  </a:lnTo>
                  <a:lnTo>
                    <a:pt x="41148" y="222377"/>
                  </a:lnTo>
                  <a:lnTo>
                    <a:pt x="11049" y="180975"/>
                  </a:lnTo>
                  <a:lnTo>
                    <a:pt x="0" y="130302"/>
                  </a:lnTo>
                  <a:close/>
                </a:path>
              </a:pathLst>
            </a:custGeom>
            <a:noFill/>
            <a:ln w="25900" cap="flat" cmpd="sng">
              <a:solidFill>
                <a:srgbClr val="2C2C8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260" name="Google Shape;370;p13">
            <a:extLst>
              <a:ext uri="{FF2B5EF4-FFF2-40B4-BE49-F238E27FC236}">
                <a16:creationId xmlns:a16="http://schemas.microsoft.com/office/drawing/2014/main" id="{7DC86937-BB52-1A94-C792-98557BCD0AD0}"/>
              </a:ext>
            </a:extLst>
          </p:cNvPr>
          <p:cNvSpPr txBox="1"/>
          <p:nvPr/>
        </p:nvSpPr>
        <p:spPr>
          <a:xfrm rot="5400000">
            <a:off x="11269836" y="5371608"/>
            <a:ext cx="674370" cy="308610"/>
          </a:xfrm>
          <a:prstGeom prst="rect">
            <a:avLst/>
          </a:prstGeom>
          <a:noFill/>
          <a:ln>
            <a:noFill/>
          </a:ln>
        </p:spPr>
        <p:txBody>
          <a:bodyPr spcFirstLastPara="1" wrap="square" lIns="0" tIns="0" rIns="0" bIns="0" anchor="t" anchorCtr="0">
            <a:spAutoFit/>
          </a:bodyPr>
          <a:lstStyle/>
          <a:p>
            <a:pPr marL="12700" marR="0" lvl="0" indent="0" algn="l" rtl="0">
              <a:lnSpc>
                <a:spcPct val="115250"/>
              </a:lnSpc>
              <a:spcBef>
                <a:spcPts val="0"/>
              </a:spcBef>
              <a:spcAft>
                <a:spcPts val="0"/>
              </a:spcAft>
              <a:buNone/>
            </a:pPr>
            <a:r>
              <a:rPr lang="fr-FR" sz="2000" b="1">
                <a:solidFill>
                  <a:schemeClr val="dk1"/>
                </a:solidFill>
                <a:latin typeface="Arial"/>
                <a:ea typeface="Arial"/>
                <a:cs typeface="Arial"/>
                <a:sym typeface="Arial"/>
              </a:rPr>
              <a:t>Objet</a:t>
            </a:r>
            <a:endParaRPr sz="2000">
              <a:solidFill>
                <a:schemeClr val="dk1"/>
              </a:solidFill>
              <a:latin typeface="Arial"/>
              <a:ea typeface="Arial"/>
              <a:cs typeface="Arial"/>
              <a:sym typeface="Arial"/>
            </a:endParaRPr>
          </a:p>
        </p:txBody>
      </p:sp>
      <p:sp>
        <p:nvSpPr>
          <p:cNvPr id="261" name="Google Shape;371;p13">
            <a:extLst>
              <a:ext uri="{FF2B5EF4-FFF2-40B4-BE49-F238E27FC236}">
                <a16:creationId xmlns:a16="http://schemas.microsoft.com/office/drawing/2014/main" id="{D9564E4A-5C05-95B6-6DC8-C93686B4D13A}"/>
              </a:ext>
            </a:extLst>
          </p:cNvPr>
          <p:cNvSpPr txBox="1"/>
          <p:nvPr/>
        </p:nvSpPr>
        <p:spPr>
          <a:xfrm rot="5400000">
            <a:off x="10858039" y="3949526"/>
            <a:ext cx="1421765" cy="308610"/>
          </a:xfrm>
          <a:prstGeom prst="rect">
            <a:avLst/>
          </a:prstGeom>
          <a:noFill/>
          <a:ln>
            <a:noFill/>
          </a:ln>
        </p:spPr>
        <p:txBody>
          <a:bodyPr spcFirstLastPara="1" wrap="square" lIns="0" tIns="0" rIns="0" bIns="0" anchor="t" anchorCtr="0">
            <a:spAutoFit/>
          </a:bodyPr>
          <a:lstStyle/>
          <a:p>
            <a:pPr marL="12700" marR="0" lvl="0" indent="0" algn="l" rtl="0">
              <a:lnSpc>
                <a:spcPct val="115250"/>
              </a:lnSpc>
              <a:spcBef>
                <a:spcPts val="0"/>
              </a:spcBef>
              <a:spcAft>
                <a:spcPts val="0"/>
              </a:spcAft>
              <a:buNone/>
            </a:pPr>
            <a:r>
              <a:rPr lang="fr-FR" sz="2000" b="1" dirty="0">
                <a:solidFill>
                  <a:schemeClr val="dk1"/>
                </a:solidFill>
                <a:latin typeface="Arial"/>
                <a:ea typeface="Arial"/>
                <a:cs typeface="Arial"/>
                <a:sym typeface="Arial"/>
              </a:rPr>
              <a:t>Composant</a:t>
            </a:r>
            <a:endParaRPr sz="2000" dirty="0">
              <a:solidFill>
                <a:schemeClr val="dk1"/>
              </a:solidFill>
              <a:latin typeface="Arial"/>
              <a:ea typeface="Arial"/>
              <a:cs typeface="Arial"/>
              <a:sym typeface="Arial"/>
            </a:endParaRPr>
          </a:p>
        </p:txBody>
      </p:sp>
      <p:sp>
        <p:nvSpPr>
          <p:cNvPr id="262" name="Google Shape;372;p13">
            <a:extLst>
              <a:ext uri="{FF2B5EF4-FFF2-40B4-BE49-F238E27FC236}">
                <a16:creationId xmlns:a16="http://schemas.microsoft.com/office/drawing/2014/main" id="{EB1A0311-22C9-8EE7-04AE-E4502A80F001}"/>
              </a:ext>
            </a:extLst>
          </p:cNvPr>
          <p:cNvSpPr txBox="1"/>
          <p:nvPr/>
        </p:nvSpPr>
        <p:spPr>
          <a:xfrm rot="5400000">
            <a:off x="11106006" y="2494551"/>
            <a:ext cx="925830" cy="308610"/>
          </a:xfrm>
          <a:prstGeom prst="rect">
            <a:avLst/>
          </a:prstGeom>
          <a:noFill/>
          <a:ln>
            <a:noFill/>
          </a:ln>
        </p:spPr>
        <p:txBody>
          <a:bodyPr spcFirstLastPara="1" wrap="square" lIns="0" tIns="0" rIns="0" bIns="0" anchor="t" anchorCtr="0">
            <a:spAutoFit/>
          </a:bodyPr>
          <a:lstStyle/>
          <a:p>
            <a:pPr marL="12700" marR="0" lvl="0" indent="0" algn="l" rtl="0">
              <a:lnSpc>
                <a:spcPct val="115250"/>
              </a:lnSpc>
              <a:spcBef>
                <a:spcPts val="0"/>
              </a:spcBef>
              <a:spcAft>
                <a:spcPts val="0"/>
              </a:spcAft>
              <a:buNone/>
            </a:pPr>
            <a:r>
              <a:rPr lang="fr-FR" sz="2000" b="1" dirty="0">
                <a:solidFill>
                  <a:schemeClr val="dk1"/>
                </a:solidFill>
                <a:latin typeface="Arial"/>
                <a:ea typeface="Arial"/>
                <a:cs typeface="Arial"/>
                <a:sym typeface="Arial"/>
              </a:rPr>
              <a:t>Service</a:t>
            </a:r>
            <a:endParaRPr sz="2000" dirty="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2" name="Google Shape;85;g25b1bb62912_0_14" descr="Picture 2">
            <a:extLst>
              <a:ext uri="{FF2B5EF4-FFF2-40B4-BE49-F238E27FC236}">
                <a16:creationId xmlns:a16="http://schemas.microsoft.com/office/drawing/2014/main" id="{098191BB-9FB9-FBD5-8284-B0BBFB6717D9}"/>
              </a:ext>
            </a:extLst>
          </p:cNvPr>
          <p:cNvPicPr preferRelativeResize="0"/>
          <p:nvPr/>
        </p:nvPicPr>
        <p:blipFill rotWithShape="1">
          <a:blip r:embed="rId3">
            <a:alphaModFix/>
          </a:blip>
          <a:srcRect/>
          <a:stretch/>
        </p:blipFill>
        <p:spPr>
          <a:xfrm>
            <a:off x="0" y="-14121"/>
            <a:ext cx="12652622" cy="6886241"/>
          </a:xfrm>
          <a:prstGeom prst="rect">
            <a:avLst/>
          </a:prstGeom>
          <a:noFill/>
          <a:ln>
            <a:noFill/>
          </a:ln>
        </p:spPr>
      </p:pic>
      <p:sp>
        <p:nvSpPr>
          <p:cNvPr id="483" name="Google Shape;483;p17"/>
          <p:cNvSpPr txBox="1">
            <a:spLocks noGrp="1"/>
          </p:cNvSpPr>
          <p:nvPr>
            <p:ph type="title"/>
          </p:nvPr>
        </p:nvSpPr>
        <p:spPr>
          <a:xfrm>
            <a:off x="1286456" y="691033"/>
            <a:ext cx="5893277" cy="633348"/>
          </a:xfrm>
          <a:prstGeom prst="rect">
            <a:avLst/>
          </a:prstGeom>
          <a:noFill/>
          <a:ln>
            <a:noFill/>
          </a:ln>
        </p:spPr>
        <p:txBody>
          <a:bodyPr spcFirstLastPara="1" wrap="square" lIns="91425" tIns="91425" rIns="91425" bIns="91425" anchor="t" anchorCtr="0">
            <a:spAutoFit/>
          </a:bodyPr>
          <a:lstStyle/>
          <a:p>
            <a:pPr>
              <a:lnSpc>
                <a:spcPct val="107916"/>
              </a:lnSpc>
              <a:buFont typeface="Arial"/>
            </a:pPr>
            <a:r>
              <a:rPr lang="fr-FR" sz="2700" b="1" dirty="0">
                <a:solidFill>
                  <a:schemeClr val="dk1"/>
                </a:solidFill>
                <a:latin typeface="Times New Roman"/>
                <a:cs typeface="Times New Roman"/>
                <a:sym typeface="Arial"/>
              </a:rPr>
              <a:t>Le terme Service</a:t>
            </a:r>
            <a:endParaRPr sz="2700" b="1" dirty="0">
              <a:solidFill>
                <a:schemeClr val="dk1"/>
              </a:solidFill>
              <a:latin typeface="Times New Roman"/>
              <a:cs typeface="Times New Roman"/>
              <a:sym typeface="Arial"/>
            </a:endParaRPr>
          </a:p>
        </p:txBody>
      </p:sp>
      <p:sp>
        <p:nvSpPr>
          <p:cNvPr id="484" name="Google Shape;484;p17"/>
          <p:cNvSpPr txBox="1"/>
          <p:nvPr/>
        </p:nvSpPr>
        <p:spPr>
          <a:xfrm>
            <a:off x="672845" y="1912722"/>
            <a:ext cx="10397490" cy="3382977"/>
          </a:xfrm>
          <a:prstGeom prst="rect">
            <a:avLst/>
          </a:prstGeom>
          <a:noFill/>
          <a:ln>
            <a:noFill/>
          </a:ln>
        </p:spPr>
        <p:txBody>
          <a:bodyPr spcFirstLastPara="1" wrap="square" lIns="0" tIns="12700" rIns="0" bIns="0" anchor="t" anchorCtr="0">
            <a:spAutoFit/>
          </a:bodyPr>
          <a:lstStyle/>
          <a:p>
            <a:pPr marL="356870" indent="-344805">
              <a:buClr>
                <a:schemeClr val="dk1"/>
              </a:buClr>
              <a:buSzPts val="2400"/>
              <a:buFont typeface="Arial"/>
              <a:buChar char="•"/>
            </a:pPr>
            <a:r>
              <a:rPr lang="fr-FR" sz="2400" dirty="0">
                <a:solidFill>
                  <a:schemeClr val="dk1"/>
                </a:solidFill>
              </a:rPr>
              <a:t>Un service est un terme général utilisé en informatique pour décrire une unité autonome de fonctionnalités qui peut être exécutée de manière indépendante</a:t>
            </a:r>
          </a:p>
          <a:p>
            <a:pPr marL="356870" marR="0" lvl="0" indent="-344805" algn="l" rtl="0">
              <a:lnSpc>
                <a:spcPct val="100000"/>
              </a:lnSpc>
              <a:spcBef>
                <a:spcPts val="0"/>
              </a:spcBef>
              <a:spcAft>
                <a:spcPts val="0"/>
              </a:spcAft>
              <a:buClr>
                <a:schemeClr val="dk1"/>
              </a:buClr>
              <a:buSzPts val="2400"/>
              <a:buFont typeface="Arial"/>
              <a:buChar char="•"/>
            </a:pPr>
            <a:endParaRPr lang="fr-FR" sz="2400" dirty="0">
              <a:solidFill>
                <a:schemeClr val="dk1"/>
              </a:solidFill>
            </a:endParaRPr>
          </a:p>
          <a:p>
            <a:pPr marL="356870" indent="-344805">
              <a:buClr>
                <a:schemeClr val="dk1"/>
              </a:buClr>
              <a:buSzPts val="2400"/>
              <a:buFont typeface="Arial"/>
              <a:buChar char="•"/>
            </a:pPr>
            <a:r>
              <a:rPr lang="fr-FR" sz="2400" dirty="0">
                <a:solidFill>
                  <a:schemeClr val="dk1"/>
                </a:solidFill>
              </a:rPr>
              <a:t>Les services peuvent être à la fois locaux et distants. Les services locaux s'exécutent sur la même machine que l'application qui les consomme, tandis que les services distants peuvent s'exécuter sur des machines différentes ou être hébergés dans le cloud.</a:t>
            </a:r>
          </a:p>
          <a:p>
            <a:pPr marL="0" marR="0" lvl="0" indent="0" algn="l" rtl="0">
              <a:lnSpc>
                <a:spcPct val="100000"/>
              </a:lnSpc>
              <a:spcBef>
                <a:spcPts val="20"/>
              </a:spcBef>
              <a:spcAft>
                <a:spcPts val="0"/>
              </a:spcAft>
              <a:buNone/>
            </a:pPr>
            <a:endParaRPr sz="2700" dirty="0">
              <a:solidFill>
                <a:schemeClr val="dk1"/>
              </a:solidFill>
              <a:latin typeface="Arial"/>
              <a:ea typeface="Arial"/>
              <a:cs typeface="Arial"/>
              <a:sym typeface="Arial"/>
            </a:endParaRPr>
          </a:p>
        </p:txBody>
      </p:sp>
      <p:sp>
        <p:nvSpPr>
          <p:cNvPr id="485" name="Google Shape;485;p1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18</a:t>
            </a:fld>
            <a:endParaRPr/>
          </a:p>
        </p:txBody>
      </p:sp>
      <p:sp>
        <p:nvSpPr>
          <p:cNvPr id="486" name="Google Shape;486;p17"/>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pic>
        <p:nvPicPr>
          <p:cNvPr id="3" name="Google Shape;275;g25b1bb62912_0_245" descr="Image 10">
            <a:extLst>
              <a:ext uri="{FF2B5EF4-FFF2-40B4-BE49-F238E27FC236}">
                <a16:creationId xmlns:a16="http://schemas.microsoft.com/office/drawing/2014/main" id="{D9E76A63-144E-45CE-C585-C9B0E0A46831}"/>
              </a:ext>
            </a:extLst>
          </p:cNvPr>
          <p:cNvPicPr preferRelativeResize="0"/>
          <p:nvPr/>
        </p:nvPicPr>
        <p:blipFill rotWithShape="1">
          <a:blip r:embed="rId4">
            <a:alphaModFix/>
          </a:blip>
          <a:srcRect/>
          <a:stretch/>
        </p:blipFill>
        <p:spPr>
          <a:xfrm>
            <a:off x="831813" y="590085"/>
            <a:ext cx="585321" cy="579782"/>
          </a:xfrm>
          <a:prstGeom prst="rect">
            <a:avLst/>
          </a:prstGeom>
          <a:noFill/>
          <a:ln>
            <a:noFill/>
          </a:ln>
        </p:spPr>
      </p:pic>
    </p:spTree>
    <p:extLst>
      <p:ext uri="{BB962C8B-B14F-4D97-AF65-F5344CB8AC3E}">
        <p14:creationId xmlns:p14="http://schemas.microsoft.com/office/powerpoint/2010/main" val="4140357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Google Shape;296;g25b1bb62912_0_50"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297" name="Google Shape;297;g25b1bb62912_0_50"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298" name="Google Shape;298;g25b1bb62912_0_50"/>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19</a:t>
            </a:fld>
            <a:endParaRPr/>
          </a:p>
        </p:txBody>
      </p:sp>
      <p:pic>
        <p:nvPicPr>
          <p:cNvPr id="299" name="Google Shape;299;g25b1bb62912_0_50" descr="Picture 3"/>
          <p:cNvPicPr preferRelativeResize="0"/>
          <p:nvPr/>
        </p:nvPicPr>
        <p:blipFill rotWithShape="1">
          <a:blip r:embed="rId5">
            <a:alphaModFix/>
          </a:blip>
          <a:srcRect/>
          <a:stretch/>
        </p:blipFill>
        <p:spPr>
          <a:xfrm flipH="1">
            <a:off x="9157191" y="-424855"/>
            <a:ext cx="3978841" cy="2344124"/>
          </a:xfrm>
          <a:prstGeom prst="rect">
            <a:avLst/>
          </a:prstGeom>
          <a:noFill/>
          <a:ln>
            <a:noFill/>
          </a:ln>
        </p:spPr>
      </p:pic>
      <p:sp>
        <p:nvSpPr>
          <p:cNvPr id="301" name="Google Shape;301;g25b1bb62912_0_50"/>
          <p:cNvSpPr txBox="1"/>
          <p:nvPr/>
        </p:nvSpPr>
        <p:spPr>
          <a:xfrm>
            <a:off x="1503500" y="508100"/>
            <a:ext cx="7212000" cy="6003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a:lnSpc>
                <a:spcPct val="107916"/>
              </a:lnSpc>
              <a:buSzPts val="1800"/>
              <a:buNone/>
              <a:defRPr sz="2700" b="1">
                <a:solidFill>
                  <a:schemeClr val="dk1"/>
                </a:solidFill>
                <a:latin typeface="Times New Roman"/>
                <a:ea typeface="Calibri"/>
                <a:cs typeface="Times New Roman"/>
                <a:sym typeface="Calibri"/>
              </a:defRPr>
            </a:lvl1pPr>
            <a:lvl2pPr>
              <a:lnSpc>
                <a:spcPct val="90000"/>
              </a:lnSpc>
              <a:buSzPts val="1800"/>
              <a:buFont typeface="Calibri"/>
              <a:buNone/>
              <a:defRPr sz="4400">
                <a:latin typeface="Calibri"/>
                <a:ea typeface="Calibri"/>
                <a:cs typeface="Calibri"/>
                <a:sym typeface="Calibri"/>
              </a:defRPr>
            </a:lvl2pPr>
            <a:lvl3pPr>
              <a:lnSpc>
                <a:spcPct val="90000"/>
              </a:lnSpc>
              <a:buSzPts val="1800"/>
              <a:buFont typeface="Calibri"/>
              <a:buNone/>
              <a:defRPr sz="4400">
                <a:latin typeface="Calibri"/>
                <a:ea typeface="Calibri"/>
                <a:cs typeface="Calibri"/>
                <a:sym typeface="Calibri"/>
              </a:defRPr>
            </a:lvl3pPr>
            <a:lvl4pPr>
              <a:lnSpc>
                <a:spcPct val="90000"/>
              </a:lnSpc>
              <a:buSzPts val="1800"/>
              <a:buFont typeface="Calibri"/>
              <a:buNone/>
              <a:defRPr sz="4400">
                <a:latin typeface="Calibri"/>
                <a:ea typeface="Calibri"/>
                <a:cs typeface="Calibri"/>
                <a:sym typeface="Calibri"/>
              </a:defRPr>
            </a:lvl4pPr>
            <a:lvl5pPr>
              <a:lnSpc>
                <a:spcPct val="90000"/>
              </a:lnSpc>
              <a:buSzPts val="1800"/>
              <a:buFont typeface="Calibri"/>
              <a:buNone/>
              <a:defRPr sz="4400">
                <a:latin typeface="Calibri"/>
                <a:ea typeface="Calibri"/>
                <a:cs typeface="Calibri"/>
                <a:sym typeface="Calibri"/>
              </a:defRPr>
            </a:lvl5pPr>
            <a:lvl6pPr>
              <a:lnSpc>
                <a:spcPct val="90000"/>
              </a:lnSpc>
              <a:buSzPts val="1800"/>
              <a:buFont typeface="Calibri"/>
              <a:buNone/>
              <a:defRPr sz="4400">
                <a:latin typeface="Calibri"/>
                <a:ea typeface="Calibri"/>
                <a:cs typeface="Calibri"/>
                <a:sym typeface="Calibri"/>
              </a:defRPr>
            </a:lvl6pPr>
            <a:lvl7pPr>
              <a:lnSpc>
                <a:spcPct val="90000"/>
              </a:lnSpc>
              <a:buSzPts val="1800"/>
              <a:buFont typeface="Calibri"/>
              <a:buNone/>
              <a:defRPr sz="4400">
                <a:latin typeface="Calibri"/>
                <a:ea typeface="Calibri"/>
                <a:cs typeface="Calibri"/>
                <a:sym typeface="Calibri"/>
              </a:defRPr>
            </a:lvl7pPr>
            <a:lvl8pPr>
              <a:lnSpc>
                <a:spcPct val="90000"/>
              </a:lnSpc>
              <a:buSzPts val="1800"/>
              <a:buFont typeface="Calibri"/>
              <a:buNone/>
              <a:defRPr sz="4400">
                <a:latin typeface="Calibri"/>
                <a:ea typeface="Calibri"/>
                <a:cs typeface="Calibri"/>
                <a:sym typeface="Calibri"/>
              </a:defRPr>
            </a:lvl8pPr>
            <a:lvl9pPr>
              <a:lnSpc>
                <a:spcPct val="90000"/>
              </a:lnSpc>
              <a:buSzPts val="1800"/>
              <a:buFont typeface="Calibri"/>
              <a:buNone/>
              <a:defRPr sz="4400">
                <a:latin typeface="Calibri"/>
                <a:ea typeface="Calibri"/>
                <a:cs typeface="Calibri"/>
                <a:sym typeface="Calibri"/>
              </a:defRPr>
            </a:lvl9pPr>
          </a:lstStyle>
          <a:p>
            <a:r>
              <a:rPr lang="fr-FR" dirty="0">
                <a:sym typeface="Times New Roman"/>
              </a:rPr>
              <a:t>Middlewares : intergiciel</a:t>
            </a:r>
            <a:endParaRPr dirty="0">
              <a:sym typeface="Times New Roman"/>
            </a:endParaRPr>
          </a:p>
        </p:txBody>
      </p:sp>
      <p:sp>
        <p:nvSpPr>
          <p:cNvPr id="303" name="Google Shape;303;g25b1bb62912_0_50"/>
          <p:cNvSpPr txBox="1"/>
          <p:nvPr/>
        </p:nvSpPr>
        <p:spPr>
          <a:xfrm>
            <a:off x="831825" y="1307300"/>
            <a:ext cx="88833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2000" dirty="0">
                <a:latin typeface="Times New Roman"/>
                <a:ea typeface="Times New Roman"/>
                <a:cs typeface="Times New Roman"/>
                <a:sym typeface="Times New Roman"/>
              </a:rPr>
              <a:t>Un logiciel servant d'intermédiaire entre d'autres logiciels</a:t>
            </a:r>
            <a:endParaRPr sz="2000" dirty="0">
              <a:latin typeface="Times New Roman"/>
              <a:ea typeface="Times New Roman"/>
              <a:cs typeface="Times New Roman"/>
              <a:sym typeface="Times New Roman"/>
            </a:endParaRPr>
          </a:p>
          <a:p>
            <a:pPr marL="0" lvl="0" indent="0" algn="l" rtl="0">
              <a:spcBef>
                <a:spcPts val="0"/>
              </a:spcBef>
              <a:spcAft>
                <a:spcPts val="0"/>
              </a:spcAft>
              <a:buNone/>
            </a:pPr>
            <a:r>
              <a:rPr lang="fr-FR" sz="2000" dirty="0">
                <a:latin typeface="Times New Roman"/>
                <a:ea typeface="Times New Roman"/>
                <a:cs typeface="Times New Roman"/>
                <a:sym typeface="Times New Roman"/>
              </a:rPr>
              <a:t>Un intermédiaire de communication entre des applications complexes et distribuées</a:t>
            </a:r>
            <a:endParaRPr sz="2000" dirty="0">
              <a:latin typeface="Times New Roman"/>
              <a:ea typeface="Times New Roman"/>
              <a:cs typeface="Times New Roman"/>
              <a:sym typeface="Times New Roman"/>
            </a:endParaRPr>
          </a:p>
        </p:txBody>
      </p:sp>
      <p:sp>
        <p:nvSpPr>
          <p:cNvPr id="304" name="Google Shape;304;g25b1bb62912_0_50"/>
          <p:cNvSpPr txBox="1"/>
          <p:nvPr/>
        </p:nvSpPr>
        <p:spPr>
          <a:xfrm>
            <a:off x="831825" y="4559600"/>
            <a:ext cx="10127400" cy="1723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fr-FR" sz="2000">
                <a:latin typeface="Times New Roman"/>
                <a:ea typeface="Times New Roman"/>
                <a:cs typeface="Times New Roman"/>
                <a:sym typeface="Times New Roman"/>
              </a:rPr>
              <a:t>Le middleware joue un rôle essentiel en simplifiant la communication et l'intégration entre applications, services ou composants logiciels dans un environnement distribué. Il agit comme une couche d'abstraction, permettant aux différents éléments du système de travailler harmonieusement ensemble, indépendamment de leurs différences techniques, langages de programmation ou plates-formes de développement.</a:t>
            </a:r>
            <a:endParaRPr sz="2000">
              <a:latin typeface="Times New Roman"/>
              <a:ea typeface="Times New Roman"/>
              <a:cs typeface="Times New Roman"/>
              <a:sym typeface="Times New Roman"/>
            </a:endParaRPr>
          </a:p>
        </p:txBody>
      </p:sp>
      <p:pic>
        <p:nvPicPr>
          <p:cNvPr id="1026" name="Picture 2">
            <a:extLst>
              <a:ext uri="{FF2B5EF4-FFF2-40B4-BE49-F238E27FC236}">
                <a16:creationId xmlns:a16="http://schemas.microsoft.com/office/drawing/2014/main" id="{A9F59778-C753-6BB5-766B-00DA306B20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84981" y="2245133"/>
            <a:ext cx="6457420" cy="2601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610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pic>
        <p:nvPicPr>
          <p:cNvPr id="296" name="Google Shape;296;g25b1bb62912_0_50" descr="Picture 2"/>
          <p:cNvPicPr preferRelativeResize="0"/>
          <p:nvPr/>
        </p:nvPicPr>
        <p:blipFill rotWithShape="1">
          <a:blip r:embed="rId3">
            <a:alphaModFix/>
          </a:blip>
          <a:srcRect/>
          <a:stretch/>
        </p:blipFill>
        <p:spPr>
          <a:xfrm>
            <a:off x="-3894" y="-28242"/>
            <a:ext cx="12652622" cy="6886241"/>
          </a:xfrm>
          <a:prstGeom prst="rect">
            <a:avLst/>
          </a:prstGeom>
          <a:noFill/>
          <a:ln>
            <a:noFill/>
          </a:ln>
        </p:spPr>
      </p:pic>
      <p:pic>
        <p:nvPicPr>
          <p:cNvPr id="297" name="Google Shape;297;g25b1bb62912_0_50"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298" name="Google Shape;298;g25b1bb62912_0_50"/>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20</a:t>
            </a:fld>
            <a:endParaRPr/>
          </a:p>
        </p:txBody>
      </p:sp>
      <p:pic>
        <p:nvPicPr>
          <p:cNvPr id="299" name="Google Shape;299;g25b1bb62912_0_50" descr="Picture 3"/>
          <p:cNvPicPr preferRelativeResize="0"/>
          <p:nvPr/>
        </p:nvPicPr>
        <p:blipFill rotWithShape="1">
          <a:blip r:embed="rId5">
            <a:alphaModFix/>
          </a:blip>
          <a:srcRect/>
          <a:stretch/>
        </p:blipFill>
        <p:spPr>
          <a:xfrm flipH="1">
            <a:off x="9157191" y="-424855"/>
            <a:ext cx="3978841" cy="2344124"/>
          </a:xfrm>
          <a:prstGeom prst="rect">
            <a:avLst/>
          </a:prstGeom>
          <a:noFill/>
          <a:ln>
            <a:noFill/>
          </a:ln>
        </p:spPr>
      </p:pic>
      <p:sp>
        <p:nvSpPr>
          <p:cNvPr id="301" name="Google Shape;301;g25b1bb62912_0_50"/>
          <p:cNvSpPr txBox="1"/>
          <p:nvPr/>
        </p:nvSpPr>
        <p:spPr>
          <a:xfrm>
            <a:off x="1503500" y="53651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Middlewares : intergiciel</a:t>
            </a:r>
            <a:endParaRPr dirty="0">
              <a:sym typeface="Times New Roman"/>
            </a:endParaRPr>
          </a:p>
        </p:txBody>
      </p:sp>
      <p:pic>
        <p:nvPicPr>
          <p:cNvPr id="3" name="Image 2">
            <a:extLst>
              <a:ext uri="{FF2B5EF4-FFF2-40B4-BE49-F238E27FC236}">
                <a16:creationId xmlns:a16="http://schemas.microsoft.com/office/drawing/2014/main" id="{D58F1684-A4A5-0ED6-97EC-59407D9BEA5D}"/>
              </a:ext>
            </a:extLst>
          </p:cNvPr>
          <p:cNvPicPr>
            <a:picLocks noChangeAspect="1"/>
          </p:cNvPicPr>
          <p:nvPr/>
        </p:nvPicPr>
        <p:blipFill>
          <a:blip r:embed="rId6"/>
          <a:stretch>
            <a:fillRect/>
          </a:stretch>
        </p:blipFill>
        <p:spPr>
          <a:xfrm>
            <a:off x="2547132" y="1738786"/>
            <a:ext cx="5896957" cy="2579237"/>
          </a:xfrm>
          <a:prstGeom prst="rect">
            <a:avLst/>
          </a:prstGeom>
        </p:spPr>
      </p:pic>
      <p:sp>
        <p:nvSpPr>
          <p:cNvPr id="2" name="Google Shape;443;p15">
            <a:extLst>
              <a:ext uri="{FF2B5EF4-FFF2-40B4-BE49-F238E27FC236}">
                <a16:creationId xmlns:a16="http://schemas.microsoft.com/office/drawing/2014/main" id="{AD819112-AF63-3DC0-5D42-45FCAA64DC95}"/>
              </a:ext>
            </a:extLst>
          </p:cNvPr>
          <p:cNvSpPr txBox="1"/>
          <p:nvPr/>
        </p:nvSpPr>
        <p:spPr>
          <a:xfrm>
            <a:off x="648298" y="4766795"/>
            <a:ext cx="11769479" cy="877784"/>
          </a:xfrm>
          <a:prstGeom prst="rect">
            <a:avLst/>
          </a:prstGeom>
          <a:noFill/>
          <a:ln>
            <a:noFill/>
          </a:ln>
        </p:spPr>
        <p:txBody>
          <a:bodyPr spcFirstLastPara="1" wrap="square" lIns="0" tIns="48875" rIns="0" bIns="0" anchor="t" anchorCtr="0">
            <a:spAutoFit/>
          </a:bodyPr>
          <a:lstStyle/>
          <a:p>
            <a:pPr marL="12700" marR="0" lvl="0" indent="0" algn="l" rtl="0">
              <a:lnSpc>
                <a:spcPct val="100000"/>
              </a:lnSpc>
              <a:spcBef>
                <a:spcPts val="0"/>
              </a:spcBef>
              <a:spcAft>
                <a:spcPts val="0"/>
              </a:spcAft>
              <a:buNone/>
            </a:pPr>
            <a:r>
              <a:rPr lang="fr-FR" sz="1600" b="1" dirty="0">
                <a:solidFill>
                  <a:schemeClr val="dk1"/>
                </a:solidFill>
                <a:latin typeface="Arial"/>
                <a:ea typeface="Arial"/>
                <a:cs typeface="Arial"/>
                <a:sym typeface="Arial"/>
              </a:rPr>
              <a:t>Rôles de base d’un middleware:</a:t>
            </a:r>
            <a:endParaRPr sz="1600" dirty="0">
              <a:solidFill>
                <a:schemeClr val="dk1"/>
              </a:solidFill>
              <a:latin typeface="Arial"/>
              <a:ea typeface="Arial"/>
              <a:cs typeface="Arial"/>
              <a:sym typeface="Arial"/>
            </a:endParaRPr>
          </a:p>
          <a:p>
            <a:pPr marL="408940" marR="0" lvl="0" indent="-341630" algn="l" rtl="0">
              <a:lnSpc>
                <a:spcPct val="100000"/>
              </a:lnSpc>
              <a:spcBef>
                <a:spcPts val="290"/>
              </a:spcBef>
              <a:spcAft>
                <a:spcPts val="0"/>
              </a:spcAft>
              <a:buClr>
                <a:schemeClr val="dk1"/>
              </a:buClr>
              <a:buSzPts val="1600"/>
              <a:buFont typeface="Noto Sans Symbols"/>
              <a:buChar char="▪"/>
            </a:pPr>
            <a:r>
              <a:rPr lang="fr-FR" sz="1600" dirty="0">
                <a:solidFill>
                  <a:schemeClr val="dk1"/>
                </a:solidFill>
                <a:latin typeface="Arial"/>
                <a:ea typeface="Arial"/>
                <a:cs typeface="Arial"/>
                <a:sym typeface="Arial"/>
              </a:rPr>
              <a:t>Résoudre l’</a:t>
            </a:r>
            <a:r>
              <a:rPr lang="fr-FR" sz="1600" b="1" dirty="0" err="1">
                <a:solidFill>
                  <a:srgbClr val="C00000"/>
                </a:solidFill>
                <a:latin typeface="Arial"/>
                <a:ea typeface="Arial"/>
                <a:cs typeface="Arial"/>
                <a:sym typeface="Arial"/>
              </a:rPr>
              <a:t>intéropérabilité</a:t>
            </a:r>
            <a:r>
              <a:rPr lang="fr-FR" sz="1600" b="1" dirty="0">
                <a:solidFill>
                  <a:srgbClr val="C00000"/>
                </a:solidFill>
                <a:latin typeface="Arial"/>
                <a:ea typeface="Arial"/>
                <a:cs typeface="Arial"/>
                <a:sym typeface="Arial"/>
              </a:rPr>
              <a:t> </a:t>
            </a:r>
            <a:r>
              <a:rPr lang="fr-FR" sz="1600" dirty="0">
                <a:solidFill>
                  <a:schemeClr val="dk1"/>
                </a:solidFill>
                <a:latin typeface="Arial"/>
                <a:ea typeface="Arial"/>
                <a:cs typeface="Arial"/>
                <a:sym typeface="Arial"/>
              </a:rPr>
              <a:t>: Unifier l’accès à des machines distantes</a:t>
            </a:r>
            <a:endParaRPr sz="1600" dirty="0">
              <a:solidFill>
                <a:schemeClr val="dk1"/>
              </a:solidFill>
              <a:latin typeface="Arial"/>
              <a:ea typeface="Arial"/>
              <a:cs typeface="Arial"/>
              <a:sym typeface="Arial"/>
            </a:endParaRPr>
          </a:p>
          <a:p>
            <a:pPr marL="408940" marR="0" lvl="0" indent="-341630" algn="l" rtl="0">
              <a:lnSpc>
                <a:spcPct val="100000"/>
              </a:lnSpc>
              <a:spcBef>
                <a:spcPts val="409"/>
              </a:spcBef>
              <a:spcAft>
                <a:spcPts val="0"/>
              </a:spcAft>
              <a:buClr>
                <a:schemeClr val="dk1"/>
              </a:buClr>
              <a:buSzPts val="1600"/>
              <a:buFont typeface="Noto Sans Symbols"/>
              <a:buChar char="▪"/>
            </a:pPr>
            <a:r>
              <a:rPr lang="fr-FR" sz="1600" dirty="0">
                <a:solidFill>
                  <a:schemeClr val="dk1"/>
                </a:solidFill>
                <a:latin typeface="Arial"/>
                <a:ea typeface="Arial"/>
                <a:cs typeface="Arial"/>
                <a:sym typeface="Arial"/>
              </a:rPr>
              <a:t>Résoudre l’</a:t>
            </a:r>
            <a:r>
              <a:rPr lang="fr-FR" sz="1600" b="1" dirty="0">
                <a:solidFill>
                  <a:srgbClr val="C00000"/>
                </a:solidFill>
                <a:latin typeface="Arial"/>
                <a:ea typeface="Arial"/>
                <a:cs typeface="Arial"/>
                <a:sym typeface="Arial"/>
              </a:rPr>
              <a:t>hétérogénéité </a:t>
            </a:r>
            <a:r>
              <a:rPr lang="fr-FR" sz="1600" dirty="0">
                <a:solidFill>
                  <a:schemeClr val="dk1"/>
                </a:solidFill>
                <a:latin typeface="Arial"/>
                <a:ea typeface="Arial"/>
                <a:cs typeface="Arial"/>
                <a:sym typeface="Arial"/>
              </a:rPr>
              <a:t>: </a:t>
            </a:r>
            <a:r>
              <a:rPr lang="fr-FR" sz="1600" dirty="0" err="1">
                <a:solidFill>
                  <a:schemeClr val="dk1"/>
                </a:solidFill>
                <a:latin typeface="Arial"/>
                <a:ea typeface="Arial"/>
                <a:cs typeface="Arial"/>
                <a:sym typeface="Arial"/>
              </a:rPr>
              <a:t>Etre</a:t>
            </a:r>
            <a:r>
              <a:rPr lang="fr-FR" sz="1600" dirty="0">
                <a:solidFill>
                  <a:schemeClr val="dk1"/>
                </a:solidFill>
                <a:latin typeface="Arial"/>
                <a:ea typeface="Arial"/>
                <a:cs typeface="Arial"/>
                <a:sym typeface="Arial"/>
              </a:rPr>
              <a:t> indépendant des systèmes d’exploitation et du langage de </a:t>
            </a:r>
            <a:r>
              <a:rPr lang="fr-FR" sz="1600" dirty="0" err="1">
                <a:solidFill>
                  <a:schemeClr val="dk1"/>
                </a:solidFill>
                <a:latin typeface="Arial"/>
                <a:ea typeface="Arial"/>
                <a:cs typeface="Arial"/>
                <a:sym typeface="Arial"/>
              </a:rPr>
              <a:t>programmatio</a:t>
            </a:r>
            <a:r>
              <a:rPr lang="fr-FR" sz="1600" dirty="0">
                <a:solidFill>
                  <a:schemeClr val="dk1"/>
                </a:solidFill>
                <a:latin typeface="Arial"/>
                <a:ea typeface="Arial"/>
                <a:cs typeface="Arial"/>
                <a:sym typeface="Arial"/>
              </a:rPr>
              <a:t> des applications</a:t>
            </a:r>
          </a:p>
        </p:txBody>
      </p:sp>
    </p:spTree>
    <p:extLst>
      <p:ext uri="{BB962C8B-B14F-4D97-AF65-F5344CB8AC3E}">
        <p14:creationId xmlns:p14="http://schemas.microsoft.com/office/powerpoint/2010/main" val="253498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B8A7DEBC-CD9B-EC23-7E9B-C90AAF8CE6F3}"/>
              </a:ext>
            </a:extLst>
          </p:cNvPr>
          <p:cNvPicPr preferRelativeResize="0"/>
          <p:nvPr/>
        </p:nvPicPr>
        <p:blipFill rotWithShape="1">
          <a:blip r:embed="rId3">
            <a:alphaModFix/>
          </a:blip>
          <a:srcRect/>
          <a:stretch/>
        </p:blipFill>
        <p:spPr>
          <a:xfrm>
            <a:off x="-3894" y="-28242"/>
            <a:ext cx="12652622" cy="6886241"/>
          </a:xfrm>
          <a:prstGeom prst="rect">
            <a:avLst/>
          </a:prstGeom>
          <a:noFill/>
          <a:ln>
            <a:noFill/>
          </a:ln>
        </p:spPr>
      </p:pic>
      <p:sp>
        <p:nvSpPr>
          <p:cNvPr id="454" name="Google Shape;454;p16"/>
          <p:cNvSpPr/>
          <p:nvPr/>
        </p:nvSpPr>
        <p:spPr>
          <a:xfrm>
            <a:off x="349227" y="1326892"/>
            <a:ext cx="12039600" cy="51346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5" name="Google Shape;455;p16"/>
          <p:cNvSpPr txBox="1"/>
          <p:nvPr/>
        </p:nvSpPr>
        <p:spPr>
          <a:xfrm>
            <a:off x="713943" y="1314342"/>
            <a:ext cx="9192057" cy="2605200"/>
          </a:xfrm>
          <a:prstGeom prst="rect">
            <a:avLst/>
          </a:prstGeom>
          <a:noFill/>
          <a:ln>
            <a:noFill/>
          </a:ln>
        </p:spPr>
        <p:txBody>
          <a:bodyPr spcFirstLastPara="1" wrap="square" lIns="0" tIns="93325" rIns="0" bIns="0" anchor="t" anchorCtr="0">
            <a:spAutoFit/>
          </a:bodyPr>
          <a:lstStyle/>
          <a:p>
            <a:pPr marL="356870" marR="0" lvl="0" indent="-344805" algn="l" rtl="0">
              <a:lnSpc>
                <a:spcPct val="100000"/>
              </a:lnSpc>
              <a:spcBef>
                <a:spcPts val="0"/>
              </a:spcBef>
              <a:spcAft>
                <a:spcPts val="0"/>
              </a:spcAft>
              <a:buClr>
                <a:schemeClr val="dk1"/>
              </a:buClr>
              <a:buSzPts val="2000"/>
              <a:buFont typeface="Arial"/>
              <a:buChar char="•"/>
            </a:pPr>
            <a:r>
              <a:rPr lang="fr-FR" sz="2000" dirty="0">
                <a:solidFill>
                  <a:schemeClr val="dk1"/>
                </a:solidFill>
                <a:latin typeface="Arial"/>
                <a:ea typeface="Arial"/>
                <a:cs typeface="Arial"/>
                <a:sym typeface="Arial"/>
              </a:rPr>
              <a:t>Solutions existantes:</a:t>
            </a:r>
            <a:endParaRPr sz="2000" dirty="0">
              <a:solidFill>
                <a:schemeClr val="dk1"/>
              </a:solidFill>
              <a:latin typeface="Arial"/>
              <a:ea typeface="Arial"/>
              <a:cs typeface="Arial"/>
              <a:sym typeface="Arial"/>
            </a:endParaRPr>
          </a:p>
          <a:p>
            <a:pPr marL="756285" marR="0" lvl="1" indent="-287654" algn="l" rtl="0">
              <a:lnSpc>
                <a:spcPct val="100000"/>
              </a:lnSpc>
              <a:spcBef>
                <a:spcPts val="520"/>
              </a:spcBef>
              <a:spcAft>
                <a:spcPts val="0"/>
              </a:spcAft>
              <a:buClr>
                <a:schemeClr val="dk1"/>
              </a:buClr>
              <a:buSzPts val="1800"/>
              <a:buFont typeface="Arial"/>
              <a:buChar char="–"/>
            </a:pPr>
            <a:r>
              <a:rPr lang="fr-FR" sz="1800" b="0" i="0" u="none" strike="noStrike" cap="none" dirty="0">
                <a:solidFill>
                  <a:schemeClr val="dk1"/>
                </a:solidFill>
                <a:latin typeface="Arial"/>
                <a:ea typeface="Arial"/>
                <a:cs typeface="Arial"/>
                <a:sym typeface="Arial"/>
              </a:rPr>
              <a:t>DCOM,</a:t>
            </a:r>
            <a:endParaRPr sz="1800" b="0" i="0" u="none" strike="noStrike" cap="none" dirty="0">
              <a:solidFill>
                <a:schemeClr val="dk1"/>
              </a:solidFill>
              <a:latin typeface="Arial"/>
              <a:ea typeface="Arial"/>
              <a:cs typeface="Arial"/>
              <a:sym typeface="Arial"/>
            </a:endParaRPr>
          </a:p>
          <a:p>
            <a:pPr marL="753110" marR="0" lvl="1" indent="-284479" algn="l" rtl="0">
              <a:lnSpc>
                <a:spcPct val="100000"/>
              </a:lnSpc>
              <a:spcBef>
                <a:spcPts val="505"/>
              </a:spcBef>
              <a:spcAft>
                <a:spcPts val="0"/>
              </a:spcAft>
              <a:buClr>
                <a:schemeClr val="dk1"/>
              </a:buClr>
              <a:buSzPts val="1800"/>
              <a:buFont typeface="Arial"/>
              <a:buChar char="–"/>
            </a:pPr>
            <a:r>
              <a:rPr lang="fr-FR" sz="1800" b="0" i="0" u="none" strike="noStrike" cap="none" dirty="0">
                <a:solidFill>
                  <a:schemeClr val="dk1"/>
                </a:solidFill>
                <a:latin typeface="Arial"/>
                <a:ea typeface="Arial"/>
                <a:cs typeface="Arial"/>
                <a:sym typeface="Arial"/>
              </a:rPr>
              <a:t>.NET </a:t>
            </a:r>
            <a:r>
              <a:rPr lang="fr-FR" sz="1800" b="0" i="0" u="none" strike="noStrike" cap="none" dirty="0" err="1">
                <a:solidFill>
                  <a:schemeClr val="dk1"/>
                </a:solidFill>
                <a:latin typeface="Arial"/>
                <a:ea typeface="Arial"/>
                <a:cs typeface="Arial"/>
                <a:sym typeface="Arial"/>
              </a:rPr>
              <a:t>Remoting</a:t>
            </a:r>
            <a:endParaRPr sz="1800" b="0" i="0" u="none" strike="noStrike" cap="none" dirty="0">
              <a:solidFill>
                <a:schemeClr val="dk1"/>
              </a:solidFill>
              <a:latin typeface="Arial"/>
              <a:ea typeface="Arial"/>
              <a:cs typeface="Arial"/>
              <a:sym typeface="Arial"/>
            </a:endParaRPr>
          </a:p>
          <a:p>
            <a:pPr marL="1210310" marR="0" lvl="2" indent="-284480" algn="l" rtl="0">
              <a:spcBef>
                <a:spcPts val="505"/>
              </a:spcBef>
              <a:spcAft>
                <a:spcPts val="0"/>
              </a:spcAft>
              <a:buClr>
                <a:schemeClr val="dk1"/>
              </a:buClr>
              <a:buSzPts val="1400"/>
              <a:buFont typeface="Arial"/>
              <a:buChar char="•"/>
            </a:pPr>
            <a:r>
              <a:rPr lang="fr-FR" sz="1400" b="0" i="0" u="none" strike="noStrike" cap="none" dirty="0" err="1">
                <a:solidFill>
                  <a:schemeClr val="dk1"/>
                </a:solidFill>
                <a:latin typeface="Arial"/>
                <a:ea typeface="Arial"/>
                <a:cs typeface="Arial"/>
                <a:sym typeface="Arial"/>
              </a:rPr>
              <a:t>Middlware</a:t>
            </a:r>
            <a:r>
              <a:rPr lang="fr-FR" sz="1400" b="0" i="0" u="none" strike="noStrike" cap="none" dirty="0">
                <a:solidFill>
                  <a:schemeClr val="dk1"/>
                </a:solidFill>
                <a:latin typeface="Arial"/>
                <a:ea typeface="Arial"/>
                <a:cs typeface="Arial"/>
                <a:sym typeface="Arial"/>
              </a:rPr>
              <a:t> .Net</a:t>
            </a:r>
            <a:endParaRPr sz="1400" b="0" i="0" u="none" strike="noStrike" cap="none" dirty="0">
              <a:solidFill>
                <a:schemeClr val="dk1"/>
              </a:solidFill>
              <a:latin typeface="Arial"/>
              <a:ea typeface="Arial"/>
              <a:cs typeface="Arial"/>
              <a:sym typeface="Arial"/>
            </a:endParaRPr>
          </a:p>
          <a:p>
            <a:pPr marL="756285" marR="0" lvl="1" indent="-287654" algn="l" rtl="0">
              <a:lnSpc>
                <a:spcPct val="100000"/>
              </a:lnSpc>
              <a:spcBef>
                <a:spcPts val="505"/>
              </a:spcBef>
              <a:spcAft>
                <a:spcPts val="0"/>
              </a:spcAft>
              <a:buClr>
                <a:schemeClr val="dk1"/>
              </a:buClr>
              <a:buSzPts val="1800"/>
              <a:buFont typeface="Arial"/>
              <a:buChar char="–"/>
            </a:pPr>
            <a:r>
              <a:rPr lang="fr-FR" sz="1800" b="0" i="0" u="none" strike="noStrike" cap="none" dirty="0">
                <a:solidFill>
                  <a:schemeClr val="dk1"/>
                </a:solidFill>
                <a:latin typeface="Arial"/>
                <a:ea typeface="Arial"/>
                <a:cs typeface="Arial"/>
                <a:sym typeface="Arial"/>
              </a:rPr>
              <a:t>RMI (</a:t>
            </a:r>
            <a:r>
              <a:rPr lang="fr-FR" sz="1800" b="0" i="0" u="none" strike="noStrike" cap="none" dirty="0" err="1">
                <a:solidFill>
                  <a:schemeClr val="dk1"/>
                </a:solidFill>
                <a:latin typeface="Arial"/>
                <a:ea typeface="Arial"/>
                <a:cs typeface="Arial"/>
                <a:sym typeface="Arial"/>
              </a:rPr>
              <a:t>Remote</a:t>
            </a:r>
            <a:r>
              <a:rPr lang="fr-FR" sz="1800" b="0" i="0" u="none" strike="noStrike" cap="none" dirty="0">
                <a:solidFill>
                  <a:schemeClr val="dk1"/>
                </a:solidFill>
                <a:latin typeface="Arial"/>
                <a:ea typeface="Arial"/>
                <a:cs typeface="Arial"/>
                <a:sym typeface="Arial"/>
              </a:rPr>
              <a:t> Method Invocation)</a:t>
            </a:r>
            <a:endParaRPr dirty="0"/>
          </a:p>
          <a:p>
            <a:pPr marL="1213485" marR="0" lvl="2" indent="-287655" algn="l" rtl="0">
              <a:spcBef>
                <a:spcPts val="505"/>
              </a:spcBef>
              <a:spcAft>
                <a:spcPts val="0"/>
              </a:spcAft>
              <a:buClr>
                <a:schemeClr val="dk1"/>
              </a:buClr>
              <a:buSzPts val="1400"/>
              <a:buFont typeface="Arial"/>
              <a:buChar char="•"/>
            </a:pPr>
            <a:r>
              <a:rPr lang="fr-FR" sz="1400" b="0" i="0" u="none" strike="noStrike" cap="none" dirty="0" err="1">
                <a:solidFill>
                  <a:schemeClr val="dk1"/>
                </a:solidFill>
                <a:latin typeface="Arial"/>
                <a:ea typeface="Arial"/>
                <a:cs typeface="Arial"/>
                <a:sym typeface="Arial"/>
              </a:rPr>
              <a:t>Middlware</a:t>
            </a:r>
            <a:r>
              <a:rPr lang="fr-FR" sz="1400" b="0" i="0" u="none" strike="noStrike" cap="none" dirty="0">
                <a:solidFill>
                  <a:schemeClr val="dk1"/>
                </a:solidFill>
                <a:latin typeface="Arial"/>
                <a:ea typeface="Arial"/>
                <a:cs typeface="Arial"/>
                <a:sym typeface="Arial"/>
              </a:rPr>
              <a:t> Java permet de faire communiquer des </a:t>
            </a:r>
            <a:r>
              <a:rPr lang="fr-FR" sz="1400" b="0" i="1" u="none" strike="noStrike" cap="none" dirty="0">
                <a:solidFill>
                  <a:schemeClr val="dk1"/>
                </a:solidFill>
                <a:latin typeface="Arial"/>
                <a:ea typeface="Arial"/>
                <a:cs typeface="Arial"/>
                <a:sym typeface="Arial"/>
              </a:rPr>
              <a:t>objets</a:t>
            </a:r>
            <a:r>
              <a:rPr lang="fr-FR" sz="1400" b="0" i="0" u="none" strike="noStrike" cap="none" dirty="0">
                <a:solidFill>
                  <a:schemeClr val="dk1"/>
                </a:solidFill>
                <a:latin typeface="Arial"/>
                <a:ea typeface="Arial"/>
                <a:cs typeface="Arial"/>
                <a:sym typeface="Arial"/>
              </a:rPr>
              <a:t> </a:t>
            </a:r>
            <a:r>
              <a:rPr lang="fr-FR" sz="1400" b="0" i="1" u="none" strike="noStrike" cap="none" dirty="0">
                <a:solidFill>
                  <a:schemeClr val="dk1"/>
                </a:solidFill>
                <a:latin typeface="Arial"/>
                <a:ea typeface="Arial"/>
                <a:cs typeface="Arial"/>
                <a:sym typeface="Arial"/>
              </a:rPr>
              <a:t>java</a:t>
            </a:r>
            <a:r>
              <a:rPr lang="fr-FR" sz="1400" b="0" i="0" u="none" strike="noStrike" cap="none" dirty="0">
                <a:solidFill>
                  <a:schemeClr val="dk1"/>
                </a:solidFill>
                <a:latin typeface="Arial"/>
                <a:ea typeface="Arial"/>
                <a:cs typeface="Arial"/>
                <a:sym typeface="Arial"/>
              </a:rPr>
              <a:t> </a:t>
            </a:r>
            <a:r>
              <a:rPr lang="fr-FR" sz="1400" b="1" i="0" u="none" strike="noStrike" cap="none" dirty="0">
                <a:solidFill>
                  <a:schemeClr val="dk1"/>
                </a:solidFill>
                <a:latin typeface="Arial"/>
                <a:ea typeface="Arial"/>
                <a:cs typeface="Arial"/>
                <a:sym typeface="Arial"/>
              </a:rPr>
              <a:t>distribués</a:t>
            </a:r>
            <a:r>
              <a:rPr lang="fr-FR" sz="1400" b="0" i="0" u="none" strike="noStrike" cap="none" dirty="0">
                <a:solidFill>
                  <a:schemeClr val="dk1"/>
                </a:solidFill>
                <a:latin typeface="Arial"/>
                <a:ea typeface="Arial"/>
                <a:cs typeface="Arial"/>
                <a:sym typeface="Arial"/>
              </a:rPr>
              <a:t> sur le réseau</a:t>
            </a:r>
            <a:endParaRPr sz="1400" b="0" i="0" u="none" strike="noStrike" cap="none" dirty="0">
              <a:solidFill>
                <a:schemeClr val="dk1"/>
              </a:solidFill>
              <a:latin typeface="Arial"/>
              <a:ea typeface="Arial"/>
              <a:cs typeface="Arial"/>
              <a:sym typeface="Arial"/>
            </a:endParaRPr>
          </a:p>
          <a:p>
            <a:pPr marL="756285" marR="0" lvl="1" indent="-287654" algn="l" rtl="0">
              <a:spcBef>
                <a:spcPts val="480"/>
              </a:spcBef>
              <a:spcAft>
                <a:spcPts val="0"/>
              </a:spcAft>
              <a:buClr>
                <a:schemeClr val="dk1"/>
              </a:buClr>
              <a:buSzPts val="1800"/>
              <a:buFont typeface="Arial"/>
              <a:buChar char="–"/>
            </a:pPr>
            <a:r>
              <a:rPr lang="fr-FR" sz="1800" b="0" i="0" u="none" strike="noStrike" cap="none" dirty="0">
                <a:solidFill>
                  <a:schemeClr val="dk1"/>
                </a:solidFill>
                <a:latin typeface="Arial"/>
                <a:ea typeface="Arial"/>
                <a:cs typeface="Arial"/>
                <a:sym typeface="Arial"/>
              </a:rPr>
              <a:t>CORBA (Common Object </a:t>
            </a:r>
            <a:r>
              <a:rPr lang="fr-FR" sz="1800" b="0" i="0" u="none" strike="noStrike" cap="none" dirty="0" err="1">
                <a:solidFill>
                  <a:schemeClr val="dk1"/>
                </a:solidFill>
                <a:latin typeface="Arial"/>
                <a:ea typeface="Arial"/>
                <a:cs typeface="Arial"/>
                <a:sym typeface="Arial"/>
              </a:rPr>
              <a:t>Request</a:t>
            </a:r>
            <a:r>
              <a:rPr lang="fr-FR" sz="1800" b="0" i="0" u="none" strike="noStrike" cap="none" dirty="0">
                <a:solidFill>
                  <a:schemeClr val="dk1"/>
                </a:solidFill>
                <a:latin typeface="Arial"/>
                <a:ea typeface="Arial"/>
                <a:cs typeface="Arial"/>
                <a:sym typeface="Arial"/>
              </a:rPr>
              <a:t> Broker Architecture)</a:t>
            </a:r>
            <a:endParaRPr dirty="0"/>
          </a:p>
          <a:p>
            <a:pPr marL="1213485" marR="0" lvl="2" indent="-287655" algn="l" rtl="0">
              <a:spcBef>
                <a:spcPts val="480"/>
              </a:spcBef>
              <a:spcAft>
                <a:spcPts val="0"/>
              </a:spcAft>
              <a:buClr>
                <a:schemeClr val="dk1"/>
              </a:buClr>
              <a:buSzPts val="1400"/>
              <a:buFont typeface="Arial"/>
              <a:buChar char="•"/>
            </a:pPr>
            <a:r>
              <a:rPr lang="fr-FR" sz="1400" b="0" i="0" u="none" strike="noStrike" cap="none" dirty="0">
                <a:solidFill>
                  <a:schemeClr val="dk1"/>
                </a:solidFill>
                <a:latin typeface="Arial"/>
                <a:ea typeface="Arial"/>
                <a:cs typeface="Arial"/>
                <a:sym typeface="Arial"/>
              </a:rPr>
              <a:t>Permet de faire communiquer des objets écrits dans des langages différents (C++, Java, </a:t>
            </a:r>
            <a:r>
              <a:rPr lang="fr-FR" sz="1400" b="0" i="0" u="none" strike="noStrike" cap="none" dirty="0" err="1">
                <a:solidFill>
                  <a:schemeClr val="dk1"/>
                </a:solidFill>
                <a:latin typeface="Arial"/>
                <a:ea typeface="Arial"/>
                <a:cs typeface="Arial"/>
                <a:sym typeface="Arial"/>
              </a:rPr>
              <a:t>Smalltalk</a:t>
            </a:r>
            <a:r>
              <a:rPr lang="fr-FR" sz="1400" b="0" i="0" u="none" strike="noStrike" cap="none" dirty="0">
                <a:solidFill>
                  <a:schemeClr val="dk1"/>
                </a:solidFill>
                <a:latin typeface="Arial"/>
                <a:ea typeface="Arial"/>
                <a:cs typeface="Arial"/>
                <a:sym typeface="Arial"/>
              </a:rPr>
              <a:t>)</a:t>
            </a:r>
            <a:endParaRPr sz="1400" b="0" i="0" u="none" strike="noStrike" cap="none" dirty="0">
              <a:solidFill>
                <a:schemeClr val="dk1"/>
              </a:solidFill>
              <a:latin typeface="Arial"/>
              <a:ea typeface="Arial"/>
              <a:cs typeface="Arial"/>
              <a:sym typeface="Arial"/>
            </a:endParaRPr>
          </a:p>
        </p:txBody>
      </p:sp>
      <p:sp>
        <p:nvSpPr>
          <p:cNvPr id="456" name="Google Shape;456;p16"/>
          <p:cNvSpPr txBox="1"/>
          <p:nvPr/>
        </p:nvSpPr>
        <p:spPr>
          <a:xfrm>
            <a:off x="1143000" y="4114800"/>
            <a:ext cx="453390" cy="329565"/>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2000">
                <a:solidFill>
                  <a:srgbClr val="C00000"/>
                </a:solidFill>
                <a:latin typeface="Arial"/>
                <a:ea typeface="Arial"/>
                <a:cs typeface="Arial"/>
                <a:sym typeface="Arial"/>
              </a:rPr>
              <a:t>–	?</a:t>
            </a:r>
            <a:endParaRPr sz="2000">
              <a:solidFill>
                <a:srgbClr val="C00000"/>
              </a:solidFill>
              <a:latin typeface="Arial"/>
              <a:ea typeface="Arial"/>
              <a:cs typeface="Arial"/>
              <a:sym typeface="Arial"/>
            </a:endParaRPr>
          </a:p>
        </p:txBody>
      </p:sp>
      <p:grpSp>
        <p:nvGrpSpPr>
          <p:cNvPr id="457" name="Google Shape;457;p16"/>
          <p:cNvGrpSpPr/>
          <p:nvPr/>
        </p:nvGrpSpPr>
        <p:grpSpPr>
          <a:xfrm>
            <a:off x="1050290" y="4722268"/>
            <a:ext cx="9505188" cy="1510361"/>
            <a:chOff x="952500" y="4201667"/>
            <a:chExt cx="9619486" cy="2185416"/>
          </a:xfrm>
        </p:grpSpPr>
        <p:sp>
          <p:nvSpPr>
            <p:cNvPr id="458" name="Google Shape;458;p16"/>
            <p:cNvSpPr/>
            <p:nvPr/>
          </p:nvSpPr>
          <p:spPr>
            <a:xfrm>
              <a:off x="3619500" y="4858511"/>
              <a:ext cx="4381500" cy="856615"/>
            </a:xfrm>
            <a:custGeom>
              <a:avLst/>
              <a:gdLst/>
              <a:ahLst/>
              <a:cxnLst/>
              <a:rect l="l" t="t" r="r" b="b"/>
              <a:pathLst>
                <a:path w="4381500" h="856614" extrusionOk="0">
                  <a:moveTo>
                    <a:pt x="4381500" y="428244"/>
                  </a:moveTo>
                  <a:lnTo>
                    <a:pt x="4095623" y="213995"/>
                  </a:lnTo>
                  <a:lnTo>
                    <a:pt x="3810000" y="0"/>
                  </a:lnTo>
                  <a:lnTo>
                    <a:pt x="3810000" y="213995"/>
                  </a:lnTo>
                  <a:lnTo>
                    <a:pt x="571500" y="213995"/>
                  </a:lnTo>
                  <a:lnTo>
                    <a:pt x="571500" y="0"/>
                  </a:lnTo>
                  <a:lnTo>
                    <a:pt x="0" y="428244"/>
                  </a:lnTo>
                  <a:lnTo>
                    <a:pt x="571500" y="856488"/>
                  </a:lnTo>
                  <a:lnTo>
                    <a:pt x="571500" y="642366"/>
                  </a:lnTo>
                  <a:lnTo>
                    <a:pt x="3810000" y="642366"/>
                  </a:lnTo>
                  <a:lnTo>
                    <a:pt x="3810000" y="856488"/>
                  </a:lnTo>
                  <a:lnTo>
                    <a:pt x="4095623" y="642366"/>
                  </a:lnTo>
                  <a:lnTo>
                    <a:pt x="4381500" y="428244"/>
                  </a:lnTo>
                  <a:close/>
                </a:path>
              </a:pathLst>
            </a:custGeom>
            <a:solidFill>
              <a:srgbClr val="B8DFE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59" name="Google Shape;459;p16"/>
            <p:cNvSpPr/>
            <p:nvPr/>
          </p:nvSpPr>
          <p:spPr>
            <a:xfrm>
              <a:off x="3620261" y="4859273"/>
              <a:ext cx="4381500" cy="856615"/>
            </a:xfrm>
            <a:custGeom>
              <a:avLst/>
              <a:gdLst/>
              <a:ahLst/>
              <a:cxnLst/>
              <a:rect l="l" t="t" r="r" b="b"/>
              <a:pathLst>
                <a:path w="4381500" h="856614" extrusionOk="0">
                  <a:moveTo>
                    <a:pt x="0" y="428244"/>
                  </a:moveTo>
                  <a:lnTo>
                    <a:pt x="571500" y="0"/>
                  </a:lnTo>
                  <a:lnTo>
                    <a:pt x="571500" y="213994"/>
                  </a:lnTo>
                  <a:lnTo>
                    <a:pt x="3809999" y="213994"/>
                  </a:lnTo>
                  <a:lnTo>
                    <a:pt x="3809999" y="0"/>
                  </a:lnTo>
                  <a:lnTo>
                    <a:pt x="4381499" y="428244"/>
                  </a:lnTo>
                  <a:lnTo>
                    <a:pt x="3809999" y="856488"/>
                  </a:lnTo>
                  <a:lnTo>
                    <a:pt x="3809999" y="642366"/>
                  </a:lnTo>
                  <a:lnTo>
                    <a:pt x="571500" y="642366"/>
                  </a:lnTo>
                  <a:lnTo>
                    <a:pt x="571500" y="856488"/>
                  </a:lnTo>
                  <a:lnTo>
                    <a:pt x="0" y="428244"/>
                  </a:lnTo>
                  <a:close/>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0" name="Google Shape;460;p16"/>
            <p:cNvSpPr/>
            <p:nvPr/>
          </p:nvSpPr>
          <p:spPr>
            <a:xfrm>
              <a:off x="7144511" y="5929883"/>
              <a:ext cx="762000" cy="457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1" name="Google Shape;461;p16"/>
            <p:cNvSpPr/>
            <p:nvPr/>
          </p:nvSpPr>
          <p:spPr>
            <a:xfrm>
              <a:off x="8065007" y="4201667"/>
              <a:ext cx="2506979" cy="188213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2" name="Google Shape;462;p16"/>
            <p:cNvSpPr/>
            <p:nvPr/>
          </p:nvSpPr>
          <p:spPr>
            <a:xfrm>
              <a:off x="952500" y="4354067"/>
              <a:ext cx="2508504" cy="188213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463" name="Google Shape;463;p16"/>
          <p:cNvSpPr txBox="1"/>
          <p:nvPr/>
        </p:nvSpPr>
        <p:spPr>
          <a:xfrm>
            <a:off x="1573403" y="5994979"/>
            <a:ext cx="175577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Arial"/>
                <a:ea typeface="Arial"/>
                <a:cs typeface="Arial"/>
                <a:sym typeface="Arial"/>
              </a:rPr>
              <a:t>Application A</a:t>
            </a:r>
            <a:endParaRPr dirty="0"/>
          </a:p>
        </p:txBody>
      </p:sp>
      <p:grpSp>
        <p:nvGrpSpPr>
          <p:cNvPr id="464" name="Google Shape;464;p16"/>
          <p:cNvGrpSpPr/>
          <p:nvPr/>
        </p:nvGrpSpPr>
        <p:grpSpPr>
          <a:xfrm>
            <a:off x="4760976" y="4506467"/>
            <a:ext cx="2099437" cy="1500632"/>
            <a:chOff x="4760976" y="4506467"/>
            <a:chExt cx="2099437" cy="1500632"/>
          </a:xfrm>
        </p:grpSpPr>
        <p:sp>
          <p:nvSpPr>
            <p:cNvPr id="465" name="Google Shape;465;p16"/>
            <p:cNvSpPr/>
            <p:nvPr/>
          </p:nvSpPr>
          <p:spPr>
            <a:xfrm>
              <a:off x="4760976" y="4506467"/>
              <a:ext cx="2098675" cy="1499870"/>
            </a:xfrm>
            <a:custGeom>
              <a:avLst/>
              <a:gdLst/>
              <a:ahLst/>
              <a:cxnLst/>
              <a:rect l="l" t="t" r="r" b="b"/>
              <a:pathLst>
                <a:path w="2098675" h="1499870" extrusionOk="0">
                  <a:moveTo>
                    <a:pt x="2098167" y="719086"/>
                  </a:moveTo>
                  <a:lnTo>
                    <a:pt x="2093087" y="669925"/>
                  </a:lnTo>
                  <a:lnTo>
                    <a:pt x="2080133" y="621665"/>
                  </a:lnTo>
                  <a:lnTo>
                    <a:pt x="2059178" y="575310"/>
                  </a:lnTo>
                  <a:lnTo>
                    <a:pt x="2030222" y="531495"/>
                  </a:lnTo>
                  <a:lnTo>
                    <a:pt x="2033651" y="523367"/>
                  </a:lnTo>
                  <a:lnTo>
                    <a:pt x="2039493" y="506857"/>
                  </a:lnTo>
                  <a:lnTo>
                    <a:pt x="2042033" y="498348"/>
                  </a:lnTo>
                  <a:lnTo>
                    <a:pt x="2050669" y="447929"/>
                  </a:lnTo>
                  <a:lnTo>
                    <a:pt x="2048891" y="398272"/>
                  </a:lnTo>
                  <a:lnTo>
                    <a:pt x="2037461" y="350774"/>
                  </a:lnTo>
                  <a:lnTo>
                    <a:pt x="2017014" y="306578"/>
                  </a:lnTo>
                  <a:lnTo>
                    <a:pt x="1988439" y="267081"/>
                  </a:lnTo>
                  <a:lnTo>
                    <a:pt x="1952244" y="233299"/>
                  </a:lnTo>
                  <a:lnTo>
                    <a:pt x="1909318" y="206629"/>
                  </a:lnTo>
                  <a:lnTo>
                    <a:pt x="1860423" y="188341"/>
                  </a:lnTo>
                  <a:lnTo>
                    <a:pt x="1856867" y="175387"/>
                  </a:lnTo>
                  <a:lnTo>
                    <a:pt x="1849755" y="150114"/>
                  </a:lnTo>
                  <a:lnTo>
                    <a:pt x="1832597" y="114554"/>
                  </a:lnTo>
                  <a:lnTo>
                    <a:pt x="1832102" y="113919"/>
                  </a:lnTo>
                  <a:lnTo>
                    <a:pt x="1809496" y="82296"/>
                  </a:lnTo>
                  <a:lnTo>
                    <a:pt x="1807972" y="80899"/>
                  </a:lnTo>
                  <a:lnTo>
                    <a:pt x="1780794" y="54229"/>
                  </a:lnTo>
                  <a:lnTo>
                    <a:pt x="1735582" y="24892"/>
                  </a:lnTo>
                  <a:lnTo>
                    <a:pt x="1686306" y="6858"/>
                  </a:lnTo>
                  <a:lnTo>
                    <a:pt x="1634998" y="0"/>
                  </a:lnTo>
                  <a:lnTo>
                    <a:pt x="1583563" y="4191"/>
                  </a:lnTo>
                  <a:lnTo>
                    <a:pt x="1534033" y="19050"/>
                  </a:lnTo>
                  <a:lnTo>
                    <a:pt x="1488440" y="44704"/>
                  </a:lnTo>
                  <a:lnTo>
                    <a:pt x="1448689" y="80899"/>
                  </a:lnTo>
                  <a:lnTo>
                    <a:pt x="1432941" y="62992"/>
                  </a:lnTo>
                  <a:lnTo>
                    <a:pt x="1395857" y="33020"/>
                  </a:lnTo>
                  <a:lnTo>
                    <a:pt x="1321054" y="3429"/>
                  </a:lnTo>
                  <a:lnTo>
                    <a:pt x="1266317" y="0"/>
                  </a:lnTo>
                  <a:lnTo>
                    <a:pt x="1213104" y="10287"/>
                  </a:lnTo>
                  <a:lnTo>
                    <a:pt x="1164336" y="33274"/>
                  </a:lnTo>
                  <a:lnTo>
                    <a:pt x="1122680" y="68072"/>
                  </a:lnTo>
                  <a:lnTo>
                    <a:pt x="1090803" y="113919"/>
                  </a:lnTo>
                  <a:lnTo>
                    <a:pt x="1076960" y="101600"/>
                  </a:lnTo>
                  <a:lnTo>
                    <a:pt x="1030732" y="70866"/>
                  </a:lnTo>
                  <a:lnTo>
                    <a:pt x="975106" y="49657"/>
                  </a:lnTo>
                  <a:lnTo>
                    <a:pt x="917829" y="41402"/>
                  </a:lnTo>
                  <a:lnTo>
                    <a:pt x="861060" y="45847"/>
                  </a:lnTo>
                  <a:lnTo>
                    <a:pt x="806958" y="61976"/>
                  </a:lnTo>
                  <a:lnTo>
                    <a:pt x="757428" y="89408"/>
                  </a:lnTo>
                  <a:lnTo>
                    <a:pt x="714629" y="127381"/>
                  </a:lnTo>
                  <a:lnTo>
                    <a:pt x="680720" y="175387"/>
                  </a:lnTo>
                  <a:lnTo>
                    <a:pt x="631444" y="152400"/>
                  </a:lnTo>
                  <a:lnTo>
                    <a:pt x="579374" y="137795"/>
                  </a:lnTo>
                  <a:lnTo>
                    <a:pt x="525399" y="131699"/>
                  </a:lnTo>
                  <a:lnTo>
                    <a:pt x="470916" y="134493"/>
                  </a:lnTo>
                  <a:lnTo>
                    <a:pt x="418846" y="145542"/>
                  </a:lnTo>
                  <a:lnTo>
                    <a:pt x="370586" y="164211"/>
                  </a:lnTo>
                  <a:lnTo>
                    <a:pt x="326644" y="189484"/>
                  </a:lnTo>
                  <a:lnTo>
                    <a:pt x="287782" y="220853"/>
                  </a:lnTo>
                  <a:lnTo>
                    <a:pt x="254254" y="257556"/>
                  </a:lnTo>
                  <a:lnTo>
                    <a:pt x="226949" y="298704"/>
                  </a:lnTo>
                  <a:lnTo>
                    <a:pt x="206375" y="343535"/>
                  </a:lnTo>
                  <a:lnTo>
                    <a:pt x="193040" y="391541"/>
                  </a:lnTo>
                  <a:lnTo>
                    <a:pt x="187452" y="441833"/>
                  </a:lnTo>
                  <a:lnTo>
                    <a:pt x="190373" y="493649"/>
                  </a:lnTo>
                  <a:lnTo>
                    <a:pt x="188722" y="498348"/>
                  </a:lnTo>
                  <a:lnTo>
                    <a:pt x="96266" y="530098"/>
                  </a:lnTo>
                  <a:lnTo>
                    <a:pt x="58293" y="560578"/>
                  </a:lnTo>
                  <a:lnTo>
                    <a:pt x="28321" y="599313"/>
                  </a:lnTo>
                  <a:lnTo>
                    <a:pt x="8763" y="643001"/>
                  </a:lnTo>
                  <a:lnTo>
                    <a:pt x="0" y="688340"/>
                  </a:lnTo>
                  <a:lnTo>
                    <a:pt x="1651" y="733679"/>
                  </a:lnTo>
                  <a:lnTo>
                    <a:pt x="13335" y="777367"/>
                  </a:lnTo>
                  <a:lnTo>
                    <a:pt x="34544" y="817753"/>
                  </a:lnTo>
                  <a:lnTo>
                    <a:pt x="64770" y="853186"/>
                  </a:lnTo>
                  <a:lnTo>
                    <a:pt x="103759" y="881761"/>
                  </a:lnTo>
                  <a:lnTo>
                    <a:pt x="76073" y="917575"/>
                  </a:lnTo>
                  <a:lnTo>
                    <a:pt x="57277" y="957961"/>
                  </a:lnTo>
                  <a:lnTo>
                    <a:pt x="47752" y="1001395"/>
                  </a:lnTo>
                  <a:lnTo>
                    <a:pt x="48133" y="1046226"/>
                  </a:lnTo>
                  <a:lnTo>
                    <a:pt x="62230" y="1099566"/>
                  </a:lnTo>
                  <a:lnTo>
                    <a:pt x="89281" y="1145882"/>
                  </a:lnTo>
                  <a:lnTo>
                    <a:pt x="127127" y="1183436"/>
                  </a:lnTo>
                  <a:lnTo>
                    <a:pt x="173482" y="1210500"/>
                  </a:lnTo>
                  <a:lnTo>
                    <a:pt x="226187" y="1225346"/>
                  </a:lnTo>
                  <a:lnTo>
                    <a:pt x="282956" y="1226273"/>
                  </a:lnTo>
                  <a:lnTo>
                    <a:pt x="284226" y="1228483"/>
                  </a:lnTo>
                  <a:lnTo>
                    <a:pt x="318770" y="1277175"/>
                  </a:lnTo>
                  <a:lnTo>
                    <a:pt x="356108" y="1315491"/>
                  </a:lnTo>
                  <a:lnTo>
                    <a:pt x="398018" y="1347597"/>
                  </a:lnTo>
                  <a:lnTo>
                    <a:pt x="443611" y="1373314"/>
                  </a:lnTo>
                  <a:lnTo>
                    <a:pt x="492125" y="1392440"/>
                  </a:lnTo>
                  <a:lnTo>
                    <a:pt x="542798" y="1404785"/>
                  </a:lnTo>
                  <a:lnTo>
                    <a:pt x="594868" y="1410157"/>
                  </a:lnTo>
                  <a:lnTo>
                    <a:pt x="647573" y="1408353"/>
                  </a:lnTo>
                  <a:lnTo>
                    <a:pt x="699897" y="1399197"/>
                  </a:lnTo>
                  <a:lnTo>
                    <a:pt x="751332" y="1382483"/>
                  </a:lnTo>
                  <a:lnTo>
                    <a:pt x="800862" y="1358011"/>
                  </a:lnTo>
                  <a:lnTo>
                    <a:pt x="836168" y="1401025"/>
                  </a:lnTo>
                  <a:lnTo>
                    <a:pt x="878205" y="1437259"/>
                  </a:lnTo>
                  <a:lnTo>
                    <a:pt x="925830" y="1465961"/>
                  </a:lnTo>
                  <a:lnTo>
                    <a:pt x="978154" y="1486420"/>
                  </a:lnTo>
                  <a:lnTo>
                    <a:pt x="1036066" y="1498155"/>
                  </a:lnTo>
                  <a:lnTo>
                    <a:pt x="1093597" y="1499616"/>
                  </a:lnTo>
                  <a:lnTo>
                    <a:pt x="1149477" y="1491411"/>
                  </a:lnTo>
                  <a:lnTo>
                    <a:pt x="1202563" y="1474139"/>
                  </a:lnTo>
                  <a:lnTo>
                    <a:pt x="1251839" y="1448396"/>
                  </a:lnTo>
                  <a:lnTo>
                    <a:pt x="1296035" y="1414805"/>
                  </a:lnTo>
                  <a:lnTo>
                    <a:pt x="1334008" y="1373962"/>
                  </a:lnTo>
                  <a:lnTo>
                    <a:pt x="1364615" y="1326464"/>
                  </a:lnTo>
                  <a:lnTo>
                    <a:pt x="1386713" y="1272908"/>
                  </a:lnTo>
                  <a:lnTo>
                    <a:pt x="1420876" y="1290586"/>
                  </a:lnTo>
                  <a:lnTo>
                    <a:pt x="1456944" y="1303489"/>
                  </a:lnTo>
                  <a:lnTo>
                    <a:pt x="1494536" y="1311452"/>
                  </a:lnTo>
                  <a:lnTo>
                    <a:pt x="1533017" y="1314348"/>
                  </a:lnTo>
                  <a:lnTo>
                    <a:pt x="1589659" y="1309243"/>
                  </a:lnTo>
                  <a:lnTo>
                    <a:pt x="1642491" y="1293736"/>
                  </a:lnTo>
                  <a:lnTo>
                    <a:pt x="1682750" y="1272908"/>
                  </a:lnTo>
                  <a:lnTo>
                    <a:pt x="1732280" y="1235887"/>
                  </a:lnTo>
                  <a:lnTo>
                    <a:pt x="1766824" y="1195730"/>
                  </a:lnTo>
                  <a:lnTo>
                    <a:pt x="1793113" y="1149540"/>
                  </a:lnTo>
                  <a:lnTo>
                    <a:pt x="1809877" y="1098384"/>
                  </a:lnTo>
                  <a:lnTo>
                    <a:pt x="1816100" y="1043432"/>
                  </a:lnTo>
                  <a:lnTo>
                    <a:pt x="1857375" y="1035050"/>
                  </a:lnTo>
                  <a:lnTo>
                    <a:pt x="1934718" y="1003300"/>
                  </a:lnTo>
                  <a:lnTo>
                    <a:pt x="2009394" y="945515"/>
                  </a:lnTo>
                  <a:lnTo>
                    <a:pt x="2041906" y="905891"/>
                  </a:lnTo>
                  <a:lnTo>
                    <a:pt x="2067179" y="862457"/>
                  </a:lnTo>
                  <a:lnTo>
                    <a:pt x="2085086" y="816229"/>
                  </a:lnTo>
                  <a:lnTo>
                    <a:pt x="2095373" y="768096"/>
                  </a:lnTo>
                  <a:lnTo>
                    <a:pt x="2098167" y="719086"/>
                  </a:lnTo>
                  <a:close/>
                </a:path>
              </a:pathLst>
            </a:custGeom>
            <a:solidFill>
              <a:srgbClr val="B8DFE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6" name="Google Shape;466;p16"/>
            <p:cNvSpPr/>
            <p:nvPr/>
          </p:nvSpPr>
          <p:spPr>
            <a:xfrm>
              <a:off x="4761738" y="4507229"/>
              <a:ext cx="2098675" cy="1499870"/>
            </a:xfrm>
            <a:custGeom>
              <a:avLst/>
              <a:gdLst/>
              <a:ahLst/>
              <a:cxnLst/>
              <a:rect l="l" t="t" r="r" b="b"/>
              <a:pathLst>
                <a:path w="2098675" h="1499870" extrusionOk="0">
                  <a:moveTo>
                    <a:pt x="190373" y="493649"/>
                  </a:moveTo>
                  <a:lnTo>
                    <a:pt x="187451" y="441833"/>
                  </a:lnTo>
                  <a:lnTo>
                    <a:pt x="193039" y="391541"/>
                  </a:lnTo>
                  <a:lnTo>
                    <a:pt x="206375" y="343535"/>
                  </a:lnTo>
                  <a:lnTo>
                    <a:pt x="226949" y="298704"/>
                  </a:lnTo>
                  <a:lnTo>
                    <a:pt x="254253" y="257556"/>
                  </a:lnTo>
                  <a:lnTo>
                    <a:pt x="287782" y="220853"/>
                  </a:lnTo>
                  <a:lnTo>
                    <a:pt x="326644" y="189484"/>
                  </a:lnTo>
                  <a:lnTo>
                    <a:pt x="370586" y="164211"/>
                  </a:lnTo>
                  <a:lnTo>
                    <a:pt x="418846" y="145542"/>
                  </a:lnTo>
                  <a:lnTo>
                    <a:pt x="470915" y="134493"/>
                  </a:lnTo>
                  <a:lnTo>
                    <a:pt x="525399" y="131699"/>
                  </a:lnTo>
                  <a:lnTo>
                    <a:pt x="579374" y="137795"/>
                  </a:lnTo>
                  <a:lnTo>
                    <a:pt x="631444" y="152400"/>
                  </a:lnTo>
                  <a:lnTo>
                    <a:pt x="680720" y="175387"/>
                  </a:lnTo>
                  <a:lnTo>
                    <a:pt x="714628" y="127381"/>
                  </a:lnTo>
                  <a:lnTo>
                    <a:pt x="757427" y="89408"/>
                  </a:lnTo>
                  <a:lnTo>
                    <a:pt x="806958" y="61976"/>
                  </a:lnTo>
                  <a:lnTo>
                    <a:pt x="861060" y="45847"/>
                  </a:lnTo>
                  <a:lnTo>
                    <a:pt x="917828" y="41402"/>
                  </a:lnTo>
                  <a:lnTo>
                    <a:pt x="975106" y="49657"/>
                  </a:lnTo>
                  <a:lnTo>
                    <a:pt x="1030732" y="70866"/>
                  </a:lnTo>
                  <a:lnTo>
                    <a:pt x="1076960" y="101600"/>
                  </a:lnTo>
                  <a:lnTo>
                    <a:pt x="1090802" y="113919"/>
                  </a:lnTo>
                  <a:lnTo>
                    <a:pt x="1122679" y="68072"/>
                  </a:lnTo>
                  <a:lnTo>
                    <a:pt x="1164336" y="33274"/>
                  </a:lnTo>
                  <a:lnTo>
                    <a:pt x="1213103" y="10287"/>
                  </a:lnTo>
                  <a:lnTo>
                    <a:pt x="1266316" y="0"/>
                  </a:lnTo>
                  <a:lnTo>
                    <a:pt x="1321053" y="3429"/>
                  </a:lnTo>
                  <a:lnTo>
                    <a:pt x="1374902" y="21336"/>
                  </a:lnTo>
                  <a:lnTo>
                    <a:pt x="1415288" y="46990"/>
                  </a:lnTo>
                  <a:lnTo>
                    <a:pt x="1448689" y="80899"/>
                  </a:lnTo>
                  <a:lnTo>
                    <a:pt x="1488439" y="44704"/>
                  </a:lnTo>
                  <a:lnTo>
                    <a:pt x="1534033" y="19050"/>
                  </a:lnTo>
                  <a:lnTo>
                    <a:pt x="1583563" y="4191"/>
                  </a:lnTo>
                  <a:lnTo>
                    <a:pt x="1634998" y="0"/>
                  </a:lnTo>
                  <a:lnTo>
                    <a:pt x="1686306" y="6858"/>
                  </a:lnTo>
                  <a:lnTo>
                    <a:pt x="1735582" y="24892"/>
                  </a:lnTo>
                  <a:lnTo>
                    <a:pt x="1780793" y="54229"/>
                  </a:lnTo>
                  <a:lnTo>
                    <a:pt x="1832610" y="114554"/>
                  </a:lnTo>
                  <a:lnTo>
                    <a:pt x="1860422" y="188341"/>
                  </a:lnTo>
                  <a:lnTo>
                    <a:pt x="1909317" y="206629"/>
                  </a:lnTo>
                  <a:lnTo>
                    <a:pt x="1952243" y="233299"/>
                  </a:lnTo>
                  <a:lnTo>
                    <a:pt x="1988439" y="267081"/>
                  </a:lnTo>
                  <a:lnTo>
                    <a:pt x="2017014" y="306578"/>
                  </a:lnTo>
                  <a:lnTo>
                    <a:pt x="2037461" y="350774"/>
                  </a:lnTo>
                  <a:lnTo>
                    <a:pt x="2048890" y="398272"/>
                  </a:lnTo>
                  <a:lnTo>
                    <a:pt x="2050668" y="447929"/>
                  </a:lnTo>
                  <a:lnTo>
                    <a:pt x="2042033" y="498348"/>
                  </a:lnTo>
                  <a:lnTo>
                    <a:pt x="2039492" y="506857"/>
                  </a:lnTo>
                  <a:lnTo>
                    <a:pt x="2036698" y="515112"/>
                  </a:lnTo>
                  <a:lnTo>
                    <a:pt x="2033651" y="523367"/>
                  </a:lnTo>
                  <a:lnTo>
                    <a:pt x="2030221" y="531495"/>
                  </a:lnTo>
                  <a:lnTo>
                    <a:pt x="2059178" y="575310"/>
                  </a:lnTo>
                  <a:lnTo>
                    <a:pt x="2080133" y="621665"/>
                  </a:lnTo>
                  <a:lnTo>
                    <a:pt x="2093087" y="669925"/>
                  </a:lnTo>
                  <a:lnTo>
                    <a:pt x="2098166" y="719074"/>
                  </a:lnTo>
                  <a:lnTo>
                    <a:pt x="2095372" y="768096"/>
                  </a:lnTo>
                  <a:lnTo>
                    <a:pt x="2085086" y="816229"/>
                  </a:lnTo>
                  <a:lnTo>
                    <a:pt x="2067179" y="862457"/>
                  </a:lnTo>
                  <a:lnTo>
                    <a:pt x="2041906" y="905891"/>
                  </a:lnTo>
                  <a:lnTo>
                    <a:pt x="2009393" y="945515"/>
                  </a:lnTo>
                  <a:lnTo>
                    <a:pt x="1969642" y="980440"/>
                  </a:lnTo>
                  <a:lnTo>
                    <a:pt x="1897126" y="1021588"/>
                  </a:lnTo>
                  <a:lnTo>
                    <a:pt x="1816100" y="1043432"/>
                  </a:lnTo>
                  <a:lnTo>
                    <a:pt x="1809877" y="1098384"/>
                  </a:lnTo>
                  <a:lnTo>
                    <a:pt x="1793113" y="1149540"/>
                  </a:lnTo>
                  <a:lnTo>
                    <a:pt x="1766823" y="1195730"/>
                  </a:lnTo>
                  <a:lnTo>
                    <a:pt x="1732279" y="1235887"/>
                  </a:lnTo>
                  <a:lnTo>
                    <a:pt x="1690370" y="1268920"/>
                  </a:lnTo>
                  <a:lnTo>
                    <a:pt x="1642490" y="1293736"/>
                  </a:lnTo>
                  <a:lnTo>
                    <a:pt x="1589659" y="1309243"/>
                  </a:lnTo>
                  <a:lnTo>
                    <a:pt x="1533016" y="1314348"/>
                  </a:lnTo>
                  <a:lnTo>
                    <a:pt x="1494536" y="1311452"/>
                  </a:lnTo>
                  <a:lnTo>
                    <a:pt x="1456944" y="1303489"/>
                  </a:lnTo>
                  <a:lnTo>
                    <a:pt x="1420876" y="1290586"/>
                  </a:lnTo>
                  <a:lnTo>
                    <a:pt x="1386713" y="1272908"/>
                  </a:lnTo>
                  <a:lnTo>
                    <a:pt x="1364614" y="1326464"/>
                  </a:lnTo>
                  <a:lnTo>
                    <a:pt x="1334008" y="1373962"/>
                  </a:lnTo>
                  <a:lnTo>
                    <a:pt x="1296035" y="1414805"/>
                  </a:lnTo>
                  <a:lnTo>
                    <a:pt x="1251839" y="1448396"/>
                  </a:lnTo>
                  <a:lnTo>
                    <a:pt x="1202563" y="1474139"/>
                  </a:lnTo>
                  <a:lnTo>
                    <a:pt x="1149477" y="1491411"/>
                  </a:lnTo>
                  <a:lnTo>
                    <a:pt x="1093597" y="1499616"/>
                  </a:lnTo>
                  <a:lnTo>
                    <a:pt x="1036065" y="1498155"/>
                  </a:lnTo>
                  <a:lnTo>
                    <a:pt x="978153" y="1486420"/>
                  </a:lnTo>
                  <a:lnTo>
                    <a:pt x="925829" y="1465961"/>
                  </a:lnTo>
                  <a:lnTo>
                    <a:pt x="878204" y="1437259"/>
                  </a:lnTo>
                  <a:lnTo>
                    <a:pt x="836167" y="1401025"/>
                  </a:lnTo>
                  <a:lnTo>
                    <a:pt x="800862" y="1358011"/>
                  </a:lnTo>
                  <a:lnTo>
                    <a:pt x="751332" y="1382483"/>
                  </a:lnTo>
                  <a:lnTo>
                    <a:pt x="699897" y="1399197"/>
                  </a:lnTo>
                  <a:lnTo>
                    <a:pt x="647573" y="1408353"/>
                  </a:lnTo>
                  <a:lnTo>
                    <a:pt x="594867" y="1410157"/>
                  </a:lnTo>
                  <a:lnTo>
                    <a:pt x="542798" y="1404785"/>
                  </a:lnTo>
                  <a:lnTo>
                    <a:pt x="492125" y="1392440"/>
                  </a:lnTo>
                  <a:lnTo>
                    <a:pt x="443611" y="1373314"/>
                  </a:lnTo>
                  <a:lnTo>
                    <a:pt x="398017" y="1347597"/>
                  </a:lnTo>
                  <a:lnTo>
                    <a:pt x="356108" y="1315491"/>
                  </a:lnTo>
                  <a:lnTo>
                    <a:pt x="318770" y="1277175"/>
                  </a:lnTo>
                  <a:lnTo>
                    <a:pt x="286765" y="1232865"/>
                  </a:lnTo>
                  <a:lnTo>
                    <a:pt x="282956" y="1226273"/>
                  </a:lnTo>
                  <a:lnTo>
                    <a:pt x="226187" y="1225346"/>
                  </a:lnTo>
                  <a:lnTo>
                    <a:pt x="173482" y="1210500"/>
                  </a:lnTo>
                  <a:lnTo>
                    <a:pt x="127126" y="1183436"/>
                  </a:lnTo>
                  <a:lnTo>
                    <a:pt x="89281" y="1145882"/>
                  </a:lnTo>
                  <a:lnTo>
                    <a:pt x="62229" y="1099566"/>
                  </a:lnTo>
                  <a:lnTo>
                    <a:pt x="48133" y="1046226"/>
                  </a:lnTo>
                  <a:lnTo>
                    <a:pt x="47751" y="1001395"/>
                  </a:lnTo>
                  <a:lnTo>
                    <a:pt x="57276" y="957961"/>
                  </a:lnTo>
                  <a:lnTo>
                    <a:pt x="76073" y="917575"/>
                  </a:lnTo>
                  <a:lnTo>
                    <a:pt x="103759" y="881761"/>
                  </a:lnTo>
                  <a:lnTo>
                    <a:pt x="64770" y="853186"/>
                  </a:lnTo>
                  <a:lnTo>
                    <a:pt x="34544" y="817753"/>
                  </a:lnTo>
                  <a:lnTo>
                    <a:pt x="13335" y="777367"/>
                  </a:lnTo>
                  <a:lnTo>
                    <a:pt x="1650" y="733679"/>
                  </a:lnTo>
                  <a:lnTo>
                    <a:pt x="0" y="688340"/>
                  </a:lnTo>
                  <a:lnTo>
                    <a:pt x="8762" y="643001"/>
                  </a:lnTo>
                  <a:lnTo>
                    <a:pt x="28321" y="599313"/>
                  </a:lnTo>
                  <a:lnTo>
                    <a:pt x="58292" y="560578"/>
                  </a:lnTo>
                  <a:lnTo>
                    <a:pt x="96265" y="530098"/>
                  </a:lnTo>
                  <a:lnTo>
                    <a:pt x="140208" y="509016"/>
                  </a:lnTo>
                  <a:lnTo>
                    <a:pt x="188722" y="498348"/>
                  </a:lnTo>
                  <a:lnTo>
                    <a:pt x="190373" y="493649"/>
                  </a:lnTo>
                  <a:close/>
                </a:path>
                <a:path w="2098675" h="1499870" extrusionOk="0">
                  <a:moveTo>
                    <a:pt x="228600" y="903478"/>
                  </a:moveTo>
                  <a:lnTo>
                    <a:pt x="196723" y="903478"/>
                  </a:lnTo>
                  <a:lnTo>
                    <a:pt x="165481" y="898652"/>
                  </a:lnTo>
                  <a:lnTo>
                    <a:pt x="135254" y="889127"/>
                  </a:lnTo>
                  <a:lnTo>
                    <a:pt x="106679" y="874776"/>
                  </a:lnTo>
                </a:path>
                <a:path w="2098675" h="1499870" extrusionOk="0">
                  <a:moveTo>
                    <a:pt x="337947" y="1205484"/>
                  </a:moveTo>
                  <a:lnTo>
                    <a:pt x="324738" y="1210208"/>
                  </a:lnTo>
                  <a:lnTo>
                    <a:pt x="311150" y="1214069"/>
                  </a:lnTo>
                  <a:lnTo>
                    <a:pt x="297434" y="1217028"/>
                  </a:lnTo>
                  <a:lnTo>
                    <a:pt x="283463" y="1219111"/>
                  </a:lnTo>
                </a:path>
                <a:path w="2098675" h="1499870" extrusionOk="0">
                  <a:moveTo>
                    <a:pt x="800988" y="1351254"/>
                  </a:moveTo>
                  <a:lnTo>
                    <a:pt x="791463" y="1336802"/>
                  </a:lnTo>
                  <a:lnTo>
                    <a:pt x="782954" y="1321879"/>
                  </a:lnTo>
                  <a:lnTo>
                    <a:pt x="775081" y="1306550"/>
                  </a:lnTo>
                  <a:lnTo>
                    <a:pt x="768096" y="1290828"/>
                  </a:lnTo>
                </a:path>
                <a:path w="2098675" h="1499870" extrusionOk="0">
                  <a:moveTo>
                    <a:pt x="1400048" y="1200912"/>
                  </a:moveTo>
                  <a:lnTo>
                    <a:pt x="1398015" y="1217815"/>
                  </a:lnTo>
                  <a:lnTo>
                    <a:pt x="1395222" y="1234592"/>
                  </a:lnTo>
                  <a:lnTo>
                    <a:pt x="1391539" y="1251191"/>
                  </a:lnTo>
                  <a:lnTo>
                    <a:pt x="1386839" y="1267599"/>
                  </a:lnTo>
                </a:path>
                <a:path w="2098675" h="1499870" extrusionOk="0">
                  <a:moveTo>
                    <a:pt x="1656588" y="790956"/>
                  </a:moveTo>
                  <a:lnTo>
                    <a:pt x="1702181" y="818007"/>
                  </a:lnTo>
                  <a:lnTo>
                    <a:pt x="1740915" y="852297"/>
                  </a:lnTo>
                  <a:lnTo>
                    <a:pt x="1772285" y="892683"/>
                  </a:lnTo>
                  <a:lnTo>
                    <a:pt x="1795526" y="938022"/>
                  </a:lnTo>
                  <a:lnTo>
                    <a:pt x="1809750" y="987171"/>
                  </a:lnTo>
                  <a:lnTo>
                    <a:pt x="1814448" y="1038860"/>
                  </a:lnTo>
                </a:path>
                <a:path w="2098675" h="1499870" extrusionOk="0">
                  <a:moveTo>
                    <a:pt x="2028316" y="527304"/>
                  </a:moveTo>
                  <a:lnTo>
                    <a:pt x="2014982" y="553212"/>
                  </a:lnTo>
                  <a:lnTo>
                    <a:pt x="1998726" y="577469"/>
                  </a:lnTo>
                  <a:lnTo>
                    <a:pt x="1979803" y="599821"/>
                  </a:lnTo>
                  <a:lnTo>
                    <a:pt x="1958339" y="619760"/>
                  </a:lnTo>
                </a:path>
                <a:path w="2098675" h="1499870" extrusionOk="0">
                  <a:moveTo>
                    <a:pt x="1860804" y="182880"/>
                  </a:moveTo>
                  <a:lnTo>
                    <a:pt x="1862709" y="193675"/>
                  </a:lnTo>
                  <a:lnTo>
                    <a:pt x="1863979" y="204597"/>
                  </a:lnTo>
                  <a:lnTo>
                    <a:pt x="1864740" y="215646"/>
                  </a:lnTo>
                  <a:lnTo>
                    <a:pt x="1864867" y="226568"/>
                  </a:lnTo>
                </a:path>
                <a:path w="2098675" h="1499870" extrusionOk="0">
                  <a:moveTo>
                    <a:pt x="1412748" y="132080"/>
                  </a:moveTo>
                  <a:lnTo>
                    <a:pt x="1419860" y="116840"/>
                  </a:lnTo>
                  <a:lnTo>
                    <a:pt x="1427988" y="102108"/>
                  </a:lnTo>
                  <a:lnTo>
                    <a:pt x="1437132" y="88011"/>
                  </a:lnTo>
                  <a:lnTo>
                    <a:pt x="1447291" y="74676"/>
                  </a:lnTo>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7" name="Google Shape;467;p16"/>
            <p:cNvSpPr/>
            <p:nvPr/>
          </p:nvSpPr>
          <p:spPr>
            <a:xfrm>
              <a:off x="5837682" y="4616957"/>
              <a:ext cx="16510" cy="48895"/>
            </a:xfrm>
            <a:custGeom>
              <a:avLst/>
              <a:gdLst/>
              <a:ahLst/>
              <a:cxnLst/>
              <a:rect l="l" t="t" r="r" b="b"/>
              <a:pathLst>
                <a:path w="16510" h="48895" extrusionOk="0">
                  <a:moveTo>
                    <a:pt x="0" y="48768"/>
                  </a:moveTo>
                  <a:lnTo>
                    <a:pt x="3047" y="36195"/>
                  </a:lnTo>
                  <a:lnTo>
                    <a:pt x="6857" y="23876"/>
                  </a:lnTo>
                  <a:lnTo>
                    <a:pt x="11302" y="11811"/>
                  </a:lnTo>
                  <a:lnTo>
                    <a:pt x="16382" y="0"/>
                  </a:lnTo>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68" name="Google Shape;468;p16"/>
            <p:cNvSpPr/>
            <p:nvPr/>
          </p:nvSpPr>
          <p:spPr>
            <a:xfrm>
              <a:off x="4952238" y="4680965"/>
              <a:ext cx="553085" cy="368935"/>
            </a:xfrm>
            <a:custGeom>
              <a:avLst/>
              <a:gdLst/>
              <a:ahLst/>
              <a:cxnLst/>
              <a:rect l="l" t="t" r="r" b="b"/>
              <a:pathLst>
                <a:path w="553085" h="368935" extrusionOk="0">
                  <a:moveTo>
                    <a:pt x="490727" y="0"/>
                  </a:moveTo>
                  <a:lnTo>
                    <a:pt x="507364" y="10413"/>
                  </a:lnTo>
                  <a:lnTo>
                    <a:pt x="523239" y="21716"/>
                  </a:lnTo>
                  <a:lnTo>
                    <a:pt x="538479" y="33908"/>
                  </a:lnTo>
                  <a:lnTo>
                    <a:pt x="552831" y="47116"/>
                  </a:lnTo>
                </a:path>
                <a:path w="553085" h="368935" extrusionOk="0">
                  <a:moveTo>
                    <a:pt x="10667" y="368553"/>
                  </a:moveTo>
                  <a:lnTo>
                    <a:pt x="7365" y="356615"/>
                  </a:lnTo>
                  <a:lnTo>
                    <a:pt x="4445" y="344423"/>
                  </a:lnTo>
                  <a:lnTo>
                    <a:pt x="1904" y="332358"/>
                  </a:lnTo>
                  <a:lnTo>
                    <a:pt x="0" y="320039"/>
                  </a:lnTo>
                </a:path>
              </a:pathLst>
            </a:custGeom>
            <a:noFill/>
            <a:ln w="25900" cap="flat" cmpd="sng">
              <a:solidFill>
                <a:srgbClr val="86A1A7"/>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469" name="Google Shape;469;p16"/>
          <p:cNvSpPr txBox="1"/>
          <p:nvPr/>
        </p:nvSpPr>
        <p:spPr>
          <a:xfrm>
            <a:off x="7220457" y="5753811"/>
            <a:ext cx="730885" cy="238125"/>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fr-FR" sz="1400">
                <a:solidFill>
                  <a:schemeClr val="dk1"/>
                </a:solidFill>
                <a:latin typeface="Arial"/>
                <a:ea typeface="Arial"/>
                <a:cs typeface="Arial"/>
                <a:sym typeface="Arial"/>
              </a:rPr>
              <a:t>Réponse</a:t>
            </a:r>
            <a:endParaRPr sz="1400">
              <a:solidFill>
                <a:schemeClr val="dk1"/>
              </a:solidFill>
              <a:latin typeface="Arial"/>
              <a:ea typeface="Arial"/>
              <a:cs typeface="Arial"/>
              <a:sym typeface="Arial"/>
            </a:endParaRPr>
          </a:p>
        </p:txBody>
      </p:sp>
      <p:sp>
        <p:nvSpPr>
          <p:cNvPr id="470" name="Google Shape;470;p16"/>
          <p:cNvSpPr/>
          <p:nvPr/>
        </p:nvSpPr>
        <p:spPr>
          <a:xfrm>
            <a:off x="3581400" y="4419600"/>
            <a:ext cx="758342" cy="44327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71" name="Google Shape;471;p16"/>
          <p:cNvSpPr txBox="1"/>
          <p:nvPr/>
        </p:nvSpPr>
        <p:spPr>
          <a:xfrm>
            <a:off x="3505200" y="4119880"/>
            <a:ext cx="51498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b="1">
                <a:solidFill>
                  <a:srgbClr val="C00000"/>
                </a:solidFill>
                <a:latin typeface="Arial"/>
                <a:ea typeface="Arial"/>
                <a:cs typeface="Arial"/>
                <a:sym typeface="Arial"/>
              </a:rPr>
              <a:t>Quels sont les atouts d’une meilleure solution?</a:t>
            </a:r>
            <a:endParaRPr sz="1800">
              <a:solidFill>
                <a:schemeClr val="dk1"/>
              </a:solidFill>
              <a:latin typeface="Arial"/>
              <a:ea typeface="Arial"/>
              <a:cs typeface="Arial"/>
              <a:sym typeface="Arial"/>
            </a:endParaRPr>
          </a:p>
        </p:txBody>
      </p:sp>
      <p:sp>
        <p:nvSpPr>
          <p:cNvPr id="472" name="Google Shape;472;p16"/>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21</a:t>
            </a:fld>
            <a:endParaRPr/>
          </a:p>
        </p:txBody>
      </p:sp>
      <p:sp>
        <p:nvSpPr>
          <p:cNvPr id="474" name="Google Shape;474;p16"/>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475" name="Google Shape;475;p16"/>
          <p:cNvSpPr txBox="1"/>
          <p:nvPr/>
        </p:nvSpPr>
        <p:spPr>
          <a:xfrm>
            <a:off x="8786876" y="5990031"/>
            <a:ext cx="1768602"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Arial"/>
                <a:ea typeface="Arial"/>
                <a:cs typeface="Arial"/>
                <a:sym typeface="Arial"/>
              </a:rPr>
              <a:t>Application B</a:t>
            </a:r>
            <a:endParaRPr dirty="0"/>
          </a:p>
        </p:txBody>
      </p:sp>
      <p:sp>
        <p:nvSpPr>
          <p:cNvPr id="476" name="Google Shape;476;p16"/>
          <p:cNvSpPr txBox="1"/>
          <p:nvPr/>
        </p:nvSpPr>
        <p:spPr>
          <a:xfrm>
            <a:off x="3653155" y="4572000"/>
            <a:ext cx="2214245" cy="860492"/>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fr-FR" sz="1400">
                <a:solidFill>
                  <a:schemeClr val="dk1"/>
                </a:solidFill>
                <a:latin typeface="Arial"/>
                <a:ea typeface="Arial"/>
                <a:cs typeface="Arial"/>
                <a:sym typeface="Arial"/>
              </a:rPr>
              <a:t> </a:t>
            </a:r>
            <a:endParaRPr/>
          </a:p>
          <a:p>
            <a:pPr marL="12700" marR="0" lvl="0" indent="0" algn="l" rtl="0">
              <a:lnSpc>
                <a:spcPct val="100000"/>
              </a:lnSpc>
              <a:spcBef>
                <a:spcPts val="90"/>
              </a:spcBef>
              <a:spcAft>
                <a:spcPts val="0"/>
              </a:spcAft>
              <a:buNone/>
            </a:pPr>
            <a:r>
              <a:rPr lang="fr-FR" sz="1400">
                <a:solidFill>
                  <a:schemeClr val="dk1"/>
                </a:solidFill>
                <a:latin typeface="Arial"/>
                <a:ea typeface="Arial"/>
                <a:cs typeface="Arial"/>
                <a:sym typeface="Arial"/>
              </a:rPr>
              <a:t>Requête</a:t>
            </a:r>
            <a:endParaRPr sz="1400">
              <a:solidFill>
                <a:schemeClr val="dk1"/>
              </a:solidFill>
              <a:latin typeface="Arial"/>
              <a:ea typeface="Arial"/>
              <a:cs typeface="Arial"/>
              <a:sym typeface="Arial"/>
            </a:endParaRPr>
          </a:p>
          <a:p>
            <a:pPr marL="0" marR="5080" lvl="0" indent="0" algn="r" rtl="0">
              <a:lnSpc>
                <a:spcPct val="100000"/>
              </a:lnSpc>
              <a:spcBef>
                <a:spcPts val="1000"/>
              </a:spcBef>
              <a:spcAft>
                <a:spcPts val="0"/>
              </a:spcAft>
              <a:buNone/>
            </a:pPr>
            <a:r>
              <a:rPr lang="fr-FR" sz="1800" b="1">
                <a:solidFill>
                  <a:schemeClr val="dk1"/>
                </a:solidFill>
                <a:latin typeface="Arial"/>
                <a:ea typeface="Arial"/>
                <a:cs typeface="Arial"/>
                <a:sym typeface="Arial"/>
              </a:rPr>
              <a:t>Web</a:t>
            </a:r>
            <a:endParaRPr sz="1800">
              <a:solidFill>
                <a:schemeClr val="dk1"/>
              </a:solidFill>
              <a:latin typeface="Arial"/>
              <a:ea typeface="Arial"/>
              <a:cs typeface="Arial"/>
              <a:sym typeface="Arial"/>
            </a:endParaRPr>
          </a:p>
        </p:txBody>
      </p:sp>
      <p:pic>
        <p:nvPicPr>
          <p:cNvPr id="3" name="Google Shape;297;g25b1bb62912_0_50" descr="Image 10">
            <a:extLst>
              <a:ext uri="{FF2B5EF4-FFF2-40B4-BE49-F238E27FC236}">
                <a16:creationId xmlns:a16="http://schemas.microsoft.com/office/drawing/2014/main" id="{E8F425AF-FCB0-E99C-E9B6-6A66D23FDF42}"/>
              </a:ext>
            </a:extLst>
          </p:cNvPr>
          <p:cNvPicPr preferRelativeResize="0"/>
          <p:nvPr/>
        </p:nvPicPr>
        <p:blipFill rotWithShape="1">
          <a:blip r:embed="rId6">
            <a:alphaModFix/>
          </a:blip>
          <a:srcRect/>
          <a:stretch/>
        </p:blipFill>
        <p:spPr>
          <a:xfrm>
            <a:off x="831813" y="392535"/>
            <a:ext cx="585321" cy="579782"/>
          </a:xfrm>
          <a:prstGeom prst="rect">
            <a:avLst/>
          </a:prstGeom>
          <a:noFill/>
          <a:ln>
            <a:noFill/>
          </a:ln>
        </p:spPr>
      </p:pic>
      <p:sp>
        <p:nvSpPr>
          <p:cNvPr id="6" name="Google Shape;301;g25b1bb62912_0_50">
            <a:extLst>
              <a:ext uri="{FF2B5EF4-FFF2-40B4-BE49-F238E27FC236}">
                <a16:creationId xmlns:a16="http://schemas.microsoft.com/office/drawing/2014/main" id="{B4057412-A389-9462-8232-3F58DE453030}"/>
              </a:ext>
            </a:extLst>
          </p:cNvPr>
          <p:cNvSpPr txBox="1"/>
          <p:nvPr/>
        </p:nvSpPr>
        <p:spPr>
          <a:xfrm>
            <a:off x="1369695" y="36393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Middlewares : intergiciel</a:t>
            </a:r>
            <a:endParaRPr dirty="0">
              <a:sym typeface="Times New Roman"/>
            </a:endParaRPr>
          </a:p>
        </p:txBody>
      </p:sp>
    </p:spTree>
    <p:extLst>
      <p:ext uri="{BB962C8B-B14F-4D97-AF65-F5344CB8AC3E}">
        <p14:creationId xmlns:p14="http://schemas.microsoft.com/office/powerpoint/2010/main" val="676799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6" name="Google Shape;296;g25b1bb62912_0_50" descr="Picture 2">
            <a:extLst>
              <a:ext uri="{FF2B5EF4-FFF2-40B4-BE49-F238E27FC236}">
                <a16:creationId xmlns:a16="http://schemas.microsoft.com/office/drawing/2014/main" id="{BDF31BFC-FB42-F390-A7E9-6C18921E1190}"/>
              </a:ext>
            </a:extLst>
          </p:cNvPr>
          <p:cNvPicPr preferRelativeResize="0"/>
          <p:nvPr/>
        </p:nvPicPr>
        <p:blipFill rotWithShape="1">
          <a:blip r:embed="rId3">
            <a:alphaModFix/>
          </a:blip>
          <a:srcRect/>
          <a:stretch/>
        </p:blipFill>
        <p:spPr>
          <a:xfrm>
            <a:off x="0" y="-28241"/>
            <a:ext cx="12652622" cy="6886241"/>
          </a:xfrm>
          <a:prstGeom prst="rect">
            <a:avLst/>
          </a:prstGeom>
          <a:noFill/>
          <a:ln>
            <a:noFill/>
          </a:ln>
        </p:spPr>
      </p:pic>
      <p:sp>
        <p:nvSpPr>
          <p:cNvPr id="484" name="Google Shape;484;p17"/>
          <p:cNvSpPr txBox="1"/>
          <p:nvPr/>
        </p:nvSpPr>
        <p:spPr>
          <a:xfrm>
            <a:off x="729289" y="1517612"/>
            <a:ext cx="11310311" cy="3921586"/>
          </a:xfrm>
          <a:prstGeom prst="rect">
            <a:avLst/>
          </a:prstGeom>
          <a:noFill/>
          <a:ln>
            <a:noFill/>
          </a:ln>
        </p:spPr>
        <p:txBody>
          <a:bodyPr spcFirstLastPara="1" wrap="square" lIns="0" tIns="12700" rIns="0" bIns="0" anchor="t" anchorCtr="0">
            <a:spAutoFit/>
          </a:bodyPr>
          <a:lstStyle/>
          <a:p>
            <a:pPr marL="356870" indent="-344805">
              <a:buClr>
                <a:schemeClr val="dk1"/>
              </a:buClr>
              <a:buSzPts val="2400"/>
              <a:buFont typeface="Arial"/>
              <a:buChar char="•"/>
            </a:pPr>
            <a:endParaRPr lang="fr-FR" sz="2000" dirty="0">
              <a:solidFill>
                <a:schemeClr val="dk1"/>
              </a:solidFill>
              <a:latin typeface="Times New Roman" panose="02020603050405020304" pitchFamily="18" charset="0"/>
              <a:cs typeface="Times New Roman" panose="02020603050405020304" pitchFamily="18" charset="0"/>
            </a:endParaRPr>
          </a:p>
          <a:p>
            <a:pPr marL="356870" marR="0" lvl="0" indent="-344805" algn="l" rtl="0">
              <a:lnSpc>
                <a:spcPct val="100000"/>
              </a:lnSpc>
              <a:spcBef>
                <a:spcPts val="0"/>
              </a:spcBef>
              <a:spcAft>
                <a:spcPts val="0"/>
              </a:spcAft>
              <a:buClr>
                <a:schemeClr val="dk1"/>
              </a:buClr>
              <a:buSzPts val="2400"/>
              <a:buFont typeface="Arial"/>
              <a:buChar char="•"/>
            </a:pPr>
            <a:r>
              <a:rPr lang="fr-FR" sz="2000" dirty="0">
                <a:solidFill>
                  <a:schemeClr val="dk1"/>
                </a:solidFill>
                <a:latin typeface="Times New Roman" panose="02020603050405020304" pitchFamily="18" charset="0"/>
                <a:cs typeface="Times New Roman" panose="02020603050405020304" pitchFamily="18" charset="0"/>
                <a:sym typeface="Arial"/>
              </a:rPr>
              <a:t>Service web = </a:t>
            </a:r>
            <a:r>
              <a:rPr lang="fr-FR" sz="2000" b="1" dirty="0">
                <a:solidFill>
                  <a:schemeClr val="dk1"/>
                </a:solidFill>
                <a:latin typeface="Times New Roman" panose="02020603050405020304" pitchFamily="18" charset="0"/>
                <a:cs typeface="Times New Roman" panose="02020603050405020304" pitchFamily="18" charset="0"/>
                <a:sym typeface="Arial"/>
              </a:rPr>
              <a:t>service + web</a:t>
            </a:r>
          </a:p>
          <a:p>
            <a:pPr marL="356870" marR="0" lvl="0" indent="-344805" algn="l" rtl="0">
              <a:lnSpc>
                <a:spcPct val="100000"/>
              </a:lnSpc>
              <a:spcBef>
                <a:spcPts val="0"/>
              </a:spcBef>
              <a:spcAft>
                <a:spcPts val="0"/>
              </a:spcAft>
              <a:buClr>
                <a:schemeClr val="dk1"/>
              </a:buClr>
              <a:buSzPts val="2400"/>
              <a:buFont typeface="Arial"/>
              <a:buChar char="•"/>
            </a:pPr>
            <a:endParaRPr lang="fr-FR" sz="2000" dirty="0">
              <a:solidFill>
                <a:schemeClr val="dk1"/>
              </a:solidFill>
              <a:latin typeface="Times New Roman" panose="02020603050405020304" pitchFamily="18" charset="0"/>
              <a:cs typeface="Times New Roman" panose="02020603050405020304" pitchFamily="18" charset="0"/>
            </a:endParaRPr>
          </a:p>
          <a:p>
            <a:pPr marL="356870" marR="0" lvl="0" indent="-344805" algn="l" rtl="0">
              <a:lnSpc>
                <a:spcPct val="100000"/>
              </a:lnSpc>
              <a:spcBef>
                <a:spcPts val="0"/>
              </a:spcBef>
              <a:spcAft>
                <a:spcPts val="0"/>
              </a:spcAft>
              <a:buClr>
                <a:schemeClr val="dk1"/>
              </a:buClr>
              <a:buSzPts val="2400"/>
              <a:buFont typeface="Arial"/>
              <a:buChar char="•"/>
            </a:pPr>
            <a:r>
              <a:rPr lang="fr-FR" sz="2000" dirty="0">
                <a:solidFill>
                  <a:schemeClr val="dk1"/>
                </a:solidFill>
                <a:latin typeface="Times New Roman" panose="02020603050405020304" pitchFamily="18" charset="0"/>
                <a:cs typeface="Times New Roman" panose="02020603050405020304" pitchFamily="18" charset="0"/>
                <a:sym typeface="Arial"/>
              </a:rPr>
              <a:t>Un service Web met à disposition un service </a:t>
            </a:r>
            <a:r>
              <a:rPr lang="fr-FR" sz="2000" b="1" dirty="0">
                <a:solidFill>
                  <a:schemeClr val="dk1"/>
                </a:solidFill>
                <a:latin typeface="Times New Roman" panose="02020603050405020304" pitchFamily="18" charset="0"/>
                <a:cs typeface="Times New Roman" panose="02020603050405020304" pitchFamily="18" charset="0"/>
                <a:sym typeface="Arial"/>
              </a:rPr>
              <a:t>via Internet</a:t>
            </a:r>
            <a:endParaRPr lang="fr-FR" sz="2000" b="1" dirty="0">
              <a:solidFill>
                <a:schemeClr val="dk1"/>
              </a:solidFill>
              <a:latin typeface="Times New Roman" panose="02020603050405020304" pitchFamily="18" charset="0"/>
              <a:cs typeface="Times New Roman" panose="02020603050405020304" pitchFamily="18" charset="0"/>
            </a:endParaRPr>
          </a:p>
          <a:p>
            <a:pPr marL="356870" marR="0" lvl="0" indent="-344805" algn="l" rtl="0">
              <a:lnSpc>
                <a:spcPct val="100000"/>
              </a:lnSpc>
              <a:spcBef>
                <a:spcPts val="0"/>
              </a:spcBef>
              <a:spcAft>
                <a:spcPts val="0"/>
              </a:spcAft>
              <a:buClr>
                <a:schemeClr val="dk1"/>
              </a:buClr>
              <a:buSzPts val="2400"/>
              <a:buFont typeface="Arial"/>
              <a:buChar char="•"/>
            </a:pPr>
            <a:endParaRPr lang="fr-FR" sz="2000" b="1" dirty="0">
              <a:solidFill>
                <a:schemeClr val="dk1"/>
              </a:solidFill>
              <a:latin typeface="Times New Roman" panose="02020603050405020304" pitchFamily="18" charset="0"/>
              <a:cs typeface="Times New Roman" panose="02020603050405020304" pitchFamily="18" charset="0"/>
              <a:sym typeface="Arial"/>
            </a:endParaRPr>
          </a:p>
          <a:p>
            <a:pPr marL="356870" marR="0" lvl="0" indent="-344805" algn="l" rtl="0">
              <a:lnSpc>
                <a:spcPct val="100000"/>
              </a:lnSpc>
              <a:spcBef>
                <a:spcPts val="0"/>
              </a:spcBef>
              <a:spcAft>
                <a:spcPts val="0"/>
              </a:spcAft>
              <a:buClr>
                <a:schemeClr val="dk1"/>
              </a:buClr>
              <a:buSzPts val="2400"/>
              <a:buFont typeface="Arial"/>
              <a:buChar char="•"/>
            </a:pPr>
            <a:endParaRPr lang="fr-FR" sz="2000" b="1" dirty="0">
              <a:solidFill>
                <a:schemeClr val="dk1"/>
              </a:solidFill>
              <a:latin typeface="Times New Roman" panose="02020603050405020304" pitchFamily="18" charset="0"/>
              <a:cs typeface="Times New Roman" panose="02020603050405020304" pitchFamily="18" charset="0"/>
              <a:sym typeface="Arial"/>
            </a:endParaRPr>
          </a:p>
          <a:p>
            <a:pPr marL="356870" marR="0" lvl="0" indent="-344805" algn="l" rtl="0">
              <a:spcBef>
                <a:spcPts val="0"/>
              </a:spcBef>
              <a:spcAft>
                <a:spcPts val="0"/>
              </a:spcAft>
              <a:buClr>
                <a:schemeClr val="dk1"/>
              </a:buClr>
              <a:buSzPts val="2400"/>
              <a:buFont typeface="Arial"/>
              <a:buChar char="•"/>
            </a:pPr>
            <a:r>
              <a:rPr lang="fr-FR" sz="2000" dirty="0">
                <a:solidFill>
                  <a:schemeClr val="dk1"/>
                </a:solidFill>
                <a:latin typeface="Times New Roman" panose="02020603050405020304" pitchFamily="18" charset="0"/>
                <a:cs typeface="Times New Roman" panose="02020603050405020304" pitchFamily="18" charset="0"/>
                <a:sym typeface="Arial"/>
              </a:rPr>
              <a:t>Un SW est un </a:t>
            </a:r>
            <a:r>
              <a:rPr lang="fr-FR" sz="2000" b="1" dirty="0">
                <a:solidFill>
                  <a:schemeClr val="dk1"/>
                </a:solidFill>
                <a:latin typeface="Times New Roman" panose="02020603050405020304" pitchFamily="18" charset="0"/>
                <a:cs typeface="Times New Roman" panose="02020603050405020304" pitchFamily="18" charset="0"/>
                <a:sym typeface="Arial"/>
              </a:rPr>
              <a:t>programme informatique</a:t>
            </a:r>
            <a:r>
              <a:rPr lang="fr-FR" sz="2000" dirty="0">
                <a:solidFill>
                  <a:schemeClr val="dk1"/>
                </a:solidFill>
                <a:latin typeface="Times New Roman" panose="02020603050405020304" pitchFamily="18" charset="0"/>
                <a:cs typeface="Times New Roman" panose="02020603050405020304" pitchFamily="18" charset="0"/>
                <a:sym typeface="Arial"/>
              </a:rPr>
              <a:t>, permettant la communication et l'échange de données entre applications et systèmes </a:t>
            </a:r>
            <a:r>
              <a:rPr lang="fr-FR" sz="2000" dirty="0">
                <a:solidFill>
                  <a:srgbClr val="C00000"/>
                </a:solidFill>
                <a:latin typeface="Times New Roman" panose="02020603050405020304" pitchFamily="18" charset="0"/>
                <a:cs typeface="Times New Roman" panose="02020603050405020304" pitchFamily="18" charset="0"/>
                <a:sym typeface="Arial"/>
              </a:rPr>
              <a:t>hétérogènes</a:t>
            </a:r>
            <a:r>
              <a:rPr lang="fr-FR" sz="2000" dirty="0">
                <a:solidFill>
                  <a:schemeClr val="dk1"/>
                </a:solidFill>
                <a:latin typeface="Times New Roman" panose="02020603050405020304" pitchFamily="18" charset="0"/>
                <a:cs typeface="Times New Roman" panose="02020603050405020304" pitchFamily="18" charset="0"/>
                <a:sym typeface="Arial"/>
              </a:rPr>
              <a:t> dans des environnements </a:t>
            </a:r>
            <a:r>
              <a:rPr lang="fr-FR" sz="2000" dirty="0">
                <a:solidFill>
                  <a:srgbClr val="C00000"/>
                </a:solidFill>
                <a:latin typeface="Times New Roman" panose="02020603050405020304" pitchFamily="18" charset="0"/>
                <a:cs typeface="Times New Roman" panose="02020603050405020304" pitchFamily="18" charset="0"/>
                <a:sym typeface="Arial"/>
              </a:rPr>
              <a:t>distribués</a:t>
            </a:r>
            <a:r>
              <a:rPr lang="fr-FR" sz="2000" dirty="0">
                <a:solidFill>
                  <a:schemeClr val="dk1"/>
                </a:solidFill>
                <a:latin typeface="Times New Roman" panose="02020603050405020304" pitchFamily="18" charset="0"/>
                <a:cs typeface="Times New Roman" panose="02020603050405020304" pitchFamily="18" charset="0"/>
                <a:sym typeface="Arial"/>
              </a:rPr>
              <a:t>.</a:t>
            </a:r>
            <a:endParaRPr lang="fr-FR" sz="2000" dirty="0">
              <a:latin typeface="Times New Roman" panose="02020603050405020304" pitchFamily="18" charset="0"/>
              <a:cs typeface="Times New Roman" panose="02020603050405020304" pitchFamily="18" charset="0"/>
            </a:endParaRPr>
          </a:p>
          <a:p>
            <a:pPr marL="356870" marR="0" lvl="0" indent="-344805" algn="l" rtl="0">
              <a:spcBef>
                <a:spcPts val="0"/>
              </a:spcBef>
              <a:spcAft>
                <a:spcPts val="0"/>
              </a:spcAft>
              <a:buNone/>
            </a:pPr>
            <a:endParaRPr lang="fr-FR" sz="2000" dirty="0">
              <a:solidFill>
                <a:schemeClr val="dk1"/>
              </a:solidFill>
              <a:latin typeface="Times New Roman" panose="02020603050405020304" pitchFamily="18" charset="0"/>
              <a:cs typeface="Times New Roman" panose="02020603050405020304" pitchFamily="18" charset="0"/>
              <a:sym typeface="Arial"/>
            </a:endParaRPr>
          </a:p>
          <a:p>
            <a:pPr marL="356870" marR="0" lvl="0" indent="-344805" algn="l" rtl="0">
              <a:lnSpc>
                <a:spcPct val="100000"/>
              </a:lnSpc>
              <a:spcBef>
                <a:spcPts val="0"/>
              </a:spcBef>
              <a:spcAft>
                <a:spcPts val="0"/>
              </a:spcAft>
              <a:buClr>
                <a:schemeClr val="dk1"/>
              </a:buClr>
              <a:buSzPts val="2400"/>
              <a:buFont typeface="Arial"/>
              <a:buChar char="•"/>
            </a:pPr>
            <a:r>
              <a:rPr lang="fr-FR" sz="2000" dirty="0">
                <a:solidFill>
                  <a:schemeClr val="dk1"/>
                </a:solidFill>
                <a:latin typeface="Times New Roman" panose="02020603050405020304" pitchFamily="18" charset="0"/>
                <a:cs typeface="Times New Roman" panose="02020603050405020304" pitchFamily="18" charset="0"/>
                <a:sym typeface="Arial"/>
              </a:rPr>
              <a:t>Les services Web interagissent à travers l’échange de messages</a:t>
            </a:r>
          </a:p>
          <a:p>
            <a:pPr marL="356870" marR="0" lvl="0" indent="-344805" algn="l" rtl="0">
              <a:lnSpc>
                <a:spcPct val="100000"/>
              </a:lnSpc>
              <a:spcBef>
                <a:spcPts val="0"/>
              </a:spcBef>
              <a:spcAft>
                <a:spcPts val="0"/>
              </a:spcAft>
              <a:buClr>
                <a:schemeClr val="dk1"/>
              </a:buClr>
              <a:buSzPts val="2400"/>
              <a:buFont typeface="Arial"/>
              <a:buChar char="•"/>
            </a:pPr>
            <a:endParaRPr lang="fr-FR" sz="2700" dirty="0">
              <a:solidFill>
                <a:schemeClr val="dk1"/>
              </a:solidFill>
              <a:latin typeface="Arial"/>
              <a:ea typeface="Arial"/>
              <a:cs typeface="Arial"/>
              <a:sym typeface="Arial"/>
            </a:endParaRPr>
          </a:p>
          <a:p>
            <a:pPr marL="0" marR="0" lvl="0" indent="0" algn="l" rtl="0">
              <a:lnSpc>
                <a:spcPct val="100000"/>
              </a:lnSpc>
              <a:spcBef>
                <a:spcPts val="20"/>
              </a:spcBef>
              <a:spcAft>
                <a:spcPts val="0"/>
              </a:spcAft>
              <a:buNone/>
            </a:pPr>
            <a:endParaRPr sz="2700" dirty="0">
              <a:solidFill>
                <a:schemeClr val="dk1"/>
              </a:solidFill>
              <a:latin typeface="Arial"/>
              <a:ea typeface="Arial"/>
              <a:cs typeface="Arial"/>
              <a:sym typeface="Arial"/>
            </a:endParaRPr>
          </a:p>
        </p:txBody>
      </p:sp>
      <p:sp>
        <p:nvSpPr>
          <p:cNvPr id="485" name="Google Shape;485;p1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22</a:t>
            </a:fld>
            <a:endParaRPr/>
          </a:p>
        </p:txBody>
      </p:sp>
      <p:sp>
        <p:nvSpPr>
          <p:cNvPr id="486" name="Google Shape;486;p17"/>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3" name="Google Shape;301;g25b1bb62912_0_50">
            <a:extLst>
              <a:ext uri="{FF2B5EF4-FFF2-40B4-BE49-F238E27FC236}">
                <a16:creationId xmlns:a16="http://schemas.microsoft.com/office/drawing/2014/main" id="{551B8DD3-1FBE-138D-541C-5B4EE017E33D}"/>
              </a:ext>
            </a:extLst>
          </p:cNvPr>
          <p:cNvSpPr txBox="1"/>
          <p:nvPr/>
        </p:nvSpPr>
        <p:spPr>
          <a:xfrm>
            <a:off x="1189072" y="630264"/>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Services Web</a:t>
            </a:r>
            <a:endParaRPr dirty="0">
              <a:sym typeface="Times New Roman"/>
            </a:endParaRPr>
          </a:p>
        </p:txBody>
      </p:sp>
      <p:pic>
        <p:nvPicPr>
          <p:cNvPr id="7" name="Google Shape;297;g25b1bb62912_0_50" descr="Image 10">
            <a:extLst>
              <a:ext uri="{FF2B5EF4-FFF2-40B4-BE49-F238E27FC236}">
                <a16:creationId xmlns:a16="http://schemas.microsoft.com/office/drawing/2014/main" id="{8E65D451-5D4F-CC72-97A7-E216FB929074}"/>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11" name="Google Shape;296;g25b1bb62912_0_50" descr="Picture 2">
            <a:extLst>
              <a:ext uri="{FF2B5EF4-FFF2-40B4-BE49-F238E27FC236}">
                <a16:creationId xmlns:a16="http://schemas.microsoft.com/office/drawing/2014/main" id="{DEA46BEA-A997-DB93-44A5-AE5429AAE97E}"/>
              </a:ext>
            </a:extLst>
          </p:cNvPr>
          <p:cNvPicPr preferRelativeResize="0"/>
          <p:nvPr/>
        </p:nvPicPr>
        <p:blipFill rotWithShape="1">
          <a:blip r:embed="rId3">
            <a:alphaModFix/>
          </a:blip>
          <a:srcRect/>
          <a:stretch/>
        </p:blipFill>
        <p:spPr>
          <a:xfrm>
            <a:off x="0" y="-28241"/>
            <a:ext cx="12652622" cy="6886241"/>
          </a:xfrm>
          <a:prstGeom prst="rect">
            <a:avLst/>
          </a:prstGeom>
          <a:noFill/>
          <a:ln>
            <a:noFill/>
          </a:ln>
        </p:spPr>
      </p:pic>
      <p:sp>
        <p:nvSpPr>
          <p:cNvPr id="484" name="Google Shape;484;p17"/>
          <p:cNvSpPr txBox="1"/>
          <p:nvPr/>
        </p:nvSpPr>
        <p:spPr>
          <a:xfrm>
            <a:off x="712356" y="1686945"/>
            <a:ext cx="10397490" cy="4137030"/>
          </a:xfrm>
          <a:prstGeom prst="rect">
            <a:avLst/>
          </a:prstGeom>
          <a:noFill/>
          <a:ln>
            <a:noFill/>
          </a:ln>
        </p:spPr>
        <p:txBody>
          <a:bodyPr spcFirstLastPara="1" wrap="square" lIns="0" tIns="12700" rIns="0" bIns="0" anchor="t" anchorCtr="0">
            <a:spAutoFit/>
          </a:bodyPr>
          <a:lstStyle/>
          <a:p>
            <a:pPr algn="l"/>
            <a:endParaRPr lang="fr-FR" sz="2400" b="0" i="0" dirty="0">
              <a:solidFill>
                <a:srgbClr val="333333"/>
              </a:solidFill>
              <a:effectLst/>
              <a:latin typeface="OpenSansRegular"/>
            </a:endParaRPr>
          </a:p>
          <a:p>
            <a:pPr algn="l"/>
            <a:r>
              <a:rPr lang="fr-FR" sz="2000" dirty="0">
                <a:solidFill>
                  <a:srgbClr val="333333"/>
                </a:solidFill>
                <a:latin typeface="Times New Roman" panose="02020603050405020304" pitchFamily="18" charset="0"/>
                <a:cs typeface="Times New Roman" panose="02020603050405020304" pitchFamily="18" charset="0"/>
              </a:rPr>
              <a:t>Il constitue ainsi une interface permettant à deux machines (ou applications) de communiquer. </a:t>
            </a:r>
            <a:r>
              <a:rPr lang="fr-FR" sz="2000" b="0" i="0" dirty="0">
                <a:solidFill>
                  <a:srgbClr val="333333"/>
                </a:solidFill>
                <a:effectLst/>
                <a:latin typeface="Times New Roman" panose="02020603050405020304" pitchFamily="18" charset="0"/>
                <a:cs typeface="Times New Roman" panose="02020603050405020304" pitchFamily="18" charset="0"/>
              </a:rPr>
              <a:t>Pour y parvenir, la technologie doit disposer de deux propriétés essentielles :</a:t>
            </a:r>
          </a:p>
          <a:p>
            <a:pPr algn="l"/>
            <a:endParaRPr lang="fr-FR" sz="2000" b="0" i="0" dirty="0">
              <a:solidFill>
                <a:srgbClr val="333333"/>
              </a:solidFill>
              <a:effectLst/>
              <a:latin typeface="Times New Roman" panose="02020603050405020304" pitchFamily="18" charset="0"/>
              <a:cs typeface="Times New Roman" panose="02020603050405020304" pitchFamily="18" charset="0"/>
            </a:endParaRPr>
          </a:p>
          <a:p>
            <a:pPr algn="l"/>
            <a:r>
              <a:rPr lang="fr-FR" sz="2000" b="1" dirty="0">
                <a:solidFill>
                  <a:srgbClr val="333333"/>
                </a:solidFill>
                <a:latin typeface="Times New Roman" panose="02020603050405020304" pitchFamily="18" charset="0"/>
                <a:cs typeface="Times New Roman" panose="02020603050405020304" pitchFamily="18" charset="0"/>
              </a:rPr>
              <a:t>        </a:t>
            </a:r>
            <a:r>
              <a:rPr lang="fr-FR" sz="2000" b="1" i="0" dirty="0">
                <a:solidFill>
                  <a:srgbClr val="333333"/>
                </a:solidFill>
                <a:effectLst/>
                <a:latin typeface="Times New Roman" panose="02020603050405020304" pitchFamily="18" charset="0"/>
                <a:cs typeface="Times New Roman" panose="02020603050405020304" pitchFamily="18" charset="0"/>
              </a:rPr>
              <a:t>être multiplateforme </a:t>
            </a:r>
            <a:r>
              <a:rPr lang="fr-FR" sz="2000" b="0" i="0" dirty="0">
                <a:solidFill>
                  <a:srgbClr val="333333"/>
                </a:solidFill>
                <a:effectLst/>
                <a:latin typeface="Times New Roman" panose="02020603050405020304" pitchFamily="18" charset="0"/>
                <a:cs typeface="Times New Roman" panose="02020603050405020304" pitchFamily="18" charset="0"/>
              </a:rPr>
              <a:t>: il n’est pas nécessaire que le client et le serveur aient la même configuration pour pouvoir communiquer. Le service Web leur permet de se retrouver à un même niveau.</a:t>
            </a:r>
          </a:p>
          <a:p>
            <a:pPr algn="l"/>
            <a:r>
              <a:rPr lang="fr-FR" sz="2000" dirty="0">
                <a:solidFill>
                  <a:srgbClr val="333333"/>
                </a:solidFill>
                <a:latin typeface="Times New Roman" panose="02020603050405020304" pitchFamily="18" charset="0"/>
                <a:cs typeface="Times New Roman" panose="02020603050405020304" pitchFamily="18" charset="0"/>
              </a:rPr>
              <a:t>        </a:t>
            </a:r>
            <a:r>
              <a:rPr lang="fr-FR" sz="2000" b="1" dirty="0">
                <a:solidFill>
                  <a:srgbClr val="333333"/>
                </a:solidFill>
                <a:latin typeface="Times New Roman" panose="02020603050405020304" pitchFamily="18" charset="0"/>
                <a:cs typeface="Times New Roman" panose="02020603050405020304" pitchFamily="18" charset="0"/>
              </a:rPr>
              <a:t>être partagée </a:t>
            </a:r>
            <a:r>
              <a:rPr lang="fr-FR" sz="2000" dirty="0">
                <a:solidFill>
                  <a:srgbClr val="333333"/>
                </a:solidFill>
                <a:latin typeface="Times New Roman" panose="02020603050405020304" pitchFamily="18" charset="0"/>
                <a:cs typeface="Times New Roman" panose="02020603050405020304" pitchFamily="18" charset="0"/>
              </a:rPr>
              <a:t>: dans la plupart des cas, un service Web est à disposition de plus d’un client. Différents clients accèdent à ce service via Internet.</a:t>
            </a:r>
          </a:p>
          <a:p>
            <a:r>
              <a:rPr lang="fr-FR" sz="2000" b="1" dirty="0">
                <a:solidFill>
                  <a:srgbClr val="333333"/>
                </a:solidFill>
                <a:latin typeface="Times New Roman" panose="02020603050405020304" pitchFamily="18" charset="0"/>
                <a:cs typeface="Times New Roman" panose="02020603050405020304" pitchFamily="18" charset="0"/>
                <a:sym typeface="Wingdings" panose="05000000000000000000" pitchFamily="2" charset="2"/>
              </a:rPr>
              <a:t>              </a:t>
            </a:r>
            <a:r>
              <a:rPr lang="fr-FR" sz="2000" b="1" dirty="0">
                <a:solidFill>
                  <a:srgbClr val="333333"/>
                </a:solidFill>
                <a:latin typeface="Times New Roman" panose="02020603050405020304" pitchFamily="18" charset="0"/>
                <a:cs typeface="Times New Roman" panose="02020603050405020304" pitchFamily="18" charset="0"/>
              </a:rPr>
              <a:t>Lorsqu’un service Web est utilisé, un client envoie une requête à un serveur et déclenche ainsi une action auprès de ce serveur. Le serveur renvoie ensuite une réponse au client.</a:t>
            </a:r>
          </a:p>
          <a:p>
            <a:pPr marL="0" marR="0" lvl="0" indent="0" algn="l" rtl="0">
              <a:lnSpc>
                <a:spcPct val="100000"/>
              </a:lnSpc>
              <a:spcBef>
                <a:spcPts val="20"/>
              </a:spcBef>
              <a:spcAft>
                <a:spcPts val="0"/>
              </a:spcAft>
              <a:buNone/>
            </a:pPr>
            <a:endParaRPr lang="fr-FR" sz="2400" dirty="0">
              <a:solidFill>
                <a:schemeClr val="dk1"/>
              </a:solidFill>
              <a:latin typeface="Arial"/>
              <a:ea typeface="Arial"/>
              <a:cs typeface="Arial"/>
              <a:sym typeface="Arial"/>
            </a:endParaRPr>
          </a:p>
        </p:txBody>
      </p:sp>
      <p:sp>
        <p:nvSpPr>
          <p:cNvPr id="485" name="Google Shape;485;p1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23</a:t>
            </a:fld>
            <a:endParaRPr/>
          </a:p>
        </p:txBody>
      </p:sp>
      <p:sp>
        <p:nvSpPr>
          <p:cNvPr id="486" name="Google Shape;486;p17"/>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9" name="Google Shape;301;g25b1bb62912_0_50">
            <a:extLst>
              <a:ext uri="{FF2B5EF4-FFF2-40B4-BE49-F238E27FC236}">
                <a16:creationId xmlns:a16="http://schemas.microsoft.com/office/drawing/2014/main" id="{AED3FE23-CE0A-DD4C-5986-278E873544B2}"/>
              </a:ext>
            </a:extLst>
          </p:cNvPr>
          <p:cNvSpPr txBox="1"/>
          <p:nvPr/>
        </p:nvSpPr>
        <p:spPr>
          <a:xfrm>
            <a:off x="1189072" y="630264"/>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Services Web</a:t>
            </a:r>
            <a:endParaRPr dirty="0">
              <a:sym typeface="Times New Roman"/>
            </a:endParaRPr>
          </a:p>
        </p:txBody>
      </p:sp>
      <p:pic>
        <p:nvPicPr>
          <p:cNvPr id="10" name="Google Shape;297;g25b1bb62912_0_50" descr="Image 10">
            <a:extLst>
              <a:ext uri="{FF2B5EF4-FFF2-40B4-BE49-F238E27FC236}">
                <a16:creationId xmlns:a16="http://schemas.microsoft.com/office/drawing/2014/main" id="{F192B8B2-8340-4CA7-0956-CE9B78C8B600}"/>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Tree>
    <p:extLst>
      <p:ext uri="{BB962C8B-B14F-4D97-AF65-F5344CB8AC3E}">
        <p14:creationId xmlns:p14="http://schemas.microsoft.com/office/powerpoint/2010/main" val="2745398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89895764-E30A-C2E2-40D7-F98D4492D842}"/>
              </a:ext>
            </a:extLst>
          </p:cNvPr>
          <p:cNvPicPr preferRelativeResize="0"/>
          <p:nvPr/>
        </p:nvPicPr>
        <p:blipFill rotWithShape="1">
          <a:blip r:embed="rId3">
            <a:alphaModFix/>
          </a:blip>
          <a:srcRect/>
          <a:stretch/>
        </p:blipFill>
        <p:spPr>
          <a:xfrm>
            <a:off x="-3894" y="-28242"/>
            <a:ext cx="12652622" cy="6886241"/>
          </a:xfrm>
          <a:prstGeom prst="rect">
            <a:avLst/>
          </a:prstGeom>
          <a:noFill/>
          <a:ln>
            <a:noFill/>
          </a:ln>
        </p:spPr>
      </p:pic>
      <p:sp>
        <p:nvSpPr>
          <p:cNvPr id="494" name="Google Shape;494;p18"/>
          <p:cNvSpPr txBox="1"/>
          <p:nvPr/>
        </p:nvSpPr>
        <p:spPr>
          <a:xfrm>
            <a:off x="672845" y="1263611"/>
            <a:ext cx="10397490" cy="5488682"/>
          </a:xfrm>
          <a:prstGeom prst="rect">
            <a:avLst/>
          </a:prstGeom>
          <a:noFill/>
          <a:ln>
            <a:noFill/>
          </a:ln>
        </p:spPr>
        <p:txBody>
          <a:bodyPr spcFirstLastPara="1" wrap="square" lIns="0" tIns="12700" rIns="0" bIns="0" anchor="t" anchorCtr="0">
            <a:spAutoFit/>
          </a:bodyPr>
          <a:lstStyle/>
          <a:p>
            <a:pPr marL="0" marR="0" lvl="0" indent="-152400" algn="l" rtl="0">
              <a:spcBef>
                <a:spcPts val="0"/>
              </a:spcBef>
              <a:spcAft>
                <a:spcPts val="0"/>
              </a:spcAft>
              <a:buClr>
                <a:schemeClr val="dk1"/>
              </a:buClr>
              <a:buSzPts val="2400"/>
              <a:buFont typeface="Noto Sans Symbols"/>
              <a:buChar char="❑"/>
            </a:pPr>
            <a:r>
              <a:rPr lang="fr-FR" sz="2000" dirty="0">
                <a:solidFill>
                  <a:schemeClr val="dk1"/>
                </a:solidFill>
                <a:latin typeface="Times New Roman" panose="02020603050405020304" pitchFamily="18" charset="0"/>
                <a:cs typeface="Times New Roman" panose="02020603050405020304" pitchFamily="18" charset="0"/>
                <a:sym typeface="Arial"/>
              </a:rPr>
              <a:t>Il existe deux grandes familles de services web:</a:t>
            </a:r>
            <a:endParaRPr sz="20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lang="fr-FR" sz="2000"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spcBef>
                <a:spcPts val="0"/>
              </a:spcBef>
              <a:spcAft>
                <a:spcPts val="0"/>
              </a:spcAft>
              <a:buNone/>
            </a:pPr>
            <a:endParaRPr sz="2000" dirty="0">
              <a:solidFill>
                <a:schemeClr val="dk1"/>
              </a:solidFill>
              <a:latin typeface="Times New Roman" panose="02020603050405020304" pitchFamily="18" charset="0"/>
              <a:cs typeface="Times New Roman" panose="02020603050405020304" pitchFamily="18" charset="0"/>
              <a:sym typeface="Arial"/>
            </a:endParaRPr>
          </a:p>
          <a:p>
            <a:pPr marL="0" marR="0" lvl="0" indent="-139700" algn="l" rtl="0">
              <a:spcBef>
                <a:spcPts val="0"/>
              </a:spcBef>
              <a:spcAft>
                <a:spcPts val="0"/>
              </a:spcAft>
              <a:buClr>
                <a:schemeClr val="dk1"/>
              </a:buClr>
              <a:buSzPts val="2200"/>
              <a:buFont typeface="Arial"/>
              <a:buChar char="•"/>
            </a:pPr>
            <a:r>
              <a:rPr lang="fr-FR" sz="2000" dirty="0">
                <a:solidFill>
                  <a:schemeClr val="dk1"/>
                </a:solidFill>
                <a:latin typeface="Times New Roman" panose="02020603050405020304" pitchFamily="18" charset="0"/>
                <a:cs typeface="Times New Roman" panose="02020603050405020304" pitchFamily="18" charset="0"/>
                <a:sym typeface="Arial"/>
              </a:rPr>
              <a:t>Les services web </a:t>
            </a:r>
            <a:r>
              <a:rPr lang="fr-FR" sz="2000" b="1" dirty="0">
                <a:solidFill>
                  <a:srgbClr val="CC0000"/>
                </a:solidFill>
                <a:latin typeface="Times New Roman" panose="02020603050405020304" pitchFamily="18" charset="0"/>
                <a:cs typeface="Times New Roman" panose="02020603050405020304" pitchFamily="18" charset="0"/>
                <a:sym typeface="Arial"/>
              </a:rPr>
              <a:t>étendus</a:t>
            </a:r>
            <a:r>
              <a:rPr lang="fr-FR" sz="2000" dirty="0">
                <a:solidFill>
                  <a:schemeClr val="dk1"/>
                </a:solidFill>
                <a:latin typeface="Times New Roman" panose="02020603050405020304" pitchFamily="18" charset="0"/>
                <a:cs typeface="Times New Roman" panose="02020603050405020304" pitchFamily="18" charset="0"/>
                <a:sym typeface="Arial"/>
              </a:rPr>
              <a:t> utilisant les standards:</a:t>
            </a:r>
            <a:endParaRPr sz="2000" dirty="0">
              <a:latin typeface="Times New Roman" panose="02020603050405020304" pitchFamily="18" charset="0"/>
              <a:cs typeface="Times New Roman" panose="02020603050405020304" pitchFamily="18" charset="0"/>
            </a:endParaRPr>
          </a:p>
          <a:p>
            <a:pPr marL="914400" marR="0" lvl="2" indent="-127000" algn="l" rtl="0">
              <a:spcBef>
                <a:spcPts val="0"/>
              </a:spcBef>
              <a:spcAft>
                <a:spcPts val="0"/>
              </a:spcAft>
              <a:buClr>
                <a:schemeClr val="dk1"/>
              </a:buClr>
              <a:buSzPts val="2000"/>
              <a:buFont typeface="Arial"/>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 SOAP pour la communication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 UDDI (annuaire) pour la publication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 WSDL (contrat) pour la description</a:t>
            </a:r>
            <a:endParaRPr sz="20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lang="fr-FR" sz="2000"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spcBef>
                <a:spcPts val="0"/>
              </a:spcBef>
              <a:spcAft>
                <a:spcPts val="0"/>
              </a:spcAft>
              <a:buNone/>
            </a:pPr>
            <a:endParaRPr sz="2000" dirty="0">
              <a:solidFill>
                <a:schemeClr val="dk1"/>
              </a:solidFill>
              <a:latin typeface="Times New Roman" panose="02020603050405020304" pitchFamily="18" charset="0"/>
              <a:cs typeface="Times New Roman" panose="02020603050405020304" pitchFamily="18" charset="0"/>
              <a:sym typeface="Arial"/>
            </a:endParaRPr>
          </a:p>
          <a:p>
            <a:pPr marL="0" marR="0" lvl="0" indent="-139700" algn="l" rtl="0">
              <a:spcBef>
                <a:spcPts val="0"/>
              </a:spcBef>
              <a:spcAft>
                <a:spcPts val="0"/>
              </a:spcAft>
              <a:buClr>
                <a:schemeClr val="dk1"/>
              </a:buClr>
              <a:buSzPts val="2200"/>
              <a:buFont typeface="Arial"/>
              <a:buChar char="•"/>
            </a:pPr>
            <a:r>
              <a:rPr lang="fr-FR" sz="2000" dirty="0">
                <a:solidFill>
                  <a:schemeClr val="dk1"/>
                </a:solidFill>
                <a:latin typeface="Times New Roman" panose="02020603050405020304" pitchFamily="18" charset="0"/>
                <a:cs typeface="Times New Roman" panose="02020603050405020304" pitchFamily="18" charset="0"/>
                <a:sym typeface="Arial"/>
              </a:rPr>
              <a:t>Les services web </a:t>
            </a:r>
            <a:r>
              <a:rPr lang="fr-FR" sz="2000" b="1" dirty="0">
                <a:solidFill>
                  <a:srgbClr val="CC0000"/>
                </a:solidFill>
                <a:latin typeface="Times New Roman" panose="02020603050405020304" pitchFamily="18" charset="0"/>
                <a:cs typeface="Times New Roman" panose="02020603050405020304" pitchFamily="18" charset="0"/>
                <a:sym typeface="Arial"/>
              </a:rPr>
              <a:t>REST</a:t>
            </a:r>
            <a:r>
              <a:rPr lang="fr-FR" sz="2000" b="1" dirty="0">
                <a:solidFill>
                  <a:schemeClr val="dk1"/>
                </a:solidFill>
                <a:latin typeface="Times New Roman" panose="02020603050405020304" pitchFamily="18" charset="0"/>
                <a:cs typeface="Times New Roman" panose="02020603050405020304" pitchFamily="18" charset="0"/>
                <a:sym typeface="Arial"/>
              </a:rPr>
              <a:t> </a:t>
            </a:r>
            <a:r>
              <a:rPr lang="fr-FR" sz="2000" dirty="0">
                <a:solidFill>
                  <a:schemeClr val="dk1"/>
                </a:solidFill>
                <a:latin typeface="Times New Roman" panose="02020603050405020304" pitchFamily="18" charset="0"/>
                <a:cs typeface="Times New Roman" panose="02020603050405020304" pitchFamily="18" charset="0"/>
                <a:sym typeface="Arial"/>
              </a:rPr>
              <a:t>utilisant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Directement  HTTP au lieu d’une enveloppe  SOAP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Un URI pour nommer et identifier une ressource ;</a:t>
            </a:r>
            <a:endParaRPr sz="2000" dirty="0">
              <a:latin typeface="Times New Roman" panose="02020603050405020304" pitchFamily="18" charset="0"/>
              <a:cs typeface="Times New Roman" panose="02020603050405020304" pitchFamily="18" charset="0"/>
            </a:endParaRPr>
          </a:p>
          <a:p>
            <a:pPr marL="914400" marR="0" lvl="2" indent="-114300" algn="l" rtl="0">
              <a:spcBef>
                <a:spcPts val="0"/>
              </a:spcBef>
              <a:spcAft>
                <a:spcPts val="0"/>
              </a:spcAft>
              <a:buClr>
                <a:schemeClr val="dk1"/>
              </a:buClr>
              <a:buSzPts val="1800"/>
              <a:buFont typeface="Arial"/>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Les méthodes HTTP (POST, GET, PUT et DELETE) pour effectuer les opérations de base CRUD</a:t>
            </a:r>
            <a:endParaRPr sz="2000" b="1"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spcBef>
                <a:spcPts val="0"/>
              </a:spcBef>
              <a:spcAft>
                <a:spcPts val="0"/>
              </a:spcAft>
              <a:buNone/>
            </a:pPr>
            <a:endParaRPr sz="2400" dirty="0">
              <a:solidFill>
                <a:schemeClr val="dk1"/>
              </a:solidFill>
              <a:latin typeface="Arial"/>
              <a:ea typeface="Arial"/>
              <a:cs typeface="Arial"/>
              <a:sym typeface="Arial"/>
            </a:endParaRPr>
          </a:p>
          <a:p>
            <a:pPr marL="12065" marR="0" lvl="0" indent="0" algn="l" rtl="0">
              <a:lnSpc>
                <a:spcPct val="100000"/>
              </a:lnSpc>
              <a:spcBef>
                <a:spcPts val="100"/>
              </a:spcBef>
              <a:spcAft>
                <a:spcPts val="0"/>
              </a:spcAft>
              <a:buNone/>
            </a:pPr>
            <a:endParaRPr sz="2400" dirty="0">
              <a:solidFill>
                <a:schemeClr val="dk1"/>
              </a:solidFill>
              <a:latin typeface="Arial"/>
              <a:ea typeface="Arial"/>
              <a:cs typeface="Arial"/>
              <a:sym typeface="Arial"/>
            </a:endParaRPr>
          </a:p>
          <a:p>
            <a:pPr marL="0" marR="0" lvl="0" indent="0" algn="l" rtl="0">
              <a:lnSpc>
                <a:spcPct val="100000"/>
              </a:lnSpc>
              <a:spcBef>
                <a:spcPts val="20"/>
              </a:spcBef>
              <a:spcAft>
                <a:spcPts val="0"/>
              </a:spcAft>
              <a:buNone/>
            </a:pPr>
            <a:endParaRPr sz="2700" dirty="0">
              <a:solidFill>
                <a:schemeClr val="dk1"/>
              </a:solidFill>
              <a:latin typeface="Arial"/>
              <a:ea typeface="Arial"/>
              <a:cs typeface="Arial"/>
              <a:sym typeface="Arial"/>
            </a:endParaRPr>
          </a:p>
        </p:txBody>
      </p:sp>
      <p:sp>
        <p:nvSpPr>
          <p:cNvPr id="495" name="Google Shape;495;p18"/>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24</a:t>
            </a:fld>
            <a:endParaRPr/>
          </a:p>
        </p:txBody>
      </p:sp>
      <p:sp>
        <p:nvSpPr>
          <p:cNvPr id="496" name="Google Shape;496;p18"/>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5" name="Google Shape;301;g25b1bb62912_0_50">
            <a:extLst>
              <a:ext uri="{FF2B5EF4-FFF2-40B4-BE49-F238E27FC236}">
                <a16:creationId xmlns:a16="http://schemas.microsoft.com/office/drawing/2014/main" id="{B30D4600-F926-0D42-6CFD-905E06D8E1F3}"/>
              </a:ext>
            </a:extLst>
          </p:cNvPr>
          <p:cNvSpPr txBox="1"/>
          <p:nvPr/>
        </p:nvSpPr>
        <p:spPr>
          <a:xfrm>
            <a:off x="1189072" y="630264"/>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Services Web</a:t>
            </a:r>
            <a:endParaRPr dirty="0">
              <a:sym typeface="Times New Roman"/>
            </a:endParaRPr>
          </a:p>
        </p:txBody>
      </p:sp>
      <p:pic>
        <p:nvPicPr>
          <p:cNvPr id="6" name="Google Shape;297;g25b1bb62912_0_50" descr="Image 10">
            <a:extLst>
              <a:ext uri="{FF2B5EF4-FFF2-40B4-BE49-F238E27FC236}">
                <a16:creationId xmlns:a16="http://schemas.microsoft.com/office/drawing/2014/main" id="{F1770A29-413B-3334-20D2-B277495C43E7}"/>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Tree>
    <p:extLst>
      <p:ext uri="{BB962C8B-B14F-4D97-AF65-F5344CB8AC3E}">
        <p14:creationId xmlns:p14="http://schemas.microsoft.com/office/powerpoint/2010/main" val="423944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296;g25b1bb62912_0_50" descr="Picture 2">
            <a:extLst>
              <a:ext uri="{FF2B5EF4-FFF2-40B4-BE49-F238E27FC236}">
                <a16:creationId xmlns:a16="http://schemas.microsoft.com/office/drawing/2014/main" id="{539EA1C8-BF42-B917-77FA-37E305003689}"/>
              </a:ext>
            </a:extLst>
          </p:cNvPr>
          <p:cNvPicPr preferRelativeResize="0"/>
          <p:nvPr/>
        </p:nvPicPr>
        <p:blipFill rotWithShape="1">
          <a:blip r:embed="rId2">
            <a:alphaModFix/>
          </a:blip>
          <a:srcRect/>
          <a:stretch/>
        </p:blipFill>
        <p:spPr>
          <a:xfrm>
            <a:off x="0" y="-28241"/>
            <a:ext cx="12652622" cy="6886241"/>
          </a:xfrm>
          <a:prstGeom prst="rect">
            <a:avLst/>
          </a:prstGeom>
          <a:noFill/>
          <a:ln>
            <a:noFill/>
          </a:ln>
        </p:spPr>
      </p:pic>
      <p:graphicFrame>
        <p:nvGraphicFramePr>
          <p:cNvPr id="18" name="Tableau 17"/>
          <p:cNvGraphicFramePr>
            <a:graphicFrameLocks noGrp="1"/>
          </p:cNvGraphicFramePr>
          <p:nvPr/>
        </p:nvGraphicFramePr>
        <p:xfrm>
          <a:off x="3666728" y="2148344"/>
          <a:ext cx="2327920" cy="396240"/>
        </p:xfrm>
        <a:graphic>
          <a:graphicData uri="http://schemas.openxmlformats.org/drawingml/2006/table">
            <a:tbl>
              <a:tblPr firstRow="1" bandRow="1">
                <a:tableStyleId>{5C22544A-7EE6-4342-B048-85BDC9FD1C3A}</a:tableStyleId>
              </a:tblPr>
              <a:tblGrid>
                <a:gridCol w="2327920">
                  <a:extLst>
                    <a:ext uri="{9D8B030D-6E8A-4147-A177-3AD203B41FA5}">
                      <a16:colId xmlns:a16="http://schemas.microsoft.com/office/drawing/2014/main" val="20000"/>
                    </a:ext>
                  </a:extLst>
                </a:gridCol>
              </a:tblGrid>
              <a:tr h="360040">
                <a:tc>
                  <a:txBody>
                    <a:bodyPr/>
                    <a:lstStyle/>
                    <a:p>
                      <a:pPr algn="ctr"/>
                      <a:r>
                        <a:rPr lang="fr-FR" sz="2000" dirty="0"/>
                        <a:t>REST </a:t>
                      </a:r>
                    </a:p>
                  </a:txBody>
                  <a:tcPr/>
                </a:tc>
                <a:extLst>
                  <a:ext uri="{0D108BD9-81ED-4DB2-BD59-A6C34878D82A}">
                    <a16:rowId xmlns:a16="http://schemas.microsoft.com/office/drawing/2014/main" val="10000"/>
                  </a:ext>
                </a:extLst>
              </a:tr>
            </a:tbl>
          </a:graphicData>
        </a:graphic>
      </p:graphicFrame>
      <p:graphicFrame>
        <p:nvGraphicFramePr>
          <p:cNvPr id="19" name="Tableau 18"/>
          <p:cNvGraphicFramePr>
            <a:graphicFrameLocks noGrp="1"/>
          </p:cNvGraphicFramePr>
          <p:nvPr/>
        </p:nvGraphicFramePr>
        <p:xfrm>
          <a:off x="6968728" y="2154064"/>
          <a:ext cx="2327920" cy="396240"/>
        </p:xfrm>
        <a:graphic>
          <a:graphicData uri="http://schemas.openxmlformats.org/drawingml/2006/table">
            <a:tbl>
              <a:tblPr firstRow="1" bandRow="1">
                <a:tableStyleId>{5C22544A-7EE6-4342-B048-85BDC9FD1C3A}</a:tableStyleId>
              </a:tblPr>
              <a:tblGrid>
                <a:gridCol w="2327920">
                  <a:extLst>
                    <a:ext uri="{9D8B030D-6E8A-4147-A177-3AD203B41FA5}">
                      <a16:colId xmlns:a16="http://schemas.microsoft.com/office/drawing/2014/main" val="20000"/>
                    </a:ext>
                  </a:extLst>
                </a:gridCol>
              </a:tblGrid>
              <a:tr h="360040">
                <a:tc>
                  <a:txBody>
                    <a:bodyPr/>
                    <a:lstStyle/>
                    <a:p>
                      <a:pPr algn="ctr"/>
                      <a:r>
                        <a:rPr lang="fr-FR" sz="2000" dirty="0"/>
                        <a:t>SOAP</a:t>
                      </a:r>
                    </a:p>
                  </a:txBody>
                  <a:tcPr/>
                </a:tc>
                <a:extLst>
                  <a:ext uri="{0D108BD9-81ED-4DB2-BD59-A6C34878D82A}">
                    <a16:rowId xmlns:a16="http://schemas.microsoft.com/office/drawing/2014/main" val="10000"/>
                  </a:ext>
                </a:extLst>
              </a:tr>
            </a:tbl>
          </a:graphicData>
        </a:graphic>
      </p:graphicFrame>
      <p:graphicFrame>
        <p:nvGraphicFramePr>
          <p:cNvPr id="21" name="Tableau 20"/>
          <p:cNvGraphicFramePr>
            <a:graphicFrameLocks noGrp="1"/>
          </p:cNvGraphicFramePr>
          <p:nvPr/>
        </p:nvGraphicFramePr>
        <p:xfrm>
          <a:off x="889000" y="3234184"/>
          <a:ext cx="8917755" cy="2987040"/>
        </p:xfrm>
        <a:graphic>
          <a:graphicData uri="http://schemas.openxmlformats.org/drawingml/2006/table">
            <a:tbl>
              <a:tblPr firstRow="1" bandRow="1">
                <a:tableStyleId>{22838BEF-8BB2-4498-84A7-C5851F593DF1}</a:tableStyleId>
              </a:tblPr>
              <a:tblGrid>
                <a:gridCol w="2528149">
                  <a:extLst>
                    <a:ext uri="{9D8B030D-6E8A-4147-A177-3AD203B41FA5}">
                      <a16:colId xmlns:a16="http://schemas.microsoft.com/office/drawing/2014/main" val="20000"/>
                    </a:ext>
                  </a:extLst>
                </a:gridCol>
                <a:gridCol w="3110651">
                  <a:extLst>
                    <a:ext uri="{9D8B030D-6E8A-4147-A177-3AD203B41FA5}">
                      <a16:colId xmlns:a16="http://schemas.microsoft.com/office/drawing/2014/main" val="20001"/>
                    </a:ext>
                  </a:extLst>
                </a:gridCol>
                <a:gridCol w="3278955">
                  <a:extLst>
                    <a:ext uri="{9D8B030D-6E8A-4147-A177-3AD203B41FA5}">
                      <a16:colId xmlns:a16="http://schemas.microsoft.com/office/drawing/2014/main" val="20002"/>
                    </a:ext>
                  </a:extLst>
                </a:gridCol>
              </a:tblGrid>
              <a:tr h="370840">
                <a:tc>
                  <a:txBody>
                    <a:bodyPr/>
                    <a:lstStyle/>
                    <a:p>
                      <a:pPr algn="l"/>
                      <a:r>
                        <a:rPr lang="fr-FR" sz="2000" b="1" dirty="0">
                          <a:solidFill>
                            <a:schemeClr val="bg1"/>
                          </a:solidFill>
                        </a:rPr>
                        <a:t>Structure de réponse</a:t>
                      </a:r>
                    </a:p>
                  </a:txBody>
                  <a:tcPr>
                    <a:solidFill>
                      <a:schemeClr val="tx2">
                        <a:lumMod val="60000"/>
                        <a:lumOff val="40000"/>
                      </a:schemeClr>
                    </a:solidFill>
                  </a:tcPr>
                </a:tc>
                <a:tc>
                  <a:txBody>
                    <a:bodyPr/>
                    <a:lstStyle/>
                    <a:p>
                      <a:pPr algn="ctr"/>
                      <a:r>
                        <a:rPr lang="fr-FR" sz="2000" b="0" dirty="0"/>
                        <a:t>Fixé par le serveur</a:t>
                      </a:r>
                    </a:p>
                  </a:txBody>
                  <a:tcPr/>
                </a:tc>
                <a:tc>
                  <a:txBody>
                    <a:bodyPr/>
                    <a:lstStyle/>
                    <a:p>
                      <a:pPr algn="ctr"/>
                      <a:r>
                        <a:rPr lang="fr-FR" sz="2000" b="0" dirty="0"/>
                        <a:t>Fixé par le serveur</a:t>
                      </a:r>
                    </a:p>
                  </a:txBody>
                  <a:tcPr/>
                </a:tc>
                <a:extLst>
                  <a:ext uri="{0D108BD9-81ED-4DB2-BD59-A6C34878D82A}">
                    <a16:rowId xmlns:a16="http://schemas.microsoft.com/office/drawing/2014/main" val="10000"/>
                  </a:ext>
                </a:extLst>
              </a:tr>
              <a:tr h="370840">
                <a:tc>
                  <a:txBody>
                    <a:bodyPr/>
                    <a:lstStyle/>
                    <a:p>
                      <a:pPr algn="l"/>
                      <a:r>
                        <a:rPr lang="fr-FR" sz="2000" b="1" dirty="0">
                          <a:solidFill>
                            <a:schemeClr val="bg1"/>
                          </a:solidFill>
                        </a:rPr>
                        <a:t>Format de données</a:t>
                      </a:r>
                    </a:p>
                  </a:txBody>
                  <a:tcPr>
                    <a:solidFill>
                      <a:schemeClr val="tx2">
                        <a:lumMod val="60000"/>
                        <a:lumOff val="40000"/>
                      </a:schemeClr>
                    </a:solidFill>
                  </a:tcPr>
                </a:tc>
                <a:tc>
                  <a:txBody>
                    <a:bodyPr/>
                    <a:lstStyle/>
                    <a:p>
                      <a:pPr algn="ctr"/>
                      <a:r>
                        <a:rPr lang="fr-FR" sz="2000" dirty="0"/>
                        <a:t>JSON,</a:t>
                      </a:r>
                      <a:r>
                        <a:rPr lang="fr-FR" sz="2000" baseline="0" dirty="0"/>
                        <a:t> XML, TXT, HTML</a:t>
                      </a:r>
                      <a:endParaRPr lang="fr-FR" sz="2000" dirty="0"/>
                    </a:p>
                  </a:txBody>
                  <a:tcPr/>
                </a:tc>
                <a:tc>
                  <a:txBody>
                    <a:bodyPr/>
                    <a:lstStyle/>
                    <a:p>
                      <a:pPr algn="ctr"/>
                      <a:r>
                        <a:rPr lang="fr-FR" sz="2000" dirty="0"/>
                        <a:t>XML</a:t>
                      </a:r>
                    </a:p>
                  </a:txBody>
                  <a:tcPr/>
                </a:tc>
                <a:extLst>
                  <a:ext uri="{0D108BD9-81ED-4DB2-BD59-A6C34878D82A}">
                    <a16:rowId xmlns:a16="http://schemas.microsoft.com/office/drawing/2014/main" val="10001"/>
                  </a:ext>
                </a:extLst>
              </a:tr>
              <a:tr h="370840">
                <a:tc>
                  <a:txBody>
                    <a:bodyPr/>
                    <a:lstStyle/>
                    <a:p>
                      <a:pPr algn="l"/>
                      <a:r>
                        <a:rPr lang="fr-FR" sz="2000" b="1" dirty="0">
                          <a:solidFill>
                            <a:schemeClr val="bg1"/>
                          </a:solidFill>
                        </a:rPr>
                        <a:t>P. Transport </a:t>
                      </a:r>
                    </a:p>
                  </a:txBody>
                  <a:tcPr>
                    <a:solidFill>
                      <a:schemeClr val="tx2">
                        <a:lumMod val="60000"/>
                        <a:lumOff val="40000"/>
                      </a:schemeClr>
                    </a:solidFill>
                  </a:tcPr>
                </a:tc>
                <a:tc>
                  <a:txBody>
                    <a:bodyPr/>
                    <a:lstStyle/>
                    <a:p>
                      <a:pPr algn="ctr"/>
                      <a:r>
                        <a:rPr lang="fr-FR" sz="2000" dirty="0"/>
                        <a:t>HTTP</a:t>
                      </a:r>
                    </a:p>
                  </a:txBody>
                  <a:tcPr/>
                </a:tc>
                <a:tc>
                  <a:txBody>
                    <a:bodyPr/>
                    <a:lstStyle/>
                    <a:p>
                      <a:pPr algn="ctr"/>
                      <a:r>
                        <a:rPr lang="fr-FR" sz="2000" dirty="0"/>
                        <a:t>HTTP, SMTP, FTP</a:t>
                      </a:r>
                    </a:p>
                  </a:txBody>
                  <a:tcPr/>
                </a:tc>
                <a:extLst>
                  <a:ext uri="{0D108BD9-81ED-4DB2-BD59-A6C34878D82A}">
                    <a16:rowId xmlns:a16="http://schemas.microsoft.com/office/drawing/2014/main" val="10002"/>
                  </a:ext>
                </a:extLst>
              </a:tr>
              <a:tr h="370840">
                <a:tc>
                  <a:txBody>
                    <a:bodyPr/>
                    <a:lstStyle/>
                    <a:p>
                      <a:pPr algn="l"/>
                      <a:r>
                        <a:rPr lang="fr-FR" sz="2000" b="1" dirty="0">
                          <a:solidFill>
                            <a:schemeClr val="bg1"/>
                          </a:solidFill>
                        </a:rPr>
                        <a:t>P. Communication</a:t>
                      </a:r>
                    </a:p>
                  </a:txBody>
                  <a:tcPr>
                    <a:solidFill>
                      <a:schemeClr val="tx2">
                        <a:lumMod val="60000"/>
                        <a:lumOff val="40000"/>
                      </a:schemeClr>
                    </a:solidFill>
                  </a:tcPr>
                </a:tc>
                <a:tc>
                  <a:txBody>
                    <a:bodyPr/>
                    <a:lstStyle/>
                    <a:p>
                      <a:pPr algn="ctr"/>
                      <a:r>
                        <a:rPr lang="fr-FR" sz="2000" dirty="0"/>
                        <a:t>HTTP</a:t>
                      </a:r>
                    </a:p>
                  </a:txBody>
                  <a:tcPr/>
                </a:tc>
                <a:tc>
                  <a:txBody>
                    <a:bodyPr/>
                    <a:lstStyle/>
                    <a:p>
                      <a:pPr algn="ctr"/>
                      <a:r>
                        <a:rPr lang="fr-FR" sz="2000" dirty="0"/>
                        <a:t>SOAP</a:t>
                      </a:r>
                    </a:p>
                  </a:txBody>
                  <a:tcPr/>
                </a:tc>
                <a:extLst>
                  <a:ext uri="{0D108BD9-81ED-4DB2-BD59-A6C34878D82A}">
                    <a16:rowId xmlns:a16="http://schemas.microsoft.com/office/drawing/2014/main" val="10003"/>
                  </a:ext>
                </a:extLst>
              </a:tr>
              <a:tr h="370840">
                <a:tc>
                  <a:txBody>
                    <a:bodyPr/>
                    <a:lstStyle/>
                    <a:p>
                      <a:pPr algn="l"/>
                      <a:r>
                        <a:rPr lang="fr-FR" sz="2000" b="1" dirty="0">
                          <a:solidFill>
                            <a:schemeClr val="bg1"/>
                          </a:solidFill>
                        </a:rPr>
                        <a:t>Méthodes</a:t>
                      </a:r>
                    </a:p>
                  </a:txBody>
                  <a:tcPr>
                    <a:solidFill>
                      <a:schemeClr val="tx2">
                        <a:lumMod val="60000"/>
                        <a:lumOff val="40000"/>
                      </a:schemeClr>
                    </a:solidFill>
                  </a:tcPr>
                </a:tc>
                <a:tc>
                  <a:txBody>
                    <a:bodyPr/>
                    <a:lstStyle/>
                    <a:p>
                      <a:pPr algn="ctr"/>
                      <a:r>
                        <a:rPr lang="fr-FR" sz="2000" dirty="0"/>
                        <a:t>GET, POST, PUT, DELETE</a:t>
                      </a:r>
                    </a:p>
                  </a:txBody>
                  <a:tcPr/>
                </a:tc>
                <a:tc>
                  <a:txBody>
                    <a:bodyPr/>
                    <a:lstStyle/>
                    <a:p>
                      <a:pPr algn="ctr"/>
                      <a:r>
                        <a:rPr lang="fr-FR" sz="2000" dirty="0"/>
                        <a:t>Noms</a:t>
                      </a:r>
                      <a:r>
                        <a:rPr lang="fr-FR" sz="2000" baseline="0" dirty="0"/>
                        <a:t> opérations</a:t>
                      </a:r>
                      <a:endParaRPr lang="fr-FR" sz="2000" dirty="0"/>
                    </a:p>
                  </a:txBody>
                  <a:tcPr/>
                </a:tc>
                <a:extLst>
                  <a:ext uri="{0D108BD9-81ED-4DB2-BD59-A6C34878D82A}">
                    <a16:rowId xmlns:a16="http://schemas.microsoft.com/office/drawing/2014/main" val="10004"/>
                  </a:ext>
                </a:extLst>
              </a:tr>
              <a:tr h="370840">
                <a:tc>
                  <a:txBody>
                    <a:bodyPr/>
                    <a:lstStyle/>
                    <a:p>
                      <a:pPr algn="l"/>
                      <a:r>
                        <a:rPr lang="fr-FR" sz="2000" b="1" dirty="0">
                          <a:solidFill>
                            <a:schemeClr val="bg1"/>
                          </a:solidFill>
                        </a:rPr>
                        <a:t>Contrat</a:t>
                      </a:r>
                      <a:r>
                        <a:rPr lang="fr-FR" sz="2000" b="1" baseline="0" dirty="0">
                          <a:solidFill>
                            <a:schemeClr val="bg1"/>
                          </a:solidFill>
                        </a:rPr>
                        <a:t> </a:t>
                      </a:r>
                      <a:r>
                        <a:rPr lang="fr-FR" sz="2000" b="1" baseline="0" dirty="0" err="1">
                          <a:solidFill>
                            <a:schemeClr val="bg1"/>
                          </a:solidFill>
                        </a:rPr>
                        <a:t>standarisé</a:t>
                      </a:r>
                      <a:endParaRPr lang="fr-FR" sz="2000" b="1" dirty="0">
                        <a:solidFill>
                          <a:schemeClr val="bg1"/>
                        </a:solidFill>
                      </a:endParaRPr>
                    </a:p>
                  </a:txBody>
                  <a:tcPr>
                    <a:solidFill>
                      <a:schemeClr val="tx2">
                        <a:lumMod val="60000"/>
                        <a:lumOff val="40000"/>
                      </a:schemeClr>
                    </a:solidFill>
                  </a:tcPr>
                </a:tc>
                <a:tc>
                  <a:txBody>
                    <a:bodyPr/>
                    <a:lstStyle/>
                    <a:p>
                      <a:pPr algn="ctr"/>
                      <a:r>
                        <a:rPr lang="fr-FR" sz="2000" dirty="0"/>
                        <a:t>WADL (optionnel)</a:t>
                      </a:r>
                    </a:p>
                  </a:txBody>
                  <a:tcPr/>
                </a:tc>
                <a:tc>
                  <a:txBody>
                    <a:bodyPr/>
                    <a:lstStyle/>
                    <a:p>
                      <a:pPr algn="ctr"/>
                      <a:r>
                        <a:rPr lang="fr-FR" sz="2000" dirty="0"/>
                        <a:t>WSDL (obligatoire)</a:t>
                      </a:r>
                    </a:p>
                  </a:txBody>
                  <a:tcPr/>
                </a:tc>
                <a:extLst>
                  <a:ext uri="{0D108BD9-81ED-4DB2-BD59-A6C34878D82A}">
                    <a16:rowId xmlns:a16="http://schemas.microsoft.com/office/drawing/2014/main" val="10005"/>
                  </a:ext>
                </a:extLst>
              </a:tr>
            </a:tbl>
          </a:graphicData>
        </a:graphic>
      </p:graphicFrame>
      <p:cxnSp>
        <p:nvCxnSpPr>
          <p:cNvPr id="22" name="Connecteur droit 21"/>
          <p:cNvCxnSpPr/>
          <p:nvPr/>
        </p:nvCxnSpPr>
        <p:spPr>
          <a:xfrm>
            <a:off x="6523980" y="2111772"/>
            <a:ext cx="0" cy="3528392"/>
          </a:xfrm>
          <a:prstGeom prst="line">
            <a:avLst/>
          </a:prstGeom>
          <a:ln>
            <a:prstDash val="lgDash"/>
          </a:ln>
        </p:spPr>
        <p:style>
          <a:lnRef idx="1">
            <a:schemeClr val="accent2"/>
          </a:lnRef>
          <a:fillRef idx="0">
            <a:schemeClr val="accent2"/>
          </a:fillRef>
          <a:effectRef idx="0">
            <a:schemeClr val="accent2"/>
          </a:effectRef>
          <a:fontRef idx="minor">
            <a:schemeClr val="tx1"/>
          </a:fontRef>
        </p:style>
      </p:cxnSp>
      <p:sp>
        <p:nvSpPr>
          <p:cNvPr id="4" name="Google Shape;301;g25b1bb62912_0_50">
            <a:extLst>
              <a:ext uri="{FF2B5EF4-FFF2-40B4-BE49-F238E27FC236}">
                <a16:creationId xmlns:a16="http://schemas.microsoft.com/office/drawing/2014/main" id="{5DC57160-E304-111A-780E-534A4F4FAA71}"/>
              </a:ext>
            </a:extLst>
          </p:cNvPr>
          <p:cNvSpPr txBox="1"/>
          <p:nvPr/>
        </p:nvSpPr>
        <p:spPr>
          <a:xfrm>
            <a:off x="1189072" y="630264"/>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Services Web : REST / SOAP</a:t>
            </a:r>
            <a:endParaRPr dirty="0">
              <a:sym typeface="Times New Roman"/>
            </a:endParaRPr>
          </a:p>
        </p:txBody>
      </p:sp>
      <p:pic>
        <p:nvPicPr>
          <p:cNvPr id="5" name="Google Shape;297;g25b1bb62912_0_50" descr="Image 10">
            <a:extLst>
              <a:ext uri="{FF2B5EF4-FFF2-40B4-BE49-F238E27FC236}">
                <a16:creationId xmlns:a16="http://schemas.microsoft.com/office/drawing/2014/main" id="{5740B8E1-2B3C-DC93-E77F-5B8F18C35714}"/>
              </a:ext>
            </a:extLst>
          </p:cNvPr>
          <p:cNvPicPr preferRelativeResize="0"/>
          <p:nvPr/>
        </p:nvPicPr>
        <p:blipFill rotWithShape="1">
          <a:blip r:embed="rId3">
            <a:alphaModFix/>
          </a:blip>
          <a:srcRect/>
          <a:stretch/>
        </p:blipFill>
        <p:spPr>
          <a:xfrm>
            <a:off x="672844" y="614541"/>
            <a:ext cx="585321" cy="579782"/>
          </a:xfrm>
          <a:prstGeom prst="rect">
            <a:avLst/>
          </a:prstGeom>
          <a:noFill/>
          <a:ln>
            <a:noFill/>
          </a:ln>
        </p:spPr>
      </p:pic>
    </p:spTree>
    <p:extLst>
      <p:ext uri="{BB962C8B-B14F-4D97-AF65-F5344CB8AC3E}">
        <p14:creationId xmlns:p14="http://schemas.microsoft.com/office/powerpoint/2010/main" val="4269631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 name="Google Shape;296;g25b1bb62912_0_50" descr="Picture 2">
            <a:extLst>
              <a:ext uri="{FF2B5EF4-FFF2-40B4-BE49-F238E27FC236}">
                <a16:creationId xmlns:a16="http://schemas.microsoft.com/office/drawing/2014/main" id="{3ECFDDA9-DD6A-DEF1-D448-13C58D892A02}"/>
              </a:ext>
            </a:extLst>
          </p:cNvPr>
          <p:cNvPicPr preferRelativeResize="0"/>
          <p:nvPr/>
        </p:nvPicPr>
        <p:blipFill rotWithShape="1">
          <a:blip r:embed="rId3">
            <a:alphaModFix/>
          </a:blip>
          <a:srcRect/>
          <a:stretch/>
        </p:blipFill>
        <p:spPr>
          <a:xfrm>
            <a:off x="-3894" y="-28242"/>
            <a:ext cx="12652622" cy="6886241"/>
          </a:xfrm>
          <a:prstGeom prst="rect">
            <a:avLst/>
          </a:prstGeom>
          <a:noFill/>
          <a:ln>
            <a:noFill/>
          </a:ln>
        </p:spPr>
      </p:pic>
      <p:sp>
        <p:nvSpPr>
          <p:cNvPr id="288" name="Google Shape;288;g25b1bb62912_0_41"/>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26</a:t>
            </a:fld>
            <a:endParaRPr/>
          </a:p>
        </p:txBody>
      </p:sp>
      <p:pic>
        <p:nvPicPr>
          <p:cNvPr id="289" name="Google Shape;289;g25b1bb62912_0_41" descr="Picture 3"/>
          <p:cNvPicPr preferRelativeResize="0"/>
          <p:nvPr/>
        </p:nvPicPr>
        <p:blipFill rotWithShape="1">
          <a:blip r:embed="rId4">
            <a:alphaModFix/>
          </a:blip>
          <a:srcRect/>
          <a:stretch/>
        </p:blipFill>
        <p:spPr>
          <a:xfrm flipH="1">
            <a:off x="9102766" y="-205530"/>
            <a:ext cx="3978841" cy="2344124"/>
          </a:xfrm>
          <a:prstGeom prst="rect">
            <a:avLst/>
          </a:prstGeom>
          <a:noFill/>
          <a:ln>
            <a:noFill/>
          </a:ln>
        </p:spPr>
      </p:pic>
      <p:pic>
        <p:nvPicPr>
          <p:cNvPr id="290" name="Google Shape;290;g25b1bb62912_0_41"/>
          <p:cNvPicPr preferRelativeResize="0"/>
          <p:nvPr/>
        </p:nvPicPr>
        <p:blipFill rotWithShape="1">
          <a:blip r:embed="rId5">
            <a:alphaModFix/>
          </a:blip>
          <a:srcRect/>
          <a:stretch/>
        </p:blipFill>
        <p:spPr>
          <a:xfrm>
            <a:off x="9965100" y="6283412"/>
            <a:ext cx="1087675" cy="394000"/>
          </a:xfrm>
          <a:prstGeom prst="rect">
            <a:avLst/>
          </a:prstGeom>
          <a:noFill/>
          <a:ln>
            <a:noFill/>
          </a:ln>
        </p:spPr>
      </p:pic>
      <p:sp>
        <p:nvSpPr>
          <p:cNvPr id="291" name="Google Shape;291;g25b1bb62912_0_41"/>
          <p:cNvSpPr txBox="1"/>
          <p:nvPr/>
        </p:nvSpPr>
        <p:spPr>
          <a:xfrm>
            <a:off x="1198268" y="649743"/>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Principes d’un service Web</a:t>
            </a:r>
            <a:endParaRPr dirty="0">
              <a:sym typeface="Times New Roman"/>
            </a:endParaRPr>
          </a:p>
        </p:txBody>
      </p:sp>
      <p:sp>
        <p:nvSpPr>
          <p:cNvPr id="2" name="Google Shape;554;p24">
            <a:extLst>
              <a:ext uri="{FF2B5EF4-FFF2-40B4-BE49-F238E27FC236}">
                <a16:creationId xmlns:a16="http://schemas.microsoft.com/office/drawing/2014/main" id="{76F43A63-6E45-0EB5-D1CC-6F1A69F368D6}"/>
              </a:ext>
            </a:extLst>
          </p:cNvPr>
          <p:cNvSpPr txBox="1"/>
          <p:nvPr/>
        </p:nvSpPr>
        <p:spPr>
          <a:xfrm>
            <a:off x="418160" y="1799280"/>
            <a:ext cx="3837088" cy="289823"/>
          </a:xfrm>
          <a:prstGeom prst="rect">
            <a:avLst/>
          </a:prstGeom>
          <a:noFill/>
          <a:ln>
            <a:noFill/>
          </a:ln>
        </p:spPr>
        <p:txBody>
          <a:bodyPr spcFirstLastPara="1" wrap="square" lIns="0" tIns="12700" rIns="0" bIns="0" anchor="t" anchorCtr="0">
            <a:spAutoFit/>
          </a:bodyPr>
          <a:lstStyle/>
          <a:p>
            <a:pPr marL="12700"/>
            <a:r>
              <a:rPr lang="fr-FR" sz="1800" dirty="0">
                <a:solidFill>
                  <a:schemeClr val="dk1"/>
                </a:solidFill>
                <a:latin typeface="Arial"/>
                <a:ea typeface="Arial"/>
                <a:cs typeface="Arial"/>
                <a:sym typeface="Arial"/>
              </a:rPr>
              <a:t>Auto description(Contrat standardisé) </a:t>
            </a:r>
            <a:endParaRPr sz="1800" dirty="0">
              <a:solidFill>
                <a:schemeClr val="dk1"/>
              </a:solidFill>
              <a:latin typeface="Arial"/>
              <a:ea typeface="Arial"/>
              <a:cs typeface="Arial"/>
              <a:sym typeface="Arial"/>
            </a:endParaRPr>
          </a:p>
        </p:txBody>
      </p:sp>
      <p:sp>
        <p:nvSpPr>
          <p:cNvPr id="3" name="Google Shape;555;p24">
            <a:extLst>
              <a:ext uri="{FF2B5EF4-FFF2-40B4-BE49-F238E27FC236}">
                <a16:creationId xmlns:a16="http://schemas.microsoft.com/office/drawing/2014/main" id="{CD7AA93C-9B92-C805-C690-C18EC8191FE5}"/>
              </a:ext>
            </a:extLst>
          </p:cNvPr>
          <p:cNvSpPr txBox="1"/>
          <p:nvPr/>
        </p:nvSpPr>
        <p:spPr>
          <a:xfrm>
            <a:off x="1069134" y="2985463"/>
            <a:ext cx="2131060" cy="3917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Couplage</a:t>
            </a:r>
            <a:r>
              <a:rPr lang="fr-FR" sz="2400" dirty="0">
                <a:solidFill>
                  <a:schemeClr val="dk1"/>
                </a:solidFill>
                <a:latin typeface="Arial"/>
                <a:ea typeface="Arial"/>
                <a:cs typeface="Arial"/>
                <a:sym typeface="Arial"/>
              </a:rPr>
              <a:t> </a:t>
            </a:r>
            <a:r>
              <a:rPr lang="fr-FR" sz="1800" dirty="0">
                <a:solidFill>
                  <a:schemeClr val="dk1"/>
                </a:solidFill>
              </a:rPr>
              <a:t>lâche</a:t>
            </a:r>
            <a:endParaRPr sz="1800" dirty="0">
              <a:solidFill>
                <a:schemeClr val="dk1"/>
              </a:solidFill>
            </a:endParaRPr>
          </a:p>
        </p:txBody>
      </p:sp>
      <p:sp>
        <p:nvSpPr>
          <p:cNvPr id="4" name="Google Shape;556;p24">
            <a:extLst>
              <a:ext uri="{FF2B5EF4-FFF2-40B4-BE49-F238E27FC236}">
                <a16:creationId xmlns:a16="http://schemas.microsoft.com/office/drawing/2014/main" id="{BBEA6C0E-1A0E-F06A-E747-4511D08729B1}"/>
              </a:ext>
            </a:extLst>
          </p:cNvPr>
          <p:cNvSpPr txBox="1"/>
          <p:nvPr/>
        </p:nvSpPr>
        <p:spPr>
          <a:xfrm>
            <a:off x="1720961" y="4039627"/>
            <a:ext cx="155321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Abstraction</a:t>
            </a:r>
            <a:endParaRPr sz="1800" dirty="0">
              <a:solidFill>
                <a:schemeClr val="dk1"/>
              </a:solidFill>
            </a:endParaRPr>
          </a:p>
        </p:txBody>
      </p:sp>
      <p:sp>
        <p:nvSpPr>
          <p:cNvPr id="5" name="Google Shape;557;p24">
            <a:extLst>
              <a:ext uri="{FF2B5EF4-FFF2-40B4-BE49-F238E27FC236}">
                <a16:creationId xmlns:a16="http://schemas.microsoft.com/office/drawing/2014/main" id="{1FAD1341-58AE-68A2-6AA9-B0DB88AFDDB3}"/>
              </a:ext>
            </a:extLst>
          </p:cNvPr>
          <p:cNvSpPr txBox="1"/>
          <p:nvPr/>
        </p:nvSpPr>
        <p:spPr>
          <a:xfrm>
            <a:off x="1447657" y="5040260"/>
            <a:ext cx="1821814"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Réutilisabilité</a:t>
            </a:r>
            <a:endParaRPr sz="1800" dirty="0">
              <a:solidFill>
                <a:schemeClr val="dk1"/>
              </a:solidFill>
            </a:endParaRPr>
          </a:p>
        </p:txBody>
      </p:sp>
      <p:sp>
        <p:nvSpPr>
          <p:cNvPr id="6" name="Google Shape;558;p24">
            <a:extLst>
              <a:ext uri="{FF2B5EF4-FFF2-40B4-BE49-F238E27FC236}">
                <a16:creationId xmlns:a16="http://schemas.microsoft.com/office/drawing/2014/main" id="{F3E505C6-81CC-3D85-50CD-2182CF2FF706}"/>
              </a:ext>
            </a:extLst>
          </p:cNvPr>
          <p:cNvSpPr txBox="1"/>
          <p:nvPr/>
        </p:nvSpPr>
        <p:spPr>
          <a:xfrm>
            <a:off x="9169384" y="2037725"/>
            <a:ext cx="148653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Autonomie</a:t>
            </a:r>
            <a:endParaRPr sz="1800" dirty="0">
              <a:solidFill>
                <a:schemeClr val="dk1"/>
              </a:solidFill>
            </a:endParaRPr>
          </a:p>
        </p:txBody>
      </p:sp>
      <p:sp>
        <p:nvSpPr>
          <p:cNvPr id="7" name="Google Shape;559;p24">
            <a:extLst>
              <a:ext uri="{FF2B5EF4-FFF2-40B4-BE49-F238E27FC236}">
                <a16:creationId xmlns:a16="http://schemas.microsoft.com/office/drawing/2014/main" id="{48D6F3C1-27BE-C178-B256-D2A1C59D44FB}"/>
              </a:ext>
            </a:extLst>
          </p:cNvPr>
          <p:cNvSpPr txBox="1"/>
          <p:nvPr/>
        </p:nvSpPr>
        <p:spPr>
          <a:xfrm>
            <a:off x="9264507" y="3072141"/>
            <a:ext cx="2481581"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L="12700" indent="0">
              <a:buNone/>
              <a:defRPr sz="1800">
                <a:solidFill>
                  <a:schemeClr val="dk1"/>
                </a:solidFill>
              </a:defRPr>
            </a:lvl1pPr>
          </a:lstStyle>
          <a:p>
            <a:r>
              <a:rPr lang="fr-FR" dirty="0"/>
              <a:t>Sans état(</a:t>
            </a:r>
            <a:r>
              <a:rPr lang="fr-FR" dirty="0" err="1"/>
              <a:t>Stateless</a:t>
            </a:r>
            <a:r>
              <a:rPr lang="fr-FR" dirty="0"/>
              <a:t>)</a:t>
            </a:r>
            <a:endParaRPr dirty="0"/>
          </a:p>
        </p:txBody>
      </p:sp>
      <p:sp>
        <p:nvSpPr>
          <p:cNvPr id="8" name="Google Shape;560;p24">
            <a:extLst>
              <a:ext uri="{FF2B5EF4-FFF2-40B4-BE49-F238E27FC236}">
                <a16:creationId xmlns:a16="http://schemas.microsoft.com/office/drawing/2014/main" id="{BDA7E91E-4A3A-5FFF-9F85-02CED906CE66}"/>
              </a:ext>
            </a:extLst>
          </p:cNvPr>
          <p:cNvSpPr txBox="1"/>
          <p:nvPr/>
        </p:nvSpPr>
        <p:spPr>
          <a:xfrm>
            <a:off x="9264507" y="3968329"/>
            <a:ext cx="173736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Découvrable</a:t>
            </a:r>
            <a:endParaRPr sz="1800" dirty="0">
              <a:solidFill>
                <a:schemeClr val="dk1"/>
              </a:solidFill>
            </a:endParaRPr>
          </a:p>
        </p:txBody>
      </p:sp>
      <p:sp>
        <p:nvSpPr>
          <p:cNvPr id="9" name="Google Shape;561;p24">
            <a:extLst>
              <a:ext uri="{FF2B5EF4-FFF2-40B4-BE49-F238E27FC236}">
                <a16:creationId xmlns:a16="http://schemas.microsoft.com/office/drawing/2014/main" id="{9F4A3EB4-D223-27AD-50F2-3E037F38373A}"/>
              </a:ext>
            </a:extLst>
          </p:cNvPr>
          <p:cNvSpPr txBox="1"/>
          <p:nvPr/>
        </p:nvSpPr>
        <p:spPr>
          <a:xfrm>
            <a:off x="9264507" y="5002160"/>
            <a:ext cx="1736725"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Composable</a:t>
            </a:r>
            <a:endParaRPr sz="1800" dirty="0">
              <a:solidFill>
                <a:schemeClr val="dk1"/>
              </a:solidFill>
            </a:endParaRPr>
          </a:p>
        </p:txBody>
      </p:sp>
      <p:grpSp>
        <p:nvGrpSpPr>
          <p:cNvPr id="10" name="Google Shape;562;p24">
            <a:extLst>
              <a:ext uri="{FF2B5EF4-FFF2-40B4-BE49-F238E27FC236}">
                <a16:creationId xmlns:a16="http://schemas.microsoft.com/office/drawing/2014/main" id="{70799244-D705-9BD3-8AF3-637D90F8CFFD}"/>
              </a:ext>
            </a:extLst>
          </p:cNvPr>
          <p:cNvGrpSpPr/>
          <p:nvPr/>
        </p:nvGrpSpPr>
        <p:grpSpPr>
          <a:xfrm>
            <a:off x="3821288" y="2148217"/>
            <a:ext cx="5334000" cy="3126865"/>
            <a:chOff x="3810000" y="2159509"/>
            <a:chExt cx="5334000" cy="3126865"/>
          </a:xfrm>
        </p:grpSpPr>
        <p:sp>
          <p:nvSpPr>
            <p:cNvPr id="11" name="Google Shape;563;p24">
              <a:extLst>
                <a:ext uri="{FF2B5EF4-FFF2-40B4-BE49-F238E27FC236}">
                  <a16:creationId xmlns:a16="http://schemas.microsoft.com/office/drawing/2014/main" id="{9DE42EE1-76B3-562D-CAA3-611D44F7BCF3}"/>
                </a:ext>
              </a:extLst>
            </p:cNvPr>
            <p:cNvSpPr/>
            <p:nvPr/>
          </p:nvSpPr>
          <p:spPr>
            <a:xfrm>
              <a:off x="4133341" y="2173478"/>
              <a:ext cx="1230630" cy="1019175"/>
            </a:xfrm>
            <a:custGeom>
              <a:avLst/>
              <a:gdLst/>
              <a:ahLst/>
              <a:cxnLst/>
              <a:rect l="l" t="t" r="r" b="b"/>
              <a:pathLst>
                <a:path w="1230629" h="1019175" extrusionOk="0">
                  <a:moveTo>
                    <a:pt x="0" y="0"/>
                  </a:moveTo>
                  <a:lnTo>
                    <a:pt x="2540" y="9398"/>
                  </a:lnTo>
                  <a:lnTo>
                    <a:pt x="1220978" y="1019048"/>
                  </a:lnTo>
                  <a:lnTo>
                    <a:pt x="1230503" y="1012571"/>
                  </a:lnTo>
                  <a:lnTo>
                    <a:pt x="11937" y="2921"/>
                  </a:lnTo>
                  <a:lnTo>
                    <a:pt x="0"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564;p24">
              <a:extLst>
                <a:ext uri="{FF2B5EF4-FFF2-40B4-BE49-F238E27FC236}">
                  <a16:creationId xmlns:a16="http://schemas.microsoft.com/office/drawing/2014/main" id="{AFC1D8F6-70EA-3916-3F40-3790FFC1E61B}"/>
                </a:ext>
              </a:extLst>
            </p:cNvPr>
            <p:cNvSpPr/>
            <p:nvPr/>
          </p:nvSpPr>
          <p:spPr>
            <a:xfrm>
              <a:off x="4116324" y="2159509"/>
              <a:ext cx="127635" cy="9855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565;p24">
              <a:extLst>
                <a:ext uri="{FF2B5EF4-FFF2-40B4-BE49-F238E27FC236}">
                  <a16:creationId xmlns:a16="http://schemas.microsoft.com/office/drawing/2014/main" id="{F4AF8C97-912E-9424-9E08-AC707256D357}"/>
                </a:ext>
              </a:extLst>
            </p:cNvPr>
            <p:cNvSpPr/>
            <p:nvPr/>
          </p:nvSpPr>
          <p:spPr>
            <a:xfrm>
              <a:off x="4077588" y="3223767"/>
              <a:ext cx="782320" cy="210185"/>
            </a:xfrm>
            <a:custGeom>
              <a:avLst/>
              <a:gdLst/>
              <a:ahLst/>
              <a:cxnLst/>
              <a:rect l="l" t="t" r="r" b="b"/>
              <a:pathLst>
                <a:path w="782320" h="210185" extrusionOk="0">
                  <a:moveTo>
                    <a:pt x="12319" y="0"/>
                  </a:moveTo>
                  <a:lnTo>
                    <a:pt x="0" y="1905"/>
                  </a:lnTo>
                  <a:lnTo>
                    <a:pt x="8382" y="9144"/>
                  </a:lnTo>
                  <a:lnTo>
                    <a:pt x="777875" y="209804"/>
                  </a:lnTo>
                  <a:lnTo>
                    <a:pt x="782065" y="200914"/>
                  </a:lnTo>
                  <a:lnTo>
                    <a:pt x="12319"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 name="Google Shape;566;p24">
              <a:extLst>
                <a:ext uri="{FF2B5EF4-FFF2-40B4-BE49-F238E27FC236}">
                  <a16:creationId xmlns:a16="http://schemas.microsoft.com/office/drawing/2014/main" id="{18411AE3-3203-3592-3464-78CF0EFC261B}"/>
                </a:ext>
              </a:extLst>
            </p:cNvPr>
            <p:cNvSpPr/>
            <p:nvPr/>
          </p:nvSpPr>
          <p:spPr>
            <a:xfrm>
              <a:off x="4053840" y="3200401"/>
              <a:ext cx="134112" cy="94486"/>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5" name="Google Shape;567;p24">
              <a:extLst>
                <a:ext uri="{FF2B5EF4-FFF2-40B4-BE49-F238E27FC236}">
                  <a16:creationId xmlns:a16="http://schemas.microsoft.com/office/drawing/2014/main" id="{E434D7AA-6EC2-8794-CFC4-18BD70CFB6E1}"/>
                </a:ext>
              </a:extLst>
            </p:cNvPr>
            <p:cNvSpPr/>
            <p:nvPr/>
          </p:nvSpPr>
          <p:spPr>
            <a:xfrm>
              <a:off x="3904488" y="4192017"/>
              <a:ext cx="135000" cy="93216"/>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568;p24">
              <a:extLst>
                <a:ext uri="{FF2B5EF4-FFF2-40B4-BE49-F238E27FC236}">
                  <a16:creationId xmlns:a16="http://schemas.microsoft.com/office/drawing/2014/main" id="{8C3F17DC-E6F7-D748-6C2E-CEB410359DFA}"/>
                </a:ext>
              </a:extLst>
            </p:cNvPr>
            <p:cNvSpPr/>
            <p:nvPr/>
          </p:nvSpPr>
          <p:spPr>
            <a:xfrm>
              <a:off x="3928110" y="3924300"/>
              <a:ext cx="1122680" cy="340995"/>
            </a:xfrm>
            <a:custGeom>
              <a:avLst/>
              <a:gdLst/>
              <a:ahLst/>
              <a:cxnLst/>
              <a:rect l="l" t="t" r="r" b="b"/>
              <a:pathLst>
                <a:path w="1122679" h="340995" extrusionOk="0">
                  <a:moveTo>
                    <a:pt x="1117727" y="0"/>
                  </a:moveTo>
                  <a:lnTo>
                    <a:pt x="7619" y="331850"/>
                  </a:lnTo>
                  <a:lnTo>
                    <a:pt x="0" y="339089"/>
                  </a:lnTo>
                  <a:lnTo>
                    <a:pt x="12318" y="340487"/>
                  </a:lnTo>
                  <a:lnTo>
                    <a:pt x="1122299" y="8762"/>
                  </a:lnTo>
                  <a:lnTo>
                    <a:pt x="1117727"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569;p24">
              <a:extLst>
                <a:ext uri="{FF2B5EF4-FFF2-40B4-BE49-F238E27FC236}">
                  <a16:creationId xmlns:a16="http://schemas.microsoft.com/office/drawing/2014/main" id="{A3D6D4E0-563C-5E81-7EDC-2E204794D97E}"/>
                </a:ext>
              </a:extLst>
            </p:cNvPr>
            <p:cNvSpPr/>
            <p:nvPr/>
          </p:nvSpPr>
          <p:spPr>
            <a:xfrm>
              <a:off x="3810000" y="5193031"/>
              <a:ext cx="133096" cy="93343"/>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 name="Google Shape;570;p24">
              <a:extLst>
                <a:ext uri="{FF2B5EF4-FFF2-40B4-BE49-F238E27FC236}">
                  <a16:creationId xmlns:a16="http://schemas.microsoft.com/office/drawing/2014/main" id="{22A1ED02-36D1-E04E-AFB2-C50FE01402FD}"/>
                </a:ext>
              </a:extLst>
            </p:cNvPr>
            <p:cNvSpPr/>
            <p:nvPr/>
          </p:nvSpPr>
          <p:spPr>
            <a:xfrm>
              <a:off x="3829685" y="2283840"/>
              <a:ext cx="5201920" cy="2990850"/>
            </a:xfrm>
            <a:custGeom>
              <a:avLst/>
              <a:gdLst/>
              <a:ahLst/>
              <a:cxnLst/>
              <a:rect l="l" t="t" r="r" b="b"/>
              <a:pathLst>
                <a:path w="5201920" h="2990850" extrusionOk="0">
                  <a:moveTo>
                    <a:pt x="1794764" y="1934464"/>
                  </a:moveTo>
                  <a:lnTo>
                    <a:pt x="1786763" y="1926971"/>
                  </a:lnTo>
                  <a:lnTo>
                    <a:pt x="4572" y="2982087"/>
                  </a:lnTo>
                  <a:lnTo>
                    <a:pt x="0" y="2990850"/>
                  </a:lnTo>
                  <a:lnTo>
                    <a:pt x="12573" y="2989580"/>
                  </a:lnTo>
                  <a:lnTo>
                    <a:pt x="1794764" y="1934464"/>
                  </a:lnTo>
                  <a:close/>
                </a:path>
                <a:path w="5201920" h="2990850" extrusionOk="0">
                  <a:moveTo>
                    <a:pt x="5201539" y="0"/>
                  </a:moveTo>
                  <a:lnTo>
                    <a:pt x="5189220" y="2286"/>
                  </a:lnTo>
                  <a:lnTo>
                    <a:pt x="3950335" y="902081"/>
                  </a:lnTo>
                  <a:lnTo>
                    <a:pt x="3959098" y="908812"/>
                  </a:lnTo>
                  <a:lnTo>
                    <a:pt x="5198110" y="9144"/>
                  </a:lnTo>
                  <a:lnTo>
                    <a:pt x="5201539"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 name="Google Shape;571;p24">
              <a:extLst>
                <a:ext uri="{FF2B5EF4-FFF2-40B4-BE49-F238E27FC236}">
                  <a16:creationId xmlns:a16="http://schemas.microsoft.com/office/drawing/2014/main" id="{2AC07B05-ABB3-1ECA-9B81-09ED845AF022}"/>
                </a:ext>
              </a:extLst>
            </p:cNvPr>
            <p:cNvSpPr/>
            <p:nvPr/>
          </p:nvSpPr>
          <p:spPr>
            <a:xfrm>
              <a:off x="8918828" y="2270760"/>
              <a:ext cx="130555" cy="96647"/>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572;p24">
              <a:extLst>
                <a:ext uri="{FF2B5EF4-FFF2-40B4-BE49-F238E27FC236}">
                  <a16:creationId xmlns:a16="http://schemas.microsoft.com/office/drawing/2014/main" id="{D1868B50-9262-D0E9-45BF-4709DDE83F18}"/>
                </a:ext>
              </a:extLst>
            </p:cNvPr>
            <p:cNvSpPr/>
            <p:nvPr/>
          </p:nvSpPr>
          <p:spPr>
            <a:xfrm>
              <a:off x="8189976" y="3304413"/>
              <a:ext cx="930275" cy="200660"/>
            </a:xfrm>
            <a:custGeom>
              <a:avLst/>
              <a:gdLst/>
              <a:ahLst/>
              <a:cxnLst/>
              <a:rect l="l" t="t" r="r" b="b"/>
              <a:pathLst>
                <a:path w="930275" h="200660" extrusionOk="0">
                  <a:moveTo>
                    <a:pt x="917701" y="0"/>
                  </a:moveTo>
                  <a:lnTo>
                    <a:pt x="0" y="191135"/>
                  </a:lnTo>
                  <a:lnTo>
                    <a:pt x="3428" y="200406"/>
                  </a:lnTo>
                  <a:lnTo>
                    <a:pt x="921130" y="9144"/>
                  </a:lnTo>
                  <a:lnTo>
                    <a:pt x="929894" y="2412"/>
                  </a:lnTo>
                  <a:lnTo>
                    <a:pt x="917701"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573;p24">
              <a:extLst>
                <a:ext uri="{FF2B5EF4-FFF2-40B4-BE49-F238E27FC236}">
                  <a16:creationId xmlns:a16="http://schemas.microsoft.com/office/drawing/2014/main" id="{D1139E0A-0AA2-CC31-398F-FEBBA2CB73A0}"/>
                </a:ext>
              </a:extLst>
            </p:cNvPr>
            <p:cNvSpPr/>
            <p:nvPr/>
          </p:nvSpPr>
          <p:spPr>
            <a:xfrm>
              <a:off x="9011158" y="3276601"/>
              <a:ext cx="132842" cy="96137"/>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574;p24">
              <a:extLst>
                <a:ext uri="{FF2B5EF4-FFF2-40B4-BE49-F238E27FC236}">
                  <a16:creationId xmlns:a16="http://schemas.microsoft.com/office/drawing/2014/main" id="{524A73EE-1A5F-7152-A146-A051C4764313}"/>
                </a:ext>
              </a:extLst>
            </p:cNvPr>
            <p:cNvSpPr/>
            <p:nvPr/>
          </p:nvSpPr>
          <p:spPr>
            <a:xfrm>
              <a:off x="9009126" y="4121659"/>
              <a:ext cx="134493" cy="93724"/>
            </a:xfrm>
            <a:prstGeom prst="rect">
              <a:avLst/>
            </a:prstGeom>
            <a:blipFill rotWithShape="1">
              <a:blip r:embed="rId1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 name="Google Shape;575;p24">
              <a:extLst>
                <a:ext uri="{FF2B5EF4-FFF2-40B4-BE49-F238E27FC236}">
                  <a16:creationId xmlns:a16="http://schemas.microsoft.com/office/drawing/2014/main" id="{983B2BE7-53B9-9865-D55C-E8E94E535871}"/>
                </a:ext>
              </a:extLst>
            </p:cNvPr>
            <p:cNvSpPr/>
            <p:nvPr/>
          </p:nvSpPr>
          <p:spPr>
            <a:xfrm>
              <a:off x="8189976" y="3924299"/>
              <a:ext cx="943610" cy="269875"/>
            </a:xfrm>
            <a:custGeom>
              <a:avLst/>
              <a:gdLst/>
              <a:ahLst/>
              <a:cxnLst/>
              <a:rect l="l" t="t" r="r" b="b"/>
              <a:pathLst>
                <a:path w="943609" h="269875" extrusionOk="0">
                  <a:moveTo>
                    <a:pt x="943356" y="266573"/>
                  </a:moveTo>
                  <a:lnTo>
                    <a:pt x="922147" y="260477"/>
                  </a:lnTo>
                  <a:lnTo>
                    <a:pt x="4445" y="0"/>
                  </a:lnTo>
                  <a:lnTo>
                    <a:pt x="0" y="9017"/>
                  </a:lnTo>
                  <a:lnTo>
                    <a:pt x="917702" y="269494"/>
                  </a:lnTo>
                  <a:lnTo>
                    <a:pt x="930021" y="267970"/>
                  </a:lnTo>
                  <a:lnTo>
                    <a:pt x="940816" y="266573"/>
                  </a:lnTo>
                  <a:lnTo>
                    <a:pt x="943356" y="266573"/>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4" name="Google Shape;576;p24">
              <a:extLst>
                <a:ext uri="{FF2B5EF4-FFF2-40B4-BE49-F238E27FC236}">
                  <a16:creationId xmlns:a16="http://schemas.microsoft.com/office/drawing/2014/main" id="{1549A98A-95F8-F1CD-BD74-6D3C0D1E8B01}"/>
                </a:ext>
              </a:extLst>
            </p:cNvPr>
            <p:cNvSpPr/>
            <p:nvPr/>
          </p:nvSpPr>
          <p:spPr>
            <a:xfrm>
              <a:off x="9010522" y="5136895"/>
              <a:ext cx="133096" cy="93472"/>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 name="Google Shape;577;p24">
              <a:extLst>
                <a:ext uri="{FF2B5EF4-FFF2-40B4-BE49-F238E27FC236}">
                  <a16:creationId xmlns:a16="http://schemas.microsoft.com/office/drawing/2014/main" id="{2E41915C-E90B-81EC-AB96-D77006EB11D3}"/>
                </a:ext>
              </a:extLst>
            </p:cNvPr>
            <p:cNvSpPr/>
            <p:nvPr/>
          </p:nvSpPr>
          <p:spPr>
            <a:xfrm>
              <a:off x="7424928" y="4210811"/>
              <a:ext cx="1699260" cy="1007744"/>
            </a:xfrm>
            <a:custGeom>
              <a:avLst/>
              <a:gdLst/>
              <a:ahLst/>
              <a:cxnLst/>
              <a:rect l="l" t="t" r="r" b="b"/>
              <a:pathLst>
                <a:path w="1699259" h="1007745" extrusionOk="0">
                  <a:moveTo>
                    <a:pt x="7747" y="0"/>
                  </a:moveTo>
                  <a:lnTo>
                    <a:pt x="0" y="7493"/>
                  </a:lnTo>
                  <a:lnTo>
                    <a:pt x="1686560" y="1006475"/>
                  </a:lnTo>
                  <a:lnTo>
                    <a:pt x="1699005" y="1007744"/>
                  </a:lnTo>
                  <a:lnTo>
                    <a:pt x="1694433" y="998982"/>
                  </a:lnTo>
                  <a:lnTo>
                    <a:pt x="7747" y="0"/>
                  </a:lnTo>
                  <a:close/>
                </a:path>
              </a:pathLst>
            </a:custGeom>
            <a:solidFill>
              <a:srgbClr val="B6DCD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 name="Google Shape;578;p24">
              <a:extLst>
                <a:ext uri="{FF2B5EF4-FFF2-40B4-BE49-F238E27FC236}">
                  <a16:creationId xmlns:a16="http://schemas.microsoft.com/office/drawing/2014/main" id="{F434E11C-079D-739E-E84F-83177616A4BB}"/>
                </a:ext>
              </a:extLst>
            </p:cNvPr>
            <p:cNvSpPr/>
            <p:nvPr/>
          </p:nvSpPr>
          <p:spPr>
            <a:xfrm>
              <a:off x="4792980" y="2979419"/>
              <a:ext cx="3558539" cy="1383791"/>
            </a:xfrm>
            <a:prstGeom prst="rect">
              <a:avLst/>
            </a:prstGeom>
            <a:blipFill rotWithShape="1">
              <a:blip r:embed="rId1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grpSp>
      <p:sp>
        <p:nvSpPr>
          <p:cNvPr id="27" name="Google Shape;579;p24">
            <a:extLst>
              <a:ext uri="{FF2B5EF4-FFF2-40B4-BE49-F238E27FC236}">
                <a16:creationId xmlns:a16="http://schemas.microsoft.com/office/drawing/2014/main" id="{F209ABF8-596D-7309-FB24-C6CB8AB17FCB}"/>
              </a:ext>
            </a:extLst>
          </p:cNvPr>
          <p:cNvSpPr txBox="1"/>
          <p:nvPr/>
        </p:nvSpPr>
        <p:spPr>
          <a:xfrm>
            <a:off x="5604748" y="3346156"/>
            <a:ext cx="1458595" cy="512445"/>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None/>
            </a:pPr>
            <a:r>
              <a:rPr lang="fr-FR" sz="3200" b="1">
                <a:solidFill>
                  <a:srgbClr val="FFFFFF"/>
                </a:solidFill>
                <a:latin typeface="Arial"/>
                <a:ea typeface="Arial"/>
                <a:cs typeface="Arial"/>
                <a:sym typeface="Arial"/>
              </a:rPr>
              <a:t>Service</a:t>
            </a:r>
            <a:endParaRPr sz="3200" dirty="0">
              <a:solidFill>
                <a:schemeClr val="dk1"/>
              </a:solidFill>
              <a:latin typeface="Arial"/>
              <a:ea typeface="Arial"/>
              <a:cs typeface="Arial"/>
              <a:sym typeface="Arial"/>
            </a:endParaRPr>
          </a:p>
        </p:txBody>
      </p:sp>
      <p:cxnSp>
        <p:nvCxnSpPr>
          <p:cNvPr id="29" name="Connecteur droit avec flèche 28">
            <a:extLst>
              <a:ext uri="{FF2B5EF4-FFF2-40B4-BE49-F238E27FC236}">
                <a16:creationId xmlns:a16="http://schemas.microsoft.com/office/drawing/2014/main" id="{FCCB85E0-18D4-AE4C-EBFB-625418557773}"/>
              </a:ext>
            </a:extLst>
          </p:cNvPr>
          <p:cNvCxnSpPr/>
          <p:nvPr/>
        </p:nvCxnSpPr>
        <p:spPr>
          <a:xfrm>
            <a:off x="6564489" y="4419600"/>
            <a:ext cx="0" cy="824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96610D96-36D5-C8F1-A155-1852527C8D45}"/>
              </a:ext>
            </a:extLst>
          </p:cNvPr>
          <p:cNvCxnSpPr>
            <a:stCxn id="26" idx="0"/>
          </p:cNvCxnSpPr>
          <p:nvPr/>
        </p:nvCxnSpPr>
        <p:spPr>
          <a:xfrm flipH="1" flipV="1">
            <a:off x="6583537" y="2089103"/>
            <a:ext cx="1" cy="879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6" name="Google Shape;555;p24">
            <a:extLst>
              <a:ext uri="{FF2B5EF4-FFF2-40B4-BE49-F238E27FC236}">
                <a16:creationId xmlns:a16="http://schemas.microsoft.com/office/drawing/2014/main" id="{0F9E9B4D-E8DF-61FE-3075-A51017A6EAAD}"/>
              </a:ext>
            </a:extLst>
          </p:cNvPr>
          <p:cNvSpPr txBox="1"/>
          <p:nvPr/>
        </p:nvSpPr>
        <p:spPr>
          <a:xfrm>
            <a:off x="6070204" y="1706944"/>
            <a:ext cx="213106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Modularité</a:t>
            </a:r>
            <a:endParaRPr sz="1800" dirty="0">
              <a:solidFill>
                <a:schemeClr val="dk1"/>
              </a:solidFill>
            </a:endParaRPr>
          </a:p>
        </p:txBody>
      </p:sp>
      <p:sp>
        <p:nvSpPr>
          <p:cNvPr id="257" name="Google Shape;555;p24">
            <a:extLst>
              <a:ext uri="{FF2B5EF4-FFF2-40B4-BE49-F238E27FC236}">
                <a16:creationId xmlns:a16="http://schemas.microsoft.com/office/drawing/2014/main" id="{F0660291-E9A3-9BD9-623B-A24D86D90A02}"/>
              </a:ext>
            </a:extLst>
          </p:cNvPr>
          <p:cNvSpPr txBox="1"/>
          <p:nvPr/>
        </p:nvSpPr>
        <p:spPr>
          <a:xfrm>
            <a:off x="6070204" y="5341849"/>
            <a:ext cx="2131060"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rPr>
              <a:t>Interopérabilité</a:t>
            </a:r>
            <a:endParaRPr sz="1800" dirty="0">
              <a:solidFill>
                <a:schemeClr val="dk1"/>
              </a:solidFill>
            </a:endParaRPr>
          </a:p>
        </p:txBody>
      </p:sp>
      <p:pic>
        <p:nvPicPr>
          <p:cNvPr id="30" name="Google Shape;297;g25b1bb62912_0_50" descr="Image 10">
            <a:extLst>
              <a:ext uri="{FF2B5EF4-FFF2-40B4-BE49-F238E27FC236}">
                <a16:creationId xmlns:a16="http://schemas.microsoft.com/office/drawing/2014/main" id="{3E1BCCCC-F339-451D-5871-10D62165A9A1}"/>
              </a:ext>
            </a:extLst>
          </p:cNvPr>
          <p:cNvPicPr preferRelativeResize="0"/>
          <p:nvPr/>
        </p:nvPicPr>
        <p:blipFill rotWithShape="1">
          <a:blip r:embed="rId15">
            <a:alphaModFix/>
          </a:blip>
          <a:srcRect/>
          <a:stretch/>
        </p:blipFill>
        <p:spPr>
          <a:xfrm>
            <a:off x="672844" y="614541"/>
            <a:ext cx="585321" cy="57978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C5FAC373-B437-966E-3F42-8AFAC4FCE843}"/>
              </a:ext>
            </a:extLst>
          </p:cNvPr>
          <p:cNvPicPr preferRelativeResize="0"/>
          <p:nvPr/>
        </p:nvPicPr>
        <p:blipFill rotWithShape="1">
          <a:blip r:embed="rId3">
            <a:alphaModFix/>
          </a:blip>
          <a:srcRect/>
          <a:stretch/>
        </p:blipFill>
        <p:spPr>
          <a:xfrm>
            <a:off x="-3894" y="-28242"/>
            <a:ext cx="12652622" cy="6886241"/>
          </a:xfrm>
          <a:prstGeom prst="rect">
            <a:avLst/>
          </a:prstGeom>
          <a:noFill/>
          <a:ln>
            <a:noFill/>
          </a:ln>
        </p:spPr>
      </p:pic>
      <p:sp>
        <p:nvSpPr>
          <p:cNvPr id="589" name="Google Shape;589;p25"/>
          <p:cNvSpPr txBox="1">
            <a:spLocks noGrp="1"/>
          </p:cNvSpPr>
          <p:nvPr>
            <p:ph type="body" idx="4294967295"/>
          </p:nvPr>
        </p:nvSpPr>
        <p:spPr>
          <a:xfrm>
            <a:off x="609600" y="1837106"/>
            <a:ext cx="10972800" cy="3545586"/>
          </a:xfrm>
          <a:prstGeom prst="rect">
            <a:avLst/>
          </a:prstGeom>
          <a:noFill/>
          <a:ln>
            <a:noFill/>
          </a:ln>
        </p:spPr>
        <p:txBody>
          <a:bodyPr spcFirstLastPara="1" wrap="square" lIns="0" tIns="0" rIns="0" bIns="0" anchor="t" anchorCtr="0">
            <a:spAutoFit/>
          </a:bodyPr>
          <a:lstStyle/>
          <a:p>
            <a:pPr marL="0" lvl="0" indent="-152400" algn="just" rtl="0">
              <a:spcBef>
                <a:spcPts val="0"/>
              </a:spcBef>
              <a:spcAft>
                <a:spcPts val="0"/>
              </a:spcAft>
              <a:buClr>
                <a:srgbClr val="CC0000"/>
              </a:buClr>
              <a:buSzPts val="2400"/>
              <a:buFont typeface="Noto Sans Symbols"/>
              <a:buChar char="⮚"/>
            </a:pPr>
            <a:r>
              <a:rPr lang="fr-FR" sz="2000" dirty="0">
                <a:solidFill>
                  <a:srgbClr val="CC0000"/>
                </a:solidFill>
                <a:latin typeface="Times New Roman" panose="02020603050405020304" pitchFamily="18" charset="0"/>
                <a:ea typeface="Arial"/>
                <a:cs typeface="Times New Roman" panose="02020603050405020304" pitchFamily="18" charset="0"/>
                <a:sym typeface="Arial"/>
              </a:rPr>
              <a:t>Auto description (Contrat standardisé)</a:t>
            </a:r>
          </a:p>
          <a:p>
            <a:pPr marL="0" lvl="0" indent="-152400" algn="just" rtl="0">
              <a:spcBef>
                <a:spcPts val="0"/>
              </a:spcBef>
              <a:spcAft>
                <a:spcPts val="0"/>
              </a:spcAft>
              <a:buClr>
                <a:srgbClr val="CC0000"/>
              </a:buClr>
              <a:buSzPts val="2400"/>
              <a:buFont typeface="Noto Sans Symbols"/>
              <a:buChar char="⮚"/>
            </a:pPr>
            <a:endParaRPr sz="20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None/>
            </a:pPr>
            <a:r>
              <a:rPr lang="fr-FR" sz="2000" dirty="0">
                <a:latin typeface="Times New Roman" panose="02020603050405020304" pitchFamily="18" charset="0"/>
                <a:ea typeface="Arial"/>
                <a:cs typeface="Times New Roman" panose="02020603050405020304" pitchFamily="18" charset="0"/>
                <a:sym typeface="Arial"/>
              </a:rPr>
              <a:t>L’ensemble des services d’un même Système Technique sont exposés au travers de contrats respectant les mêmes règles de standardisation.</a:t>
            </a:r>
          </a:p>
          <a:p>
            <a:pPr marL="0" lvl="0" indent="0" algn="just" rtl="0">
              <a:spcBef>
                <a:spcPts val="0"/>
              </a:spcBef>
              <a:spcAft>
                <a:spcPts val="0"/>
              </a:spcAft>
              <a:buNone/>
            </a:pPr>
            <a:endParaRPr sz="20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Clr>
                <a:schemeClr val="dk1"/>
              </a:buClr>
              <a:buSzPts val="2000"/>
              <a:buFont typeface="Noto Sans Symbols"/>
              <a:buNone/>
            </a:pPr>
            <a:endParaRPr sz="2000" dirty="0">
              <a:latin typeface="Times New Roman" panose="02020603050405020304" pitchFamily="18" charset="0"/>
              <a:ea typeface="Arial"/>
              <a:cs typeface="Times New Roman" panose="02020603050405020304" pitchFamily="18" charset="0"/>
              <a:sym typeface="Arial"/>
            </a:endParaRPr>
          </a:p>
          <a:p>
            <a:pPr marL="0" lvl="0" indent="-152400" algn="just" rtl="0">
              <a:spcBef>
                <a:spcPts val="0"/>
              </a:spcBef>
              <a:spcAft>
                <a:spcPts val="0"/>
              </a:spcAft>
              <a:buClr>
                <a:srgbClr val="CC0000"/>
              </a:buClr>
              <a:buSzPts val="2400"/>
              <a:buFont typeface="Noto Sans Symbols"/>
              <a:buChar char="⮚"/>
            </a:pPr>
            <a:r>
              <a:rPr lang="fr-FR" sz="2000" dirty="0">
                <a:solidFill>
                  <a:srgbClr val="CC0000"/>
                </a:solidFill>
                <a:latin typeface="Times New Roman" panose="02020603050405020304" pitchFamily="18" charset="0"/>
                <a:ea typeface="Arial"/>
                <a:cs typeface="Times New Roman" panose="02020603050405020304" pitchFamily="18" charset="0"/>
                <a:sym typeface="Arial"/>
              </a:rPr>
              <a:t>Abstraction</a:t>
            </a:r>
            <a:endParaRPr sz="2000" dirty="0">
              <a:latin typeface="Times New Roman" panose="02020603050405020304" pitchFamily="18" charset="0"/>
              <a:cs typeface="Times New Roman" panose="02020603050405020304" pitchFamily="18" charset="0"/>
            </a:endParaRPr>
          </a:p>
          <a:p>
            <a:pPr marL="0" lvl="0" indent="0" algn="just" rtl="0">
              <a:spcBef>
                <a:spcPts val="0"/>
              </a:spcBef>
              <a:spcAft>
                <a:spcPts val="0"/>
              </a:spcAft>
              <a:buNone/>
            </a:pPr>
            <a:r>
              <a:rPr lang="fr-FR" sz="2000" dirty="0">
                <a:latin typeface="Times New Roman" panose="02020603050405020304" pitchFamily="18" charset="0"/>
                <a:ea typeface="Arial"/>
                <a:cs typeface="Times New Roman" panose="02020603050405020304" pitchFamily="18" charset="0"/>
                <a:sym typeface="Arial"/>
              </a:rPr>
              <a:t>Le service fonctionne en « </a:t>
            </a:r>
            <a:r>
              <a:rPr lang="fr-FR" sz="2000" b="1" dirty="0">
                <a:latin typeface="Times New Roman" panose="02020603050405020304" pitchFamily="18" charset="0"/>
                <a:ea typeface="Arial"/>
                <a:cs typeface="Times New Roman" panose="02020603050405020304" pitchFamily="18" charset="0"/>
                <a:sym typeface="Arial"/>
              </a:rPr>
              <a:t>boîte noire</a:t>
            </a:r>
            <a:r>
              <a:rPr lang="fr-FR" sz="2000" dirty="0">
                <a:latin typeface="Times New Roman" panose="02020603050405020304" pitchFamily="18" charset="0"/>
                <a:ea typeface="Arial"/>
                <a:cs typeface="Times New Roman" panose="02020603050405020304" pitchFamily="18" charset="0"/>
                <a:sym typeface="Arial"/>
              </a:rPr>
              <a:t> » </a:t>
            </a:r>
            <a:endParaRPr sz="2000" dirty="0">
              <a:latin typeface="Times New Roman" panose="02020603050405020304" pitchFamily="18" charset="0"/>
              <a:cs typeface="Times New Roman" panose="02020603050405020304" pitchFamily="18" charset="0"/>
            </a:endParaRPr>
          </a:p>
          <a:p>
            <a:pPr marL="457200" lvl="1" indent="-127000" algn="just" rtl="0">
              <a:spcBef>
                <a:spcPts val="0"/>
              </a:spcBef>
              <a:spcAft>
                <a:spcPts val="0"/>
              </a:spcAft>
              <a:buSzPts val="2000"/>
              <a:buFont typeface="Arial"/>
              <a:buChar char="•"/>
            </a:pPr>
            <a:r>
              <a:rPr lang="fr-FR" sz="2000" dirty="0">
                <a:latin typeface="Times New Roman" panose="02020603050405020304" pitchFamily="18" charset="0"/>
                <a:ea typeface="Arial"/>
                <a:cs typeface="Times New Roman" panose="02020603050405020304" pitchFamily="18" charset="0"/>
                <a:sym typeface="Arial"/>
              </a:rPr>
              <a:t> Seul le contrat du service (informations nécessaires pour l’invocation) est exposé au consommateur du service .</a:t>
            </a:r>
            <a:endParaRPr sz="2000"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None/>
            </a:pPr>
            <a:endParaRPr sz="2000" dirty="0">
              <a:latin typeface="Times New Roman" panose="02020603050405020304" pitchFamily="18" charset="0"/>
              <a:ea typeface="Arial"/>
              <a:cs typeface="Times New Roman" panose="02020603050405020304" pitchFamily="18" charset="0"/>
              <a:sym typeface="Arial"/>
            </a:endParaRPr>
          </a:p>
          <a:p>
            <a:pPr marL="457200" lvl="1" indent="-127000" algn="just" rtl="0">
              <a:spcBef>
                <a:spcPts val="0"/>
              </a:spcBef>
              <a:spcAft>
                <a:spcPts val="0"/>
              </a:spcAft>
              <a:buSzPts val="2000"/>
              <a:buFont typeface="Arial"/>
              <a:buChar char="•"/>
            </a:pPr>
            <a:r>
              <a:rPr lang="fr-FR" sz="2000" dirty="0">
                <a:latin typeface="Times New Roman" panose="02020603050405020304" pitchFamily="18" charset="0"/>
                <a:ea typeface="Arial"/>
                <a:cs typeface="Times New Roman" panose="02020603050405020304" pitchFamily="18" charset="0"/>
                <a:sym typeface="Arial"/>
              </a:rPr>
              <a:t> Le fonctionnement interne du service (sa logique métier et son implémentation) ne sont </a:t>
            </a:r>
            <a:r>
              <a:rPr lang="fr-FR" sz="2000" b="1" dirty="0">
                <a:latin typeface="Times New Roman" panose="02020603050405020304" pitchFamily="18" charset="0"/>
                <a:ea typeface="Arial"/>
                <a:cs typeface="Times New Roman" panose="02020603050405020304" pitchFamily="18" charset="0"/>
                <a:sym typeface="Arial"/>
              </a:rPr>
              <a:t>pas visibles </a:t>
            </a:r>
            <a:r>
              <a:rPr lang="fr-FR" sz="2000" dirty="0">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1600"/>
              <a:buFont typeface="Arial"/>
              <a:buNone/>
            </a:pPr>
            <a:endParaRPr sz="1600" dirty="0">
              <a:solidFill>
                <a:srgbClr val="000099"/>
              </a:solidFill>
            </a:endParaRPr>
          </a:p>
        </p:txBody>
      </p:sp>
      <p:sp>
        <p:nvSpPr>
          <p:cNvPr id="590" name="Google Shape;590;p25"/>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591" name="Google Shape;591;p25"/>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27</a:t>
            </a:fld>
            <a:endParaRPr/>
          </a:p>
        </p:txBody>
      </p:sp>
      <p:sp>
        <p:nvSpPr>
          <p:cNvPr id="3" name="Google Shape;291;g25b1bb62912_0_41">
            <a:extLst>
              <a:ext uri="{FF2B5EF4-FFF2-40B4-BE49-F238E27FC236}">
                <a16:creationId xmlns:a16="http://schemas.microsoft.com/office/drawing/2014/main" id="{1A54B8B2-928E-ED01-711D-CD157B65EC21}"/>
              </a:ext>
            </a:extLst>
          </p:cNvPr>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Principes d’un service Web</a:t>
            </a:r>
            <a:endParaRPr dirty="0">
              <a:sym typeface="Times New Roman"/>
            </a:endParaRPr>
          </a:p>
        </p:txBody>
      </p:sp>
      <p:pic>
        <p:nvPicPr>
          <p:cNvPr id="4" name="Google Shape;297;g25b1bb62912_0_50" descr="Image 10">
            <a:extLst>
              <a:ext uri="{FF2B5EF4-FFF2-40B4-BE49-F238E27FC236}">
                <a16:creationId xmlns:a16="http://schemas.microsoft.com/office/drawing/2014/main" id="{6F7B6B22-4EC3-261A-2F57-F04AF72FC1D1}"/>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Tree>
  </p:cSld>
  <p:clrMapOvr>
    <a:masterClrMapping/>
  </p:clrMapOvr>
  <p:transition spd="med">
    <p:push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C233F545-0A1C-59C2-C7A3-40CB76C36042}"/>
              </a:ext>
            </a:extLst>
          </p:cNvPr>
          <p:cNvPicPr preferRelativeResize="0"/>
          <p:nvPr/>
        </p:nvPicPr>
        <p:blipFill rotWithShape="1">
          <a:blip r:embed="rId3">
            <a:alphaModFix/>
          </a:blip>
          <a:srcRect/>
          <a:stretch/>
        </p:blipFill>
        <p:spPr>
          <a:xfrm>
            <a:off x="-3894" y="-28242"/>
            <a:ext cx="12652622" cy="6886241"/>
          </a:xfrm>
          <a:prstGeom prst="rect">
            <a:avLst/>
          </a:prstGeom>
          <a:noFill/>
          <a:ln>
            <a:noFill/>
          </a:ln>
        </p:spPr>
      </p:pic>
      <p:sp>
        <p:nvSpPr>
          <p:cNvPr id="597" name="Google Shape;597;p26"/>
          <p:cNvSpPr txBox="1">
            <a:spLocks noGrp="1"/>
          </p:cNvSpPr>
          <p:nvPr>
            <p:ph type="title" idx="4294967295"/>
          </p:nvPr>
        </p:nvSpPr>
        <p:spPr>
          <a:xfrm>
            <a:off x="770466" y="1890672"/>
            <a:ext cx="7010400" cy="399966"/>
          </a:xfrm>
          <a:prstGeom prst="rect">
            <a:avLst/>
          </a:prstGeom>
          <a:noFill/>
          <a:ln>
            <a:noFill/>
          </a:ln>
        </p:spPr>
        <p:txBody>
          <a:bodyPr spcFirstLastPara="1" wrap="square" lIns="0" tIns="12050" rIns="0" bIns="0" anchor="t" anchorCtr="0">
            <a:spAutoFit/>
          </a:bodyPr>
          <a:lstStyle/>
          <a:p>
            <a:pPr marL="12700" marR="0" lvl="0" indent="0" algn="l" rtl="0">
              <a:spcBef>
                <a:spcPts val="0"/>
              </a:spcBef>
              <a:spcAft>
                <a:spcPts val="0"/>
              </a:spcAft>
              <a:buNone/>
            </a:pPr>
            <a:r>
              <a:rPr lang="fr-FR" sz="2800" b="0" i="0" u="none" strike="noStrike" cap="none" dirty="0">
                <a:solidFill>
                  <a:schemeClr val="tx1"/>
                </a:solidFill>
                <a:latin typeface="Times New Roman" panose="02020603050405020304" pitchFamily="18" charset="0"/>
                <a:ea typeface="Trebuchet MS"/>
                <a:cs typeface="Times New Roman" panose="02020603050405020304" pitchFamily="18" charset="0"/>
                <a:sym typeface="Trebuchet MS"/>
              </a:rPr>
              <a:t>Couplage </a:t>
            </a:r>
            <a:r>
              <a:rPr lang="fr-FR" sz="2800" dirty="0">
                <a:solidFill>
                  <a:schemeClr val="tx1"/>
                </a:solidFill>
                <a:latin typeface="Times New Roman" panose="02020603050405020304" pitchFamily="18" charset="0"/>
                <a:cs typeface="Times New Roman" panose="02020603050405020304" pitchFamily="18" charset="0"/>
                <a:sym typeface="Trebuchet MS"/>
              </a:rPr>
              <a:t>lâche</a:t>
            </a:r>
            <a:endParaRPr sz="2800" dirty="0">
              <a:solidFill>
                <a:schemeClr val="tx1"/>
              </a:solidFill>
              <a:latin typeface="Times New Roman" panose="02020603050405020304" pitchFamily="18" charset="0"/>
              <a:cs typeface="Times New Roman" panose="02020603050405020304" pitchFamily="18" charset="0"/>
            </a:endParaRPr>
          </a:p>
        </p:txBody>
      </p:sp>
      <p:sp>
        <p:nvSpPr>
          <p:cNvPr id="598" name="Google Shape;598;p26"/>
          <p:cNvSpPr txBox="1">
            <a:spLocks noGrp="1"/>
          </p:cNvSpPr>
          <p:nvPr>
            <p:ph type="body" idx="4294967295"/>
          </p:nvPr>
        </p:nvSpPr>
        <p:spPr>
          <a:xfrm>
            <a:off x="609600" y="2588331"/>
            <a:ext cx="10972800" cy="3077766"/>
          </a:xfrm>
          <a:prstGeom prst="rect">
            <a:avLst/>
          </a:prstGeom>
          <a:noFill/>
          <a:ln>
            <a:noFill/>
          </a:ln>
        </p:spPr>
        <p:txBody>
          <a:bodyPr spcFirstLastPara="1" wrap="square" lIns="0" tIns="0" rIns="0" bIns="0" anchor="t" anchorCtr="0">
            <a:spAutoFit/>
          </a:bodyPr>
          <a:lstStyle/>
          <a:p>
            <a:pPr marL="0" lvl="0" indent="-152400" algn="just" rtl="0">
              <a:spcBef>
                <a:spcPts val="0"/>
              </a:spcBef>
              <a:spcAft>
                <a:spcPts val="0"/>
              </a:spcAft>
              <a:buClr>
                <a:srgbClr val="C00000"/>
              </a:buClr>
              <a:buSzPts val="2400"/>
              <a:buFont typeface="Noto Sans Symbols"/>
              <a:buChar char="⮚"/>
            </a:pPr>
            <a:r>
              <a:rPr lang="fr-FR" dirty="0">
                <a:solidFill>
                  <a:srgbClr val="C00000"/>
                </a:solidFill>
              </a:rPr>
              <a:t>Dépendance faible </a:t>
            </a:r>
            <a:r>
              <a:rPr lang="fr-FR" dirty="0"/>
              <a:t>entre le consommateur et le service</a:t>
            </a:r>
            <a:endParaRPr sz="2400" dirty="0">
              <a:solidFill>
                <a:srgbClr val="CC0000"/>
              </a:solidFill>
              <a:latin typeface="Arial"/>
              <a:ea typeface="Arial"/>
              <a:cs typeface="Arial"/>
              <a:sym typeface="Arial"/>
            </a:endParaRPr>
          </a:p>
          <a:p>
            <a:pPr marL="457200" lvl="1" indent="0" algn="just" rtl="0">
              <a:spcBef>
                <a:spcPts val="0"/>
              </a:spcBef>
              <a:spcAft>
                <a:spcPts val="0"/>
              </a:spcAft>
              <a:buNone/>
            </a:pPr>
            <a:endParaRPr sz="2000" dirty="0">
              <a:latin typeface="Arial"/>
              <a:ea typeface="Arial"/>
              <a:cs typeface="Arial"/>
              <a:sym typeface="Arial"/>
            </a:endParaRPr>
          </a:p>
          <a:p>
            <a:pPr marL="457200" lvl="1" indent="-127000" algn="just" rtl="0">
              <a:spcBef>
                <a:spcPts val="0"/>
              </a:spcBef>
              <a:spcAft>
                <a:spcPts val="0"/>
              </a:spcAft>
              <a:buSzPts val="2000"/>
              <a:buFont typeface="Arial"/>
              <a:buChar char="•"/>
            </a:pPr>
            <a:r>
              <a:rPr lang="fr-FR" sz="2000" b="1" dirty="0">
                <a:latin typeface="Arial"/>
                <a:ea typeface="Arial"/>
                <a:cs typeface="Arial"/>
                <a:sym typeface="Arial"/>
              </a:rPr>
              <a:t> Dépendance du contrat</a:t>
            </a:r>
            <a:r>
              <a:rPr lang="fr-FR" sz="2000" dirty="0">
                <a:latin typeface="Arial"/>
                <a:ea typeface="Arial"/>
                <a:cs typeface="Arial"/>
                <a:sym typeface="Arial"/>
              </a:rPr>
              <a:t> et non pas de l’implémentation;</a:t>
            </a:r>
            <a:endParaRPr dirty="0"/>
          </a:p>
          <a:p>
            <a:pPr marL="457200" lvl="1" indent="0" algn="just" rtl="0">
              <a:spcBef>
                <a:spcPts val="0"/>
              </a:spcBef>
              <a:spcAft>
                <a:spcPts val="0"/>
              </a:spcAft>
              <a:buNone/>
            </a:pPr>
            <a:endParaRPr sz="2000" dirty="0">
              <a:latin typeface="Arial"/>
              <a:ea typeface="Arial"/>
              <a:cs typeface="Arial"/>
              <a:sym typeface="Arial"/>
            </a:endParaRPr>
          </a:p>
          <a:p>
            <a:pPr marL="457200" lvl="1" indent="-127000" algn="just" rtl="0">
              <a:spcBef>
                <a:spcPts val="0"/>
              </a:spcBef>
              <a:spcAft>
                <a:spcPts val="0"/>
              </a:spcAft>
              <a:buSzPts val="2000"/>
              <a:buFont typeface="Arial"/>
              <a:buChar char="•"/>
            </a:pPr>
            <a:r>
              <a:rPr lang="fr-FR" sz="2000" dirty="0">
                <a:latin typeface="Arial"/>
                <a:ea typeface="Arial"/>
                <a:cs typeface="Arial"/>
                <a:sym typeface="Arial"/>
              </a:rPr>
              <a:t> Echange à travers des </a:t>
            </a:r>
            <a:r>
              <a:rPr lang="fr-FR" sz="2000" b="1" dirty="0">
                <a:latin typeface="Arial"/>
                <a:ea typeface="Arial"/>
                <a:cs typeface="Arial"/>
                <a:sym typeface="Arial"/>
              </a:rPr>
              <a:t>messages;</a:t>
            </a:r>
            <a:endParaRPr dirty="0"/>
          </a:p>
          <a:p>
            <a:pPr marL="457200" lvl="1" indent="0" algn="just" rtl="0">
              <a:spcBef>
                <a:spcPts val="0"/>
              </a:spcBef>
              <a:spcAft>
                <a:spcPts val="0"/>
              </a:spcAft>
              <a:buNone/>
            </a:pPr>
            <a:endParaRPr sz="2000" b="1" dirty="0">
              <a:latin typeface="Arial"/>
              <a:ea typeface="Arial"/>
              <a:cs typeface="Arial"/>
              <a:sym typeface="Arial"/>
            </a:endParaRPr>
          </a:p>
          <a:p>
            <a:pPr marL="457200" lvl="1" indent="-127000" algn="just" rtl="0">
              <a:spcBef>
                <a:spcPts val="0"/>
              </a:spcBef>
              <a:spcAft>
                <a:spcPts val="0"/>
              </a:spcAft>
              <a:buSzPts val="2000"/>
              <a:buFont typeface="Arial"/>
              <a:buChar char="•"/>
            </a:pPr>
            <a:r>
              <a:rPr lang="fr-FR" sz="2000" b="1" dirty="0">
                <a:latin typeface="Arial"/>
                <a:ea typeface="Arial"/>
                <a:cs typeface="Arial"/>
                <a:sym typeface="Arial"/>
              </a:rPr>
              <a:t> </a:t>
            </a:r>
            <a:r>
              <a:rPr lang="fr-FR" sz="2000" dirty="0">
                <a:latin typeface="Arial"/>
                <a:ea typeface="Arial"/>
                <a:cs typeface="Arial"/>
                <a:sym typeface="Arial"/>
              </a:rPr>
              <a:t>Orchestration qui assure l’indépendance des services vu  qu’elle leur permet de communiquer pour réaliser un processus, sans avoir à se connaître</a:t>
            </a:r>
            <a:endParaRPr dirty="0"/>
          </a:p>
          <a:p>
            <a:pPr marL="457200" lvl="1" indent="0" algn="just" rtl="0">
              <a:spcBef>
                <a:spcPts val="0"/>
              </a:spcBef>
              <a:spcAft>
                <a:spcPts val="0"/>
              </a:spcAft>
              <a:buSzPts val="2000"/>
              <a:buFont typeface="Arial"/>
              <a:buNone/>
            </a:pPr>
            <a:endParaRPr sz="2000" dirty="0">
              <a:latin typeface="Arial"/>
              <a:ea typeface="Arial"/>
              <a:cs typeface="Arial"/>
              <a:sym typeface="Arial"/>
            </a:endParaRPr>
          </a:p>
          <a:p>
            <a:pPr marL="0" lvl="0" indent="0" algn="l" rtl="0">
              <a:spcBef>
                <a:spcPts val="0"/>
              </a:spcBef>
              <a:spcAft>
                <a:spcPts val="0"/>
              </a:spcAft>
              <a:buClr>
                <a:schemeClr val="dk1"/>
              </a:buClr>
              <a:buSzPts val="1600"/>
              <a:buFont typeface="Arial"/>
              <a:buNone/>
            </a:pPr>
            <a:endParaRPr sz="1600" dirty="0">
              <a:solidFill>
                <a:srgbClr val="000099"/>
              </a:solidFill>
            </a:endParaRPr>
          </a:p>
        </p:txBody>
      </p:sp>
      <p:sp>
        <p:nvSpPr>
          <p:cNvPr id="599" name="Google Shape;599;p26"/>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600" name="Google Shape;600;p26"/>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28</a:t>
            </a:fld>
            <a:endParaRPr/>
          </a:p>
        </p:txBody>
      </p:sp>
      <p:sp>
        <p:nvSpPr>
          <p:cNvPr id="3" name="Google Shape;291;g25b1bb62912_0_41">
            <a:extLst>
              <a:ext uri="{FF2B5EF4-FFF2-40B4-BE49-F238E27FC236}">
                <a16:creationId xmlns:a16="http://schemas.microsoft.com/office/drawing/2014/main" id="{65385EBC-FB6E-A108-2B64-243016A323FF}"/>
              </a:ext>
            </a:extLst>
          </p:cNvPr>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Principes d’un service Web</a:t>
            </a:r>
            <a:endParaRPr dirty="0">
              <a:sym typeface="Times New Roman"/>
            </a:endParaRPr>
          </a:p>
        </p:txBody>
      </p:sp>
      <p:pic>
        <p:nvPicPr>
          <p:cNvPr id="4" name="Google Shape;297;g25b1bb62912_0_50" descr="Image 10">
            <a:extLst>
              <a:ext uri="{FF2B5EF4-FFF2-40B4-BE49-F238E27FC236}">
                <a16:creationId xmlns:a16="http://schemas.microsoft.com/office/drawing/2014/main" id="{403C51F4-F80D-A83A-B03F-A523B94C9F6A}"/>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Tree>
  </p:cSld>
  <p:clrMapOvr>
    <a:masterClrMapping/>
  </p:clrMapOvr>
  <p:transition spd="med">
    <p:push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DDBE5402-AD7F-A50A-214B-DE4BD8E5ECC6}"/>
              </a:ext>
            </a:extLst>
          </p:cNvPr>
          <p:cNvPicPr preferRelativeResize="0"/>
          <p:nvPr/>
        </p:nvPicPr>
        <p:blipFill rotWithShape="1">
          <a:blip r:embed="rId3">
            <a:alphaModFix/>
          </a:blip>
          <a:srcRect/>
          <a:stretch/>
        </p:blipFill>
        <p:spPr>
          <a:xfrm>
            <a:off x="0" y="-28241"/>
            <a:ext cx="12652622" cy="6886241"/>
          </a:xfrm>
          <a:prstGeom prst="rect">
            <a:avLst/>
          </a:prstGeom>
          <a:noFill/>
          <a:ln>
            <a:noFill/>
          </a:ln>
        </p:spPr>
      </p:pic>
      <p:sp>
        <p:nvSpPr>
          <p:cNvPr id="608" name="Google Shape;608;p27"/>
          <p:cNvSpPr txBox="1">
            <a:spLocks noGrp="1"/>
          </p:cNvSpPr>
          <p:nvPr>
            <p:ph type="body" idx="4294967295"/>
          </p:nvPr>
        </p:nvSpPr>
        <p:spPr>
          <a:xfrm>
            <a:off x="609600" y="1476375"/>
            <a:ext cx="10972800" cy="3822585"/>
          </a:xfrm>
          <a:prstGeom prst="rect">
            <a:avLst/>
          </a:prstGeom>
          <a:noFill/>
          <a:ln>
            <a:noFill/>
          </a:ln>
        </p:spPr>
        <p:txBody>
          <a:bodyPr spcFirstLastPara="1" wrap="square" lIns="0" tIns="0" rIns="0" bIns="0" anchor="t" anchorCtr="0">
            <a:spAutoFit/>
          </a:bodyPr>
          <a:lstStyle/>
          <a:p>
            <a:pPr marL="0" lvl="0" indent="-152400" algn="just" rtl="0">
              <a:spcBef>
                <a:spcPts val="0"/>
              </a:spcBef>
              <a:spcAft>
                <a:spcPts val="0"/>
              </a:spcAft>
              <a:buClr>
                <a:srgbClr val="C00000"/>
              </a:buClr>
              <a:buSzPts val="2400"/>
              <a:buFont typeface="Noto Sans Symbols"/>
              <a:buChar char="⮚"/>
            </a:pPr>
            <a:r>
              <a:rPr lang="fr-FR" dirty="0">
                <a:solidFill>
                  <a:srgbClr val="C00000"/>
                </a:solidFill>
              </a:rPr>
              <a:t> </a:t>
            </a:r>
            <a:r>
              <a:rPr lang="fr-FR" sz="2000" dirty="0">
                <a:solidFill>
                  <a:srgbClr val="C00000"/>
                </a:solidFill>
                <a:latin typeface="Times New Roman" panose="02020603050405020304" pitchFamily="18" charset="0"/>
                <a:cs typeface="Times New Roman" panose="02020603050405020304" pitchFamily="18" charset="0"/>
              </a:rPr>
              <a:t>Autonomie</a:t>
            </a:r>
            <a:endParaRPr sz="2000" dirty="0">
              <a:solidFill>
                <a:srgbClr val="CC0000"/>
              </a:solidFill>
              <a:latin typeface="Times New Roman" panose="02020603050405020304" pitchFamily="18" charset="0"/>
              <a:ea typeface="Arial"/>
              <a:cs typeface="Times New Roman" panose="02020603050405020304" pitchFamily="18" charset="0"/>
              <a:sym typeface="Arial"/>
            </a:endParaRPr>
          </a:p>
          <a:p>
            <a:pPr marL="457200" lvl="1" indent="0" algn="just" rtl="0">
              <a:spcBef>
                <a:spcPts val="0"/>
              </a:spcBef>
              <a:spcAft>
                <a:spcPts val="0"/>
              </a:spcAft>
              <a:buNone/>
            </a:pPr>
            <a:endParaRPr sz="2000" dirty="0">
              <a:latin typeface="Times New Roman" panose="02020603050405020304" pitchFamily="18" charset="0"/>
              <a:ea typeface="Arial"/>
              <a:cs typeface="Times New Roman" panose="02020603050405020304" pitchFamily="18" charset="0"/>
              <a:sym typeface="Arial"/>
            </a:endParaRPr>
          </a:p>
          <a:p>
            <a:pPr marL="457200" lvl="1" indent="-127000" algn="just" rtl="0">
              <a:spcBef>
                <a:spcPts val="0"/>
              </a:spcBef>
              <a:spcAft>
                <a:spcPts val="0"/>
              </a:spcAft>
              <a:buSzPts val="2000"/>
              <a:buFont typeface="Arial"/>
              <a:buChar char="•"/>
            </a:pPr>
            <a:r>
              <a:rPr lang="fr-FR" sz="2000" b="1" dirty="0">
                <a:latin typeface="Times New Roman" panose="02020603050405020304" pitchFamily="18" charset="0"/>
                <a:ea typeface="Arial"/>
                <a:cs typeface="Times New Roman" panose="02020603050405020304" pitchFamily="18" charset="0"/>
                <a:sym typeface="Arial"/>
              </a:rPr>
              <a:t> </a:t>
            </a:r>
            <a:r>
              <a:rPr lang="fr-FR" sz="2000" dirty="0">
                <a:latin typeface="Times New Roman" panose="02020603050405020304" pitchFamily="18" charset="0"/>
                <a:ea typeface="Arial"/>
                <a:cs typeface="Times New Roman" panose="02020603050405020304" pitchFamily="18" charset="0"/>
                <a:sym typeface="Arial"/>
              </a:rPr>
              <a:t>Un service ne doit être dépendant d'aucun contexte ou service externe:</a:t>
            </a:r>
            <a:endParaRPr sz="2000" dirty="0">
              <a:latin typeface="Times New Roman" panose="02020603050405020304" pitchFamily="18" charset="0"/>
              <a:cs typeface="Times New Roman" panose="02020603050405020304" pitchFamily="18" charset="0"/>
            </a:endParaRPr>
          </a:p>
          <a:p>
            <a:pPr marL="914400" lvl="2" indent="-139700" algn="l" rtl="0">
              <a:spcBef>
                <a:spcPts val="0"/>
              </a:spcBef>
              <a:spcAft>
                <a:spcPts val="0"/>
              </a:spcAft>
              <a:buSzPts val="2200"/>
              <a:buFont typeface="Arial"/>
              <a:buChar char="-"/>
            </a:pPr>
            <a:r>
              <a:rPr lang="fr-FR" sz="2000" dirty="0">
                <a:latin typeface="Times New Roman" panose="02020603050405020304" pitchFamily="18" charset="0"/>
                <a:ea typeface="Arial"/>
                <a:cs typeface="Times New Roman" panose="02020603050405020304" pitchFamily="18" charset="0"/>
                <a:sym typeface="Arial"/>
              </a:rPr>
              <a:t> Son comportement est indépendant du contexte fonctionnel et technique dans lequel il a été invoqué.</a:t>
            </a:r>
            <a:endParaRPr sz="2000" dirty="0">
              <a:latin typeface="Times New Roman" panose="02020603050405020304" pitchFamily="18" charset="0"/>
              <a:cs typeface="Times New Roman" panose="02020603050405020304" pitchFamily="18" charset="0"/>
            </a:endParaRPr>
          </a:p>
          <a:p>
            <a:pPr marL="914400" lvl="2" indent="0" algn="l" rtl="0">
              <a:spcBef>
                <a:spcPts val="0"/>
              </a:spcBef>
              <a:spcAft>
                <a:spcPts val="0"/>
              </a:spcAft>
              <a:buNone/>
            </a:pPr>
            <a:endParaRPr sz="2000" dirty="0">
              <a:latin typeface="Times New Roman" panose="02020603050405020304" pitchFamily="18" charset="0"/>
              <a:ea typeface="Arial"/>
              <a:cs typeface="Times New Roman" panose="02020603050405020304" pitchFamily="18" charset="0"/>
              <a:sym typeface="Arial"/>
            </a:endParaRPr>
          </a:p>
          <a:p>
            <a:pPr marL="0" lvl="0" indent="-152400" algn="just" rtl="0">
              <a:spcBef>
                <a:spcPts val="0"/>
              </a:spcBef>
              <a:spcAft>
                <a:spcPts val="0"/>
              </a:spcAft>
              <a:buClr>
                <a:srgbClr val="C00000"/>
              </a:buClr>
              <a:buSzPts val="2400"/>
              <a:buFont typeface="Noto Sans Symbols"/>
              <a:buChar char="⮚"/>
            </a:pPr>
            <a:r>
              <a:rPr lang="fr-FR" sz="2000" dirty="0" err="1">
                <a:solidFill>
                  <a:srgbClr val="C00000"/>
                </a:solidFill>
                <a:latin typeface="Times New Roman" panose="02020603050405020304" pitchFamily="18" charset="0"/>
                <a:cs typeface="Times New Roman" panose="02020603050405020304" pitchFamily="18" charset="0"/>
              </a:rPr>
              <a:t>Stateless</a:t>
            </a:r>
            <a:endParaRPr sz="2000" dirty="0">
              <a:solidFill>
                <a:srgbClr val="CC0000"/>
              </a:solidFill>
              <a:latin typeface="Times New Roman" panose="02020603050405020304" pitchFamily="18" charset="0"/>
              <a:ea typeface="Arial"/>
              <a:cs typeface="Times New Roman" panose="02020603050405020304" pitchFamily="18" charset="0"/>
              <a:sym typeface="Arial"/>
            </a:endParaRPr>
          </a:p>
          <a:p>
            <a:pPr marL="457200" lvl="1" indent="0" algn="just" rtl="0">
              <a:spcBef>
                <a:spcPts val="0"/>
              </a:spcBef>
              <a:spcAft>
                <a:spcPts val="0"/>
              </a:spcAft>
              <a:buNone/>
            </a:pPr>
            <a:endParaRPr sz="2000" dirty="0">
              <a:latin typeface="Times New Roman" panose="02020603050405020304" pitchFamily="18" charset="0"/>
              <a:ea typeface="Arial"/>
              <a:cs typeface="Times New Roman" panose="02020603050405020304" pitchFamily="18" charset="0"/>
              <a:sym typeface="Arial"/>
            </a:endParaRPr>
          </a:p>
          <a:p>
            <a:pPr marL="457200" lvl="1" indent="-127000" algn="just" rtl="0">
              <a:spcBef>
                <a:spcPts val="0"/>
              </a:spcBef>
              <a:spcAft>
                <a:spcPts val="0"/>
              </a:spcAft>
              <a:buSzPts val="2000"/>
              <a:buFont typeface="Arial"/>
              <a:buChar char="•"/>
            </a:pPr>
            <a:r>
              <a:rPr lang="fr-FR" sz="2000" b="1" dirty="0">
                <a:latin typeface="Times New Roman" panose="02020603050405020304" pitchFamily="18" charset="0"/>
                <a:ea typeface="Arial"/>
                <a:cs typeface="Times New Roman" panose="02020603050405020304" pitchFamily="18" charset="0"/>
                <a:sym typeface="Arial"/>
              </a:rPr>
              <a:t> </a:t>
            </a:r>
            <a:r>
              <a:rPr lang="fr-FR" sz="2000" dirty="0">
                <a:latin typeface="Times New Roman" panose="02020603050405020304" pitchFamily="18" charset="0"/>
                <a:ea typeface="Arial"/>
                <a:cs typeface="Times New Roman" panose="02020603050405020304" pitchFamily="18" charset="0"/>
                <a:sym typeface="Arial"/>
              </a:rPr>
              <a:t>Un service ne stocke pas les informations des clients:</a:t>
            </a:r>
            <a:endParaRPr sz="2000" dirty="0">
              <a:latin typeface="Times New Roman" panose="02020603050405020304" pitchFamily="18" charset="0"/>
              <a:cs typeface="Times New Roman" panose="02020603050405020304" pitchFamily="18" charset="0"/>
            </a:endParaRPr>
          </a:p>
          <a:p>
            <a:pPr marL="914400" lvl="2" indent="-152400" algn="l" rtl="0">
              <a:spcBef>
                <a:spcPts val="0"/>
              </a:spcBef>
              <a:spcAft>
                <a:spcPts val="0"/>
              </a:spcAft>
              <a:buSzPts val="2400"/>
              <a:buFont typeface="Arial"/>
              <a:buChar char="-"/>
            </a:pPr>
            <a:r>
              <a:rPr lang="fr-FR" sz="2000" dirty="0">
                <a:latin typeface="Times New Roman" panose="02020603050405020304" pitchFamily="18" charset="0"/>
                <a:ea typeface="Arial"/>
                <a:cs typeface="Times New Roman" panose="02020603050405020304" pitchFamily="18" charset="0"/>
                <a:sym typeface="Arial"/>
              </a:rPr>
              <a:t> Ne stocke pas de données;</a:t>
            </a:r>
            <a:endParaRPr sz="2000" dirty="0">
              <a:latin typeface="Times New Roman" panose="02020603050405020304" pitchFamily="18" charset="0"/>
              <a:cs typeface="Times New Roman" panose="02020603050405020304" pitchFamily="18" charset="0"/>
            </a:endParaRPr>
          </a:p>
          <a:p>
            <a:pPr marL="914400" lvl="2" indent="-139700" algn="l" rtl="0">
              <a:spcBef>
                <a:spcPts val="0"/>
              </a:spcBef>
              <a:spcAft>
                <a:spcPts val="0"/>
              </a:spcAft>
              <a:buSzPts val="2200"/>
              <a:buFont typeface="Arial"/>
              <a:buChar char="-"/>
            </a:pPr>
            <a:r>
              <a:rPr lang="fr-FR" sz="2000" dirty="0">
                <a:latin typeface="Times New Roman" panose="02020603050405020304" pitchFamily="18" charset="0"/>
                <a:ea typeface="Arial"/>
                <a:cs typeface="Times New Roman" panose="02020603050405020304" pitchFamily="18" charset="0"/>
                <a:sym typeface="Arial"/>
              </a:rPr>
              <a:t> Ne fait référence à aucune transaction passée. </a:t>
            </a:r>
            <a:endParaRPr sz="2000" dirty="0">
              <a:latin typeface="Times New Roman" panose="02020603050405020304" pitchFamily="18" charset="0"/>
              <a:cs typeface="Times New Roman" panose="02020603050405020304" pitchFamily="18" charset="0"/>
            </a:endParaRPr>
          </a:p>
          <a:p>
            <a:pPr marL="914400" lvl="2" indent="0" algn="l" rtl="0">
              <a:spcBef>
                <a:spcPts val="0"/>
              </a:spcBef>
              <a:spcAft>
                <a:spcPts val="0"/>
              </a:spcAft>
              <a:buNone/>
            </a:pPr>
            <a:endParaRPr sz="2400" dirty="0">
              <a:latin typeface="Arial"/>
              <a:ea typeface="Arial"/>
              <a:cs typeface="Arial"/>
              <a:sym typeface="Arial"/>
            </a:endParaRPr>
          </a:p>
          <a:p>
            <a:pPr marL="914400" lvl="2" indent="0" algn="l" rtl="0">
              <a:spcBef>
                <a:spcPts val="0"/>
              </a:spcBef>
              <a:spcAft>
                <a:spcPts val="0"/>
              </a:spcAft>
              <a:buSzPts val="2400"/>
              <a:buFont typeface="Calibri"/>
              <a:buNone/>
            </a:pPr>
            <a:endParaRPr sz="2400" dirty="0">
              <a:latin typeface="Arial"/>
              <a:ea typeface="Arial"/>
              <a:cs typeface="Arial"/>
              <a:sym typeface="Arial"/>
            </a:endParaRPr>
          </a:p>
        </p:txBody>
      </p:sp>
      <p:sp>
        <p:nvSpPr>
          <p:cNvPr id="609" name="Google Shape;609;p27"/>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610" name="Google Shape;610;p27"/>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29</a:t>
            </a:fld>
            <a:endParaRPr/>
          </a:p>
        </p:txBody>
      </p:sp>
      <p:sp>
        <p:nvSpPr>
          <p:cNvPr id="3" name="Google Shape;291;g25b1bb62912_0_41">
            <a:extLst>
              <a:ext uri="{FF2B5EF4-FFF2-40B4-BE49-F238E27FC236}">
                <a16:creationId xmlns:a16="http://schemas.microsoft.com/office/drawing/2014/main" id="{7DC21584-84FF-C7EF-E146-25A7F085708A}"/>
              </a:ext>
            </a:extLst>
          </p:cNvPr>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Principes d’un service Web</a:t>
            </a:r>
            <a:endParaRPr dirty="0">
              <a:sym typeface="Times New Roman"/>
            </a:endParaRPr>
          </a:p>
        </p:txBody>
      </p:sp>
      <p:pic>
        <p:nvPicPr>
          <p:cNvPr id="4" name="Google Shape;297;g25b1bb62912_0_50" descr="Image 10">
            <a:extLst>
              <a:ext uri="{FF2B5EF4-FFF2-40B4-BE49-F238E27FC236}">
                <a16:creationId xmlns:a16="http://schemas.microsoft.com/office/drawing/2014/main" id="{97ECDF80-F9E5-46DB-1397-CD916FBC7228}"/>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Tree>
  </p:cSld>
  <p:clrMapOvr>
    <a:masterClrMapping/>
  </p:clrMapOvr>
  <p:transition spd="med">
    <p:push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CD84F4DA-27CF-B011-09EC-5B22FA401743}"/>
              </a:ext>
            </a:extLst>
          </p:cNvPr>
          <p:cNvPicPr preferRelativeResize="0"/>
          <p:nvPr/>
        </p:nvPicPr>
        <p:blipFill rotWithShape="1">
          <a:blip r:embed="rId3">
            <a:alphaModFix/>
          </a:blip>
          <a:srcRect/>
          <a:stretch/>
        </p:blipFill>
        <p:spPr>
          <a:xfrm>
            <a:off x="0" y="-28241"/>
            <a:ext cx="12652622" cy="6886241"/>
          </a:xfrm>
          <a:prstGeom prst="rect">
            <a:avLst/>
          </a:prstGeom>
          <a:noFill/>
          <a:ln>
            <a:noFill/>
          </a:ln>
        </p:spPr>
      </p:pic>
      <p:sp>
        <p:nvSpPr>
          <p:cNvPr id="616" name="Google Shape;616;p28"/>
          <p:cNvSpPr txBox="1">
            <a:spLocks noGrp="1"/>
          </p:cNvSpPr>
          <p:nvPr>
            <p:ph type="title" idx="4294967295"/>
          </p:nvPr>
        </p:nvSpPr>
        <p:spPr>
          <a:xfrm>
            <a:off x="550333" y="1485283"/>
            <a:ext cx="7010400" cy="369332"/>
          </a:xfrm>
          <a:prstGeom prst="rect">
            <a:avLst/>
          </a:prstGeom>
          <a:noFill/>
          <a:ln>
            <a:noFill/>
          </a:ln>
        </p:spPr>
        <p:txBody>
          <a:bodyPr spcFirstLastPara="1" wrap="square" lIns="0" tIns="0" rIns="0" bIns="0" anchor="t" anchorCtr="0">
            <a:spAutoFit/>
          </a:bodyPr>
          <a:lstStyle/>
          <a:p>
            <a:pPr marL="571500" lvl="0" indent="-571500">
              <a:lnSpc>
                <a:spcPct val="100000"/>
              </a:lnSpc>
              <a:buClr>
                <a:srgbClr val="C00000"/>
              </a:buClr>
              <a:buSzPct val="60000"/>
              <a:buFont typeface="Wingdings" panose="05000000000000000000" pitchFamily="2" charset="2"/>
              <a:buChar char="Ø"/>
            </a:pPr>
            <a:r>
              <a:rPr lang="fr-FR" sz="2400" dirty="0">
                <a:solidFill>
                  <a:srgbClr val="C00000"/>
                </a:solidFill>
                <a:latin typeface="Times New Roman" panose="02020603050405020304" pitchFamily="18" charset="0"/>
                <a:cs typeface="Times New Roman" panose="02020603050405020304" pitchFamily="18" charset="0"/>
                <a:sym typeface="Trebuchet MS"/>
              </a:rPr>
              <a:t>Composable </a:t>
            </a:r>
            <a:endParaRPr lang="fr-FR" sz="2400" dirty="0">
              <a:solidFill>
                <a:srgbClr val="C00000"/>
              </a:solidFill>
              <a:latin typeface="Times New Roman" panose="02020603050405020304" pitchFamily="18" charset="0"/>
              <a:cs typeface="Times New Roman" panose="02020603050405020304" pitchFamily="18" charset="0"/>
              <a:sym typeface="Arial"/>
            </a:endParaRPr>
          </a:p>
        </p:txBody>
      </p:sp>
      <p:sp>
        <p:nvSpPr>
          <p:cNvPr id="617" name="Google Shape;617;p28"/>
          <p:cNvSpPr txBox="1">
            <a:spLocks noGrp="1"/>
          </p:cNvSpPr>
          <p:nvPr>
            <p:ph type="body" idx="4294967295"/>
          </p:nvPr>
        </p:nvSpPr>
        <p:spPr>
          <a:xfrm>
            <a:off x="609600" y="2177996"/>
            <a:ext cx="10972800" cy="3194721"/>
          </a:xfrm>
          <a:prstGeom prst="rect">
            <a:avLst/>
          </a:prstGeom>
          <a:noFill/>
          <a:ln>
            <a:noFill/>
          </a:ln>
        </p:spPr>
        <p:txBody>
          <a:bodyPr spcFirstLastPara="1" wrap="square" lIns="0" tIns="0" rIns="0" bIns="0" anchor="t" anchorCtr="0">
            <a:spAutoFit/>
          </a:bodyPr>
          <a:lstStyle/>
          <a:p>
            <a:pPr marL="0" lvl="0" indent="-152400" algn="just" rtl="0">
              <a:spcBef>
                <a:spcPts val="0"/>
              </a:spcBef>
              <a:spcAft>
                <a:spcPts val="0"/>
              </a:spcAft>
              <a:buClr>
                <a:schemeClr val="dk1"/>
              </a:buClr>
              <a:buSzPts val="2400"/>
              <a:buFont typeface="Noto Sans Symbols"/>
              <a:buChar char="⮚"/>
            </a:pPr>
            <a:r>
              <a:rPr lang="fr-FR" sz="2000" dirty="0">
                <a:latin typeface="Times New Roman" panose="02020603050405020304" pitchFamily="18" charset="0"/>
                <a:cs typeface="Times New Roman" panose="02020603050405020304" pitchFamily="18" charset="0"/>
              </a:rPr>
              <a:t>Un</a:t>
            </a:r>
            <a:r>
              <a:rPr lang="fr-FR" dirty="0"/>
              <a:t> </a:t>
            </a:r>
            <a:r>
              <a:rPr lang="fr-FR" sz="2000" dirty="0">
                <a:latin typeface="Times New Roman" panose="02020603050405020304" pitchFamily="18" charset="0"/>
                <a:cs typeface="Times New Roman" panose="02020603050405020304" pitchFamily="18" charset="0"/>
              </a:rPr>
              <a:t>service peut participer à des </a:t>
            </a:r>
            <a:r>
              <a:rPr lang="fr-FR" sz="2000" dirty="0">
                <a:solidFill>
                  <a:srgbClr val="C00000"/>
                </a:solidFill>
                <a:latin typeface="Times New Roman" panose="02020603050405020304" pitchFamily="18" charset="0"/>
                <a:cs typeface="Times New Roman" panose="02020603050405020304" pitchFamily="18" charset="0"/>
              </a:rPr>
              <a:t>compositions de services</a:t>
            </a:r>
            <a:endParaRPr sz="2000" dirty="0">
              <a:solidFill>
                <a:srgbClr val="CC0000"/>
              </a:solidFill>
              <a:latin typeface="Times New Roman" panose="02020603050405020304" pitchFamily="18" charset="0"/>
              <a:ea typeface="Arial"/>
              <a:cs typeface="Times New Roman" panose="02020603050405020304" pitchFamily="18" charset="0"/>
              <a:sym typeface="Arial"/>
            </a:endParaRPr>
          </a:p>
          <a:p>
            <a:pPr marL="457200" lvl="1" indent="0" algn="just" rtl="0">
              <a:spcBef>
                <a:spcPts val="0"/>
              </a:spcBef>
              <a:spcAft>
                <a:spcPts val="0"/>
              </a:spcAft>
              <a:buNone/>
            </a:pPr>
            <a:endParaRPr sz="2000" dirty="0">
              <a:latin typeface="Times New Roman" panose="02020603050405020304" pitchFamily="18" charset="0"/>
              <a:ea typeface="Arial"/>
              <a:cs typeface="Times New Roman" panose="02020603050405020304" pitchFamily="18" charset="0"/>
              <a:sym typeface="Arial"/>
            </a:endParaRPr>
          </a:p>
          <a:p>
            <a:pPr marL="457200" lvl="1" indent="0" algn="just" rtl="0">
              <a:spcBef>
                <a:spcPts val="0"/>
              </a:spcBef>
              <a:spcAft>
                <a:spcPts val="0"/>
              </a:spcAft>
              <a:buNone/>
            </a:pPr>
            <a:endParaRPr sz="2000" dirty="0">
              <a:latin typeface="Times New Roman" panose="02020603050405020304" pitchFamily="18" charset="0"/>
              <a:ea typeface="Arial"/>
              <a:cs typeface="Times New Roman" panose="02020603050405020304" pitchFamily="18" charset="0"/>
              <a:sym typeface="Arial"/>
            </a:endParaRPr>
          </a:p>
          <a:p>
            <a:pPr marL="457200" lvl="1" indent="-127000" algn="just" rtl="0">
              <a:spcBef>
                <a:spcPts val="0"/>
              </a:spcBef>
              <a:spcAft>
                <a:spcPts val="0"/>
              </a:spcAft>
              <a:buSzPts val="2000"/>
              <a:buFont typeface="Arial"/>
              <a:buChar char="•"/>
            </a:pPr>
            <a:r>
              <a:rPr lang="fr-FR" sz="2000" dirty="0">
                <a:latin typeface="Times New Roman" panose="02020603050405020304" pitchFamily="18" charset="0"/>
                <a:ea typeface="Arial"/>
                <a:cs typeface="Times New Roman" panose="02020603050405020304" pitchFamily="18" charset="0"/>
                <a:sym typeface="Arial"/>
              </a:rPr>
              <a:t>Un ensemble de services peuvent être composés à travers leur orchestration pour répondre à un besoin complexe</a:t>
            </a:r>
            <a:r>
              <a:rPr lang="fr-FR" sz="2000" b="1" dirty="0">
                <a:latin typeface="Times New Roman" panose="02020603050405020304" pitchFamily="18" charset="0"/>
                <a:ea typeface="Arial"/>
                <a:cs typeface="Times New Roman" panose="02020603050405020304" pitchFamily="18" charset="0"/>
                <a:sym typeface="Arial"/>
              </a:rPr>
              <a:t>;</a:t>
            </a:r>
            <a:endParaRPr sz="2000"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None/>
            </a:pPr>
            <a:endParaRPr sz="2000" b="1" dirty="0">
              <a:latin typeface="Times New Roman" panose="02020603050405020304" pitchFamily="18" charset="0"/>
              <a:ea typeface="Arial"/>
              <a:cs typeface="Times New Roman" panose="02020603050405020304" pitchFamily="18" charset="0"/>
              <a:sym typeface="Arial"/>
            </a:endParaRPr>
          </a:p>
          <a:p>
            <a:pPr marL="457200" lvl="1" indent="-127000" algn="just" rtl="0">
              <a:lnSpc>
                <a:spcPct val="150000"/>
              </a:lnSpc>
              <a:spcBef>
                <a:spcPts val="0"/>
              </a:spcBef>
              <a:spcAft>
                <a:spcPts val="0"/>
              </a:spcAft>
              <a:buSzPts val="2000"/>
              <a:buFont typeface="Arial"/>
              <a:buChar char="•"/>
            </a:pPr>
            <a:r>
              <a:rPr lang="fr-FR" sz="2000" b="1" dirty="0">
                <a:latin typeface="Times New Roman" panose="02020603050405020304" pitchFamily="18" charset="0"/>
                <a:ea typeface="Arial"/>
                <a:cs typeface="Times New Roman" panose="02020603050405020304" pitchFamily="18" charset="0"/>
                <a:sym typeface="Arial"/>
              </a:rPr>
              <a:t> Avantage:</a:t>
            </a:r>
            <a:endParaRPr sz="2000" dirty="0">
              <a:latin typeface="Times New Roman" panose="02020603050405020304" pitchFamily="18" charset="0"/>
              <a:cs typeface="Times New Roman" panose="02020603050405020304" pitchFamily="18" charset="0"/>
            </a:endParaRPr>
          </a:p>
          <a:p>
            <a:pPr marL="914400" lvl="2" indent="-127000" algn="just" rtl="0">
              <a:lnSpc>
                <a:spcPct val="150000"/>
              </a:lnSpc>
              <a:spcBef>
                <a:spcPts val="0"/>
              </a:spcBef>
              <a:spcAft>
                <a:spcPts val="0"/>
              </a:spcAft>
              <a:buSzPts val="2000"/>
              <a:buFont typeface="Arial"/>
              <a:buChar char="•"/>
            </a:pPr>
            <a:r>
              <a:rPr lang="fr-FR" sz="2000" dirty="0">
                <a:latin typeface="Times New Roman" panose="02020603050405020304" pitchFamily="18" charset="0"/>
                <a:ea typeface="Arial"/>
                <a:cs typeface="Times New Roman" panose="02020603050405020304" pitchFamily="18" charset="0"/>
                <a:sym typeface="Arial"/>
              </a:rPr>
              <a:t>Apport de valeur ajoutée (répondre à un nouveau besoin complexe) </a:t>
            </a:r>
            <a:endParaRPr sz="2000" dirty="0">
              <a:latin typeface="Times New Roman" panose="02020603050405020304" pitchFamily="18" charset="0"/>
              <a:cs typeface="Times New Roman" panose="02020603050405020304" pitchFamily="18" charset="0"/>
            </a:endParaRPr>
          </a:p>
          <a:p>
            <a:pPr marL="457200" lvl="1" indent="0" algn="just" rtl="0">
              <a:spcBef>
                <a:spcPts val="0"/>
              </a:spcBef>
              <a:spcAft>
                <a:spcPts val="0"/>
              </a:spcAft>
              <a:buSzPts val="2000"/>
              <a:buFont typeface="Arial"/>
              <a:buNone/>
            </a:pPr>
            <a:endParaRPr sz="2000" dirty="0">
              <a:latin typeface="Arial"/>
              <a:ea typeface="Arial"/>
              <a:cs typeface="Arial"/>
              <a:sym typeface="Arial"/>
            </a:endParaRPr>
          </a:p>
          <a:p>
            <a:pPr marL="0" lvl="0" indent="0" algn="l" rtl="0">
              <a:spcBef>
                <a:spcPts val="0"/>
              </a:spcBef>
              <a:spcAft>
                <a:spcPts val="0"/>
              </a:spcAft>
              <a:buClr>
                <a:schemeClr val="dk1"/>
              </a:buClr>
              <a:buSzPts val="1600"/>
              <a:buFont typeface="Arial"/>
              <a:buNone/>
            </a:pPr>
            <a:endParaRPr sz="1600" dirty="0">
              <a:solidFill>
                <a:srgbClr val="000099"/>
              </a:solidFill>
            </a:endParaRPr>
          </a:p>
        </p:txBody>
      </p:sp>
      <p:sp>
        <p:nvSpPr>
          <p:cNvPr id="618" name="Google Shape;618;p28"/>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619" name="Google Shape;619;p28"/>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30</a:t>
            </a:fld>
            <a:endParaRPr/>
          </a:p>
        </p:txBody>
      </p:sp>
      <p:sp>
        <p:nvSpPr>
          <p:cNvPr id="3" name="Google Shape;291;g25b1bb62912_0_41">
            <a:extLst>
              <a:ext uri="{FF2B5EF4-FFF2-40B4-BE49-F238E27FC236}">
                <a16:creationId xmlns:a16="http://schemas.microsoft.com/office/drawing/2014/main" id="{2D040B93-9848-F703-47DD-FD7FD8D34E56}"/>
              </a:ext>
            </a:extLst>
          </p:cNvPr>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Principes d’un service Web</a:t>
            </a:r>
            <a:endParaRPr dirty="0">
              <a:sym typeface="Times New Roman"/>
            </a:endParaRPr>
          </a:p>
        </p:txBody>
      </p:sp>
      <p:pic>
        <p:nvPicPr>
          <p:cNvPr id="4" name="Google Shape;297;g25b1bb62912_0_50" descr="Image 10">
            <a:extLst>
              <a:ext uri="{FF2B5EF4-FFF2-40B4-BE49-F238E27FC236}">
                <a16:creationId xmlns:a16="http://schemas.microsoft.com/office/drawing/2014/main" id="{EC056BBD-FFA4-29F0-08FF-3D65EAFFA908}"/>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Tree>
  </p:cSld>
  <p:clrMapOvr>
    <a:masterClrMapping/>
  </p:clrMapOvr>
  <p:transition spd="med">
    <p:push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CD84F4DA-27CF-B011-09EC-5B22FA401743}"/>
              </a:ext>
            </a:extLst>
          </p:cNvPr>
          <p:cNvPicPr preferRelativeResize="0"/>
          <p:nvPr/>
        </p:nvPicPr>
        <p:blipFill rotWithShape="1">
          <a:blip r:embed="rId3">
            <a:alphaModFix/>
          </a:blip>
          <a:srcRect/>
          <a:stretch/>
        </p:blipFill>
        <p:spPr>
          <a:xfrm>
            <a:off x="-3894" y="-28242"/>
            <a:ext cx="12652622" cy="6886241"/>
          </a:xfrm>
          <a:prstGeom prst="rect">
            <a:avLst/>
          </a:prstGeom>
          <a:noFill/>
          <a:ln>
            <a:noFill/>
          </a:ln>
        </p:spPr>
      </p:pic>
      <p:sp>
        <p:nvSpPr>
          <p:cNvPr id="618" name="Google Shape;618;p28"/>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619" name="Google Shape;619;p28"/>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31</a:t>
            </a:fld>
            <a:endParaRPr/>
          </a:p>
        </p:txBody>
      </p:sp>
      <p:sp>
        <p:nvSpPr>
          <p:cNvPr id="3" name="Google Shape;291;g25b1bb62912_0_41">
            <a:extLst>
              <a:ext uri="{FF2B5EF4-FFF2-40B4-BE49-F238E27FC236}">
                <a16:creationId xmlns:a16="http://schemas.microsoft.com/office/drawing/2014/main" id="{2D040B93-9848-F703-47DD-FD7FD8D34E56}"/>
              </a:ext>
            </a:extLst>
          </p:cNvPr>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Principes d’un service Web</a:t>
            </a:r>
            <a:endParaRPr dirty="0">
              <a:sym typeface="Times New Roman"/>
            </a:endParaRPr>
          </a:p>
        </p:txBody>
      </p:sp>
      <p:pic>
        <p:nvPicPr>
          <p:cNvPr id="4" name="Google Shape;297;g25b1bb62912_0_50" descr="Image 10">
            <a:extLst>
              <a:ext uri="{FF2B5EF4-FFF2-40B4-BE49-F238E27FC236}">
                <a16:creationId xmlns:a16="http://schemas.microsoft.com/office/drawing/2014/main" id="{EC056BBD-FFA4-29F0-08FF-3D65EAFFA908}"/>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
        <p:nvSpPr>
          <p:cNvPr id="5" name="ZoneTexte 4">
            <a:extLst>
              <a:ext uri="{FF2B5EF4-FFF2-40B4-BE49-F238E27FC236}">
                <a16:creationId xmlns:a16="http://schemas.microsoft.com/office/drawing/2014/main" id="{A732C6C2-DD86-1073-DB63-CC73017967B3}"/>
              </a:ext>
            </a:extLst>
          </p:cNvPr>
          <p:cNvSpPr txBox="1"/>
          <p:nvPr/>
        </p:nvSpPr>
        <p:spPr>
          <a:xfrm>
            <a:off x="536222" y="1240094"/>
            <a:ext cx="11808178" cy="6260688"/>
          </a:xfrm>
          <a:prstGeom prst="rect">
            <a:avLst/>
          </a:prstGeom>
          <a:noFill/>
        </p:spPr>
        <p:txBody>
          <a:bodyPr wrap="square" rtlCol="0">
            <a:spAutoFit/>
          </a:bodyPr>
          <a:lstStyle/>
          <a:p>
            <a:endParaRPr lang="fr-FR" sz="2000" dirty="0">
              <a:solidFill>
                <a:srgbClr val="333333"/>
              </a:solidFill>
              <a:latin typeface="Times New Roman" panose="02020603050405020304" pitchFamily="18" charset="0"/>
              <a:cs typeface="Times New Roman" panose="02020603050405020304" pitchFamily="18" charset="0"/>
            </a:endParaRPr>
          </a:p>
          <a:p>
            <a:pPr marL="571500" indent="-571500">
              <a:buClr>
                <a:srgbClr val="C00000"/>
              </a:buClr>
              <a:buSzPct val="60000"/>
              <a:buFont typeface="Wingdings" panose="05000000000000000000" pitchFamily="2" charset="2"/>
              <a:buChar char="Ø"/>
            </a:pPr>
            <a:r>
              <a:rPr lang="fr-FR" sz="4000" dirty="0">
                <a:solidFill>
                  <a:srgbClr val="C00000"/>
                </a:solidFill>
              </a:rPr>
              <a:t> </a:t>
            </a:r>
            <a:r>
              <a:rPr lang="fr-FR" sz="2000" dirty="0">
                <a:solidFill>
                  <a:srgbClr val="C00000"/>
                </a:solidFill>
                <a:latin typeface="Times New Roman" panose="02020603050405020304" pitchFamily="18" charset="0"/>
                <a:cs typeface="Times New Roman" panose="02020603050405020304" pitchFamily="18" charset="0"/>
              </a:rPr>
              <a:t>Modularité</a:t>
            </a:r>
          </a:p>
          <a:p>
            <a:pPr marL="571500" indent="-571500">
              <a:buClr>
                <a:srgbClr val="C00000"/>
              </a:buClr>
              <a:buSzPct val="60000"/>
              <a:buFont typeface="Wingdings" panose="05000000000000000000" pitchFamily="2" charset="2"/>
              <a:buChar char="Ø"/>
            </a:pPr>
            <a:endParaRPr lang="fr-FR" sz="2000" dirty="0">
              <a:solidFill>
                <a:srgbClr val="C00000"/>
              </a:solidFill>
              <a:latin typeface="Times New Roman" panose="02020603050405020304" pitchFamily="18" charset="0"/>
              <a:ea typeface="Arial"/>
              <a:cs typeface="Times New Roman" panose="02020603050405020304" pitchFamily="18" charset="0"/>
              <a:sym typeface="Arial"/>
            </a:endParaRPr>
          </a:p>
          <a:p>
            <a:pPr>
              <a:buClr>
                <a:srgbClr val="C00000"/>
              </a:buClr>
              <a:buSzPct val="60000"/>
            </a:pPr>
            <a:r>
              <a:rPr lang="fr-FR" sz="2000" dirty="0">
                <a:solidFill>
                  <a:srgbClr val="333333"/>
                </a:solidFill>
                <a:latin typeface="Times New Roman" panose="02020603050405020304" pitchFamily="18" charset="0"/>
                <a:cs typeface="Times New Roman" panose="02020603050405020304" pitchFamily="18" charset="0"/>
              </a:rPr>
              <a:t>La modularité </a:t>
            </a:r>
            <a:r>
              <a:rPr lang="fr-FR" sz="2000" b="0" i="0" dirty="0">
                <a:solidFill>
                  <a:srgbClr val="333333"/>
                </a:solidFill>
                <a:effectLst/>
                <a:latin typeface="Times New Roman" panose="02020603050405020304" pitchFamily="18" charset="0"/>
                <a:cs typeface="Times New Roman" panose="02020603050405020304" pitchFamily="18" charset="0"/>
              </a:rPr>
              <a:t>est matérialisée par le fait que les différents services sont indépendants les uns des autres dans la plateforme de services et peuvent être accessibles par les applications distantes tournant dans des environnements hétérogènes. D’où la notion d’interopérabilité.</a:t>
            </a:r>
          </a:p>
          <a:p>
            <a:pPr marL="571500" indent="-571500">
              <a:buClr>
                <a:srgbClr val="C00000"/>
              </a:buClr>
              <a:buSzPct val="60000"/>
              <a:buFont typeface="Wingdings" panose="05000000000000000000" pitchFamily="2" charset="2"/>
              <a:buChar char="Ø"/>
            </a:pPr>
            <a:r>
              <a:rPr lang="fr-FR" sz="4000" dirty="0">
                <a:solidFill>
                  <a:srgbClr val="C00000"/>
                </a:solidFill>
              </a:rPr>
              <a:t> </a:t>
            </a:r>
            <a:r>
              <a:rPr lang="fr-FR" sz="2000" dirty="0">
                <a:solidFill>
                  <a:srgbClr val="C00000"/>
                </a:solidFill>
                <a:latin typeface="Times New Roman" panose="02020603050405020304" pitchFamily="18" charset="0"/>
                <a:cs typeface="Times New Roman" panose="02020603050405020304" pitchFamily="18" charset="0"/>
              </a:rPr>
              <a:t>Interopérabilité</a:t>
            </a:r>
          </a:p>
          <a:p>
            <a:pPr marL="12065" marR="5080" lvl="0" algn="just" rtl="0">
              <a:lnSpc>
                <a:spcPct val="100000"/>
              </a:lnSpc>
              <a:spcBef>
                <a:spcPts val="105"/>
              </a:spcBef>
              <a:spcAft>
                <a:spcPts val="0"/>
              </a:spcAft>
              <a:buClr>
                <a:schemeClr val="dk1"/>
              </a:buClr>
              <a:buSzPts val="2400"/>
            </a:pPr>
            <a:r>
              <a:rPr lang="fr-FR" sz="2000" dirty="0">
                <a:solidFill>
                  <a:schemeClr val="dk1"/>
                </a:solidFill>
                <a:latin typeface="Times New Roman" panose="02020603050405020304" pitchFamily="18" charset="0"/>
                <a:cs typeface="Times New Roman" panose="02020603050405020304" pitchFamily="18" charset="0"/>
                <a:sym typeface="Arial"/>
              </a:rPr>
              <a:t>Réfère à la capacité d’un système à coexister et à coopérer avec d’autres systèmes éventuellement </a:t>
            </a:r>
            <a:r>
              <a:rPr lang="fr-FR" sz="2000" b="1" dirty="0">
                <a:solidFill>
                  <a:srgbClr val="C00000"/>
                </a:solidFill>
                <a:latin typeface="Times New Roman" panose="02020603050405020304" pitchFamily="18" charset="0"/>
                <a:cs typeface="Times New Roman" panose="02020603050405020304" pitchFamily="18" charset="0"/>
                <a:sym typeface="Arial"/>
              </a:rPr>
              <a:t>hétérogènes</a:t>
            </a:r>
            <a:r>
              <a:rPr lang="fr-FR" sz="2000" dirty="0">
                <a:solidFill>
                  <a:schemeClr val="dk1"/>
                </a:solidFill>
                <a:latin typeface="Times New Roman" panose="02020603050405020304" pitchFamily="18" charset="0"/>
                <a:cs typeface="Times New Roman" panose="02020603050405020304" pitchFamily="18" charset="0"/>
                <a:sym typeface="Arial"/>
              </a:rPr>
              <a:t> selon un schéma ouvert d'interconnexion.</a:t>
            </a:r>
            <a:endParaRPr lang="fr-FR" sz="2000" dirty="0">
              <a:latin typeface="Times New Roman" panose="02020603050405020304" pitchFamily="18" charset="0"/>
              <a:cs typeface="Times New Roman" panose="02020603050405020304" pitchFamily="18" charset="0"/>
            </a:endParaRPr>
          </a:p>
          <a:p>
            <a:pPr marL="457200" marR="0" lvl="1" indent="-127000" algn="l" rtl="0">
              <a:spcBef>
                <a:spcPts val="15"/>
              </a:spcBef>
              <a:spcAft>
                <a:spcPts val="0"/>
              </a:spcAft>
              <a:buClr>
                <a:schemeClr val="dk1"/>
              </a:buClr>
              <a:buSzPts val="2000"/>
              <a:buFont typeface="Noto Sans Symbols"/>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Langages de programmation différents,</a:t>
            </a:r>
            <a:endParaRPr lang="fr-FR" sz="2000" dirty="0">
              <a:latin typeface="Times New Roman" panose="02020603050405020304" pitchFamily="18" charset="0"/>
              <a:cs typeface="Times New Roman" panose="02020603050405020304" pitchFamily="18" charset="0"/>
            </a:endParaRPr>
          </a:p>
          <a:p>
            <a:pPr marL="457200" marR="0" lvl="1" indent="-127000" algn="l" rtl="0">
              <a:spcBef>
                <a:spcPts val="15"/>
              </a:spcBef>
              <a:spcAft>
                <a:spcPts val="0"/>
              </a:spcAft>
              <a:buClr>
                <a:schemeClr val="dk1"/>
              </a:buClr>
              <a:buSzPts val="2000"/>
              <a:buFont typeface="Noto Sans Symbols"/>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SGBD différents,</a:t>
            </a:r>
            <a:endParaRPr lang="fr-FR" sz="2000" dirty="0">
              <a:latin typeface="Times New Roman" panose="02020603050405020304" pitchFamily="18" charset="0"/>
              <a:cs typeface="Times New Roman" panose="02020603050405020304" pitchFamily="18" charset="0"/>
            </a:endParaRPr>
          </a:p>
          <a:p>
            <a:pPr marL="457200" marR="0" lvl="1" indent="-127000" algn="l" rtl="0">
              <a:spcBef>
                <a:spcPts val="15"/>
              </a:spcBef>
              <a:spcAft>
                <a:spcPts val="0"/>
              </a:spcAft>
              <a:buClr>
                <a:schemeClr val="dk1"/>
              </a:buClr>
              <a:buSzPts val="2000"/>
              <a:buFont typeface="Noto Sans Symbols"/>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 Architectures différentes,</a:t>
            </a:r>
            <a:endParaRPr lang="fr-FR" sz="2000" dirty="0">
              <a:latin typeface="Times New Roman" panose="02020603050405020304" pitchFamily="18" charset="0"/>
              <a:cs typeface="Times New Roman" panose="02020603050405020304" pitchFamily="18" charset="0"/>
            </a:endParaRPr>
          </a:p>
          <a:p>
            <a:pPr marL="457200" marR="0" lvl="1" indent="-127000" algn="l" rtl="0">
              <a:spcBef>
                <a:spcPts val="15"/>
              </a:spcBef>
              <a:spcAft>
                <a:spcPts val="0"/>
              </a:spcAft>
              <a:buClr>
                <a:schemeClr val="dk1"/>
              </a:buClr>
              <a:buSzPts val="2000"/>
              <a:buFont typeface="Noto Sans Symbols"/>
              <a:buChar char="✔"/>
            </a:pPr>
            <a:r>
              <a:rPr lang="fr-FR" sz="2000" b="0" i="0" u="none" strike="noStrike" cap="none" dirty="0">
                <a:solidFill>
                  <a:schemeClr val="dk1"/>
                </a:solidFill>
                <a:latin typeface="Times New Roman" panose="02020603050405020304" pitchFamily="18" charset="0"/>
                <a:cs typeface="Times New Roman" panose="02020603050405020304" pitchFamily="18" charset="0"/>
                <a:sym typeface="Arial"/>
              </a:rPr>
              <a:t>etc.</a:t>
            </a:r>
            <a:endParaRPr lang="fr-FR" sz="2000" dirty="0">
              <a:latin typeface="Times New Roman" panose="02020603050405020304" pitchFamily="18" charset="0"/>
              <a:cs typeface="Times New Roman" panose="02020603050405020304" pitchFamily="18" charset="0"/>
            </a:endParaRPr>
          </a:p>
          <a:p>
            <a:pPr marL="571500" indent="-571500">
              <a:buClr>
                <a:srgbClr val="C00000"/>
              </a:buClr>
              <a:buSzPct val="60000"/>
              <a:buFont typeface="Wingdings" panose="05000000000000000000" pitchFamily="2" charset="2"/>
              <a:buChar char="Ø"/>
            </a:pPr>
            <a:endParaRPr lang="fr-FR" sz="2000" dirty="0">
              <a:solidFill>
                <a:srgbClr val="C00000"/>
              </a:solidFill>
              <a:latin typeface="Times New Roman" panose="02020603050405020304" pitchFamily="18" charset="0"/>
              <a:cs typeface="Times New Roman" panose="02020603050405020304" pitchFamily="18" charset="0"/>
            </a:endParaRPr>
          </a:p>
          <a:p>
            <a:pPr marL="571500" indent="-571500">
              <a:buClr>
                <a:srgbClr val="C00000"/>
              </a:buClr>
              <a:buSzPct val="60000"/>
              <a:buFont typeface="Wingdings" panose="05000000000000000000" pitchFamily="2" charset="2"/>
              <a:buChar char="Ø"/>
            </a:pPr>
            <a:endParaRPr lang="fr-FR" sz="2000" dirty="0">
              <a:solidFill>
                <a:srgbClr val="C00000"/>
              </a:solidFill>
              <a:latin typeface="Times New Roman" panose="02020603050405020304" pitchFamily="18" charset="0"/>
              <a:ea typeface="Arial"/>
              <a:cs typeface="Times New Roman" panose="02020603050405020304" pitchFamily="18" charset="0"/>
              <a:sym typeface="Arial"/>
            </a:endParaRPr>
          </a:p>
          <a:p>
            <a:pPr>
              <a:buClr>
                <a:srgbClr val="C00000"/>
              </a:buClr>
              <a:buSzPct val="60000"/>
            </a:pPr>
            <a:endParaRPr lang="fr-FR" sz="2000" b="0" i="0" dirty="0">
              <a:solidFill>
                <a:srgbClr val="333333"/>
              </a:solidFill>
              <a:effectLst/>
              <a:latin typeface="Times New Roman" panose="02020603050405020304" pitchFamily="18" charset="0"/>
              <a:cs typeface="Times New Roman" panose="02020603050405020304" pitchFamily="18" charset="0"/>
            </a:endParaRPr>
          </a:p>
          <a:p>
            <a:pPr marL="571500" indent="-571500">
              <a:buClr>
                <a:srgbClr val="C00000"/>
              </a:buClr>
              <a:buSzPct val="60000"/>
              <a:buFont typeface="Wingdings" panose="05000000000000000000" pitchFamily="2" charset="2"/>
              <a:buChar char="Ø"/>
            </a:pPr>
            <a:endParaRPr lang="fr-FR" sz="2000" dirty="0">
              <a:solidFill>
                <a:srgbClr val="CC0000"/>
              </a:solidFill>
              <a:latin typeface="Times New Roman" panose="02020603050405020304" pitchFamily="18" charset="0"/>
              <a:ea typeface="Arial"/>
              <a:cs typeface="Times New Roman" panose="02020603050405020304" pitchFamily="18" charset="0"/>
              <a:sym typeface="Arial"/>
            </a:endParaRPr>
          </a:p>
          <a:p>
            <a:endParaRPr lang="fr-F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559955"/>
      </p:ext>
    </p:extLst>
  </p:cSld>
  <p:clrMapOvr>
    <a:masterClrMapping/>
  </p:clrMapOvr>
  <p:transition spd="med">
    <p:push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E83395AA-81F0-7BAC-5BEF-CD809948E139}"/>
              </a:ext>
            </a:extLst>
          </p:cNvPr>
          <p:cNvPicPr preferRelativeResize="0"/>
          <p:nvPr/>
        </p:nvPicPr>
        <p:blipFill rotWithShape="1">
          <a:blip r:embed="rId3">
            <a:alphaModFix/>
          </a:blip>
          <a:srcRect/>
          <a:stretch/>
        </p:blipFill>
        <p:spPr>
          <a:xfrm>
            <a:off x="-3894" y="-28242"/>
            <a:ext cx="12652622" cy="6886241"/>
          </a:xfrm>
          <a:prstGeom prst="rect">
            <a:avLst/>
          </a:prstGeom>
          <a:noFill/>
          <a:ln>
            <a:noFill/>
          </a:ln>
        </p:spPr>
      </p:pic>
      <p:sp>
        <p:nvSpPr>
          <p:cNvPr id="522" name="Google Shape;522;p21"/>
          <p:cNvSpPr txBox="1"/>
          <p:nvPr/>
        </p:nvSpPr>
        <p:spPr>
          <a:xfrm>
            <a:off x="672844" y="2713711"/>
            <a:ext cx="11519156" cy="2970162"/>
          </a:xfrm>
          <a:prstGeom prst="rect">
            <a:avLst/>
          </a:prstGeom>
          <a:noFill/>
          <a:ln>
            <a:noFill/>
          </a:ln>
        </p:spPr>
        <p:txBody>
          <a:bodyPr spcFirstLastPara="1" wrap="square" lIns="0" tIns="13325" rIns="0" bIns="0" anchor="t" anchorCtr="0">
            <a:spAutoFit/>
          </a:bodyPr>
          <a:lstStyle/>
          <a:p>
            <a:pPr marL="356870" marR="850900" lvl="0" indent="-344805" algn="l" rtl="0">
              <a:lnSpc>
                <a:spcPct val="118214"/>
              </a:lnSpc>
              <a:spcBef>
                <a:spcPts val="0"/>
              </a:spcBef>
              <a:spcAft>
                <a:spcPts val="0"/>
              </a:spcAft>
              <a:buClr>
                <a:schemeClr val="dk1"/>
              </a:buClr>
              <a:buSzPts val="2800"/>
              <a:buFont typeface="Arial"/>
              <a:buChar char="•"/>
            </a:pPr>
            <a:r>
              <a:rPr lang="fr-FR" sz="2000" b="1" dirty="0" err="1">
                <a:solidFill>
                  <a:schemeClr val="dk1"/>
                </a:solidFill>
                <a:latin typeface="Times New Roman" panose="02020603050405020304" pitchFamily="18" charset="0"/>
                <a:cs typeface="Times New Roman" panose="02020603050405020304" pitchFamily="18" charset="0"/>
                <a:sym typeface="Arial"/>
              </a:rPr>
              <a:t>Integration</a:t>
            </a:r>
            <a:r>
              <a:rPr lang="fr-FR" sz="2000" b="1" dirty="0">
                <a:solidFill>
                  <a:schemeClr val="dk1"/>
                </a:solidFill>
                <a:latin typeface="Times New Roman" panose="02020603050405020304" pitchFamily="18" charset="0"/>
                <a:cs typeface="Times New Roman" panose="02020603050405020304" pitchFamily="18" charset="0"/>
                <a:sym typeface="Arial"/>
              </a:rPr>
              <a:t> </a:t>
            </a:r>
            <a:r>
              <a:rPr lang="fr-FR" sz="2000" dirty="0" err="1">
                <a:solidFill>
                  <a:schemeClr val="dk1"/>
                </a:solidFill>
                <a:latin typeface="Times New Roman" panose="02020603050405020304" pitchFamily="18" charset="0"/>
                <a:ea typeface="Trebuchet MS"/>
                <a:cs typeface="Times New Roman" panose="02020603050405020304" pitchFamily="18" charset="0"/>
                <a:sym typeface="Trebuchet MS"/>
              </a:rPr>
              <a:t>means</a:t>
            </a:r>
            <a:r>
              <a:rPr lang="fr-FR" sz="2000" dirty="0">
                <a:solidFill>
                  <a:schemeClr val="dk1"/>
                </a:solidFill>
                <a:latin typeface="Times New Roman" panose="02020603050405020304" pitchFamily="18" charset="0"/>
                <a:ea typeface="Trebuchet MS"/>
                <a:cs typeface="Times New Roman" panose="02020603050405020304" pitchFamily="18" charset="0"/>
                <a:sym typeface="Trebuchet MS"/>
              </a:rPr>
              <a:t> </a:t>
            </a:r>
            <a:r>
              <a:rPr lang="fr-FR" sz="2000" dirty="0" err="1">
                <a:solidFill>
                  <a:schemeClr val="dk1"/>
                </a:solidFill>
                <a:latin typeface="Times New Roman" panose="02020603050405020304" pitchFamily="18" charset="0"/>
                <a:ea typeface="Trebuchet MS"/>
                <a:cs typeface="Times New Roman" panose="02020603050405020304" pitchFamily="18" charset="0"/>
                <a:sym typeface="Trebuchet MS"/>
              </a:rPr>
              <a:t>that</a:t>
            </a:r>
            <a:r>
              <a:rPr lang="fr-FR" sz="2000" dirty="0">
                <a:solidFill>
                  <a:schemeClr val="dk1"/>
                </a:solidFill>
                <a:latin typeface="Times New Roman" panose="02020603050405020304" pitchFamily="18" charset="0"/>
                <a:ea typeface="Trebuchet MS"/>
                <a:cs typeface="Times New Roman" panose="02020603050405020304" pitchFamily="18" charset="0"/>
                <a:sym typeface="Trebuchet MS"/>
              </a:rPr>
              <a:t> </a:t>
            </a:r>
            <a:r>
              <a:rPr lang="fr-FR" sz="2000" dirty="0" err="1">
                <a:solidFill>
                  <a:schemeClr val="dk1"/>
                </a:solidFill>
                <a:latin typeface="Times New Roman" panose="02020603050405020304" pitchFamily="18" charset="0"/>
                <a:ea typeface="Trebuchet MS"/>
                <a:cs typeface="Times New Roman" panose="02020603050405020304" pitchFamily="18" charset="0"/>
                <a:sym typeface="Trebuchet MS"/>
              </a:rPr>
              <a:t>you've</a:t>
            </a:r>
            <a:r>
              <a:rPr lang="fr-FR" sz="2000" dirty="0">
                <a:solidFill>
                  <a:schemeClr val="dk1"/>
                </a:solidFill>
                <a:latin typeface="Times New Roman" panose="02020603050405020304" pitchFamily="18" charset="0"/>
                <a:ea typeface="Trebuchet MS"/>
                <a:cs typeface="Times New Roman" panose="02020603050405020304" pitchFamily="18" charset="0"/>
                <a:sym typeface="Trebuchet MS"/>
              </a:rPr>
              <a:t> </a:t>
            </a:r>
            <a:r>
              <a:rPr lang="fr-FR" sz="2000" dirty="0" err="1">
                <a:solidFill>
                  <a:schemeClr val="dk1"/>
                </a:solidFill>
                <a:latin typeface="Times New Roman" panose="02020603050405020304" pitchFamily="18" charset="0"/>
                <a:ea typeface="Trebuchet MS"/>
                <a:cs typeface="Times New Roman" panose="02020603050405020304" pitchFamily="18" charset="0"/>
                <a:sym typeface="Trebuchet MS"/>
              </a:rPr>
              <a:t>writtensome</a:t>
            </a:r>
            <a:r>
              <a:rPr lang="fr-FR" sz="2000" dirty="0">
                <a:solidFill>
                  <a:schemeClr val="dk1"/>
                </a:solidFill>
                <a:latin typeface="Times New Roman" panose="02020603050405020304" pitchFamily="18" charset="0"/>
                <a:ea typeface="Trebuchet MS"/>
                <a:cs typeface="Times New Roman" panose="02020603050405020304" pitchFamily="18" charset="0"/>
                <a:sym typeface="Trebuchet MS"/>
              </a:rPr>
              <a:t> custom code to  </a:t>
            </a:r>
            <a:r>
              <a:rPr lang="fr-FR" sz="2000" dirty="0" err="1">
                <a:solidFill>
                  <a:schemeClr val="dk1"/>
                </a:solidFill>
                <a:latin typeface="Times New Roman" panose="02020603050405020304" pitchFamily="18" charset="0"/>
                <a:ea typeface="Trebuchet MS"/>
                <a:cs typeface="Times New Roman" panose="02020603050405020304" pitchFamily="18" charset="0"/>
                <a:sym typeface="Trebuchet MS"/>
              </a:rPr>
              <a:t>connect</a:t>
            </a:r>
            <a:r>
              <a:rPr lang="fr-FR" sz="2000" dirty="0">
                <a:solidFill>
                  <a:schemeClr val="dk1"/>
                </a:solidFill>
                <a:latin typeface="Times New Roman" panose="02020603050405020304" pitchFamily="18" charset="0"/>
                <a:ea typeface="Trebuchet MS"/>
                <a:cs typeface="Times New Roman" panose="02020603050405020304" pitchFamily="18" charset="0"/>
                <a:sym typeface="Trebuchet MS"/>
              </a:rPr>
              <a:t> </a:t>
            </a:r>
            <a:r>
              <a:rPr lang="fr-FR" sz="2000" dirty="0" err="1">
                <a:solidFill>
                  <a:schemeClr val="dk1"/>
                </a:solidFill>
                <a:latin typeface="Times New Roman" panose="02020603050405020304" pitchFamily="18" charset="0"/>
                <a:ea typeface="Trebuchet MS"/>
                <a:cs typeface="Times New Roman" panose="02020603050405020304" pitchFamily="18" charset="0"/>
                <a:sym typeface="Trebuchet MS"/>
              </a:rPr>
              <a:t>two</a:t>
            </a:r>
            <a:r>
              <a:rPr lang="fr-FR" sz="2000" dirty="0">
                <a:solidFill>
                  <a:schemeClr val="dk1"/>
                </a:solidFill>
                <a:latin typeface="Times New Roman" panose="02020603050405020304" pitchFamily="18" charset="0"/>
                <a:ea typeface="Trebuchet MS"/>
                <a:cs typeface="Times New Roman" panose="02020603050405020304" pitchFamily="18" charset="0"/>
                <a:sym typeface="Trebuchet MS"/>
              </a:rPr>
              <a:t> (or more) </a:t>
            </a:r>
            <a:r>
              <a:rPr lang="fr-FR" sz="2000" dirty="0" err="1">
                <a:solidFill>
                  <a:schemeClr val="dk1"/>
                </a:solidFill>
                <a:latin typeface="Times New Roman" panose="02020603050405020304" pitchFamily="18" charset="0"/>
                <a:ea typeface="Trebuchet MS"/>
                <a:cs typeface="Times New Roman" panose="02020603050405020304" pitchFamily="18" charset="0"/>
                <a:sym typeface="Trebuchet MS"/>
              </a:rPr>
              <a:t>systems</a:t>
            </a:r>
            <a:r>
              <a:rPr lang="fr-FR" sz="2000" dirty="0">
                <a:solidFill>
                  <a:schemeClr val="dk1"/>
                </a:solidFill>
                <a:latin typeface="Times New Roman" panose="02020603050405020304" pitchFamily="18" charset="0"/>
                <a:ea typeface="Trebuchet MS"/>
                <a:cs typeface="Times New Roman" panose="02020603050405020304" pitchFamily="18" charset="0"/>
                <a:sym typeface="Trebuchet MS"/>
              </a:rPr>
              <a:t> </a:t>
            </a:r>
            <a:r>
              <a:rPr lang="fr-FR" sz="2000" dirty="0" err="1">
                <a:solidFill>
                  <a:schemeClr val="dk1"/>
                </a:solidFill>
                <a:latin typeface="Times New Roman" panose="02020603050405020304" pitchFamily="18" charset="0"/>
                <a:ea typeface="Trebuchet MS"/>
                <a:cs typeface="Times New Roman" panose="02020603050405020304" pitchFamily="18" charset="0"/>
                <a:sym typeface="Trebuchet MS"/>
              </a:rPr>
              <a:t>together</a:t>
            </a:r>
            <a:r>
              <a:rPr lang="fr-FR" sz="2000" dirty="0">
                <a:solidFill>
                  <a:schemeClr val="dk1"/>
                </a:solidFill>
                <a:latin typeface="Times New Roman" panose="02020603050405020304" pitchFamily="18" charset="0"/>
                <a:ea typeface="Trebuchet MS"/>
                <a:cs typeface="Times New Roman" panose="02020603050405020304" pitchFamily="18" charset="0"/>
                <a:sym typeface="Trebuchet MS"/>
              </a:rPr>
              <a:t>.</a:t>
            </a:r>
            <a:endParaRPr sz="2000" dirty="0">
              <a:solidFill>
                <a:schemeClr val="dk1"/>
              </a:solidFill>
              <a:latin typeface="Times New Roman" panose="02020603050405020304" pitchFamily="18" charset="0"/>
              <a:ea typeface="Trebuchet MS"/>
              <a:cs typeface="Times New Roman" panose="02020603050405020304" pitchFamily="18" charset="0"/>
              <a:sym typeface="Trebuchet MS"/>
            </a:endParaRPr>
          </a:p>
          <a:p>
            <a:pPr marL="4829175" marR="0" lvl="1" indent="-229234" algn="l" rtl="0">
              <a:lnSpc>
                <a:spcPct val="100000"/>
              </a:lnSpc>
              <a:spcBef>
                <a:spcPts val="415"/>
              </a:spcBef>
              <a:spcAft>
                <a:spcPts val="0"/>
              </a:spcAft>
              <a:buClr>
                <a:schemeClr val="dk1"/>
              </a:buClr>
              <a:buSzPts val="2000"/>
              <a:buFont typeface="Arial"/>
              <a:buChar char="•"/>
            </a:pPr>
            <a:r>
              <a:rPr lang="fr-FR" sz="2000" b="0" i="1" u="none" strike="noStrike" cap="none" dirty="0">
                <a:solidFill>
                  <a:schemeClr val="dk1"/>
                </a:solidFill>
                <a:latin typeface="Times New Roman" panose="02020603050405020304" pitchFamily="18" charset="0"/>
                <a:cs typeface="Times New Roman" panose="02020603050405020304" pitchFamily="18" charset="0"/>
                <a:sym typeface="Arial"/>
              </a:rPr>
              <a:t>[Bobby Wolf – </a:t>
            </a:r>
            <a:r>
              <a:rPr lang="fr-FR" sz="2000" b="0" i="1" u="none" strike="noStrike" cap="none" dirty="0" err="1">
                <a:solidFill>
                  <a:schemeClr val="dk1"/>
                </a:solidFill>
                <a:latin typeface="Times New Roman" panose="02020603050405020304" pitchFamily="18" charset="0"/>
                <a:cs typeface="Times New Roman" panose="02020603050405020304" pitchFamily="18" charset="0"/>
                <a:sym typeface="Arial"/>
              </a:rPr>
              <a:t>IBMArchitect</a:t>
            </a:r>
            <a:r>
              <a:rPr lang="fr-FR" sz="2000" b="0" i="1" u="none" strike="noStrike" cap="none" dirty="0">
                <a:solidFill>
                  <a:schemeClr val="dk1"/>
                </a:solidFill>
                <a:latin typeface="Times New Roman" panose="02020603050405020304" pitchFamily="18" charset="0"/>
                <a:cs typeface="Times New Roman" panose="02020603050405020304" pitchFamily="18" charset="0"/>
                <a:sym typeface="Arial"/>
              </a:rPr>
              <a:t>]</a:t>
            </a:r>
          </a:p>
          <a:p>
            <a:pPr marL="4829175" marR="0" lvl="1" indent="-229234" algn="l" rtl="0">
              <a:lnSpc>
                <a:spcPct val="100000"/>
              </a:lnSpc>
              <a:spcBef>
                <a:spcPts val="415"/>
              </a:spcBef>
              <a:spcAft>
                <a:spcPts val="0"/>
              </a:spcAft>
              <a:buClr>
                <a:schemeClr val="dk1"/>
              </a:buClr>
              <a:buSzPts val="2000"/>
              <a:buFont typeface="Arial"/>
              <a:buChar char="•"/>
            </a:pPr>
            <a:endParaRPr lang="fr-FR" sz="2000" i="1" dirty="0">
              <a:solidFill>
                <a:schemeClr val="dk1"/>
              </a:solidFill>
              <a:latin typeface="Times New Roman" panose="02020603050405020304" pitchFamily="18" charset="0"/>
              <a:cs typeface="Times New Roman" panose="02020603050405020304" pitchFamily="18" charset="0"/>
            </a:endParaRPr>
          </a:p>
          <a:p>
            <a:pPr marL="4829175" marR="0" lvl="1" indent="-229234" algn="l" rtl="0">
              <a:lnSpc>
                <a:spcPct val="100000"/>
              </a:lnSpc>
              <a:spcBef>
                <a:spcPts val="415"/>
              </a:spcBef>
              <a:spcAft>
                <a:spcPts val="0"/>
              </a:spcAft>
              <a:buClr>
                <a:schemeClr val="dk1"/>
              </a:buClr>
              <a:buSzPts val="2000"/>
              <a:buFont typeface="Arial"/>
              <a:buChar char="•"/>
            </a:pPr>
            <a:endParaRPr lang="fr-FR" sz="2000" b="0" i="1"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4829175" marR="0" lvl="1" indent="-229234" algn="l" rtl="0">
              <a:lnSpc>
                <a:spcPct val="100000"/>
              </a:lnSpc>
              <a:spcBef>
                <a:spcPts val="415"/>
              </a:spcBef>
              <a:spcAft>
                <a:spcPts val="0"/>
              </a:spcAft>
              <a:buClr>
                <a:schemeClr val="dk1"/>
              </a:buClr>
              <a:buSzPts val="2000"/>
              <a:buFont typeface="Arial"/>
              <a:buChar char="•"/>
            </a:pPr>
            <a:endParaRPr sz="2000"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l" rtl="0">
              <a:lnSpc>
                <a:spcPct val="100000"/>
              </a:lnSpc>
              <a:spcBef>
                <a:spcPts val="15"/>
              </a:spcBef>
              <a:spcAft>
                <a:spcPts val="0"/>
              </a:spcAft>
              <a:buNone/>
            </a:pPr>
            <a:endParaRPr sz="2000" dirty="0">
              <a:solidFill>
                <a:schemeClr val="dk1"/>
              </a:solidFill>
              <a:latin typeface="Times New Roman" panose="02020603050405020304" pitchFamily="18" charset="0"/>
              <a:ea typeface="Trebuchet MS"/>
              <a:cs typeface="Times New Roman" panose="02020603050405020304" pitchFamily="18" charset="0"/>
              <a:sym typeface="Trebuchet MS"/>
            </a:endParaRPr>
          </a:p>
          <a:p>
            <a:pPr marL="356870" marR="850900" lvl="0" indent="-344805" algn="l" rtl="0">
              <a:lnSpc>
                <a:spcPct val="137916"/>
              </a:lnSpc>
              <a:spcBef>
                <a:spcPts val="0"/>
              </a:spcBef>
              <a:spcAft>
                <a:spcPts val="0"/>
              </a:spcAft>
              <a:buClr>
                <a:schemeClr val="dk1"/>
              </a:buClr>
              <a:buSzPts val="2400"/>
              <a:buFont typeface="Arial"/>
              <a:buChar char="•"/>
            </a:pPr>
            <a:r>
              <a:rPr lang="fr-FR" sz="2000" dirty="0">
                <a:solidFill>
                  <a:schemeClr val="dk1"/>
                </a:solidFill>
                <a:latin typeface="Times New Roman" panose="02020603050405020304" pitchFamily="18" charset="0"/>
                <a:cs typeface="Times New Roman" panose="02020603050405020304" pitchFamily="18" charset="0"/>
                <a:sym typeface="Arial"/>
              </a:rPr>
              <a:t>Lorsqu'on parle d'intégration, nous pensons au processus qui fait que différents systèmes d'information </a:t>
            </a:r>
            <a:r>
              <a:rPr lang="fr-FR" sz="2000" b="1" dirty="0">
                <a:solidFill>
                  <a:srgbClr val="C00000"/>
                </a:solidFill>
                <a:latin typeface="Times New Roman" panose="02020603050405020304" pitchFamily="18" charset="0"/>
                <a:cs typeface="Times New Roman" panose="02020603050405020304" pitchFamily="18" charset="0"/>
                <a:sym typeface="Arial"/>
              </a:rPr>
              <a:t>apparaissent comme un seul</a:t>
            </a:r>
            <a:r>
              <a:rPr lang="fr-FR" sz="2000" dirty="0">
                <a:solidFill>
                  <a:schemeClr val="dk1"/>
                </a:solidFill>
                <a:latin typeface="Times New Roman" panose="02020603050405020304" pitchFamily="18" charset="0"/>
                <a:cs typeface="Times New Roman" panose="02020603050405020304" pitchFamily="18" charset="0"/>
                <a:sym typeface="Arial"/>
              </a:rPr>
              <a:t>.</a:t>
            </a:r>
            <a:endParaRPr sz="2000" dirty="0">
              <a:solidFill>
                <a:schemeClr val="dk1"/>
              </a:solidFill>
              <a:latin typeface="Times New Roman" panose="02020603050405020304" pitchFamily="18" charset="0"/>
              <a:cs typeface="Times New Roman" panose="02020603050405020304" pitchFamily="18" charset="0"/>
              <a:sym typeface="Arial"/>
            </a:endParaRPr>
          </a:p>
        </p:txBody>
      </p:sp>
      <p:sp>
        <p:nvSpPr>
          <p:cNvPr id="523" name="Google Shape;523;p21"/>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32</a:t>
            </a:fld>
            <a:endParaRPr/>
          </a:p>
        </p:txBody>
      </p:sp>
      <p:sp>
        <p:nvSpPr>
          <p:cNvPr id="524" name="Google Shape;524;p21"/>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3" name="Google Shape;291;g25b1bb62912_0_41">
            <a:extLst>
              <a:ext uri="{FF2B5EF4-FFF2-40B4-BE49-F238E27FC236}">
                <a16:creationId xmlns:a16="http://schemas.microsoft.com/office/drawing/2014/main" id="{FA3809C3-840C-AA5D-2861-F316F810555F}"/>
              </a:ext>
            </a:extLst>
          </p:cNvPr>
          <p:cNvSpPr txBox="1"/>
          <p:nvPr/>
        </p:nvSpPr>
        <p:spPr>
          <a:xfrm>
            <a:off x="1198268" y="614541"/>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Principes d’un service Web</a:t>
            </a:r>
            <a:endParaRPr dirty="0">
              <a:sym typeface="Times New Roman"/>
            </a:endParaRPr>
          </a:p>
        </p:txBody>
      </p:sp>
      <p:pic>
        <p:nvPicPr>
          <p:cNvPr id="4" name="Google Shape;297;g25b1bb62912_0_50" descr="Image 10">
            <a:extLst>
              <a:ext uri="{FF2B5EF4-FFF2-40B4-BE49-F238E27FC236}">
                <a16:creationId xmlns:a16="http://schemas.microsoft.com/office/drawing/2014/main" id="{C98B54CC-73D3-643E-54F9-70C16CBBDF9C}"/>
              </a:ext>
            </a:extLst>
          </p:cNvPr>
          <p:cNvPicPr preferRelativeResize="0"/>
          <p:nvPr/>
        </p:nvPicPr>
        <p:blipFill rotWithShape="1">
          <a:blip r:embed="rId4">
            <a:alphaModFix/>
          </a:blip>
          <a:srcRect/>
          <a:stretch/>
        </p:blipFill>
        <p:spPr>
          <a:xfrm>
            <a:off x="672844" y="614541"/>
            <a:ext cx="585321" cy="579782"/>
          </a:xfrm>
          <a:prstGeom prst="rect">
            <a:avLst/>
          </a:prstGeom>
          <a:noFill/>
          <a:ln>
            <a:noFill/>
          </a:ln>
        </p:spPr>
      </p:pic>
      <p:sp>
        <p:nvSpPr>
          <p:cNvPr id="7" name="Google Shape;521;p21">
            <a:extLst>
              <a:ext uri="{FF2B5EF4-FFF2-40B4-BE49-F238E27FC236}">
                <a16:creationId xmlns:a16="http://schemas.microsoft.com/office/drawing/2014/main" id="{DACBF711-A84B-377A-33FF-79AB4BB15D71}"/>
              </a:ext>
            </a:extLst>
          </p:cNvPr>
          <p:cNvSpPr txBox="1">
            <a:spLocks noGrp="1"/>
          </p:cNvSpPr>
          <p:nvPr>
            <p:ph type="title"/>
          </p:nvPr>
        </p:nvSpPr>
        <p:spPr>
          <a:xfrm>
            <a:off x="837668" y="1732490"/>
            <a:ext cx="7933200" cy="319944"/>
          </a:xfrm>
          <a:prstGeom prst="rect">
            <a:avLst/>
          </a:prstGeom>
          <a:noFill/>
          <a:ln>
            <a:noFill/>
          </a:ln>
        </p:spPr>
        <p:txBody>
          <a:bodyPr spcFirstLastPara="1" wrap="square" lIns="0" tIns="12050" rIns="0" bIns="0" anchor="t" anchorCtr="0">
            <a:spAutoFit/>
          </a:bodyPr>
          <a:lstStyle/>
          <a:p>
            <a:pPr marL="355600" lvl="0" indent="-342900" algn="l" rtl="0">
              <a:lnSpc>
                <a:spcPct val="100000"/>
              </a:lnSpc>
              <a:spcBef>
                <a:spcPts val="0"/>
              </a:spcBef>
              <a:spcAft>
                <a:spcPts val="0"/>
              </a:spcAft>
              <a:buClr>
                <a:srgbClr val="C00000"/>
              </a:buClr>
              <a:buFont typeface="Wingdings" panose="05000000000000000000" pitchFamily="2" charset="2"/>
              <a:buChar char="Ø"/>
            </a:pPr>
            <a:r>
              <a:rPr lang="fr-FR" sz="2000" dirty="0">
                <a:solidFill>
                  <a:srgbClr val="C00000"/>
                </a:solidFill>
                <a:latin typeface="Times New Roman" panose="02020603050405020304" pitchFamily="18" charset="0"/>
                <a:cs typeface="Times New Roman" panose="02020603050405020304" pitchFamily="18" charset="0"/>
                <a:sym typeface="Arial"/>
              </a:rPr>
              <a:t>Intégration vs </a:t>
            </a:r>
            <a:r>
              <a:rPr lang="fr-FR" sz="2000" dirty="0">
                <a:solidFill>
                  <a:srgbClr val="C00000"/>
                </a:solidFill>
                <a:latin typeface="Times New Roman" panose="02020603050405020304" pitchFamily="18" charset="0"/>
                <a:cs typeface="Times New Roman" panose="02020603050405020304" pitchFamily="18" charset="0"/>
              </a:rPr>
              <a:t>Interopérabilité – </a:t>
            </a:r>
            <a:endParaRPr sz="20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pic>
        <p:nvPicPr>
          <p:cNvPr id="2" name="Google Shape;296;g25b1bb62912_0_50" descr="Picture 2">
            <a:extLst>
              <a:ext uri="{FF2B5EF4-FFF2-40B4-BE49-F238E27FC236}">
                <a16:creationId xmlns:a16="http://schemas.microsoft.com/office/drawing/2014/main" id="{2CF6A40B-E35E-3009-713B-064948644F2A}"/>
              </a:ext>
            </a:extLst>
          </p:cNvPr>
          <p:cNvPicPr preferRelativeResize="0"/>
          <p:nvPr/>
        </p:nvPicPr>
        <p:blipFill rotWithShape="1">
          <a:blip r:embed="rId3">
            <a:alphaModFix/>
          </a:blip>
          <a:srcRect/>
          <a:stretch/>
        </p:blipFill>
        <p:spPr>
          <a:xfrm>
            <a:off x="-3894" y="-28242"/>
            <a:ext cx="12652622" cy="6886241"/>
          </a:xfrm>
          <a:prstGeom prst="rect">
            <a:avLst/>
          </a:prstGeom>
          <a:noFill/>
          <a:ln>
            <a:noFill/>
          </a:ln>
        </p:spPr>
      </p:pic>
      <p:grpSp>
        <p:nvGrpSpPr>
          <p:cNvPr id="530" name="Google Shape;530;p22"/>
          <p:cNvGrpSpPr/>
          <p:nvPr/>
        </p:nvGrpSpPr>
        <p:grpSpPr>
          <a:xfrm>
            <a:off x="226417" y="1534459"/>
            <a:ext cx="12192000" cy="5287010"/>
            <a:chOff x="0" y="1143000"/>
            <a:chExt cx="12192000" cy="5287010"/>
          </a:xfrm>
        </p:grpSpPr>
        <p:sp>
          <p:nvSpPr>
            <p:cNvPr id="531" name="Google Shape;531;p22"/>
            <p:cNvSpPr/>
            <p:nvPr/>
          </p:nvSpPr>
          <p:spPr>
            <a:xfrm>
              <a:off x="0" y="1143000"/>
              <a:ext cx="12192000" cy="5287010"/>
            </a:xfrm>
            <a:custGeom>
              <a:avLst/>
              <a:gdLst/>
              <a:ahLst/>
              <a:cxnLst/>
              <a:rect l="l" t="t" r="r" b="b"/>
              <a:pathLst>
                <a:path w="12192000" h="5287010" extrusionOk="0">
                  <a:moveTo>
                    <a:pt x="12192000" y="0"/>
                  </a:moveTo>
                  <a:lnTo>
                    <a:pt x="0" y="0"/>
                  </a:lnTo>
                  <a:lnTo>
                    <a:pt x="0" y="5286756"/>
                  </a:lnTo>
                  <a:lnTo>
                    <a:pt x="12192000" y="5286756"/>
                  </a:lnTo>
                  <a:lnTo>
                    <a:pt x="1219200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2" name="Google Shape;532;p22"/>
            <p:cNvSpPr/>
            <p:nvPr/>
          </p:nvSpPr>
          <p:spPr>
            <a:xfrm>
              <a:off x="381000" y="1714500"/>
              <a:ext cx="8636508" cy="4120896"/>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33" name="Google Shape;533;p22"/>
          <p:cNvSpPr txBox="1"/>
          <p:nvPr/>
        </p:nvSpPr>
        <p:spPr>
          <a:xfrm>
            <a:off x="994833" y="6110894"/>
            <a:ext cx="11445522" cy="289823"/>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1800" dirty="0">
                <a:solidFill>
                  <a:schemeClr val="dk1"/>
                </a:solidFill>
                <a:latin typeface="Arial"/>
                <a:ea typeface="Arial"/>
                <a:cs typeface="Arial"/>
                <a:sym typeface="Arial"/>
              </a:rPr>
              <a:t>Source: </a:t>
            </a:r>
            <a:r>
              <a:rPr lang="fr-FR" sz="1800" u="sng" dirty="0">
                <a:solidFill>
                  <a:srgbClr val="0461C1"/>
                </a:solidFill>
                <a:latin typeface="Arial"/>
                <a:ea typeface="Arial"/>
                <a:cs typeface="Arial"/>
                <a:sym typeface="Arial"/>
                <a:hlinkClick r:id="rId5">
                  <a:extLst>
                    <a:ext uri="{A12FA001-AC4F-418D-AE19-62706E023703}">
                      <ahyp:hlinkClr xmlns:ahyp="http://schemas.microsoft.com/office/drawing/2018/hyperlinkcolor" val="tx"/>
                    </a:ext>
                  </a:extLst>
                </a:hlinkClick>
              </a:rPr>
              <a:t>http://modelseverywhere.wordpress.com/2010/11/04/model-driven-integration/</a:t>
            </a:r>
            <a:endParaRPr sz="1800" dirty="0">
              <a:solidFill>
                <a:schemeClr val="dk1"/>
              </a:solidFill>
              <a:latin typeface="Arial"/>
              <a:ea typeface="Arial"/>
              <a:cs typeface="Arial"/>
              <a:sym typeface="Arial"/>
            </a:endParaRPr>
          </a:p>
        </p:txBody>
      </p:sp>
      <p:sp>
        <p:nvSpPr>
          <p:cNvPr id="534" name="Google Shape;534;p22"/>
          <p:cNvSpPr txBox="1"/>
          <p:nvPr/>
        </p:nvSpPr>
        <p:spPr>
          <a:xfrm>
            <a:off x="9710419" y="4265421"/>
            <a:ext cx="1602105" cy="3911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2400" b="1">
                <a:solidFill>
                  <a:srgbClr val="FF0000"/>
                </a:solidFill>
                <a:latin typeface="Arial"/>
                <a:ea typeface="Arial"/>
                <a:cs typeface="Arial"/>
                <a:sym typeface="Arial"/>
              </a:rPr>
              <a:t>Integration</a:t>
            </a:r>
            <a:endParaRPr sz="2400">
              <a:solidFill>
                <a:schemeClr val="dk1"/>
              </a:solidFill>
              <a:latin typeface="Arial"/>
              <a:ea typeface="Arial"/>
              <a:cs typeface="Arial"/>
              <a:sym typeface="Arial"/>
            </a:endParaRPr>
          </a:p>
        </p:txBody>
      </p:sp>
      <p:sp>
        <p:nvSpPr>
          <p:cNvPr id="535" name="Google Shape;535;p22"/>
          <p:cNvSpPr txBox="1"/>
          <p:nvPr/>
        </p:nvSpPr>
        <p:spPr>
          <a:xfrm>
            <a:off x="8966961" y="2153869"/>
            <a:ext cx="2224405" cy="3917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fr-FR" sz="2400" b="1">
                <a:solidFill>
                  <a:srgbClr val="FF0000"/>
                </a:solidFill>
                <a:latin typeface="Arial"/>
                <a:ea typeface="Arial"/>
                <a:cs typeface="Arial"/>
                <a:sym typeface="Arial"/>
              </a:rPr>
              <a:t>Interoperabilité</a:t>
            </a:r>
            <a:endParaRPr sz="2400">
              <a:solidFill>
                <a:schemeClr val="dk1"/>
              </a:solidFill>
              <a:latin typeface="Arial"/>
              <a:ea typeface="Arial"/>
              <a:cs typeface="Arial"/>
              <a:sym typeface="Arial"/>
            </a:endParaRPr>
          </a:p>
        </p:txBody>
      </p:sp>
      <p:sp>
        <p:nvSpPr>
          <p:cNvPr id="537" name="Google Shape;537;p22"/>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lvl="0" indent="0" algn="l" rtl="0">
              <a:lnSpc>
                <a:spcPct val="100000"/>
              </a:lnSpc>
              <a:spcBef>
                <a:spcPts val="0"/>
              </a:spcBef>
              <a:spcAft>
                <a:spcPts val="0"/>
              </a:spcAft>
              <a:buNone/>
            </a:pPr>
            <a:fld id="{00000000-1234-1234-1234-123412341234}" type="slidenum">
              <a:rPr lang="fr-FR"/>
              <a:t>33</a:t>
            </a:fld>
            <a:endParaRPr/>
          </a:p>
        </p:txBody>
      </p:sp>
      <p:sp>
        <p:nvSpPr>
          <p:cNvPr id="538" name="Google Shape;538;p22"/>
          <p:cNvSpPr txBox="1">
            <a:spLocks noGrp="1"/>
          </p:cNvSpPr>
          <p:nvPr>
            <p:ph type="ftr" idx="11"/>
          </p:nvPr>
        </p:nvSpPr>
        <p:spPr>
          <a:xfrm>
            <a:off x="5705347" y="6472382"/>
            <a:ext cx="1060450" cy="2025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1200" b="0" i="0" u="none" strike="noStrike" cap="none">
                <a:solidFill>
                  <a:srgbClr val="FF0000"/>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pPr marL="12700" lvl="0" indent="0" algn="l" rtl="0">
              <a:lnSpc>
                <a:spcPct val="100000"/>
              </a:lnSpc>
              <a:spcBef>
                <a:spcPts val="0"/>
              </a:spcBef>
              <a:spcAft>
                <a:spcPts val="0"/>
              </a:spcAft>
              <a:buNone/>
            </a:pPr>
            <a:endParaRPr/>
          </a:p>
        </p:txBody>
      </p:sp>
      <p:sp>
        <p:nvSpPr>
          <p:cNvPr id="5" name="Google Shape;291;g25b1bb62912_0_41">
            <a:extLst>
              <a:ext uri="{FF2B5EF4-FFF2-40B4-BE49-F238E27FC236}">
                <a16:creationId xmlns:a16="http://schemas.microsoft.com/office/drawing/2014/main" id="{945C4FDE-4B74-D09B-E9F3-CC85C068A363}"/>
              </a:ext>
            </a:extLst>
          </p:cNvPr>
          <p:cNvSpPr txBox="1"/>
          <p:nvPr/>
        </p:nvSpPr>
        <p:spPr>
          <a:xfrm>
            <a:off x="1055166" y="297388"/>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Principes d’un service Web</a:t>
            </a:r>
            <a:endParaRPr dirty="0">
              <a:sym typeface="Times New Roman"/>
            </a:endParaRPr>
          </a:p>
        </p:txBody>
      </p:sp>
      <p:pic>
        <p:nvPicPr>
          <p:cNvPr id="6" name="Google Shape;297;g25b1bb62912_0_50" descr="Image 10">
            <a:extLst>
              <a:ext uri="{FF2B5EF4-FFF2-40B4-BE49-F238E27FC236}">
                <a16:creationId xmlns:a16="http://schemas.microsoft.com/office/drawing/2014/main" id="{C01BD8B3-CE54-69B1-5142-D7F20D874416}"/>
              </a:ext>
            </a:extLst>
          </p:cNvPr>
          <p:cNvPicPr preferRelativeResize="0"/>
          <p:nvPr/>
        </p:nvPicPr>
        <p:blipFill rotWithShape="1">
          <a:blip r:embed="rId6">
            <a:alphaModFix/>
          </a:blip>
          <a:srcRect/>
          <a:stretch/>
        </p:blipFill>
        <p:spPr>
          <a:xfrm>
            <a:off x="529742" y="297388"/>
            <a:ext cx="585321" cy="579782"/>
          </a:xfrm>
          <a:prstGeom prst="rect">
            <a:avLst/>
          </a:prstGeom>
          <a:noFill/>
          <a:ln>
            <a:noFill/>
          </a:ln>
        </p:spPr>
      </p:pic>
      <p:sp>
        <p:nvSpPr>
          <p:cNvPr id="7" name="Google Shape;521;p21">
            <a:extLst>
              <a:ext uri="{FF2B5EF4-FFF2-40B4-BE49-F238E27FC236}">
                <a16:creationId xmlns:a16="http://schemas.microsoft.com/office/drawing/2014/main" id="{B7DFDAF5-123B-A2A1-68F0-0829A316E4EB}"/>
              </a:ext>
            </a:extLst>
          </p:cNvPr>
          <p:cNvSpPr txBox="1">
            <a:spLocks noGrp="1"/>
          </p:cNvSpPr>
          <p:nvPr>
            <p:ph type="title"/>
          </p:nvPr>
        </p:nvSpPr>
        <p:spPr>
          <a:xfrm>
            <a:off x="694566" y="1079458"/>
            <a:ext cx="7933200" cy="319944"/>
          </a:xfrm>
          <a:prstGeom prst="rect">
            <a:avLst/>
          </a:prstGeom>
          <a:noFill/>
          <a:ln>
            <a:noFill/>
          </a:ln>
        </p:spPr>
        <p:txBody>
          <a:bodyPr spcFirstLastPara="1" wrap="square" lIns="0" tIns="12050" rIns="0" bIns="0" anchor="t" anchorCtr="0">
            <a:spAutoFit/>
          </a:bodyPr>
          <a:lstStyle/>
          <a:p>
            <a:pPr marL="355600" lvl="0" indent="-342900" algn="l" rtl="0">
              <a:lnSpc>
                <a:spcPct val="100000"/>
              </a:lnSpc>
              <a:spcBef>
                <a:spcPts val="0"/>
              </a:spcBef>
              <a:spcAft>
                <a:spcPts val="0"/>
              </a:spcAft>
              <a:buClr>
                <a:srgbClr val="C00000"/>
              </a:buClr>
              <a:buFont typeface="Wingdings" panose="05000000000000000000" pitchFamily="2" charset="2"/>
              <a:buChar char="Ø"/>
            </a:pPr>
            <a:r>
              <a:rPr lang="fr-FR" sz="2000" dirty="0">
                <a:solidFill>
                  <a:srgbClr val="C00000"/>
                </a:solidFill>
                <a:latin typeface="Times New Roman" panose="02020603050405020304" pitchFamily="18" charset="0"/>
                <a:cs typeface="Times New Roman" panose="02020603050405020304" pitchFamily="18" charset="0"/>
                <a:sym typeface="Arial"/>
              </a:rPr>
              <a:t>Intégration vs </a:t>
            </a:r>
            <a:r>
              <a:rPr lang="fr-FR" sz="2000" dirty="0">
                <a:solidFill>
                  <a:srgbClr val="C00000"/>
                </a:solidFill>
                <a:latin typeface="Times New Roman" panose="02020603050405020304" pitchFamily="18" charset="0"/>
                <a:cs typeface="Times New Roman" panose="02020603050405020304" pitchFamily="18" charset="0"/>
              </a:rPr>
              <a:t>Interopérabilité – </a:t>
            </a:r>
            <a:endParaRPr sz="20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pic>
        <p:nvPicPr>
          <p:cNvPr id="319" name="Google Shape;319;g25b1bb62912_0_68" descr="Picture 2"/>
          <p:cNvPicPr preferRelativeResize="0"/>
          <p:nvPr/>
        </p:nvPicPr>
        <p:blipFill rotWithShape="1">
          <a:blip r:embed="rId3">
            <a:alphaModFix/>
          </a:blip>
          <a:srcRect/>
          <a:stretch/>
        </p:blipFill>
        <p:spPr>
          <a:xfrm>
            <a:off x="0" y="-28241"/>
            <a:ext cx="12652622" cy="6886241"/>
          </a:xfrm>
          <a:prstGeom prst="rect">
            <a:avLst/>
          </a:prstGeom>
          <a:noFill/>
          <a:ln>
            <a:noFill/>
          </a:ln>
        </p:spPr>
      </p:pic>
      <p:pic>
        <p:nvPicPr>
          <p:cNvPr id="320" name="Google Shape;320;g25b1bb62912_0_68" descr="Image 10"/>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321" name="Google Shape;321;g25b1bb62912_0_68"/>
          <p:cNvSpPr txBox="1">
            <a:spLocks noGrp="1"/>
          </p:cNvSpPr>
          <p:nvPr>
            <p:ph type="sldNum" idx="12"/>
          </p:nvPr>
        </p:nvSpPr>
        <p:spPr>
          <a:xfrm>
            <a:off x="11089821" y="6404293"/>
            <a:ext cx="264000" cy="276900"/>
          </a:xfrm>
          <a:prstGeom prst="rect">
            <a:avLst/>
          </a:prstGeom>
          <a:noFill/>
          <a:ln>
            <a:noFill/>
          </a:ln>
        </p:spPr>
        <p:txBody>
          <a:bodyPr spcFirstLastPara="1" wrap="square" lIns="45700" tIns="45700" rIns="45700" bIns="45700" anchor="ctr" anchorCtr="0">
            <a:sp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fr-FR"/>
              <a:t>34</a:t>
            </a:fld>
            <a:endParaRPr/>
          </a:p>
        </p:txBody>
      </p:sp>
      <p:pic>
        <p:nvPicPr>
          <p:cNvPr id="322" name="Google Shape;322;g25b1bb62912_0_68" descr="Picture 3"/>
          <p:cNvPicPr preferRelativeResize="0"/>
          <p:nvPr/>
        </p:nvPicPr>
        <p:blipFill rotWithShape="1">
          <a:blip r:embed="rId5">
            <a:alphaModFix/>
          </a:blip>
          <a:srcRect/>
          <a:stretch/>
        </p:blipFill>
        <p:spPr>
          <a:xfrm flipH="1">
            <a:off x="9102766" y="-205530"/>
            <a:ext cx="3978841" cy="2344124"/>
          </a:xfrm>
          <a:prstGeom prst="rect">
            <a:avLst/>
          </a:prstGeom>
          <a:noFill/>
          <a:ln>
            <a:noFill/>
          </a:ln>
        </p:spPr>
      </p:pic>
      <p:sp>
        <p:nvSpPr>
          <p:cNvPr id="324" name="Google Shape;324;g25b1bb62912_0_68"/>
          <p:cNvSpPr txBox="1"/>
          <p:nvPr/>
        </p:nvSpPr>
        <p:spPr>
          <a:xfrm>
            <a:off x="1503500" y="508100"/>
            <a:ext cx="7212000" cy="108206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Avantages des services web</a:t>
            </a:r>
            <a:endParaRPr dirty="0">
              <a:sym typeface="Times New Roman"/>
            </a:endParaRPr>
          </a:p>
          <a:p>
            <a:endParaRPr dirty="0">
              <a:sym typeface="Times New Roman"/>
            </a:endParaRPr>
          </a:p>
        </p:txBody>
      </p:sp>
      <p:sp>
        <p:nvSpPr>
          <p:cNvPr id="2" name="Google Shape;506;p19">
            <a:extLst>
              <a:ext uri="{FF2B5EF4-FFF2-40B4-BE49-F238E27FC236}">
                <a16:creationId xmlns:a16="http://schemas.microsoft.com/office/drawing/2014/main" id="{E2C206CE-2533-56B8-6C19-D53055217500}"/>
              </a:ext>
            </a:extLst>
          </p:cNvPr>
          <p:cNvSpPr txBox="1"/>
          <p:nvPr/>
        </p:nvSpPr>
        <p:spPr>
          <a:xfrm>
            <a:off x="561924" y="1630945"/>
            <a:ext cx="10744200" cy="4424248"/>
          </a:xfrm>
          <a:prstGeom prst="rect">
            <a:avLst/>
          </a:prstGeom>
          <a:noFill/>
          <a:ln>
            <a:noFill/>
          </a:ln>
        </p:spPr>
        <p:txBody>
          <a:bodyPr spcFirstLastPara="1" wrap="square" lIns="91425" tIns="45700" rIns="91425" bIns="45700" anchor="t" anchorCtr="0">
            <a:spAutoFit/>
          </a:bodyPr>
          <a:lstStyle/>
          <a:p>
            <a:pPr marL="482600" marR="0" lvl="0" indent="-457200" algn="l" rtl="0">
              <a:lnSpc>
                <a:spcPct val="100000"/>
              </a:lnSpc>
              <a:spcBef>
                <a:spcPts val="0"/>
              </a:spcBef>
              <a:spcAft>
                <a:spcPts val="0"/>
              </a:spcAft>
              <a:buClr>
                <a:schemeClr val="dk1"/>
              </a:buClr>
              <a:buSzPts val="2800"/>
              <a:buFont typeface="Noto Sans Symbols"/>
              <a:buChar char="⮚"/>
            </a:pPr>
            <a:r>
              <a:rPr lang="fr-FR" sz="2000" dirty="0">
                <a:solidFill>
                  <a:schemeClr val="dk1"/>
                </a:solidFill>
                <a:latin typeface="Arial"/>
                <a:ea typeface="Arial"/>
                <a:cs typeface="Arial"/>
                <a:sym typeface="Arial"/>
              </a:rPr>
              <a:t>Offrir une technologie adaptée aux applications B2B;</a:t>
            </a:r>
            <a:endParaRPr sz="2000" dirty="0"/>
          </a:p>
          <a:p>
            <a:pPr marL="482600" marR="0" lvl="0" indent="-457200" algn="l" rtl="0">
              <a:lnSpc>
                <a:spcPct val="100000"/>
              </a:lnSpc>
              <a:spcBef>
                <a:spcPts val="484"/>
              </a:spcBef>
              <a:spcAft>
                <a:spcPts val="0"/>
              </a:spcAft>
              <a:buNone/>
            </a:pPr>
            <a:endParaRPr sz="2000" dirty="0">
              <a:solidFill>
                <a:schemeClr val="dk1"/>
              </a:solidFill>
              <a:latin typeface="Arial"/>
              <a:ea typeface="Arial"/>
              <a:cs typeface="Arial"/>
              <a:sym typeface="Arial"/>
            </a:endParaRPr>
          </a:p>
          <a:p>
            <a:pPr marL="482600" marR="0" lvl="0" indent="-457200" algn="l" rtl="0">
              <a:lnSpc>
                <a:spcPct val="100000"/>
              </a:lnSpc>
              <a:spcBef>
                <a:spcPts val="484"/>
              </a:spcBef>
              <a:spcAft>
                <a:spcPts val="0"/>
              </a:spcAft>
              <a:buClr>
                <a:schemeClr val="dk1"/>
              </a:buClr>
              <a:buSzPts val="2400"/>
              <a:buFont typeface="Noto Sans Symbols"/>
              <a:buChar char="⮚"/>
            </a:pPr>
            <a:r>
              <a:rPr lang="fr-FR" sz="2000" dirty="0">
                <a:solidFill>
                  <a:schemeClr val="dk1"/>
                </a:solidFill>
                <a:latin typeface="Arial"/>
                <a:ea typeface="Arial"/>
                <a:cs typeface="Arial"/>
                <a:sym typeface="Arial"/>
              </a:rPr>
              <a:t>Rendre possible et plus facile l’interconnexion et l’interaction des systèmes et composants </a:t>
            </a:r>
            <a:r>
              <a:rPr lang="fr-FR" sz="2000" dirty="0">
                <a:solidFill>
                  <a:srgbClr val="CC0000"/>
                </a:solidFill>
                <a:latin typeface="Arial"/>
                <a:ea typeface="Arial"/>
                <a:cs typeface="Arial"/>
                <a:sym typeface="Arial"/>
              </a:rPr>
              <a:t>hétérogènes</a:t>
            </a:r>
            <a:r>
              <a:rPr lang="fr-FR" sz="2000" dirty="0">
                <a:solidFill>
                  <a:schemeClr val="dk1"/>
                </a:solidFill>
                <a:latin typeface="Arial"/>
                <a:ea typeface="Arial"/>
                <a:cs typeface="Arial"/>
                <a:sym typeface="Arial"/>
              </a:rPr>
              <a:t>;</a:t>
            </a:r>
            <a:endParaRPr sz="2000" dirty="0"/>
          </a:p>
          <a:p>
            <a:pPr marL="482600" marR="0" lvl="0" indent="-457200" algn="l" rtl="0">
              <a:lnSpc>
                <a:spcPct val="100000"/>
              </a:lnSpc>
              <a:spcBef>
                <a:spcPts val="484"/>
              </a:spcBef>
              <a:spcAft>
                <a:spcPts val="0"/>
              </a:spcAft>
              <a:buClr>
                <a:schemeClr val="dk1"/>
              </a:buClr>
              <a:buSzPts val="2400"/>
              <a:buFont typeface="Noto Sans Symbols"/>
              <a:buChar char="⮚"/>
            </a:pPr>
            <a:r>
              <a:rPr lang="fr-FR" sz="2000" dirty="0">
                <a:solidFill>
                  <a:schemeClr val="dk1"/>
                </a:solidFill>
                <a:latin typeface="Arial"/>
                <a:ea typeface="Arial"/>
                <a:cs typeface="Arial"/>
                <a:sym typeface="Arial"/>
              </a:rPr>
              <a:t>Utilisés par le Web Sémantique pas seulement le web interactif</a:t>
            </a:r>
            <a:endParaRPr sz="2000" dirty="0"/>
          </a:p>
          <a:p>
            <a:pPr marL="482600" marR="0" lvl="0" indent="-457200" algn="l" rtl="0">
              <a:lnSpc>
                <a:spcPct val="100000"/>
              </a:lnSpc>
              <a:spcBef>
                <a:spcPts val="484"/>
              </a:spcBef>
              <a:spcAft>
                <a:spcPts val="0"/>
              </a:spcAft>
              <a:buNone/>
            </a:pPr>
            <a:endParaRPr sz="2000" dirty="0">
              <a:solidFill>
                <a:srgbClr val="CC0000"/>
              </a:solidFill>
              <a:latin typeface="Arial"/>
              <a:ea typeface="Arial"/>
              <a:cs typeface="Arial"/>
              <a:sym typeface="Arial"/>
            </a:endParaRPr>
          </a:p>
          <a:p>
            <a:pPr marL="482600" marR="0" lvl="0" indent="-457200" algn="l" rtl="0">
              <a:spcBef>
                <a:spcPts val="484"/>
              </a:spcBef>
              <a:spcAft>
                <a:spcPts val="0"/>
              </a:spcAft>
              <a:buClr>
                <a:schemeClr val="dk1"/>
              </a:buClr>
              <a:buSzPts val="2400"/>
              <a:buFont typeface="Noto Sans Symbols"/>
              <a:buChar char="⮚"/>
            </a:pPr>
            <a:r>
              <a:rPr lang="fr-FR" sz="2000" dirty="0">
                <a:solidFill>
                  <a:schemeClr val="dk1"/>
                </a:solidFill>
                <a:latin typeface="Arial"/>
                <a:ea typeface="Arial"/>
                <a:cs typeface="Arial"/>
                <a:sym typeface="Arial"/>
              </a:rPr>
              <a:t>Garantir </a:t>
            </a:r>
            <a:r>
              <a:rPr lang="fr-FR" sz="2000" dirty="0">
                <a:solidFill>
                  <a:srgbClr val="CC0000"/>
                </a:solidFill>
                <a:latin typeface="Arial"/>
                <a:ea typeface="Arial"/>
                <a:cs typeface="Arial"/>
                <a:sym typeface="Arial"/>
              </a:rPr>
              <a:t>l’interopérabilité</a:t>
            </a:r>
            <a:r>
              <a:rPr lang="fr-FR" sz="2000" dirty="0">
                <a:solidFill>
                  <a:schemeClr val="dk1"/>
                </a:solidFill>
                <a:latin typeface="Arial"/>
                <a:ea typeface="Arial"/>
                <a:cs typeface="Arial"/>
                <a:sym typeface="Arial"/>
              </a:rPr>
              <a:t> et donner lieu à des systèmes plus ouverts que ceux utilisant des protocoles tels que RPC, DCOM, RMI… ;</a:t>
            </a:r>
            <a:endParaRPr sz="2000" dirty="0"/>
          </a:p>
          <a:p>
            <a:pPr marL="482600" marR="0" lvl="0" indent="-457200" algn="l" rtl="0">
              <a:spcBef>
                <a:spcPts val="484"/>
              </a:spcBef>
              <a:spcAft>
                <a:spcPts val="0"/>
              </a:spcAft>
              <a:buClr>
                <a:schemeClr val="dk1"/>
              </a:buClr>
              <a:buSzPts val="2400"/>
              <a:buFont typeface="Noto Sans Symbols"/>
              <a:buChar char="⮚"/>
            </a:pPr>
            <a:r>
              <a:rPr lang="fr-FR" sz="2000" dirty="0">
                <a:solidFill>
                  <a:schemeClr val="dk1"/>
                </a:solidFill>
                <a:latin typeface="Arial"/>
                <a:ea typeface="Arial"/>
                <a:cs typeface="Arial"/>
                <a:sym typeface="Arial"/>
              </a:rPr>
              <a:t>Réutilisables dans un environnement ouvert;</a:t>
            </a:r>
            <a:endParaRPr sz="2000" dirty="0"/>
          </a:p>
          <a:p>
            <a:pPr marL="482600" marR="0" lvl="0" indent="-457200" algn="l" rtl="0">
              <a:spcBef>
                <a:spcPts val="484"/>
              </a:spcBef>
              <a:spcAft>
                <a:spcPts val="0"/>
              </a:spcAft>
              <a:buNone/>
            </a:pPr>
            <a:endParaRPr sz="2000" dirty="0">
              <a:solidFill>
                <a:schemeClr val="dk1"/>
              </a:solidFill>
              <a:latin typeface="Arial"/>
              <a:ea typeface="Arial"/>
              <a:cs typeface="Arial"/>
              <a:sym typeface="Arial"/>
            </a:endParaRPr>
          </a:p>
          <a:p>
            <a:pPr marL="482600" marR="0" lvl="0" indent="-457200" algn="l" rtl="0">
              <a:spcBef>
                <a:spcPts val="484"/>
              </a:spcBef>
              <a:spcAft>
                <a:spcPts val="0"/>
              </a:spcAft>
              <a:buClr>
                <a:schemeClr val="dk1"/>
              </a:buClr>
              <a:buSzPts val="2400"/>
              <a:buFont typeface="Noto Sans Symbols"/>
              <a:buChar char="⮚"/>
            </a:pPr>
            <a:r>
              <a:rPr lang="fr-FR" sz="2000" dirty="0">
                <a:solidFill>
                  <a:schemeClr val="dk1"/>
                </a:solidFill>
                <a:latin typeface="Arial"/>
                <a:ea typeface="Arial"/>
                <a:cs typeface="Arial"/>
                <a:sym typeface="Arial"/>
              </a:rPr>
              <a:t>Garantir un </a:t>
            </a:r>
            <a:r>
              <a:rPr lang="fr-FR" sz="2000" dirty="0">
                <a:solidFill>
                  <a:srgbClr val="CC0000"/>
                </a:solidFill>
                <a:latin typeface="Arial"/>
                <a:ea typeface="Arial"/>
                <a:cs typeface="Arial"/>
                <a:sym typeface="Arial"/>
              </a:rPr>
              <a:t>couplage lâche</a:t>
            </a:r>
            <a:r>
              <a:rPr lang="fr-FR" sz="2000" dirty="0">
                <a:solidFill>
                  <a:schemeClr val="dk1"/>
                </a:solidFill>
                <a:latin typeface="Arial"/>
                <a:ea typeface="Arial"/>
                <a:cs typeface="Arial"/>
                <a:sym typeface="Arial"/>
              </a:rPr>
              <a:t>.</a:t>
            </a:r>
            <a:endParaRPr sz="2000" dirty="0"/>
          </a:p>
          <a:p>
            <a:pPr marL="482600" marR="0" lvl="0" indent="-457200" algn="l" rtl="0">
              <a:lnSpc>
                <a:spcPct val="100000"/>
              </a:lnSpc>
              <a:spcBef>
                <a:spcPts val="484"/>
              </a:spcBef>
              <a:spcAft>
                <a:spcPts val="0"/>
              </a:spcAft>
              <a:buNone/>
            </a:pPr>
            <a:endParaRPr sz="24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395673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pic>
        <p:nvPicPr>
          <p:cNvPr id="2" name="Google Shape;319;g25b1bb62912_0_68" descr="Picture 2">
            <a:extLst>
              <a:ext uri="{FF2B5EF4-FFF2-40B4-BE49-F238E27FC236}">
                <a16:creationId xmlns:a16="http://schemas.microsoft.com/office/drawing/2014/main" id="{369FE4BC-0DF6-20B8-B0ED-63E2B197E15B}"/>
              </a:ext>
            </a:extLst>
          </p:cNvPr>
          <p:cNvPicPr preferRelativeResize="0"/>
          <p:nvPr/>
        </p:nvPicPr>
        <p:blipFill rotWithShape="1">
          <a:blip r:embed="rId3">
            <a:alphaModFix/>
          </a:blip>
          <a:srcRect/>
          <a:stretch/>
        </p:blipFill>
        <p:spPr>
          <a:xfrm>
            <a:off x="0" y="-28241"/>
            <a:ext cx="12652622" cy="6886241"/>
          </a:xfrm>
          <a:prstGeom prst="rect">
            <a:avLst/>
          </a:prstGeom>
          <a:noFill/>
          <a:ln>
            <a:noFill/>
          </a:ln>
        </p:spPr>
      </p:pic>
      <p:sp>
        <p:nvSpPr>
          <p:cNvPr id="626" name="Google Shape;626;p29"/>
          <p:cNvSpPr txBox="1">
            <a:spLocks noGrp="1"/>
          </p:cNvSpPr>
          <p:nvPr>
            <p:ph type="sldNum" idx="12"/>
          </p:nvPr>
        </p:nvSpPr>
        <p:spPr>
          <a:xfrm>
            <a:off x="11070335" y="6430643"/>
            <a:ext cx="228600" cy="203200"/>
          </a:xfrm>
          <a:prstGeom prst="rect">
            <a:avLst/>
          </a:prstGeom>
          <a:noFill/>
          <a:ln>
            <a:noFill/>
          </a:ln>
        </p:spPr>
        <p:txBody>
          <a:bodyPr spcFirstLastPara="1" wrap="square" lIns="0" tIns="3800" rIns="0" bIns="0" anchor="t" anchorCtr="0">
            <a:spAutoFit/>
          </a:bodyPr>
          <a:lstStyle/>
          <a:p>
            <a:pPr marL="3810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200" b="0" i="0" u="none" strike="noStrike" kern="0" cap="none" spc="0" normalizeH="0" baseline="0" noProof="0">
                <a:ln>
                  <a:noFill/>
                </a:ln>
                <a:solidFill>
                  <a:srgbClr val="878787"/>
                </a:solidFill>
                <a:effectLst/>
                <a:uLnTx/>
                <a:uFillTx/>
                <a:latin typeface="Trebuchet MS"/>
                <a:sym typeface="Trebuchet MS"/>
              </a:rPr>
              <a:pPr marL="38100" marR="0" lvl="0" indent="0" algn="l" defTabSz="914400" rtl="0" eaLnBrk="1" fontAlgn="auto" latinLnBrk="0" hangingPunct="1">
                <a:lnSpc>
                  <a:spcPct val="100000"/>
                </a:lnSpc>
                <a:spcBef>
                  <a:spcPts val="0"/>
                </a:spcBef>
                <a:spcAft>
                  <a:spcPts val="0"/>
                </a:spcAft>
                <a:buClr>
                  <a:srgbClr val="000000"/>
                </a:buClr>
                <a:buSzTx/>
                <a:buFont typeface="Arial"/>
                <a:buNone/>
                <a:tabLst/>
                <a:defRPr/>
              </a:pPr>
              <a:t>35</a:t>
            </a:fld>
            <a:endParaRPr kumimoji="0" sz="1200" b="0" i="0" u="none" strike="noStrike" kern="0" cap="none" spc="0" normalizeH="0" baseline="0" noProof="0">
              <a:ln>
                <a:noFill/>
              </a:ln>
              <a:solidFill>
                <a:srgbClr val="878787"/>
              </a:solidFill>
              <a:effectLst/>
              <a:uLnTx/>
              <a:uFillTx/>
              <a:latin typeface="Trebuchet MS"/>
              <a:sym typeface="Trebuchet MS"/>
            </a:endParaRPr>
          </a:p>
        </p:txBody>
      </p:sp>
      <p:sp>
        <p:nvSpPr>
          <p:cNvPr id="628" name="Google Shape;628;p29"/>
          <p:cNvSpPr/>
          <p:nvPr/>
        </p:nvSpPr>
        <p:spPr>
          <a:xfrm>
            <a:off x="3909060" y="2971800"/>
            <a:ext cx="3558539" cy="1374120"/>
          </a:xfrm>
          <a:prstGeom prst="rect">
            <a:avLst/>
          </a:prstGeom>
          <a:solidFill>
            <a:schemeClr val="accent2"/>
          </a:solidFill>
          <a:ln w="25400" cap="flat" cmpd="sng">
            <a:solidFill>
              <a:srgbClr val="8C3A38"/>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629" name="Google Shape;629;p29"/>
          <p:cNvSpPr txBox="1"/>
          <p:nvPr/>
        </p:nvSpPr>
        <p:spPr>
          <a:xfrm>
            <a:off x="4507229" y="3392414"/>
            <a:ext cx="2362200" cy="52322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2800" b="1" i="0" u="none" strike="noStrike" kern="0" cap="none" spc="0" normalizeH="0" baseline="0" noProof="0">
                <a:ln>
                  <a:noFill/>
                </a:ln>
                <a:solidFill>
                  <a:srgbClr val="000000"/>
                </a:solidFill>
                <a:effectLst/>
                <a:uLnTx/>
                <a:uFillTx/>
                <a:latin typeface="Calibri"/>
                <a:ea typeface="Calibri"/>
                <a:cs typeface="Calibri"/>
                <a:sym typeface="Calibri"/>
              </a:rPr>
              <a:t>Services Web</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0" name="Google Shape;630;p29"/>
          <p:cNvSpPr/>
          <p:nvPr/>
        </p:nvSpPr>
        <p:spPr>
          <a:xfrm>
            <a:off x="762000" y="1650521"/>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631" name="Google Shape;631;p29"/>
          <p:cNvSpPr/>
          <p:nvPr/>
        </p:nvSpPr>
        <p:spPr>
          <a:xfrm>
            <a:off x="8229600" y="3296158"/>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632" name="Google Shape;632;p29"/>
          <p:cNvSpPr/>
          <p:nvPr/>
        </p:nvSpPr>
        <p:spPr>
          <a:xfrm>
            <a:off x="8153400" y="1557058"/>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633" name="Google Shape;633;p29"/>
          <p:cNvSpPr/>
          <p:nvPr/>
        </p:nvSpPr>
        <p:spPr>
          <a:xfrm>
            <a:off x="838200" y="3429000"/>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634" name="Google Shape;634;p29"/>
          <p:cNvSpPr/>
          <p:nvPr/>
        </p:nvSpPr>
        <p:spPr>
          <a:xfrm>
            <a:off x="4574983" y="5299494"/>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635" name="Google Shape;635;p29"/>
          <p:cNvSpPr/>
          <p:nvPr/>
        </p:nvSpPr>
        <p:spPr>
          <a:xfrm>
            <a:off x="4724400" y="1557058"/>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636" name="Google Shape;636;p29"/>
          <p:cNvSpPr txBox="1"/>
          <p:nvPr/>
        </p:nvSpPr>
        <p:spPr>
          <a:xfrm>
            <a:off x="8686800" y="3581400"/>
            <a:ext cx="167640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a:ln>
                  <a:noFill/>
                </a:ln>
                <a:solidFill>
                  <a:srgbClr val="000000"/>
                </a:solidFill>
                <a:effectLst/>
                <a:uLnTx/>
                <a:uFillTx/>
                <a:latin typeface="Calibri"/>
                <a:ea typeface="Calibri"/>
                <a:cs typeface="Calibri"/>
                <a:sym typeface="Calibri"/>
              </a:rPr>
              <a:t>intégration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7" name="Google Shape;637;p29"/>
          <p:cNvSpPr txBox="1"/>
          <p:nvPr/>
        </p:nvSpPr>
        <p:spPr>
          <a:xfrm>
            <a:off x="4884735" y="5604779"/>
            <a:ext cx="1764029" cy="38002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a:ln>
                  <a:noFill/>
                </a:ln>
                <a:solidFill>
                  <a:srgbClr val="000000"/>
                </a:solidFill>
                <a:effectLst/>
                <a:uLnTx/>
                <a:uFillTx/>
                <a:latin typeface="Calibri"/>
                <a:ea typeface="Calibri"/>
                <a:cs typeface="Calibri"/>
                <a:sym typeface="Calibri"/>
              </a:rPr>
              <a:t>Interopérabilité</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8" name="Google Shape;638;p29"/>
          <p:cNvSpPr txBox="1"/>
          <p:nvPr/>
        </p:nvSpPr>
        <p:spPr>
          <a:xfrm>
            <a:off x="1219200" y="3729849"/>
            <a:ext cx="1600200" cy="64633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a:ln>
                  <a:noFill/>
                </a:ln>
                <a:solidFill>
                  <a:srgbClr val="000000"/>
                </a:solidFill>
                <a:effectLst/>
                <a:uLnTx/>
                <a:uFillTx/>
                <a:latin typeface="Calibri"/>
                <a:ea typeface="Calibri"/>
                <a:cs typeface="Calibri"/>
                <a:sym typeface="Calibri"/>
              </a:rPr>
              <a:t>Middleware</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39" name="Google Shape;639;p29"/>
          <p:cNvSpPr txBox="1"/>
          <p:nvPr/>
        </p:nvSpPr>
        <p:spPr>
          <a:xfrm>
            <a:off x="1219200" y="1912579"/>
            <a:ext cx="1752600" cy="64633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a:ln>
                  <a:noFill/>
                </a:ln>
                <a:solidFill>
                  <a:srgbClr val="000000"/>
                </a:solidFill>
                <a:effectLst/>
                <a:uLnTx/>
                <a:uFillTx/>
                <a:latin typeface="Calibri"/>
                <a:ea typeface="Calibri"/>
                <a:cs typeface="Calibri"/>
                <a:sym typeface="Calibri"/>
              </a:rPr>
              <a:t>Protocoles internet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0" name="Google Shape;640;p29"/>
          <p:cNvSpPr txBox="1"/>
          <p:nvPr/>
        </p:nvSpPr>
        <p:spPr>
          <a:xfrm>
            <a:off x="8697468" y="1828800"/>
            <a:ext cx="175260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a:ln>
                  <a:noFill/>
                </a:ln>
                <a:solidFill>
                  <a:srgbClr val="000000"/>
                </a:solidFill>
                <a:effectLst/>
                <a:uLnTx/>
                <a:uFillTx/>
                <a:latin typeface="Calibri"/>
                <a:ea typeface="Calibri"/>
                <a:cs typeface="Calibri"/>
                <a:sym typeface="Calibri"/>
              </a:rPr>
              <a:t>B2B/B2C</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1" name="Google Shape;641;p29"/>
          <p:cNvSpPr txBox="1"/>
          <p:nvPr/>
        </p:nvSpPr>
        <p:spPr>
          <a:xfrm>
            <a:off x="5257800" y="1828800"/>
            <a:ext cx="1390964"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dirty="0">
                <a:ln>
                  <a:noFill/>
                </a:ln>
                <a:solidFill>
                  <a:srgbClr val="000000"/>
                </a:solidFill>
                <a:effectLst/>
                <a:uLnTx/>
                <a:uFillTx/>
                <a:latin typeface="Calibri"/>
                <a:ea typeface="Calibri"/>
                <a:cs typeface="Calibri"/>
                <a:sym typeface="Calibri"/>
              </a:rPr>
              <a:t>Contrat </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3" name="Google Shape;320;g25b1bb62912_0_68" descr="Image 10">
            <a:extLst>
              <a:ext uri="{FF2B5EF4-FFF2-40B4-BE49-F238E27FC236}">
                <a16:creationId xmlns:a16="http://schemas.microsoft.com/office/drawing/2014/main" id="{113EA6B9-D947-D9C9-A24B-581E0776B1BC}"/>
              </a:ext>
            </a:extLst>
          </p:cNvPr>
          <p:cNvPicPr preferRelativeResize="0"/>
          <p:nvPr/>
        </p:nvPicPr>
        <p:blipFill rotWithShape="1">
          <a:blip r:embed="rId4">
            <a:alphaModFix/>
          </a:blip>
          <a:srcRect/>
          <a:stretch/>
        </p:blipFill>
        <p:spPr>
          <a:xfrm>
            <a:off x="831813" y="590085"/>
            <a:ext cx="585321" cy="579782"/>
          </a:xfrm>
          <a:prstGeom prst="rect">
            <a:avLst/>
          </a:prstGeom>
          <a:noFill/>
          <a:ln>
            <a:noFill/>
          </a:ln>
        </p:spPr>
      </p:pic>
      <p:sp>
        <p:nvSpPr>
          <p:cNvPr id="4" name="Google Shape;324;g25b1bb62912_0_68">
            <a:extLst>
              <a:ext uri="{FF2B5EF4-FFF2-40B4-BE49-F238E27FC236}">
                <a16:creationId xmlns:a16="http://schemas.microsoft.com/office/drawing/2014/main" id="{03878A1B-9516-6C73-5055-227A38CC2CFF}"/>
              </a:ext>
            </a:extLst>
          </p:cNvPr>
          <p:cNvSpPr txBox="1"/>
          <p:nvPr/>
        </p:nvSpPr>
        <p:spPr>
          <a:xfrm>
            <a:off x="1417134" y="474997"/>
            <a:ext cx="7212000" cy="108206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A retenir</a:t>
            </a:r>
            <a:endParaRPr dirty="0">
              <a:sym typeface="Times New Roman"/>
            </a:endParaRPr>
          </a:p>
          <a:p>
            <a:endParaRPr dirty="0">
              <a:sym typeface="Times New Roman"/>
            </a:endParaRPr>
          </a:p>
        </p:txBody>
      </p:sp>
      <p:sp>
        <p:nvSpPr>
          <p:cNvPr id="8" name="Google Shape;635;p29">
            <a:extLst>
              <a:ext uri="{FF2B5EF4-FFF2-40B4-BE49-F238E27FC236}">
                <a16:creationId xmlns:a16="http://schemas.microsoft.com/office/drawing/2014/main" id="{BD78047E-446C-8C04-E1DA-62252019C729}"/>
              </a:ext>
            </a:extLst>
          </p:cNvPr>
          <p:cNvSpPr/>
          <p:nvPr/>
        </p:nvSpPr>
        <p:spPr>
          <a:xfrm>
            <a:off x="8235224" y="5073526"/>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9" name="Google Shape;641;p29">
            <a:extLst>
              <a:ext uri="{FF2B5EF4-FFF2-40B4-BE49-F238E27FC236}">
                <a16:creationId xmlns:a16="http://schemas.microsoft.com/office/drawing/2014/main" id="{02459DAA-1AC0-9346-F206-506C6A368165}"/>
              </a:ext>
            </a:extLst>
          </p:cNvPr>
          <p:cNvSpPr txBox="1"/>
          <p:nvPr/>
        </p:nvSpPr>
        <p:spPr>
          <a:xfrm>
            <a:off x="8878286" y="5384160"/>
            <a:ext cx="1390964"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dirty="0">
                <a:ln>
                  <a:noFill/>
                </a:ln>
                <a:solidFill>
                  <a:srgbClr val="000000"/>
                </a:solidFill>
                <a:effectLst/>
                <a:uLnTx/>
                <a:uFillTx/>
                <a:latin typeface="Calibri"/>
                <a:ea typeface="Calibri"/>
                <a:cs typeface="Calibri"/>
                <a:sym typeface="Calibri"/>
              </a:rPr>
              <a:t>URI/URL </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0" name="Google Shape;635;p29">
            <a:extLst>
              <a:ext uri="{FF2B5EF4-FFF2-40B4-BE49-F238E27FC236}">
                <a16:creationId xmlns:a16="http://schemas.microsoft.com/office/drawing/2014/main" id="{7F71A8F2-4EF0-270F-67BE-BA24F7F34023}"/>
              </a:ext>
            </a:extLst>
          </p:cNvPr>
          <p:cNvSpPr/>
          <p:nvPr/>
        </p:nvSpPr>
        <p:spPr>
          <a:xfrm>
            <a:off x="8229600" y="5077079"/>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11" name="Google Shape;641;p29">
            <a:extLst>
              <a:ext uri="{FF2B5EF4-FFF2-40B4-BE49-F238E27FC236}">
                <a16:creationId xmlns:a16="http://schemas.microsoft.com/office/drawing/2014/main" id="{D515AB6F-06D3-C95F-0E93-4474B91E2B2F}"/>
              </a:ext>
            </a:extLst>
          </p:cNvPr>
          <p:cNvSpPr txBox="1"/>
          <p:nvPr/>
        </p:nvSpPr>
        <p:spPr>
          <a:xfrm>
            <a:off x="8872662" y="5387713"/>
            <a:ext cx="1390964"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dirty="0">
                <a:ln>
                  <a:noFill/>
                </a:ln>
                <a:solidFill>
                  <a:srgbClr val="000000"/>
                </a:solidFill>
                <a:effectLst/>
                <a:uLnTx/>
                <a:uFillTx/>
                <a:latin typeface="Calibri"/>
                <a:ea typeface="Calibri"/>
                <a:cs typeface="Calibri"/>
                <a:sym typeface="Calibri"/>
              </a:rPr>
              <a:t>URI/URL </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2" name="Google Shape;635;p29">
            <a:extLst>
              <a:ext uri="{FF2B5EF4-FFF2-40B4-BE49-F238E27FC236}">
                <a16:creationId xmlns:a16="http://schemas.microsoft.com/office/drawing/2014/main" id="{B863048D-4AB7-4E2B-D241-BC8CC79ADE40}"/>
              </a:ext>
            </a:extLst>
          </p:cNvPr>
          <p:cNvSpPr/>
          <p:nvPr/>
        </p:nvSpPr>
        <p:spPr>
          <a:xfrm>
            <a:off x="722544" y="5229479"/>
            <a:ext cx="2383535" cy="990600"/>
          </a:xfrm>
          <a:prstGeom prst="ellipse">
            <a:avLst/>
          </a:prstGeom>
          <a:noFill/>
          <a:ln w="952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C0504D"/>
              </a:solidFill>
              <a:effectLst/>
              <a:uLnTx/>
              <a:uFillTx/>
              <a:latin typeface="Calibri"/>
              <a:ea typeface="Calibri"/>
              <a:cs typeface="Calibri"/>
              <a:sym typeface="Calibri"/>
            </a:endParaRPr>
          </a:p>
        </p:txBody>
      </p:sp>
      <p:sp>
        <p:nvSpPr>
          <p:cNvPr id="13" name="Google Shape;641;p29">
            <a:extLst>
              <a:ext uri="{FF2B5EF4-FFF2-40B4-BE49-F238E27FC236}">
                <a16:creationId xmlns:a16="http://schemas.microsoft.com/office/drawing/2014/main" id="{8524D1DF-E66C-B777-93BF-C1CFD585D25A}"/>
              </a:ext>
            </a:extLst>
          </p:cNvPr>
          <p:cNvSpPr txBox="1"/>
          <p:nvPr/>
        </p:nvSpPr>
        <p:spPr>
          <a:xfrm>
            <a:off x="1365606" y="5540113"/>
            <a:ext cx="1390964"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800" b="0" i="0" u="none" strike="noStrike" kern="0" cap="none" spc="0" normalizeH="0" baseline="0" noProof="0" dirty="0">
                <a:ln>
                  <a:noFill/>
                </a:ln>
                <a:solidFill>
                  <a:srgbClr val="000000"/>
                </a:solidFill>
                <a:effectLst/>
                <a:uLnTx/>
                <a:uFillTx/>
                <a:latin typeface="Calibri"/>
                <a:ea typeface="Calibri"/>
                <a:cs typeface="Calibri"/>
                <a:sym typeface="Calibri"/>
              </a:rPr>
              <a:t>Modulaire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pic>
        <p:nvPicPr>
          <p:cNvPr id="2" name="Google Shape;319;g25b1bb62912_0_68" descr="Picture 2">
            <a:extLst>
              <a:ext uri="{FF2B5EF4-FFF2-40B4-BE49-F238E27FC236}">
                <a16:creationId xmlns:a16="http://schemas.microsoft.com/office/drawing/2014/main" id="{37634DBF-FA18-31FD-1B10-FE51F6A4601F}"/>
              </a:ext>
            </a:extLst>
          </p:cNvPr>
          <p:cNvPicPr preferRelativeResize="0"/>
          <p:nvPr/>
        </p:nvPicPr>
        <p:blipFill rotWithShape="1">
          <a:blip r:embed="rId3">
            <a:alphaModFix/>
          </a:blip>
          <a:srcRect/>
          <a:stretch/>
        </p:blipFill>
        <p:spPr>
          <a:xfrm>
            <a:off x="0" y="-28241"/>
            <a:ext cx="12652622" cy="6886241"/>
          </a:xfrm>
          <a:prstGeom prst="rect">
            <a:avLst/>
          </a:prstGeom>
          <a:noFill/>
          <a:ln>
            <a:noFill/>
          </a:ln>
        </p:spPr>
      </p:pic>
      <p:sp>
        <p:nvSpPr>
          <p:cNvPr id="648" name="Google Shape;648;p30"/>
          <p:cNvSpPr/>
          <p:nvPr/>
        </p:nvSpPr>
        <p:spPr>
          <a:xfrm>
            <a:off x="8230996" y="4319778"/>
            <a:ext cx="113030" cy="0"/>
          </a:xfrm>
          <a:custGeom>
            <a:avLst/>
            <a:gdLst/>
            <a:ahLst/>
            <a:cxnLst/>
            <a:rect l="l" t="t" r="r" b="b"/>
            <a:pathLst>
              <a:path w="113029" h="120000" extrusionOk="0">
                <a:moveTo>
                  <a:pt x="0" y="0"/>
                </a:moveTo>
                <a:lnTo>
                  <a:pt x="112775" y="0"/>
                </a:lnTo>
              </a:path>
            </a:pathLst>
          </a:custGeom>
          <a:noFill/>
          <a:ln w="45700" cap="flat" cmpd="sng">
            <a:solidFill>
              <a:srgbClr val="009999"/>
            </a:solidFill>
            <a:prstDash val="solid"/>
            <a:round/>
            <a:headEnd type="none" w="sm" len="sm"/>
            <a:tailEnd type="none" w="sm" len="sm"/>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649" name="Google Shape;649;p30"/>
          <p:cNvSpPr txBox="1"/>
          <p:nvPr/>
        </p:nvSpPr>
        <p:spPr>
          <a:xfrm>
            <a:off x="482520" y="1574335"/>
            <a:ext cx="11653035" cy="4693580"/>
          </a:xfrm>
          <a:prstGeom prst="rect">
            <a:avLst/>
          </a:prstGeom>
          <a:noFill/>
          <a:ln>
            <a:noFill/>
          </a:ln>
        </p:spPr>
        <p:txBody>
          <a:bodyPr spcFirstLastPara="1" wrap="square" lIns="0" tIns="113650" rIns="0" bIns="0" anchor="t" anchorCtr="0">
            <a:spAutoFit/>
          </a:bodyPr>
          <a:lstStyle/>
          <a:p>
            <a:pPr marL="12065" marR="0" lvl="0" algn="l" defTabSz="914400" rtl="0" eaLnBrk="1" fontAlgn="auto" latinLnBrk="0" hangingPunct="1">
              <a:lnSpc>
                <a:spcPct val="100000"/>
              </a:lnSpc>
              <a:spcBef>
                <a:spcPts val="0"/>
              </a:spcBef>
              <a:spcAft>
                <a:spcPts val="0"/>
              </a:spcAft>
              <a:buClr>
                <a:srgbClr val="000000"/>
              </a:buClr>
              <a:buSzPts val="2400"/>
              <a:tabLst/>
              <a:defRPr/>
            </a:pPr>
            <a:r>
              <a:rPr kumimoji="0" lang="fr-FR" sz="2400" b="0" i="0" u="sng" strike="noStrike" kern="0" cap="none" spc="0" normalizeH="0" baseline="0" noProof="0" dirty="0">
                <a:ln>
                  <a:noFill/>
                </a:ln>
                <a:solidFill>
                  <a:srgbClr val="0461C1"/>
                </a:solidFill>
                <a:effectLst/>
                <a:uLnTx/>
                <a:uFillTx/>
                <a:latin typeface="Arial"/>
                <a:ea typeface="Arial"/>
                <a:cs typeface="Arial"/>
                <a:sym typeface="Arial"/>
                <a:hlinkClick r:id="rId4">
                  <a:extLst>
                    <a:ext uri="{A12FA001-AC4F-418D-AE19-62706E023703}">
                      <ahyp:hlinkClr xmlns:ahyp="http://schemas.microsoft.com/office/drawing/2018/hyperlinkcolor" val="tx"/>
                    </a:ext>
                  </a:extLst>
                </a:hlinkClick>
              </a:rPr>
              <a:t>http://fr.wikipedia.org/wiki/Paradigme</a:t>
            </a:r>
            <a:endParaRPr kumimoji="0" lang="fr-FR" sz="2400" b="0" i="0" u="sng" strike="noStrike" kern="0" cap="none" spc="0" normalizeH="0" baseline="0" noProof="0" dirty="0">
              <a:ln>
                <a:noFill/>
              </a:ln>
              <a:solidFill>
                <a:srgbClr val="0461C1"/>
              </a:solidFill>
              <a:effectLst/>
              <a:uLnTx/>
              <a:uFillTx/>
              <a:latin typeface="Arial"/>
              <a:ea typeface="Arial"/>
              <a:cs typeface="Arial"/>
              <a:sym typeface="Arial"/>
            </a:endParaRPr>
          </a:p>
          <a:p>
            <a:pPr marL="12700" marR="0" lvl="0" indent="0" algn="l" rtl="0">
              <a:lnSpc>
                <a:spcPct val="100000"/>
              </a:lnSpc>
              <a:spcBef>
                <a:spcPts val="0"/>
              </a:spcBef>
              <a:spcAft>
                <a:spcPts val="0"/>
              </a:spcAft>
              <a:buNone/>
            </a:pPr>
            <a:r>
              <a:rPr lang="fr-FR" sz="2400" u="sng" dirty="0">
                <a:solidFill>
                  <a:schemeClr val="bg2"/>
                </a:solidFill>
              </a:rPr>
              <a:t>https://www.coursera.org/learn/service-oriented-architecture/</a:t>
            </a:r>
            <a:endParaRPr kumimoji="0" sz="2400" b="0" i="0" u="none" strike="noStrike" kern="0" cap="none" spc="0" normalizeH="0" baseline="0" noProof="0" dirty="0">
              <a:ln>
                <a:noFill/>
              </a:ln>
              <a:solidFill>
                <a:srgbClr val="000000"/>
              </a:solidFill>
              <a:effectLst/>
              <a:uLnTx/>
              <a:uFillTx/>
              <a:latin typeface="Arial"/>
              <a:ea typeface="Arial"/>
              <a:cs typeface="Arial"/>
              <a:sym typeface="Arial"/>
            </a:endParaRPr>
          </a:p>
          <a:p>
            <a:pPr marL="12065" marR="2108835" lvl="0" algn="l" defTabSz="914400" rtl="0" eaLnBrk="1" fontAlgn="auto" latinLnBrk="0" hangingPunct="1">
              <a:lnSpc>
                <a:spcPct val="100000"/>
              </a:lnSpc>
              <a:spcBef>
                <a:spcPts val="790"/>
              </a:spcBef>
              <a:spcAft>
                <a:spcPts val="0"/>
              </a:spcAft>
              <a:buClr>
                <a:srgbClr val="000000"/>
              </a:buClr>
              <a:buSzPts val="2400"/>
              <a:tabLst/>
              <a:defRPr/>
            </a:pPr>
            <a:r>
              <a:rPr kumimoji="0" lang="fr-FR" sz="2400" b="0" i="0" u="sng" strike="noStrike" kern="0" cap="none" spc="0" normalizeH="0" baseline="0" noProof="0" dirty="0">
                <a:ln>
                  <a:noFill/>
                </a:ln>
                <a:solidFill>
                  <a:srgbClr val="0461C1"/>
                </a:solidFill>
                <a:effectLst/>
                <a:uLnTx/>
                <a:uFillTx/>
                <a:latin typeface="Arial"/>
                <a:ea typeface="Arial"/>
                <a:cs typeface="Arial"/>
                <a:sym typeface="Arial"/>
                <a:hlinkClick r:id="rId5">
                  <a:extLst>
                    <a:ext uri="{A12FA001-AC4F-418D-AE19-62706E023703}">
                      <ahyp:hlinkClr xmlns:ahyp="http://schemas.microsoft.com/office/drawing/2018/hyperlinkcolor" val="tx"/>
                    </a:ext>
                  </a:extLst>
                </a:hlinkClick>
              </a:rPr>
              <a:t>http://design-patterns.fr/introduction-a-la-  programmation-</a:t>
            </a:r>
            <a:r>
              <a:rPr kumimoji="0" lang="fr-FR" sz="2400" b="0" i="0" u="sng" strike="noStrike" kern="0" cap="none" spc="0" normalizeH="0" baseline="0" noProof="0" dirty="0" err="1">
                <a:ln>
                  <a:noFill/>
                </a:ln>
                <a:solidFill>
                  <a:srgbClr val="0461C1"/>
                </a:solidFill>
                <a:effectLst/>
                <a:uLnTx/>
                <a:uFillTx/>
                <a:latin typeface="Arial"/>
                <a:ea typeface="Arial"/>
                <a:cs typeface="Arial"/>
                <a:sym typeface="Arial"/>
                <a:hlinkClick r:id="rId5">
                  <a:extLst>
                    <a:ext uri="{A12FA001-AC4F-418D-AE19-62706E023703}">
                      <ahyp:hlinkClr xmlns:ahyp="http://schemas.microsoft.com/office/drawing/2018/hyperlinkcolor" val="tx"/>
                    </a:ext>
                  </a:extLst>
                </a:hlinkClick>
              </a:rPr>
              <a:t>orientee</a:t>
            </a:r>
            <a:r>
              <a:rPr kumimoji="0" lang="fr-FR" sz="2400" b="0" i="0" u="sng" strike="noStrike" kern="0" cap="none" spc="0" normalizeH="0" baseline="0" noProof="0" dirty="0">
                <a:ln>
                  <a:noFill/>
                </a:ln>
                <a:solidFill>
                  <a:srgbClr val="0461C1"/>
                </a:solidFill>
                <a:effectLst/>
                <a:uLnTx/>
                <a:uFillTx/>
                <a:latin typeface="Arial"/>
                <a:ea typeface="Arial"/>
                <a:cs typeface="Arial"/>
                <a:sym typeface="Arial"/>
                <a:hlinkClick r:id="rId5">
                  <a:extLst>
                    <a:ext uri="{A12FA001-AC4F-418D-AE19-62706E023703}">
                      <ahyp:hlinkClr xmlns:ahyp="http://schemas.microsoft.com/office/drawing/2018/hyperlinkcolor" val="tx"/>
                    </a:ext>
                  </a:extLst>
                </a:hlinkClick>
              </a:rPr>
              <a:t>-objet</a:t>
            </a:r>
            <a:endParaRPr kumimoji="0" sz="2400" b="0" i="0" u="none" strike="noStrike" kern="0" cap="none" spc="0" normalizeH="0" baseline="0" noProof="0" dirty="0">
              <a:ln>
                <a:noFill/>
              </a:ln>
              <a:solidFill>
                <a:srgbClr val="000000"/>
              </a:solidFill>
              <a:effectLst/>
              <a:uLnTx/>
              <a:uFillTx/>
              <a:latin typeface="Arial"/>
              <a:ea typeface="Arial"/>
              <a:cs typeface="Arial"/>
              <a:sym typeface="Arial"/>
            </a:endParaRPr>
          </a:p>
          <a:p>
            <a:pPr marL="12065" marR="0" lvl="0" algn="l" defTabSz="914400" rtl="0" eaLnBrk="1" fontAlgn="auto" latinLnBrk="0" hangingPunct="1">
              <a:lnSpc>
                <a:spcPct val="100000"/>
              </a:lnSpc>
              <a:spcBef>
                <a:spcPts val="800"/>
              </a:spcBef>
              <a:spcAft>
                <a:spcPts val="0"/>
              </a:spcAft>
              <a:buClr>
                <a:srgbClr val="000000"/>
              </a:buClr>
              <a:buSzPts val="2400"/>
              <a:tabLst/>
              <a:defRPr/>
            </a:pPr>
            <a:r>
              <a:rPr kumimoji="0" lang="fr-FR" sz="2400" b="0" i="0" u="sng" strike="noStrike" kern="0" cap="none" spc="0" normalizeH="0" baseline="0" noProof="0" dirty="0">
                <a:ln>
                  <a:noFill/>
                </a:ln>
                <a:solidFill>
                  <a:srgbClr val="0461C1"/>
                </a:solidFill>
                <a:effectLst/>
                <a:uLnTx/>
                <a:uFillTx/>
                <a:latin typeface="Arial"/>
                <a:ea typeface="Arial"/>
                <a:cs typeface="Arial"/>
                <a:sym typeface="Arial"/>
                <a:hlinkClick r:id="rId6">
                  <a:extLst>
                    <a:ext uri="{A12FA001-AC4F-418D-AE19-62706E023703}">
                      <ahyp:hlinkClr xmlns:ahyp="http://schemas.microsoft.com/office/drawing/2018/hyperlinkcolor" val="tx"/>
                    </a:ext>
                  </a:extLst>
                </a:hlinkClick>
              </a:rPr>
              <a:t>http://fr.wikipedia.org/wiki/Middleware</a:t>
            </a:r>
            <a:endParaRPr kumimoji="0" sz="2400" b="0" i="0" u="none" strike="noStrike" kern="0" cap="none" spc="0" normalizeH="0" baseline="0" noProof="0" dirty="0">
              <a:ln>
                <a:noFill/>
              </a:ln>
              <a:solidFill>
                <a:srgbClr val="000000"/>
              </a:solidFill>
              <a:effectLst/>
              <a:uLnTx/>
              <a:uFillTx/>
              <a:latin typeface="Arial"/>
              <a:ea typeface="Arial"/>
              <a:cs typeface="Arial"/>
              <a:sym typeface="Arial"/>
            </a:endParaRPr>
          </a:p>
          <a:p>
            <a:pPr marL="12065" marR="5080" lvl="0" algn="l" defTabSz="914400" rtl="0" eaLnBrk="1" fontAlgn="auto" latinLnBrk="0" hangingPunct="1">
              <a:lnSpc>
                <a:spcPct val="100000"/>
              </a:lnSpc>
              <a:spcBef>
                <a:spcPts val="815"/>
              </a:spcBef>
              <a:spcAft>
                <a:spcPts val="0"/>
              </a:spcAft>
              <a:buClr>
                <a:srgbClr val="000000"/>
              </a:buClr>
              <a:buSzPts val="2400"/>
              <a:tabLst/>
              <a:defRPr/>
            </a:pPr>
            <a:r>
              <a:rPr kumimoji="0" lang="fr-FR" sz="2400" b="0" i="0" u="sng" strike="noStrike" kern="0" cap="none" spc="0" normalizeH="0" baseline="0" noProof="0" dirty="0">
                <a:ln>
                  <a:noFill/>
                </a:ln>
                <a:solidFill>
                  <a:srgbClr val="0461C1"/>
                </a:solidFill>
                <a:effectLst/>
                <a:uLnTx/>
                <a:uFillTx/>
                <a:latin typeface="Arial"/>
                <a:ea typeface="Arial"/>
                <a:cs typeface="Arial"/>
                <a:sym typeface="Arial"/>
                <a:hlinkClick r:id="rId7">
                  <a:extLst>
                    <a:ext uri="{A12FA001-AC4F-418D-AE19-62706E023703}">
                      <ahyp:hlinkClr xmlns:ahyp="http://schemas.microsoft.com/office/drawing/2018/hyperlinkcolor" val="tx"/>
                    </a:ext>
                  </a:extLst>
                </a:hlinkClick>
              </a:rPr>
              <a:t>http://blog.xebia.fr/2009/04/29/soa-du-</a:t>
            </a:r>
            <a:r>
              <a:rPr kumimoji="0" lang="fr-FR" sz="2400" b="0" i="0" u="sng" strike="noStrike" kern="0" cap="none" spc="0" normalizeH="0" baseline="0" noProof="0" dirty="0">
                <a:ln>
                  <a:noFill/>
                </a:ln>
                <a:solidFill>
                  <a:srgbClr val="0461C1"/>
                </a:solidFill>
                <a:effectLst/>
                <a:uLnTx/>
                <a:uFillTx/>
                <a:latin typeface="Arial"/>
                <a:ea typeface="Arial"/>
                <a:cs typeface="Arial"/>
                <a:sym typeface="Arial"/>
                <a:hlinkClick r:id="rId8">
                  <a:extLst>
                    <a:ext uri="{A12FA001-AC4F-418D-AE19-62706E023703}">
                      <ahyp:hlinkClr xmlns:ahyp="http://schemas.microsoft.com/office/drawing/2018/hyperlinkcolor" val="tx"/>
                    </a:ext>
                  </a:extLst>
                </a:hlinkClick>
              </a:rPr>
              <a:t>composant- </a:t>
            </a:r>
            <a:r>
              <a:rPr kumimoji="0" lang="fr-FR" sz="2400" b="0" i="0" u="none" strike="noStrike" kern="0" cap="none" spc="0" normalizeH="0" baseline="0" noProof="0" dirty="0">
                <a:ln>
                  <a:noFill/>
                </a:ln>
                <a:solidFill>
                  <a:srgbClr val="0461C1"/>
                </a:solidFill>
                <a:effectLst/>
                <a:uLnTx/>
                <a:uFillTx/>
                <a:latin typeface="Arial"/>
                <a:ea typeface="Arial"/>
                <a:cs typeface="Arial"/>
                <a:sym typeface="Arial"/>
              </a:rPr>
              <a:t> </a:t>
            </a:r>
            <a:r>
              <a:rPr kumimoji="0" lang="fr-FR" sz="2400" b="0" i="0" u="sng" strike="noStrike" kern="0" cap="none" spc="0" normalizeH="0" baseline="0" noProof="0" dirty="0">
                <a:ln>
                  <a:noFill/>
                </a:ln>
                <a:solidFill>
                  <a:srgbClr val="0461C1"/>
                </a:solidFill>
                <a:effectLst/>
                <a:uLnTx/>
                <a:uFillTx/>
                <a:latin typeface="Arial"/>
                <a:ea typeface="Arial"/>
                <a:cs typeface="Arial"/>
                <a:sym typeface="Arial"/>
                <a:hlinkClick r:id="rId8">
                  <a:extLst>
                    <a:ext uri="{A12FA001-AC4F-418D-AE19-62706E023703}">
                      <ahyp:hlinkClr xmlns:ahyp="http://schemas.microsoft.com/office/drawing/2018/hyperlinkcolor" val="tx"/>
                    </a:ext>
                  </a:extLst>
                </a:hlinkClick>
              </a:rPr>
              <a:t>au-service-</a:t>
            </a:r>
            <a:r>
              <a:rPr kumimoji="0" lang="fr-FR" sz="2400" b="0" i="0" u="sng" strike="noStrike" kern="0" cap="none" spc="0" normalizeH="0" baseline="0" noProof="0" dirty="0" err="1">
                <a:ln>
                  <a:noFill/>
                </a:ln>
                <a:solidFill>
                  <a:srgbClr val="0461C1"/>
                </a:solidFill>
                <a:effectLst/>
                <a:uLnTx/>
                <a:uFillTx/>
                <a:latin typeface="Arial"/>
                <a:ea typeface="Arial"/>
                <a:cs typeface="Arial"/>
                <a:sym typeface="Arial"/>
                <a:hlinkClick r:id="rId8">
                  <a:extLst>
                    <a:ext uri="{A12FA001-AC4F-418D-AE19-62706E023703}">
                      <ahyp:hlinkClr xmlns:ahyp="http://schemas.microsoft.com/office/drawing/2018/hyperlinkcolor" val="tx"/>
                    </a:ext>
                  </a:extLst>
                </a:hlinkClick>
              </a:rPr>
              <a:t>lautonomie</a:t>
            </a:r>
            <a:endParaRPr kumimoji="0" sz="2400" b="0" i="0" u="sng" strike="noStrike" kern="0" cap="none" spc="0" normalizeH="0" baseline="0" noProof="0" dirty="0">
              <a:ln>
                <a:noFill/>
              </a:ln>
              <a:solidFill>
                <a:srgbClr val="0461C1"/>
              </a:solidFill>
              <a:effectLst/>
              <a:uLnTx/>
              <a:uFillTx/>
              <a:latin typeface="Arial"/>
              <a:ea typeface="Arial"/>
              <a:cs typeface="Arial"/>
              <a:sym typeface="Arial"/>
            </a:endParaRPr>
          </a:p>
          <a:p>
            <a:pPr marL="12065" marR="5080" lvl="0" algn="l" defTabSz="914400" rtl="0" eaLnBrk="1" fontAlgn="auto" latinLnBrk="0" hangingPunct="1">
              <a:lnSpc>
                <a:spcPct val="100000"/>
              </a:lnSpc>
              <a:spcBef>
                <a:spcPts val="815"/>
              </a:spcBef>
              <a:spcAft>
                <a:spcPts val="0"/>
              </a:spcAft>
              <a:buClr>
                <a:srgbClr val="000000"/>
              </a:buClr>
              <a:buSzPts val="2400"/>
              <a:tabLst/>
              <a:defRPr/>
            </a:pPr>
            <a:r>
              <a:rPr kumimoji="0" lang="fr-FR" sz="2400" b="0" i="0" u="sng" strike="noStrike" kern="0" cap="none" spc="0" normalizeH="0" baseline="0" noProof="0" dirty="0">
                <a:ln>
                  <a:noFill/>
                </a:ln>
                <a:solidFill>
                  <a:srgbClr val="0461C1"/>
                </a:solidFill>
                <a:effectLst/>
                <a:uLnTx/>
                <a:uFillTx/>
                <a:latin typeface="Arial"/>
                <a:ea typeface="Arial"/>
                <a:cs typeface="Arial"/>
                <a:sym typeface="Arial"/>
                <a:hlinkClick r:id="rId9">
                  <a:extLst>
                    <a:ext uri="{A12FA001-AC4F-418D-AE19-62706E023703}">
                      <ahyp:hlinkClr xmlns:ahyp="http://schemas.microsoft.com/office/drawing/2018/hyperlinkcolor" val="tx"/>
                    </a:ext>
                  </a:extLst>
                </a:hlinkClick>
              </a:rPr>
              <a:t>https://www.ibisc.univ-evry.fr/~tmelliti/cours/CPAR/cours6.pdf</a:t>
            </a:r>
            <a:endParaRPr kumimoji="0" sz="2400" b="0" i="0" u="sng" strike="noStrike" kern="0" cap="none" spc="0" normalizeH="0" baseline="0" noProof="0" dirty="0">
              <a:ln>
                <a:noFill/>
              </a:ln>
              <a:solidFill>
                <a:srgbClr val="0461C1"/>
              </a:solidFill>
              <a:effectLst/>
              <a:uLnTx/>
              <a:uFillTx/>
              <a:latin typeface="Arial"/>
              <a:ea typeface="Arial"/>
              <a:cs typeface="Arial"/>
              <a:sym typeface="Arial"/>
            </a:endParaRPr>
          </a:p>
          <a:p>
            <a:pPr marL="12065" marR="5080">
              <a:spcBef>
                <a:spcPts val="815"/>
              </a:spcBef>
              <a:buSzPts val="2400"/>
            </a:pPr>
            <a:r>
              <a:rPr lang="fr-FR" sz="2400" u="sng" dirty="0">
                <a:solidFill>
                  <a:srgbClr val="0461C1"/>
                </a:solidFill>
                <a:hlinkClick r:id="rId10">
                  <a:extLst>
                    <a:ext uri="{A12FA001-AC4F-418D-AE19-62706E023703}">
                      <ahyp:hlinkClr xmlns:ahyp="http://schemas.microsoft.com/office/drawing/2018/hyperlinkcolor" val="tx"/>
                    </a:ext>
                  </a:extLst>
                </a:hlinkClick>
              </a:rPr>
              <a:t>http://adslbox.free.fr/rapports/rapport-gl-service-oriented-architecture.pdf</a:t>
            </a:r>
            <a:endParaRPr sz="2400" u="sng" dirty="0">
              <a:solidFill>
                <a:srgbClr val="0461C1"/>
              </a:solidFill>
            </a:endParaRPr>
          </a:p>
          <a:p>
            <a:pPr marL="12065" marR="5080">
              <a:spcBef>
                <a:spcPts val="815"/>
              </a:spcBef>
              <a:buSzPts val="2400"/>
            </a:pPr>
            <a:r>
              <a:rPr lang="fr-FR" sz="2400" u="sng" dirty="0">
                <a:solidFill>
                  <a:srgbClr val="0461C1"/>
                </a:solidFill>
                <a:hlinkClick r:id="rId11">
                  <a:extLst>
                    <a:ext uri="{A12FA001-AC4F-418D-AE19-62706E023703}">
                      <ahyp:hlinkClr xmlns:ahyp="http://schemas.microsoft.com/office/drawing/2018/hyperlinkcolor" val="tx"/>
                    </a:ext>
                  </a:extLst>
                </a:hlinkClick>
              </a:rPr>
              <a:t>http://deptinfo.unice.fr/~baude/WS/cours_SOA_AO+FB.pdf</a:t>
            </a:r>
            <a:r>
              <a:rPr lang="fr-FR" sz="2400" u="sng" dirty="0">
                <a:solidFill>
                  <a:srgbClr val="0461C1"/>
                </a:solidFill>
              </a:rPr>
              <a:t> </a:t>
            </a:r>
            <a:endParaRPr sz="2400" u="sng" dirty="0">
              <a:solidFill>
                <a:srgbClr val="0461C1"/>
              </a:solidFill>
            </a:endParaRPr>
          </a:p>
          <a:p>
            <a:pPr marL="356870" marR="5080" lvl="0" indent="-192405" algn="l" defTabSz="914400" rtl="0" eaLnBrk="1" fontAlgn="auto" latinLnBrk="0" hangingPunct="1">
              <a:lnSpc>
                <a:spcPct val="100000"/>
              </a:lnSpc>
              <a:spcBef>
                <a:spcPts val="815"/>
              </a:spcBef>
              <a:spcAft>
                <a:spcPts val="0"/>
              </a:spcAft>
              <a:buClr>
                <a:srgbClr val="000000"/>
              </a:buClr>
              <a:buSzPts val="2400"/>
              <a:buFont typeface="Calibri"/>
              <a:buNone/>
              <a:tabLst/>
              <a:defRPr/>
            </a:pPr>
            <a:endParaRPr kumimoji="0" sz="2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650" name="Google Shape;650;p30"/>
          <p:cNvSpPr txBox="1"/>
          <p:nvPr/>
        </p:nvSpPr>
        <p:spPr>
          <a:xfrm>
            <a:off x="11095735" y="6421323"/>
            <a:ext cx="177800" cy="208915"/>
          </a:xfrm>
          <a:prstGeom prst="rect">
            <a:avLst/>
          </a:prstGeom>
          <a:noFill/>
          <a:ln>
            <a:noFill/>
          </a:ln>
        </p:spPr>
        <p:txBody>
          <a:bodyPr spcFirstLastPara="1" wrap="square" lIns="0" tIns="12700" rIns="0" bIns="0" anchor="t" anchorCtr="0">
            <a:spAutoFit/>
          </a:bodyPr>
          <a:lstStyle/>
          <a:p>
            <a:pPr marL="1270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0" i="0" u="none" strike="noStrike" kern="0" cap="none" spc="0" normalizeH="0" baseline="0" noProof="0">
                <a:ln>
                  <a:noFill/>
                </a:ln>
                <a:solidFill>
                  <a:srgbClr val="878787"/>
                </a:solidFill>
                <a:effectLst/>
                <a:uLnTx/>
                <a:uFillTx/>
                <a:latin typeface="Trebuchet MS"/>
                <a:ea typeface="Trebuchet MS"/>
                <a:cs typeface="Trebuchet MS"/>
                <a:sym typeface="Trebuchet MS"/>
              </a:rPr>
              <a:t>25</a:t>
            </a:r>
            <a:endParaRPr kumimoji="0" sz="1200" b="0" i="0" u="none" strike="noStrike" kern="0" cap="none" spc="0" normalizeH="0" baseline="0" noProof="0">
              <a:ln>
                <a:noFill/>
              </a:ln>
              <a:solidFill>
                <a:srgbClr val="000000"/>
              </a:solidFill>
              <a:effectLst/>
              <a:uLnTx/>
              <a:uFillTx/>
              <a:latin typeface="Trebuchet MS"/>
              <a:ea typeface="Trebuchet MS"/>
              <a:cs typeface="Trebuchet MS"/>
              <a:sym typeface="Trebuchet MS"/>
            </a:endParaRPr>
          </a:p>
        </p:txBody>
      </p:sp>
      <p:pic>
        <p:nvPicPr>
          <p:cNvPr id="3" name="Google Shape;320;g25b1bb62912_0_68" descr="Image 10">
            <a:extLst>
              <a:ext uri="{FF2B5EF4-FFF2-40B4-BE49-F238E27FC236}">
                <a16:creationId xmlns:a16="http://schemas.microsoft.com/office/drawing/2014/main" id="{0B673DFC-746D-4CF1-316C-4B5590DF8C3B}"/>
              </a:ext>
            </a:extLst>
          </p:cNvPr>
          <p:cNvPicPr preferRelativeResize="0"/>
          <p:nvPr/>
        </p:nvPicPr>
        <p:blipFill rotWithShape="1">
          <a:blip r:embed="rId12">
            <a:alphaModFix/>
          </a:blip>
          <a:srcRect/>
          <a:stretch/>
        </p:blipFill>
        <p:spPr>
          <a:xfrm>
            <a:off x="831813" y="590085"/>
            <a:ext cx="585321" cy="579782"/>
          </a:xfrm>
          <a:prstGeom prst="rect">
            <a:avLst/>
          </a:prstGeom>
          <a:noFill/>
          <a:ln>
            <a:noFill/>
          </a:ln>
        </p:spPr>
      </p:pic>
      <p:pic>
        <p:nvPicPr>
          <p:cNvPr id="4" name="Google Shape;320;g25b1bb62912_0_68" descr="Image 10">
            <a:extLst>
              <a:ext uri="{FF2B5EF4-FFF2-40B4-BE49-F238E27FC236}">
                <a16:creationId xmlns:a16="http://schemas.microsoft.com/office/drawing/2014/main" id="{50891EEE-D7C5-E9F2-0DA8-BC81308430FF}"/>
              </a:ext>
            </a:extLst>
          </p:cNvPr>
          <p:cNvPicPr preferRelativeResize="0"/>
          <p:nvPr/>
        </p:nvPicPr>
        <p:blipFill rotWithShape="1">
          <a:blip r:embed="rId12">
            <a:alphaModFix/>
          </a:blip>
          <a:srcRect/>
          <a:stretch/>
        </p:blipFill>
        <p:spPr>
          <a:xfrm>
            <a:off x="831813" y="590085"/>
            <a:ext cx="585321" cy="579782"/>
          </a:xfrm>
          <a:prstGeom prst="rect">
            <a:avLst/>
          </a:prstGeom>
          <a:noFill/>
          <a:ln>
            <a:noFill/>
          </a:ln>
        </p:spPr>
      </p:pic>
      <p:sp>
        <p:nvSpPr>
          <p:cNvPr id="5" name="Google Shape;324;g25b1bb62912_0_68">
            <a:extLst>
              <a:ext uri="{FF2B5EF4-FFF2-40B4-BE49-F238E27FC236}">
                <a16:creationId xmlns:a16="http://schemas.microsoft.com/office/drawing/2014/main" id="{129A0894-6820-6E00-3CE6-941F84367523}"/>
              </a:ext>
            </a:extLst>
          </p:cNvPr>
          <p:cNvSpPr txBox="1"/>
          <p:nvPr/>
        </p:nvSpPr>
        <p:spPr>
          <a:xfrm>
            <a:off x="1417134" y="536519"/>
            <a:ext cx="7212000" cy="63334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a:lnSpc>
                <a:spcPct val="107916"/>
              </a:lnSpc>
              <a:buSzPts val="1800"/>
              <a:buNone/>
              <a:defRPr sz="2700" b="1">
                <a:solidFill>
                  <a:schemeClr val="dk1"/>
                </a:solidFill>
                <a:latin typeface="Times New Roman"/>
                <a:ea typeface="Calibri"/>
                <a:cs typeface="Times New Roman"/>
              </a:defRPr>
            </a:lvl1pPr>
            <a:lvl2pPr>
              <a:lnSpc>
                <a:spcPct val="90000"/>
              </a:lnSpc>
              <a:buSzPts val="1800"/>
              <a:buFont typeface="Calibri"/>
              <a:buNone/>
              <a:defRPr sz="4400">
                <a:latin typeface="Calibri"/>
                <a:ea typeface="Calibri"/>
                <a:cs typeface="Calibri"/>
              </a:defRPr>
            </a:lvl2pPr>
            <a:lvl3pPr>
              <a:lnSpc>
                <a:spcPct val="90000"/>
              </a:lnSpc>
              <a:buSzPts val="1800"/>
              <a:buFont typeface="Calibri"/>
              <a:buNone/>
              <a:defRPr sz="4400">
                <a:latin typeface="Calibri"/>
                <a:ea typeface="Calibri"/>
                <a:cs typeface="Calibri"/>
              </a:defRPr>
            </a:lvl3pPr>
            <a:lvl4pPr>
              <a:lnSpc>
                <a:spcPct val="90000"/>
              </a:lnSpc>
              <a:buSzPts val="1800"/>
              <a:buFont typeface="Calibri"/>
              <a:buNone/>
              <a:defRPr sz="4400">
                <a:latin typeface="Calibri"/>
                <a:ea typeface="Calibri"/>
                <a:cs typeface="Calibri"/>
              </a:defRPr>
            </a:lvl4pPr>
            <a:lvl5pPr>
              <a:lnSpc>
                <a:spcPct val="90000"/>
              </a:lnSpc>
              <a:buSzPts val="1800"/>
              <a:buFont typeface="Calibri"/>
              <a:buNone/>
              <a:defRPr sz="4400">
                <a:latin typeface="Calibri"/>
                <a:ea typeface="Calibri"/>
                <a:cs typeface="Calibri"/>
              </a:defRPr>
            </a:lvl5pPr>
            <a:lvl6pPr>
              <a:lnSpc>
                <a:spcPct val="90000"/>
              </a:lnSpc>
              <a:buSzPts val="1800"/>
              <a:buFont typeface="Calibri"/>
              <a:buNone/>
              <a:defRPr sz="4400">
                <a:latin typeface="Calibri"/>
                <a:ea typeface="Calibri"/>
                <a:cs typeface="Calibri"/>
              </a:defRPr>
            </a:lvl6pPr>
            <a:lvl7pPr>
              <a:lnSpc>
                <a:spcPct val="90000"/>
              </a:lnSpc>
              <a:buSzPts val="1800"/>
              <a:buFont typeface="Calibri"/>
              <a:buNone/>
              <a:defRPr sz="4400">
                <a:latin typeface="Calibri"/>
                <a:ea typeface="Calibri"/>
                <a:cs typeface="Calibri"/>
              </a:defRPr>
            </a:lvl7pPr>
            <a:lvl8pPr>
              <a:lnSpc>
                <a:spcPct val="90000"/>
              </a:lnSpc>
              <a:buSzPts val="1800"/>
              <a:buFont typeface="Calibri"/>
              <a:buNone/>
              <a:defRPr sz="4400">
                <a:latin typeface="Calibri"/>
                <a:ea typeface="Calibri"/>
                <a:cs typeface="Calibri"/>
              </a:defRPr>
            </a:lvl8pPr>
            <a:lvl9pPr>
              <a:lnSpc>
                <a:spcPct val="90000"/>
              </a:lnSpc>
              <a:buSzPts val="1800"/>
              <a:buFont typeface="Calibri"/>
              <a:buNone/>
              <a:defRPr sz="4400">
                <a:latin typeface="Calibri"/>
                <a:ea typeface="Calibri"/>
                <a:cs typeface="Calibri"/>
              </a:defRPr>
            </a:lvl9pPr>
          </a:lstStyle>
          <a:p>
            <a:r>
              <a:rPr lang="fr-FR" dirty="0">
                <a:sym typeface="Times New Roman"/>
              </a:rPr>
              <a:t>Références </a:t>
            </a:r>
            <a:endParaRPr dirty="0">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1C1"/>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1572</TotalTime>
  <Words>2526</Words>
  <Application>Microsoft Macintosh PowerPoint</Application>
  <PresentationFormat>Widescreen</PresentationFormat>
  <Paragraphs>379</Paragraphs>
  <Slides>36</Slides>
  <Notes>35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36</vt:i4>
      </vt:variant>
    </vt:vector>
  </HeadingPairs>
  <TitlesOfParts>
    <vt:vector size="47" baseType="lpstr">
      <vt:lpstr>Wingdings</vt:lpstr>
      <vt:lpstr>Noto Sans Symbols</vt:lpstr>
      <vt:lpstr>Verdana</vt:lpstr>
      <vt:lpstr>Roboto</vt:lpstr>
      <vt:lpstr>Arial</vt:lpstr>
      <vt:lpstr>Times New Roman</vt:lpstr>
      <vt:lpstr>Trebuchet MS</vt:lpstr>
      <vt:lpstr>Calibri</vt:lpstr>
      <vt:lpstr>OpenSansRegular</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 terme Service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Couplage lâche</vt:lpstr>
      <vt:lpstr>PowerPoint Presentation</vt:lpstr>
      <vt:lpstr>Composable </vt:lpstr>
      <vt:lpstr>PowerPoint Presentation</vt:lpstr>
      <vt:lpstr>Intégration vs Interopérabilité – </vt:lpstr>
      <vt:lpstr>Intégration vs Interopérabilité –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bettaieb lamjed</dc:creator>
  <cp:lastModifiedBy>oumeima ibn elfekih</cp:lastModifiedBy>
  <cp:revision>18</cp:revision>
  <dcterms:created xsi:type="dcterms:W3CDTF">2019-12-23T07:08:45Z</dcterms:created>
  <dcterms:modified xsi:type="dcterms:W3CDTF">2023-09-11T11:36:29Z</dcterms:modified>
</cp:coreProperties>
</file>