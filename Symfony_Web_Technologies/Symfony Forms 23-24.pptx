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iMFLMtfcWrNnxibLz+iJOf+t+A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594" y="269"/>
      </p:cViewPr>
      <p:guideLst>
        <p:guide orient="horz"/>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8511dbc5a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g28511dbc5a1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0" y="-302578"/>
            <a:ext cx="91440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dirty="0"/>
          </a:p>
        </p:txBody>
      </p:sp>
      <p:sp>
        <p:nvSpPr>
          <p:cNvPr id="23" name="Google Shape;23;p2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dirty="0"/>
          </a:p>
        </p:txBody>
      </p:sp>
      <p:sp>
        <p:nvSpPr>
          <p:cNvPr id="10" name="Google Shape;14;p18"/>
          <p:cNvSpPr txBox="1">
            <a:spLocks/>
          </p:cNvSpPr>
          <p:nvPr userDrawn="1"/>
        </p:nvSpPr>
        <p:spPr>
          <a:xfrm>
            <a:off x="7010400" y="6350317"/>
            <a:ext cx="21336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fld id="{00000000-1234-1234-1234-123412341234}" type="slidenum">
              <a:rPr lang="fr-FR" smtClean="0"/>
              <a:pPr/>
              <a:t>‹#›</a:t>
            </a:fld>
            <a:endParaRPr lang="fr-FR" sz="1400">
              <a:solidFill>
                <a:srgbClr val="000000"/>
              </a:solidFill>
              <a:latin typeface="Arial"/>
              <a:ea typeface="Arial"/>
              <a:cs typeface="Arial"/>
              <a:sym typeface="Arial"/>
            </a:endParaRPr>
          </a:p>
        </p:txBody>
      </p:sp>
      <p:pic>
        <p:nvPicPr>
          <p:cNvPr id="11" name="Google Shape;106;p2" descr="D:\esprit 2014\ESPRIT 2014\charte essprit 2014\render\support final\triangle.png"/>
          <p:cNvPicPr preferRelativeResize="0"/>
          <p:nvPr userDrawn="1"/>
        </p:nvPicPr>
        <p:blipFill rotWithShape="1">
          <a:blip r:embed="rId2">
            <a:alphaModFix/>
          </a:blip>
          <a:srcRect/>
          <a:stretch/>
        </p:blipFill>
        <p:spPr>
          <a:xfrm>
            <a:off x="7143751" y="0"/>
            <a:ext cx="2000249" cy="1377950"/>
          </a:xfrm>
          <a:prstGeom prst="rect">
            <a:avLst/>
          </a:prstGeom>
          <a:noFill/>
          <a:ln>
            <a:noFill/>
          </a:ln>
        </p:spPr>
      </p:pic>
      <p:pic>
        <p:nvPicPr>
          <p:cNvPr id="12" name="Google Shape;110;p2"/>
          <p:cNvPicPr preferRelativeResize="0"/>
          <p:nvPr userDrawn="1"/>
        </p:nvPicPr>
        <p:blipFill rotWithShape="1">
          <a:blip r:embed="rId3">
            <a:clrChange>
              <a:clrFrom>
                <a:srgbClr val="FFFFFF"/>
              </a:clrFrom>
              <a:clrTo>
                <a:srgbClr val="FFFFFF">
                  <a:alpha val="0"/>
                </a:srgbClr>
              </a:clrTo>
            </a:clrChange>
            <a:alphaModFix/>
          </a:blip>
          <a:srcRect/>
          <a:stretch/>
        </p:blipFill>
        <p:spPr>
          <a:xfrm>
            <a:off x="0" y="6337300"/>
            <a:ext cx="1085850" cy="3905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 name="Google Shape;30;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6" name="Google Shape;36;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39"/>
        <p:cNvGrpSpPr/>
        <p:nvPr/>
      </p:nvGrpSpPr>
      <p:grpSpPr>
        <a:xfrm>
          <a:off x="0" y="0"/>
          <a:ext cx="0" cy="0"/>
          <a:chOff x="0" y="0"/>
          <a:chExt cx="0" cy="0"/>
        </a:xfrm>
      </p:grpSpPr>
      <p:sp>
        <p:nvSpPr>
          <p:cNvPr id="40" name="Google Shape;40;p2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 name="Google Shape;41;p23"/>
          <p:cNvSpPr>
            <a:spLocks noGrp="1"/>
          </p:cNvSpPr>
          <p:nvPr>
            <p:ph type="pic" idx="2"/>
          </p:nvPr>
        </p:nvSpPr>
        <p:spPr>
          <a:xfrm>
            <a:off x="1792288" y="612775"/>
            <a:ext cx="5486400" cy="4114800"/>
          </a:xfrm>
          <a:prstGeom prst="rect">
            <a:avLst/>
          </a:prstGeom>
          <a:noFill/>
          <a:ln>
            <a:noFill/>
          </a:ln>
        </p:spPr>
      </p:sp>
      <p:sp>
        <p:nvSpPr>
          <p:cNvPr id="42" name="Google Shape;42;p2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3" name="Google Shape;43;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46"/>
        <p:cNvGrpSpPr/>
        <p:nvPr/>
      </p:nvGrpSpPr>
      <p:grpSpPr>
        <a:xfrm>
          <a:off x="0" y="0"/>
          <a:ext cx="0" cy="0"/>
          <a:chOff x="0" y="0"/>
          <a:chExt cx="0" cy="0"/>
        </a:xfrm>
      </p:grpSpPr>
      <p:sp>
        <p:nvSpPr>
          <p:cNvPr id="47" name="Google Shape;47;p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 name="Google Shape;48;p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49" name="Google Shape;49;p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0" name="Google Shape;50;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3"/>
        <p:cNvGrpSpPr/>
        <p:nvPr/>
      </p:nvGrpSpPr>
      <p:grpSpPr>
        <a:xfrm>
          <a:off x="0" y="0"/>
          <a:ext cx="0" cy="0"/>
          <a:chOff x="0" y="0"/>
          <a:chExt cx="0" cy="0"/>
        </a:xfrm>
      </p:grpSpPr>
      <p:sp>
        <p:nvSpPr>
          <p:cNvPr id="54" name="Google Shape;54;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57"/>
        <p:cNvGrpSpPr/>
        <p:nvPr/>
      </p:nvGrpSpPr>
      <p:grpSpPr>
        <a:xfrm>
          <a:off x="0" y="0"/>
          <a:ext cx="0" cy="0"/>
          <a:chOff x="0" y="0"/>
          <a:chExt cx="0" cy="0"/>
        </a:xfrm>
      </p:grpSpPr>
      <p:sp>
        <p:nvSpPr>
          <p:cNvPr id="58" name="Google Shape;58;p2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4" name="Google Shape;64;p2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65" name="Google Shape;65;p2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66" name="Google Shape;66;p2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67" name="Google Shape;67;p2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68" name="Google Shape;68;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71"/>
        <p:cNvGrpSpPr/>
        <p:nvPr/>
      </p:nvGrpSpPr>
      <p:grpSpPr>
        <a:xfrm>
          <a:off x="0" y="0"/>
          <a:ext cx="0" cy="0"/>
          <a:chOff x="0" y="0"/>
          <a:chExt cx="0" cy="0"/>
        </a:xfrm>
      </p:grpSpPr>
      <p:sp>
        <p:nvSpPr>
          <p:cNvPr id="72" name="Google Shape;72;p2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3" name="Google Shape;73;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74" name="Google Shape;74;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75" name="Google Shape;75;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2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81" name="Google Shape;8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7" name="Google Shape;90;p1"/>
          <p:cNvPicPr preferRelativeResize="0"/>
          <p:nvPr userDrawn="1"/>
        </p:nvPicPr>
        <p:blipFill rotWithShape="1">
          <a:blip r:embed="rId13">
            <a:alphaModFix/>
          </a:blip>
          <a:srcRect/>
          <a:stretch/>
        </p:blipFill>
        <p:spPr>
          <a:xfrm>
            <a:off x="0" y="1"/>
            <a:ext cx="9144001" cy="6858000"/>
          </a:xfrm>
          <a:prstGeom prst="rect">
            <a:avLst/>
          </a:prstGeom>
          <a:noFill/>
          <a:ln>
            <a:noFill/>
          </a:ln>
        </p:spPr>
      </p:pic>
      <p:sp>
        <p:nvSpPr>
          <p:cNvPr id="10" name="Google Shape;10;p18"/>
          <p:cNvSpPr txBox="1">
            <a:spLocks noGrp="1"/>
          </p:cNvSpPr>
          <p:nvPr>
            <p:ph type="title"/>
          </p:nvPr>
        </p:nvSpPr>
        <p:spPr>
          <a:xfrm>
            <a:off x="0" y="-271145"/>
            <a:ext cx="91440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pPr marL="0" marR="0" lvl="0" indent="0" algn="ctr" rtl="0">
              <a:lnSpc>
                <a:spcPct val="100000"/>
              </a:lnSpc>
              <a:spcBef>
                <a:spcPts val="0"/>
              </a:spcBef>
              <a:spcAft>
                <a:spcPts val="0"/>
              </a:spcAft>
              <a:buClr>
                <a:schemeClr val="dk1"/>
              </a:buClr>
              <a:buSzPts val="4400"/>
              <a:buFont typeface="Calibri"/>
              <a:buNone/>
            </a:pPr>
            <a:endParaRPr dirty="0"/>
          </a:p>
        </p:txBody>
      </p:sp>
      <p:sp>
        <p:nvSpPr>
          <p:cNvPr id="11" name="Google Shape;11;p1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lang="fr-FR" sz="4400" b="1" i="0" u="none" strike="noStrike" cap="none" dirty="0">
          <a:solidFill>
            <a:schemeClr val="dk1"/>
          </a:solidFill>
          <a:latin typeface="Calibri"/>
          <a:ea typeface="Calibri"/>
          <a:cs typeface="Calibri"/>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symfony.com/doc/current/form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91" name="Google Shape;91;p1"/>
          <p:cNvSpPr txBox="1"/>
          <p:nvPr/>
        </p:nvSpPr>
        <p:spPr>
          <a:xfrm>
            <a:off x="-106350" y="3683913"/>
            <a:ext cx="9280500" cy="1030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4700"/>
              <a:buFont typeface="Calibri"/>
              <a:buNone/>
            </a:pPr>
            <a:r>
              <a:rPr lang="fr-FR" sz="4700" b="1" i="0" u="none" strike="noStrike" cap="none">
                <a:solidFill>
                  <a:srgbClr val="C00000"/>
                </a:solidFill>
                <a:latin typeface="Calibri"/>
                <a:ea typeface="Calibri"/>
                <a:cs typeface="Calibri"/>
                <a:sym typeface="Calibri"/>
              </a:rPr>
              <a:t>UP Web </a:t>
            </a:r>
            <a:endParaRPr sz="1400" b="0" i="0" u="none" strike="noStrike" cap="none">
              <a:solidFill>
                <a:srgbClr val="000000"/>
              </a:solidFill>
              <a:latin typeface="Arial"/>
              <a:ea typeface="Arial"/>
              <a:cs typeface="Arial"/>
              <a:sym typeface="Arial"/>
            </a:endParaRPr>
          </a:p>
        </p:txBody>
      </p:sp>
      <p:sp>
        <p:nvSpPr>
          <p:cNvPr id="92" name="Google Shape;92;p1"/>
          <p:cNvSpPr txBox="1"/>
          <p:nvPr/>
        </p:nvSpPr>
        <p:spPr>
          <a:xfrm>
            <a:off x="1112825" y="2065274"/>
            <a:ext cx="6781800" cy="1200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fr-FR" sz="3600" b="0" i="0" u="none" strike="noStrike" cap="none">
                <a:solidFill>
                  <a:srgbClr val="000000"/>
                </a:solidFill>
                <a:latin typeface="Arial"/>
                <a:ea typeface="Arial"/>
                <a:cs typeface="Arial"/>
                <a:sym typeface="Arial"/>
              </a:rPr>
              <a:t> </a:t>
            </a:r>
            <a:r>
              <a:rPr lang="fr-FR" sz="3600" b="1" i="0" u="none" strike="noStrike" cap="none">
                <a:solidFill>
                  <a:srgbClr val="000000"/>
                </a:solidFill>
                <a:latin typeface="Arial"/>
                <a:ea typeface="Arial"/>
                <a:cs typeface="Arial"/>
                <a:sym typeface="Arial"/>
              </a:rPr>
              <a:t>Les Formulaires dans Symfony </a:t>
            </a:r>
            <a:endParaRPr/>
          </a:p>
          <a:p>
            <a:pPr marL="0" marR="0" lvl="0" indent="0" algn="ctr" rtl="0">
              <a:lnSpc>
                <a:spcPct val="100000"/>
              </a:lnSpc>
              <a:spcBef>
                <a:spcPts val="0"/>
              </a:spcBef>
              <a:spcAft>
                <a:spcPts val="0"/>
              </a:spcAft>
              <a:buNone/>
            </a:pPr>
            <a:r>
              <a:rPr lang="fr-FR" sz="3600" b="1" i="0" u="none" strike="noStrike" cap="none">
                <a:solidFill>
                  <a:srgbClr val="000000"/>
                </a:solidFill>
                <a:latin typeface="Arial"/>
                <a:ea typeface="Arial"/>
                <a:cs typeface="Arial"/>
                <a:sym typeface="Arial"/>
              </a:rPr>
              <a:t>(Symfony forms) </a:t>
            </a:r>
            <a:endParaRPr sz="3600" b="1" i="0" u="none" strike="noStrike" cap="none">
              <a:solidFill>
                <a:schemeClr val="dk1"/>
              </a:solidFill>
              <a:latin typeface="Arial"/>
              <a:ea typeface="Arial"/>
              <a:cs typeface="Arial"/>
              <a:sym typeface="Arial"/>
            </a:endParaRPr>
          </a:p>
        </p:txBody>
      </p:sp>
      <p:sp>
        <p:nvSpPr>
          <p:cNvPr id="94" name="Google Shape;94;p1"/>
          <p:cNvSpPr txBox="1"/>
          <p:nvPr/>
        </p:nvSpPr>
        <p:spPr>
          <a:xfrm>
            <a:off x="1143000" y="5105400"/>
            <a:ext cx="6781800" cy="369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alibri"/>
              <a:buNone/>
            </a:pPr>
            <a:r>
              <a:rPr lang="fr-FR" sz="1800" b="1" i="0" u="none" strike="noStrike" cap="none">
                <a:solidFill>
                  <a:schemeClr val="dk1"/>
                </a:solidFill>
                <a:latin typeface="Calibri"/>
                <a:ea typeface="Calibri"/>
                <a:cs typeface="Calibri"/>
                <a:sym typeface="Calibri"/>
              </a:rPr>
              <a:t>AU: 2023/2024</a:t>
            </a:r>
            <a:endParaRPr sz="1400" b="0" i="0" u="none" strike="noStrike" cap="none">
              <a:solidFill>
                <a:srgbClr val="000000"/>
              </a:solidFill>
              <a:latin typeface="Arial"/>
              <a:ea typeface="Arial"/>
              <a:cs typeface="Arial"/>
              <a:sym typeface="Arial"/>
            </a:endParaRPr>
          </a:p>
        </p:txBody>
      </p:sp>
      <p:sp>
        <p:nvSpPr>
          <p:cNvPr id="95" name="Google Shape;95;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a:t>
            </a:fld>
            <a:endParaRPr/>
          </a:p>
        </p:txBody>
      </p:sp>
      <p:pic>
        <p:nvPicPr>
          <p:cNvPr id="96" name="Google Shape;96;p1"/>
          <p:cNvPicPr preferRelativeResize="0"/>
          <p:nvPr/>
        </p:nvPicPr>
        <p:blipFill rotWithShape="1">
          <a:blip r:embed="rId3">
            <a:clrChange>
              <a:clrFrom>
                <a:srgbClr val="FFFFFF"/>
              </a:clrFrom>
              <a:clrTo>
                <a:srgbClr val="FFFFFF">
                  <a:alpha val="0"/>
                </a:srgbClr>
              </a:clrTo>
            </a:clrChange>
            <a:alphaModFix/>
          </a:blip>
          <a:srcRect/>
          <a:stretch/>
        </p:blipFill>
        <p:spPr>
          <a:xfrm>
            <a:off x="-355600" y="0"/>
            <a:ext cx="3543825" cy="1286125"/>
          </a:xfrm>
          <a:prstGeom prst="rect">
            <a:avLst/>
          </a:prstGeom>
          <a:noFill/>
          <a:ln>
            <a:noFill/>
          </a:ln>
        </p:spPr>
      </p:pic>
      <p:pic>
        <p:nvPicPr>
          <p:cNvPr id="97" name="Google Shape;97;p1"/>
          <p:cNvPicPr preferRelativeResize="0"/>
          <p:nvPr/>
        </p:nvPicPr>
        <p:blipFill rotWithShape="1">
          <a:blip r:embed="rId4">
            <a:clrChange>
              <a:clrFrom>
                <a:srgbClr val="FFFFFF"/>
              </a:clrFrom>
              <a:clrTo>
                <a:srgbClr val="FFFFFF">
                  <a:alpha val="0"/>
                </a:srgbClr>
              </a:clrTo>
            </a:clrChange>
            <a:alphaModFix/>
          </a:blip>
          <a:srcRect/>
          <a:stretch/>
        </p:blipFill>
        <p:spPr>
          <a:xfrm>
            <a:off x="0" y="5924550"/>
            <a:ext cx="9174150" cy="933450"/>
          </a:xfrm>
          <a:prstGeom prst="rect">
            <a:avLst/>
          </a:prstGeom>
          <a:noFill/>
          <a:ln>
            <a:noFill/>
          </a:ln>
        </p:spPr>
      </p:pic>
      <p:pic>
        <p:nvPicPr>
          <p:cNvPr id="12" name="Google Shape;93;p13" descr="D:\esprit 2014\ESPRIT 2014\charte essprit 2014\render\support final\triangle.png"/>
          <p:cNvPicPr preferRelativeResize="0"/>
          <p:nvPr/>
        </p:nvPicPr>
        <p:blipFill rotWithShape="1">
          <a:blip r:embed="rId5">
            <a:alphaModFix/>
          </a:blip>
          <a:srcRect/>
          <a:stretch/>
        </p:blipFill>
        <p:spPr>
          <a:xfrm>
            <a:off x="5661119" y="-37446"/>
            <a:ext cx="3472143" cy="220531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4" name="Google Shape;104;p2"/>
          <p:cNvSpPr txBox="1"/>
          <p:nvPr/>
        </p:nvSpPr>
        <p:spPr>
          <a:xfrm>
            <a:off x="-1331912" y="-184150"/>
            <a:ext cx="7886700"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 name="Google Shape;107;p2"/>
          <p:cNvSpPr txBox="1">
            <a:spLocks noGrp="1"/>
          </p:cNvSpPr>
          <p:nvPr>
            <p:ph type="body" idx="1"/>
          </p:nvPr>
        </p:nvSpPr>
        <p:spPr>
          <a:xfrm>
            <a:off x="457200" y="1600200"/>
            <a:ext cx="8229600" cy="49596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000000"/>
              </a:buClr>
              <a:buSzPts val="2800"/>
              <a:buAutoNum type="arabicPeriod"/>
            </a:pPr>
            <a:r>
              <a:rPr lang="fr-FR" sz="2400">
                <a:solidFill>
                  <a:srgbClr val="000000"/>
                </a:solidFill>
              </a:rPr>
              <a:t> Introduction</a:t>
            </a:r>
            <a:endParaRPr sz="2400">
              <a:solidFill>
                <a:srgbClr val="000000"/>
              </a:solidFill>
            </a:endParaRPr>
          </a:p>
          <a:p>
            <a:pPr marL="457200" lvl="0" indent="-406400" algn="l" rtl="0">
              <a:lnSpc>
                <a:spcPct val="150000"/>
              </a:lnSpc>
              <a:spcBef>
                <a:spcPts val="0"/>
              </a:spcBef>
              <a:spcAft>
                <a:spcPts val="0"/>
              </a:spcAft>
              <a:buClr>
                <a:srgbClr val="000000"/>
              </a:buClr>
              <a:buSzPts val="2800"/>
              <a:buAutoNum type="arabicPeriod"/>
            </a:pPr>
            <a:r>
              <a:rPr lang="fr-FR" sz="2400">
                <a:solidFill>
                  <a:srgbClr val="000000"/>
                </a:solidFill>
              </a:rPr>
              <a:t>Création d'un formulaire</a:t>
            </a:r>
            <a:endParaRPr sz="2400">
              <a:solidFill>
                <a:srgbClr val="000000"/>
              </a:solidFill>
            </a:endParaRPr>
          </a:p>
          <a:p>
            <a:pPr marL="457200" lvl="0" indent="-406400" algn="l" rtl="0">
              <a:lnSpc>
                <a:spcPct val="150000"/>
              </a:lnSpc>
              <a:spcBef>
                <a:spcPts val="0"/>
              </a:spcBef>
              <a:spcAft>
                <a:spcPts val="0"/>
              </a:spcAft>
              <a:buClr>
                <a:srgbClr val="000000"/>
              </a:buClr>
              <a:buSzPts val="2800"/>
              <a:buAutoNum type="arabicPeriod"/>
            </a:pPr>
            <a:r>
              <a:rPr lang="fr-FR" sz="2400">
                <a:solidFill>
                  <a:srgbClr val="000000"/>
                </a:solidFill>
              </a:rPr>
              <a:t>Types de champs</a:t>
            </a:r>
            <a:endParaRPr/>
          </a:p>
          <a:p>
            <a:pPr marL="0" marR="0" lvl="0" indent="0" algn="l" rtl="0">
              <a:lnSpc>
                <a:spcPct val="150000"/>
              </a:lnSpc>
              <a:spcBef>
                <a:spcPts val="0"/>
              </a:spcBef>
              <a:spcAft>
                <a:spcPts val="0"/>
              </a:spcAft>
              <a:buNone/>
            </a:pPr>
            <a:endParaRPr sz="2400">
              <a:solidFill>
                <a:srgbClr val="FF0000"/>
              </a:solidFill>
            </a:endParaRPr>
          </a:p>
        </p:txBody>
      </p:sp>
      <p:sp>
        <p:nvSpPr>
          <p:cNvPr id="108"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a:solidFill>
                  <a:schemeClr val="dk1"/>
                </a:solidFill>
                <a:latin typeface="Calibri"/>
                <a:ea typeface="Calibri"/>
                <a:cs typeface="Calibri"/>
                <a:sym typeface="Calibri"/>
              </a:rPr>
              <a:t>Plan</a:t>
            </a:r>
            <a:r>
              <a:rPr lang="fr-FR" sz="4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20" name="Google Shape;120;p3"/>
          <p:cNvSpPr txBox="1"/>
          <p:nvPr/>
        </p:nvSpPr>
        <p:spPr>
          <a:xfrm>
            <a:off x="277850" y="1875730"/>
            <a:ext cx="8408950" cy="3620830"/>
          </a:xfrm>
          <a:prstGeom prst="rect">
            <a:avLst/>
          </a:prstGeom>
          <a:noFill/>
          <a:ln>
            <a:noFill/>
          </a:ln>
        </p:spPr>
        <p:txBody>
          <a:bodyPr spcFirstLastPara="1" wrap="square" lIns="91425" tIns="45700" rIns="91425" bIns="45700" anchor="t" anchorCtr="0">
            <a:noAutofit/>
          </a:bodyPr>
          <a:lstStyle/>
          <a:p>
            <a:pPr marL="457200" marR="0" lvl="0" indent="-342900" algn="just" rtl="0">
              <a:lnSpc>
                <a:spcPct val="100000"/>
              </a:lnSpc>
              <a:spcBef>
                <a:spcPts val="360"/>
              </a:spcBef>
              <a:spcAft>
                <a:spcPts val="0"/>
              </a:spcAft>
              <a:buClr>
                <a:schemeClr val="dk1"/>
              </a:buClr>
              <a:buSzPts val="1800"/>
              <a:buFont typeface="Noto Sans Symbols"/>
              <a:buChar char="❑"/>
            </a:pPr>
            <a:r>
              <a:rPr lang="fr-F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Créer et traiter des formulaires HTML est une tâche difficile et répétitive. Vous devez gérer le rendu des champs de formulaire HTML, valider les données soumises, mapper les données du formulaire en objets, et bien plus encore</a:t>
            </a:r>
            <a:r>
              <a:rPr lang="fr-FR" sz="2400" b="0" i="0" u="none" strike="noStrike" cap="none"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a:t>
            </a:r>
          </a:p>
          <a:p>
            <a:pPr marL="457200" marR="0" lvl="0" indent="-342900" algn="just" rtl="0">
              <a:lnSpc>
                <a:spcPct val="100000"/>
              </a:lnSpc>
              <a:spcBef>
                <a:spcPts val="360"/>
              </a:spcBef>
              <a:spcAft>
                <a:spcPts val="0"/>
              </a:spcAft>
              <a:buClr>
                <a:schemeClr val="dk1"/>
              </a:buClr>
              <a:buSzPts val="1800"/>
              <a:buFont typeface="Noto Sans Symbols"/>
              <a:buChar char="❑"/>
            </a:pPr>
            <a:endParaRPr sz="2400" dirty="0">
              <a:latin typeface="Calibri" panose="020F0502020204030204" pitchFamily="34" charset="0"/>
              <a:ea typeface="Calibri" panose="020F0502020204030204" pitchFamily="34" charset="0"/>
              <a:cs typeface="Calibri" panose="020F0502020204030204" pitchFamily="34" charset="0"/>
            </a:endParaRPr>
          </a:p>
          <a:p>
            <a:pPr marL="457200" marR="0" lvl="0" indent="-342900" algn="just" rtl="0">
              <a:lnSpc>
                <a:spcPct val="100000"/>
              </a:lnSpc>
              <a:spcBef>
                <a:spcPts val="360"/>
              </a:spcBef>
              <a:spcAft>
                <a:spcPts val="0"/>
              </a:spcAft>
              <a:buClr>
                <a:schemeClr val="dk1"/>
              </a:buClr>
              <a:buSzPts val="1800"/>
              <a:buFont typeface="Noto Sans Symbols"/>
              <a:buChar char="❑"/>
            </a:pPr>
            <a:r>
              <a:rPr lang="fr-FR" sz="2400" b="0" i="0"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Symfony</a:t>
            </a:r>
            <a:r>
              <a:rPr lang="fr-F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 intègre une fonctionnalité de formulaire puissante qui offre toutes ces fonctionnalités et bien d'autres pour des scénarios vraiment complexes</a:t>
            </a:r>
            <a:r>
              <a:rPr lang="fr-FR" sz="2400" b="0" i="0" u="none" strike="noStrike" cap="none"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a:t>
            </a:r>
            <a:endParaRP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0"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Introduction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32" name="Google Shape;132;p4"/>
          <p:cNvSpPr/>
          <p:nvPr/>
        </p:nvSpPr>
        <p:spPr>
          <a:xfrm>
            <a:off x="147000" y="1869440"/>
            <a:ext cx="8905560" cy="379984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000000"/>
              </a:buClr>
              <a:buSzPts val="2400"/>
              <a:buFont typeface="Arial"/>
              <a:buChar char="•"/>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Un formulaire </a:t>
            </a:r>
            <a:r>
              <a:rPr lang="fr-FR" sz="24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Symfony</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est l’image d’un objet </a:t>
            </a:r>
            <a:r>
              <a:rPr lang="fr-FR" sz="2400" b="0" i="0" u="none" strike="noStrike" cap="none" dirty="0" smtClean="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existant</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42900" marR="0" lvl="0" indent="-342900" algn="just" rtl="0">
              <a:lnSpc>
                <a:spcPct val="100000"/>
              </a:lnSpc>
              <a:spcBef>
                <a:spcPts val="0"/>
              </a:spcBef>
              <a:spcAft>
                <a:spcPts val="0"/>
              </a:spcAft>
              <a:buClr>
                <a:srgbClr val="000000"/>
              </a:buClr>
              <a:buSzPts val="2400"/>
              <a:buFont typeface="Arial"/>
              <a:buChar char="•"/>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Un formulaire sert à alimenter un objet. </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42900" marR="0" lvl="0" indent="-342900" algn="just" rtl="0">
              <a:lnSpc>
                <a:spcPct val="100000"/>
              </a:lnSpc>
              <a:spcBef>
                <a:spcPts val="0"/>
              </a:spcBef>
              <a:spcAft>
                <a:spcPts val="0"/>
              </a:spcAft>
              <a:buClr>
                <a:srgbClr val="000000"/>
              </a:buClr>
              <a:buSzPts val="2400"/>
              <a:buFont typeface="Arial"/>
              <a:buChar char="•"/>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Un formulaire sert à récupérer des informations indépendantes de n’importe quel objet. </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42900" marR="0" lvl="0" indent="-342900" algn="just" rtl="0">
              <a:lnSpc>
                <a:spcPct val="100000"/>
              </a:lnSpc>
              <a:spcBef>
                <a:spcPts val="0"/>
              </a:spcBef>
              <a:spcAft>
                <a:spcPts val="0"/>
              </a:spcAft>
              <a:buClr>
                <a:srgbClr val="000000"/>
              </a:buClr>
              <a:buSzPts val="2400"/>
              <a:buFont typeface="Arial"/>
              <a:buChar char="•"/>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Pour installer les dépendances du formulaire, il faut exécuter cette commande:  </a:t>
            </a:r>
            <a:r>
              <a:rPr lang="fr-F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composer </a:t>
            </a:r>
            <a:r>
              <a:rPr lang="fr-FR" sz="2400" b="1" i="0"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require</a:t>
            </a:r>
            <a:r>
              <a:rPr lang="fr-F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 </a:t>
            </a:r>
            <a:r>
              <a:rPr lang="fr-FR" sz="2400" b="1" i="0" u="none" strike="noStrike" cap="none" dirty="0" err="1" smtClean="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symfony</a:t>
            </a:r>
            <a:r>
              <a:rPr lang="fr-FR" sz="2400" b="1" i="0" u="none" strike="noStrike" cap="none"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a:t>
            </a:r>
            <a:r>
              <a:rPr lang="fr-FR" sz="2400" b="1" i="0" u="none" strike="noStrike" cap="none" dirty="0" err="1" smtClean="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form</a:t>
            </a:r>
            <a:endParaRP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133" name="Google Shape;133;p4"/>
          <p:cNvPicPr preferRelativeResize="0"/>
          <p:nvPr/>
        </p:nvPicPr>
        <p:blipFill rotWithShape="1">
          <a:blip r:embed="rId3">
            <a:clrChange>
              <a:clrFrom>
                <a:srgbClr val="E1E1DB"/>
              </a:clrFrom>
              <a:clrTo>
                <a:srgbClr val="E1E1DB">
                  <a:alpha val="0"/>
                </a:srgbClr>
              </a:clrTo>
            </a:clrChange>
            <a:alphaModFix/>
          </a:blip>
          <a:srcRect l="34083" t="60208" r="47782" b="23256"/>
          <a:stretch/>
        </p:blipFill>
        <p:spPr>
          <a:xfrm>
            <a:off x="1811205" y="2559888"/>
            <a:ext cx="2903035" cy="1488150"/>
          </a:xfrm>
          <a:prstGeom prst="rect">
            <a:avLst/>
          </a:prstGeom>
          <a:noFill/>
          <a:ln>
            <a:noFill/>
          </a:ln>
        </p:spPr>
      </p:pic>
      <p:sp>
        <p:nvSpPr>
          <p:cNvPr id="11"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Création d’un formulaire</a:t>
            </a:r>
            <a:endParaRPr sz="1400" b="0" i="0" u="none" strike="noStrike" cap="none" dirty="0">
              <a:solidFill>
                <a:srgbClr val="000000"/>
              </a:solidFill>
              <a:latin typeface="Arial"/>
              <a:ea typeface="Arial"/>
              <a:cs typeface="Arial"/>
              <a:sym typeface="Arial"/>
            </a:endParaRPr>
          </a:p>
        </p:txBody>
      </p:sp>
      <p:grpSp>
        <p:nvGrpSpPr>
          <p:cNvPr id="5" name="Group 4"/>
          <p:cNvGrpSpPr/>
          <p:nvPr/>
        </p:nvGrpSpPr>
        <p:grpSpPr>
          <a:xfrm>
            <a:off x="4998720" y="2559888"/>
            <a:ext cx="1595120" cy="1412240"/>
            <a:chOff x="7051040" y="2560320"/>
            <a:chExt cx="1595120" cy="1412240"/>
          </a:xfrm>
          <a:noFill/>
        </p:grpSpPr>
        <p:sp>
          <p:nvSpPr>
            <p:cNvPr id="2" name="Rectangle 1"/>
            <p:cNvSpPr/>
            <p:nvPr/>
          </p:nvSpPr>
          <p:spPr>
            <a:xfrm>
              <a:off x="7051040" y="2560320"/>
              <a:ext cx="1595120" cy="1412240"/>
            </a:xfrm>
            <a:prstGeom prst="rect">
              <a:avLst/>
            </a:prstGeom>
            <a:grp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 name="TextBox 2"/>
            <p:cNvSpPr txBox="1"/>
            <p:nvPr/>
          </p:nvSpPr>
          <p:spPr>
            <a:xfrm>
              <a:off x="7051040" y="2789905"/>
              <a:ext cx="508473" cy="276999"/>
            </a:xfrm>
            <a:prstGeom prst="rect">
              <a:avLst/>
            </a:prstGeom>
            <a:grpFill/>
          </p:spPr>
          <p:txBody>
            <a:bodyPr wrap="none" rtlCol="0">
              <a:spAutoFit/>
            </a:bodyPr>
            <a:lstStyle/>
            <a:p>
              <a:r>
                <a:rPr lang="fr-FR" sz="1200" dirty="0" smtClean="0"/>
                <a:t>Nom</a:t>
              </a:r>
              <a:endParaRPr lang="en-US" sz="1200" dirty="0"/>
            </a:p>
          </p:txBody>
        </p:sp>
        <p:sp>
          <p:nvSpPr>
            <p:cNvPr id="14" name="TextBox 13"/>
            <p:cNvSpPr txBox="1"/>
            <p:nvPr/>
          </p:nvSpPr>
          <p:spPr>
            <a:xfrm>
              <a:off x="7051040" y="3296488"/>
              <a:ext cx="457176" cy="276999"/>
            </a:xfrm>
            <a:prstGeom prst="rect">
              <a:avLst/>
            </a:prstGeom>
            <a:grpFill/>
          </p:spPr>
          <p:txBody>
            <a:bodyPr wrap="none" rtlCol="0">
              <a:spAutoFit/>
            </a:bodyPr>
            <a:lstStyle/>
            <a:p>
              <a:r>
                <a:rPr lang="fr-FR" sz="1200" dirty="0" smtClean="0"/>
                <a:t>Age</a:t>
              </a:r>
              <a:endParaRPr lang="en-US" sz="1200" dirty="0"/>
            </a:p>
          </p:txBody>
        </p:sp>
        <p:sp>
          <p:nvSpPr>
            <p:cNvPr id="4" name="Rectangle 3"/>
            <p:cNvSpPr/>
            <p:nvPr/>
          </p:nvSpPr>
          <p:spPr>
            <a:xfrm>
              <a:off x="7848600" y="2789905"/>
              <a:ext cx="746524" cy="247935"/>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848600" y="3296488"/>
              <a:ext cx="746524" cy="247935"/>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7" name="Google Shape;147;p5"/>
          <p:cNvSpPr/>
          <p:nvPr/>
        </p:nvSpPr>
        <p:spPr>
          <a:xfrm>
            <a:off x="285438" y="1764128"/>
            <a:ext cx="8696001" cy="1287532"/>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fr-F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On peut définir un formulaire soit:</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61950" marR="0" lvl="0" indent="-285750" algn="l" rtl="0">
              <a:lnSpc>
                <a:spcPct val="150000"/>
              </a:lnSpc>
              <a:spcBef>
                <a:spcPts val="0"/>
              </a:spcBef>
              <a:spcAft>
                <a:spcPts val="0"/>
              </a:spcAft>
              <a:buClr>
                <a:schemeClr val="dk1"/>
              </a:buClr>
              <a:buSzPts val="2400"/>
              <a:buFont typeface="Arial"/>
              <a:buChar char="•"/>
            </a:pPr>
            <a:r>
              <a:rPr lang="fr-F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Dans le contrôleur</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61950" marR="0" lvl="0" indent="-285750" algn="l" rtl="0">
              <a:lnSpc>
                <a:spcPct val="150000"/>
              </a:lnSpc>
              <a:spcBef>
                <a:spcPts val="0"/>
              </a:spcBef>
              <a:spcAft>
                <a:spcPts val="0"/>
              </a:spcAft>
              <a:buClr>
                <a:schemeClr val="dk1"/>
              </a:buClr>
              <a:buSzPts val="2400"/>
              <a:buFont typeface="Arial"/>
              <a:buChar char="•"/>
            </a:pPr>
            <a:r>
              <a:rPr lang="fr-F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Dans un autre fichier</a:t>
            </a:r>
            <a:r>
              <a:rPr lang="fr-FR" sz="2400" b="0"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rPr>
              <a:t> </a:t>
            </a:r>
            <a:r>
              <a:rPr lang="fr-F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qui sera appelé par le contrôleur</a:t>
            </a:r>
            <a:endParaRP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0"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Création d’un formulaire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7" name="Google Shape;157;p6"/>
          <p:cNvSpPr/>
          <p:nvPr/>
        </p:nvSpPr>
        <p:spPr>
          <a:xfrm>
            <a:off x="162560" y="1547832"/>
            <a:ext cx="8686800" cy="45243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Pour indiquer les champs</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à ajouter au formulaire</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on utilise la méthode </a:t>
            </a:r>
            <a:r>
              <a:rPr lang="fr-FR" sz="2400" b="1" i="0" u="none" strike="noStrike" cap="none" dirty="0" err="1" smtClean="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add</a:t>
            </a:r>
            <a:r>
              <a:rPr lang="fr-FR" sz="2400" b="0" i="0" u="none" strike="noStrike" cap="none" dirty="0" smtClean="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du </a:t>
            </a:r>
            <a:r>
              <a:rPr lang="fr-FR" sz="24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FormBuilder</a:t>
            </a:r>
            <a:endParaRP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just" rtl="0">
              <a:lnSpc>
                <a:spcPct val="100000"/>
              </a:lnSpc>
              <a:spcBef>
                <a:spcPts val="0"/>
              </a:spcBef>
              <a:spcAft>
                <a:spcPts val="0"/>
              </a:spcAft>
              <a:buClr>
                <a:srgbClr val="000000"/>
              </a:buClr>
              <a:buSzPts val="2400"/>
              <a:buFont typeface="Arial"/>
              <a:buNone/>
            </a:pPr>
            <a:endParaRP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Cette méthode contient 3 paramètres :</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1) le </a:t>
            </a:r>
            <a:r>
              <a:rPr lang="fr-F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nom</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du champ dans le formulaire</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2) le </a:t>
            </a:r>
            <a:r>
              <a:rPr lang="fr-F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type</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du champ</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3) Un tableau (</a:t>
            </a:r>
            <a:r>
              <a:rPr lang="fr-FR" sz="24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array</a:t>
            </a:r>
            <a:r>
              <a:rPr lang="fr-F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qui contient des options spécifiques au type du champ</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158" name="Google Shape;158;p6"/>
          <p:cNvPicPr preferRelativeResize="0"/>
          <p:nvPr/>
        </p:nvPicPr>
        <p:blipFill rotWithShape="1">
          <a:blip r:embed="rId3">
            <a:alphaModFix/>
          </a:blip>
          <a:srcRect l="33514" t="24383" r="17438" b="41630"/>
          <a:stretch/>
        </p:blipFill>
        <p:spPr>
          <a:xfrm>
            <a:off x="2195717" y="4389822"/>
            <a:ext cx="6289873" cy="2139437"/>
          </a:xfrm>
          <a:prstGeom prst="rect">
            <a:avLst/>
          </a:prstGeom>
          <a:noFill/>
          <a:ln>
            <a:noFill/>
          </a:ln>
        </p:spPr>
      </p:pic>
      <p:sp>
        <p:nvSpPr>
          <p:cNvPr id="159" name="Google Shape;159;p6"/>
          <p:cNvSpPr/>
          <p:nvPr/>
        </p:nvSpPr>
        <p:spPr>
          <a:xfrm>
            <a:off x="0" y="1022971"/>
            <a:ext cx="81417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sng" strike="noStrike" cap="none">
                <a:solidFill>
                  <a:srgbClr val="000000"/>
                </a:solidFill>
                <a:latin typeface="Arial"/>
                <a:ea typeface="Arial"/>
                <a:cs typeface="Arial"/>
                <a:sym typeface="Arial"/>
              </a:rPr>
              <a:t> Méthode 1: Création d’un formulaire dans le contrôleur</a:t>
            </a:r>
            <a:endParaRPr sz="1800" b="1" i="0" u="sng" strike="noStrike" cap="none">
              <a:solidFill>
                <a:srgbClr val="000000"/>
              </a:solidFill>
              <a:latin typeface="Arial"/>
              <a:ea typeface="Arial"/>
              <a:cs typeface="Arial"/>
              <a:sym typeface="Arial"/>
            </a:endParaRPr>
          </a:p>
        </p:txBody>
      </p:sp>
      <p:sp>
        <p:nvSpPr>
          <p:cNvPr id="12"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Création d’un formulaire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7" name="Google Shape;167;p7"/>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fr-FR" sz="1200" b="0" i="0" u="none" strike="noStrike" cap="none">
                <a:solidFill>
                  <a:srgbClr val="898989"/>
                </a:solidFill>
                <a:latin typeface="Calibri"/>
                <a:ea typeface="Calibri"/>
                <a:cs typeface="Calibri"/>
                <a:sym typeface="Calibri"/>
              </a:rPr>
              <a:t>7</a:t>
            </a:fld>
            <a:endParaRPr sz="1400" b="0" i="0" u="none" strike="noStrike" cap="none">
              <a:solidFill>
                <a:srgbClr val="000000"/>
              </a:solidFill>
              <a:latin typeface="Arial"/>
              <a:ea typeface="Arial"/>
              <a:cs typeface="Arial"/>
              <a:sym typeface="Arial"/>
            </a:endParaRPr>
          </a:p>
        </p:txBody>
      </p:sp>
      <p:sp>
        <p:nvSpPr>
          <p:cNvPr id="171" name="Google Shape;171;p7"/>
          <p:cNvSpPr/>
          <p:nvPr/>
        </p:nvSpPr>
        <p:spPr>
          <a:xfrm>
            <a:off x="490150" y="1600200"/>
            <a:ext cx="7972500" cy="1039200"/>
          </a:xfrm>
          <a:prstGeom prst="roundRect">
            <a:avLst>
              <a:gd name="adj" fmla="val 16667"/>
            </a:avLst>
          </a:prstGeom>
          <a:solidFill>
            <a:schemeClr val="lt2"/>
          </a:solid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r>
              <a:rPr lang="fr-F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rPr>
              <a:t>Problématique: </a:t>
            </a: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r>
              <a:rPr lang="fr-F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Comment alléger le contrôleur ?</a:t>
            </a:r>
            <a:endParaRP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72" name="Google Shape;172;p7"/>
          <p:cNvSpPr/>
          <p:nvPr/>
        </p:nvSpPr>
        <p:spPr>
          <a:xfrm>
            <a:off x="184153" y="1230900"/>
            <a:ext cx="81417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Arial"/>
                <a:ea typeface="Arial"/>
                <a:cs typeface="Arial"/>
                <a:sym typeface="Arial"/>
              </a:rPr>
              <a:t> </a:t>
            </a:r>
            <a:endParaRPr sz="1800" b="1" i="0" u="none" strike="noStrike" cap="none">
              <a:solidFill>
                <a:srgbClr val="000000"/>
              </a:solidFill>
              <a:latin typeface="Arial"/>
              <a:ea typeface="Arial"/>
              <a:cs typeface="Arial"/>
              <a:sym typeface="Arial"/>
            </a:endParaRPr>
          </a:p>
        </p:txBody>
      </p:sp>
      <p:sp>
        <p:nvSpPr>
          <p:cNvPr id="173" name="Google Shape;173;p7"/>
          <p:cNvSpPr/>
          <p:nvPr/>
        </p:nvSpPr>
        <p:spPr>
          <a:xfrm>
            <a:off x="517500" y="2901225"/>
            <a:ext cx="7972500" cy="1143000"/>
          </a:xfrm>
          <a:prstGeom prst="roundRect">
            <a:avLst>
              <a:gd name="adj" fmla="val 16667"/>
            </a:avLst>
          </a:prstGeom>
          <a:solidFill>
            <a:schemeClr val="lt2"/>
          </a:solidFill>
          <a:ln w="3810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r>
              <a:rPr lang="fr-FR" sz="2000" b="1" i="1" u="none" strike="noStrike" cap="none" dirty="0">
                <a:solidFill>
                  <a:srgbClr val="38761D"/>
                </a:solidFill>
                <a:latin typeface="Calibri" panose="020F0502020204030204" pitchFamily="34" charset="0"/>
                <a:ea typeface="Calibri" panose="020F0502020204030204" pitchFamily="34" charset="0"/>
                <a:cs typeface="Calibri" panose="020F0502020204030204" pitchFamily="34" charset="0"/>
                <a:sym typeface="Arial"/>
              </a:rPr>
              <a:t>Solution:</a:t>
            </a:r>
            <a:r>
              <a:rPr lang="fr-F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rPr>
              <a:t> </a:t>
            </a: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r>
              <a:rPr lang="fr-F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Générer une classe qui s’occupe de la construction d’un formulaire</a:t>
            </a:r>
            <a:endParaRP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74" name="Google Shape;174;p7"/>
          <p:cNvSpPr/>
          <p:nvPr/>
        </p:nvSpPr>
        <p:spPr>
          <a:xfrm>
            <a:off x="517500" y="4501425"/>
            <a:ext cx="7972500" cy="1854900"/>
          </a:xfrm>
          <a:prstGeom prst="roundRect">
            <a:avLst>
              <a:gd name="adj" fmla="val 16667"/>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r>
              <a:rPr lang="fr-FR" sz="2000" b="1" i="1"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sym typeface="Arial"/>
              </a:rPr>
              <a:t>Comment?</a:t>
            </a:r>
            <a:endParaRPr sz="2000" b="1" i="1"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r>
              <a:rPr lang="fr-F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utilisation de la commande:</a:t>
            </a:r>
            <a:endParaRP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150000"/>
              </a:lnSpc>
              <a:spcBef>
                <a:spcPts val="0"/>
              </a:spcBef>
              <a:spcAft>
                <a:spcPts val="0"/>
              </a:spcAft>
              <a:buClr>
                <a:srgbClr val="000000"/>
              </a:buClr>
              <a:buSzPts val="2000"/>
              <a:buFont typeface="Arial"/>
              <a:buNone/>
            </a:pPr>
            <a:r>
              <a:rPr lang="fr-FR" sz="1800" b="1" i="1"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php</a:t>
            </a:r>
            <a:r>
              <a:rPr lang="fr-FR" sz="1800" b="1" i="1"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 bin/console </a:t>
            </a:r>
            <a:r>
              <a:rPr lang="fr-FR" sz="1800" b="1" i="1"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make:form</a:t>
            </a:r>
            <a:r>
              <a:rPr lang="fr-FR" sz="1800" b="1" i="1"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 </a:t>
            </a:r>
            <a:r>
              <a:rPr lang="fr-FR" sz="1800" b="1" i="1"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FormName</a:t>
            </a:r>
            <a:r>
              <a:rPr lang="fr-FR" sz="1800" b="1" i="1"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 </a:t>
            </a:r>
            <a:endParaRPr sz="1800" b="1" i="1"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150000"/>
              </a:lnSpc>
              <a:spcBef>
                <a:spcPts val="0"/>
              </a:spcBef>
              <a:spcAft>
                <a:spcPts val="0"/>
              </a:spcAft>
              <a:buClr>
                <a:schemeClr val="dk1"/>
              </a:buClr>
              <a:buSzPts val="2000"/>
              <a:buFont typeface="Arial"/>
              <a:buNone/>
            </a:pPr>
            <a:r>
              <a:rPr lang="fr-FR" sz="1800" b="1" i="1"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symfony</a:t>
            </a:r>
            <a:r>
              <a:rPr lang="fr-FR" sz="1800" b="1" i="1"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 console </a:t>
            </a:r>
            <a:r>
              <a:rPr lang="fr-FR" sz="1800" b="1" i="1"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make:form</a:t>
            </a:r>
            <a:r>
              <a:rPr lang="fr-FR" sz="1800" b="1" i="1"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 </a:t>
            </a:r>
            <a:r>
              <a:rPr lang="fr-FR" sz="1800" b="1" i="1"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FormName</a:t>
            </a:r>
            <a:endParaRPr sz="1800" b="1" i="1"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1" i="1"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50000"/>
              </a:lnSpc>
              <a:spcBef>
                <a:spcPts val="0"/>
              </a:spcBef>
              <a:spcAft>
                <a:spcPts val="0"/>
              </a:spcAft>
              <a:buClr>
                <a:srgbClr val="000000"/>
              </a:buClr>
              <a:buSzPts val="2000"/>
              <a:buFont typeface="Arial"/>
              <a:buNone/>
            </a:pPr>
            <a:endParaRP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3"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Création d’un formulaire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6" name="Google Shape;186;p8"/>
          <p:cNvSpPr/>
          <p:nvPr/>
        </p:nvSpPr>
        <p:spPr>
          <a:xfrm>
            <a:off x="264160" y="1558720"/>
            <a:ext cx="8716940" cy="3046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a:ea typeface="Calibri"/>
                <a:cs typeface="Calibri"/>
                <a:sym typeface="Calibri"/>
              </a:rPr>
              <a:t>La commande suivante nous permet de créer un Formulaire :</a:t>
            </a:r>
            <a:endParaRPr sz="2400" b="0" i="0" u="none" strike="noStrike" cap="none" dirty="0">
              <a:solidFill>
                <a:srgbClr val="000000"/>
              </a:solidFill>
              <a:latin typeface="Calibri"/>
              <a:ea typeface="Calibri"/>
              <a:cs typeface="Calibri"/>
              <a:sym typeface="Calibri"/>
            </a:endParaRPr>
          </a:p>
          <a:p>
            <a:pPr marL="1371600" marR="0" lvl="0" indent="457200" algn="just" rtl="0">
              <a:lnSpc>
                <a:spcPct val="100000"/>
              </a:lnSpc>
              <a:spcBef>
                <a:spcPts val="0"/>
              </a:spcBef>
              <a:spcAft>
                <a:spcPts val="0"/>
              </a:spcAft>
              <a:buClr>
                <a:srgbClr val="000000"/>
              </a:buClr>
              <a:buSzPts val="2400"/>
              <a:buFont typeface="Arial"/>
              <a:buNone/>
            </a:pPr>
            <a:r>
              <a:rPr lang="fr-FR" sz="2400" b="1" i="0" u="none" strike="noStrike" cap="none" dirty="0" err="1">
                <a:solidFill>
                  <a:srgbClr val="000000"/>
                </a:solidFill>
                <a:latin typeface="Calibri"/>
                <a:ea typeface="Calibri"/>
                <a:cs typeface="Calibri"/>
                <a:sym typeface="Calibri"/>
              </a:rPr>
              <a:t>php</a:t>
            </a:r>
            <a:r>
              <a:rPr lang="fr-FR" sz="2400" b="1" i="0" u="none" strike="noStrike" cap="none" dirty="0">
                <a:solidFill>
                  <a:srgbClr val="000000"/>
                </a:solidFill>
                <a:latin typeface="Calibri"/>
                <a:ea typeface="Calibri"/>
                <a:cs typeface="Calibri"/>
                <a:sym typeface="Calibri"/>
              </a:rPr>
              <a:t> bin/console </a:t>
            </a:r>
            <a:r>
              <a:rPr lang="fr-FR" sz="2400" b="1" i="0" u="none" strike="noStrike" cap="none" dirty="0" err="1">
                <a:solidFill>
                  <a:srgbClr val="000000"/>
                </a:solidFill>
                <a:latin typeface="Calibri"/>
                <a:ea typeface="Calibri"/>
                <a:cs typeface="Calibri"/>
                <a:sym typeface="Calibri"/>
              </a:rPr>
              <a:t>make:form</a:t>
            </a:r>
            <a:r>
              <a:rPr lang="fr-FR" sz="2400" b="1" i="0" u="none" strike="noStrike" cap="none" dirty="0">
                <a:solidFill>
                  <a:srgbClr val="000000"/>
                </a:solidFill>
                <a:latin typeface="Calibri"/>
                <a:ea typeface="Calibri"/>
                <a:cs typeface="Calibri"/>
                <a:sym typeface="Calibri"/>
              </a:rPr>
              <a:t> </a:t>
            </a:r>
            <a:r>
              <a:rPr lang="fr-FR" sz="2400" b="1" i="0" u="none" strike="noStrike" cap="none" dirty="0" err="1">
                <a:solidFill>
                  <a:srgbClr val="000000"/>
                </a:solidFill>
                <a:latin typeface="Calibri"/>
                <a:ea typeface="Calibri"/>
                <a:cs typeface="Calibri"/>
                <a:sym typeface="Calibri"/>
              </a:rPr>
              <a:t>FormName</a:t>
            </a:r>
            <a:endParaRPr sz="2400" b="1" i="0" u="none" strike="noStrike" cap="none" dirty="0">
              <a:solidFill>
                <a:srgbClr val="000000"/>
              </a:solidFill>
              <a:latin typeface="Calibri"/>
              <a:ea typeface="Calibri"/>
              <a:cs typeface="Calibri"/>
              <a:sym typeface="Calibri"/>
            </a:endParaRPr>
          </a:p>
          <a:p>
            <a:pPr marL="0" marR="0" lvl="0" indent="0" algn="just" rtl="0">
              <a:lnSpc>
                <a:spcPct val="150000"/>
              </a:lnSpc>
              <a:spcBef>
                <a:spcPts val="0"/>
              </a:spcBef>
              <a:spcAft>
                <a:spcPts val="0"/>
              </a:spcAft>
              <a:buClr>
                <a:schemeClr val="dk1"/>
              </a:buClr>
              <a:buSzPts val="2000"/>
              <a:buFont typeface="Arial"/>
              <a:buNone/>
            </a:pPr>
            <a:r>
              <a:rPr lang="fr-FR" sz="2400" b="1" i="0" u="none" strike="noStrike" cap="none" dirty="0" smtClean="0">
                <a:solidFill>
                  <a:srgbClr val="000000"/>
                </a:solidFill>
                <a:latin typeface="Calibri"/>
                <a:ea typeface="Calibri"/>
                <a:cs typeface="Calibri"/>
                <a:sym typeface="Calibri"/>
              </a:rPr>
              <a:t>		</a:t>
            </a:r>
            <a:r>
              <a:rPr lang="fr-FR" sz="2400" b="1" i="0" u="none" strike="noStrike" cap="none" dirty="0" err="1" smtClean="0">
                <a:solidFill>
                  <a:srgbClr val="000000"/>
                </a:solidFill>
                <a:latin typeface="Calibri"/>
                <a:ea typeface="Calibri"/>
                <a:cs typeface="Calibri"/>
                <a:sym typeface="Calibri"/>
              </a:rPr>
              <a:t>symfony</a:t>
            </a:r>
            <a:r>
              <a:rPr lang="fr-FR" sz="2400" b="1" i="0" u="none" strike="noStrike" cap="none" dirty="0" smtClean="0">
                <a:solidFill>
                  <a:srgbClr val="000000"/>
                </a:solidFill>
                <a:latin typeface="Calibri"/>
                <a:ea typeface="Calibri"/>
                <a:cs typeface="Calibri"/>
                <a:sym typeface="Calibri"/>
              </a:rPr>
              <a:t> </a:t>
            </a:r>
            <a:r>
              <a:rPr lang="fr-FR" sz="2400" b="1" i="0" u="none" strike="noStrike" cap="none" dirty="0">
                <a:solidFill>
                  <a:srgbClr val="000000"/>
                </a:solidFill>
                <a:latin typeface="Calibri"/>
                <a:ea typeface="Calibri"/>
                <a:cs typeface="Calibri"/>
                <a:sym typeface="Calibri"/>
              </a:rPr>
              <a:t>console </a:t>
            </a:r>
            <a:r>
              <a:rPr lang="fr-FR" sz="2400" b="1" i="0" u="none" strike="noStrike" cap="none" dirty="0" err="1">
                <a:solidFill>
                  <a:srgbClr val="000000"/>
                </a:solidFill>
                <a:latin typeface="Calibri"/>
                <a:ea typeface="Calibri"/>
                <a:cs typeface="Calibri"/>
                <a:sym typeface="Calibri"/>
              </a:rPr>
              <a:t>make:form</a:t>
            </a:r>
            <a:r>
              <a:rPr lang="fr-FR" sz="2400" b="1" i="0" u="none" strike="noStrike" cap="none" dirty="0">
                <a:solidFill>
                  <a:srgbClr val="000000"/>
                </a:solidFill>
                <a:latin typeface="Calibri"/>
                <a:ea typeface="Calibri"/>
                <a:cs typeface="Calibri"/>
                <a:sym typeface="Calibri"/>
              </a:rPr>
              <a:t> </a:t>
            </a:r>
            <a:r>
              <a:rPr lang="fr-FR" sz="2400" b="1" i="0" u="none" strike="noStrike" cap="none" dirty="0" err="1">
                <a:solidFill>
                  <a:srgbClr val="000000"/>
                </a:solidFill>
                <a:latin typeface="Calibri"/>
                <a:ea typeface="Calibri"/>
                <a:cs typeface="Calibri"/>
                <a:sym typeface="Calibri"/>
              </a:rPr>
              <a:t>FormName</a:t>
            </a:r>
            <a:endParaRPr sz="2400" b="1" i="0" u="none" strike="noStrike" cap="none" dirty="0">
              <a:solidFill>
                <a:srgbClr val="000000"/>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a:ea typeface="Calibri"/>
                <a:cs typeface="Calibri"/>
                <a:sym typeface="Calibri"/>
              </a:rPr>
              <a:t>Maker vous demandera si votre formulaire est associé à une entité ou non. Répondez selon votre besoin</a:t>
            </a:r>
            <a:r>
              <a:rPr lang="fr-FR" sz="2400" b="0" i="0" u="none" strike="noStrike" cap="none" dirty="0" smtClean="0">
                <a:solidFill>
                  <a:srgbClr val="000000"/>
                </a:solidFill>
                <a:latin typeface="Calibri"/>
                <a:ea typeface="Calibri"/>
                <a:cs typeface="Calibri"/>
                <a:sym typeface="Calibri"/>
              </a:rPr>
              <a:t>.</a:t>
            </a:r>
          </a:p>
          <a:p>
            <a:pPr marL="0" marR="0" lvl="0" indent="0" algn="just" rtl="0">
              <a:lnSpc>
                <a:spcPct val="100000"/>
              </a:lnSpc>
              <a:spcBef>
                <a:spcPts val="0"/>
              </a:spcBef>
              <a:spcAft>
                <a:spcPts val="0"/>
              </a:spcAft>
              <a:buClr>
                <a:srgbClr val="000000"/>
              </a:buClr>
              <a:buSzPts val="2400"/>
              <a:buFont typeface="Arial"/>
              <a:buNone/>
            </a:pPr>
            <a:endParaRPr b="0" i="0" u="none" strike="noStrike" cap="none" dirty="0">
              <a:solidFill>
                <a:srgbClr val="000000"/>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a:ea typeface="Calibri"/>
                <a:cs typeface="Calibri"/>
                <a:sym typeface="Calibri"/>
              </a:rPr>
              <a:t>Un objet dont le nom est  </a:t>
            </a:r>
            <a:r>
              <a:rPr lang="fr-FR" sz="2400" b="1" i="0" u="none" strike="noStrike" cap="none" dirty="0">
                <a:solidFill>
                  <a:srgbClr val="000000"/>
                </a:solidFill>
                <a:latin typeface="Calibri"/>
                <a:ea typeface="Calibri"/>
                <a:cs typeface="Calibri"/>
                <a:sym typeface="Calibri"/>
              </a:rPr>
              <a:t>« </a:t>
            </a:r>
            <a:r>
              <a:rPr lang="fr-FR" sz="2400" b="1" i="0" u="none" strike="noStrike" cap="none" dirty="0" err="1">
                <a:solidFill>
                  <a:srgbClr val="000000"/>
                </a:solidFill>
                <a:latin typeface="Calibri"/>
                <a:ea typeface="Calibri"/>
                <a:cs typeface="Calibri"/>
                <a:sym typeface="Calibri"/>
              </a:rPr>
              <a:t>FormNameType</a:t>
            </a:r>
            <a:r>
              <a:rPr lang="fr-FR" sz="2400" b="1" i="0" u="none" strike="noStrike" cap="none" dirty="0">
                <a:solidFill>
                  <a:srgbClr val="000000"/>
                </a:solidFill>
                <a:latin typeface="Calibri"/>
                <a:ea typeface="Calibri"/>
                <a:cs typeface="Calibri"/>
                <a:sym typeface="Calibri"/>
              </a:rPr>
              <a:t> » </a:t>
            </a:r>
            <a:r>
              <a:rPr lang="fr-FR" sz="2400" b="0" i="0" u="none" strike="noStrike" cap="none" dirty="0">
                <a:solidFill>
                  <a:srgbClr val="000000"/>
                </a:solidFill>
                <a:latin typeface="Calibri"/>
                <a:ea typeface="Calibri"/>
                <a:cs typeface="Calibri"/>
                <a:sym typeface="Calibri"/>
              </a:rPr>
              <a:t>sera automatiquement créé dans le dossier </a:t>
            </a:r>
            <a:r>
              <a:rPr lang="fr-FR" sz="2400" b="1" i="0" u="none" strike="noStrike" cap="none" dirty="0" err="1">
                <a:solidFill>
                  <a:srgbClr val="000000"/>
                </a:solidFill>
                <a:latin typeface="Calibri"/>
                <a:ea typeface="Calibri"/>
                <a:cs typeface="Calibri"/>
                <a:sym typeface="Calibri"/>
              </a:rPr>
              <a:t>src</a:t>
            </a:r>
            <a:r>
              <a:rPr lang="fr-FR" sz="2400" b="1" i="0" u="none" strike="noStrike" cap="none" dirty="0">
                <a:solidFill>
                  <a:srgbClr val="000000"/>
                </a:solidFill>
                <a:latin typeface="Calibri"/>
                <a:ea typeface="Calibri"/>
                <a:cs typeface="Calibri"/>
                <a:sym typeface="Calibri"/>
              </a:rPr>
              <a:t>/</a:t>
            </a:r>
            <a:r>
              <a:rPr lang="fr-FR" sz="2400" b="1" i="0" u="none" strike="noStrike" cap="none" dirty="0" err="1">
                <a:solidFill>
                  <a:srgbClr val="000000"/>
                </a:solidFill>
                <a:latin typeface="Calibri"/>
                <a:ea typeface="Calibri"/>
                <a:cs typeface="Calibri"/>
                <a:sym typeface="Calibri"/>
              </a:rPr>
              <a:t>Form</a:t>
            </a:r>
            <a:r>
              <a:rPr lang="fr-FR" sz="2400" b="0" i="0" u="none" strike="noStrike" cap="none" dirty="0">
                <a:solidFill>
                  <a:srgbClr val="000000"/>
                </a:solidFill>
                <a:latin typeface="Calibri"/>
                <a:ea typeface="Calibri"/>
                <a:cs typeface="Calibri"/>
                <a:sym typeface="Calibri"/>
              </a:rPr>
              <a:t> et qui contient une fonction </a:t>
            </a:r>
            <a:r>
              <a:rPr lang="fr-FR" sz="2400" b="1" i="0" u="none" strike="noStrike" cap="none" dirty="0" err="1">
                <a:solidFill>
                  <a:srgbClr val="000000"/>
                </a:solidFill>
                <a:latin typeface="Calibri"/>
                <a:ea typeface="Calibri"/>
                <a:cs typeface="Calibri"/>
                <a:sym typeface="Calibri"/>
              </a:rPr>
              <a:t>buildForm</a:t>
            </a:r>
            <a:endParaRPr sz="2400" b="1" i="0" u="none" strike="noStrike" cap="none" dirty="0">
              <a:solidFill>
                <a:srgbClr val="000000"/>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a:ea typeface="Calibri"/>
              <a:cs typeface="Calibri"/>
              <a:sym typeface="Calibri"/>
            </a:endParaRPr>
          </a:p>
        </p:txBody>
      </p:sp>
      <p:pic>
        <p:nvPicPr>
          <p:cNvPr id="187" name="Google Shape;187;p8"/>
          <p:cNvPicPr preferRelativeResize="0"/>
          <p:nvPr/>
        </p:nvPicPr>
        <p:blipFill rotWithShape="1">
          <a:blip r:embed="rId3">
            <a:alphaModFix/>
          </a:blip>
          <a:srcRect l="34649" t="45175" r="15627" b="32272"/>
          <a:stretch/>
        </p:blipFill>
        <p:spPr>
          <a:xfrm>
            <a:off x="2186760" y="5122435"/>
            <a:ext cx="6448599" cy="1644125"/>
          </a:xfrm>
          <a:prstGeom prst="rect">
            <a:avLst/>
          </a:prstGeom>
          <a:noFill/>
          <a:ln>
            <a:noFill/>
          </a:ln>
        </p:spPr>
      </p:pic>
      <p:sp>
        <p:nvSpPr>
          <p:cNvPr id="188" name="Google Shape;188;p8"/>
          <p:cNvSpPr/>
          <p:nvPr/>
        </p:nvSpPr>
        <p:spPr>
          <a:xfrm>
            <a:off x="0" y="1108824"/>
            <a:ext cx="81417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dirty="0">
                <a:solidFill>
                  <a:srgbClr val="000000"/>
                </a:solidFill>
                <a:latin typeface="Arial"/>
                <a:ea typeface="Arial"/>
                <a:cs typeface="Arial"/>
                <a:sym typeface="Arial"/>
              </a:rPr>
              <a:t> Méthode 2: Utilisation </a:t>
            </a:r>
            <a:r>
              <a:rPr lang="fr-FR" sz="1800" b="1" i="0" u="none" strike="noStrike" cap="none" dirty="0">
                <a:solidFill>
                  <a:schemeClr val="dk1"/>
                </a:solidFill>
                <a:latin typeface="Arial"/>
                <a:ea typeface="Arial"/>
                <a:cs typeface="Arial"/>
                <a:sym typeface="Arial"/>
              </a:rPr>
              <a:t>la dépendances </a:t>
            </a:r>
            <a:r>
              <a:rPr lang="fr-FR" sz="1800" b="1" i="0" u="none" strike="noStrike" cap="none" dirty="0" err="1">
                <a:solidFill>
                  <a:schemeClr val="dk1"/>
                </a:solidFill>
                <a:latin typeface="Arial"/>
                <a:ea typeface="Arial"/>
                <a:cs typeface="Arial"/>
                <a:sym typeface="Arial"/>
              </a:rPr>
              <a:t>MakerBundle</a:t>
            </a:r>
            <a:r>
              <a:rPr lang="fr-FR" sz="1800" b="1" i="0" u="none" strike="noStrike" cap="none" dirty="0">
                <a:solidFill>
                  <a:schemeClr val="dk1"/>
                </a:solidFill>
                <a:latin typeface="Arial"/>
                <a:ea typeface="Arial"/>
                <a:cs typeface="Arial"/>
                <a:sym typeface="Arial"/>
              </a:rPr>
              <a:t> </a:t>
            </a:r>
            <a:endParaRPr sz="1800" b="1" i="0" u="none" strike="noStrike" cap="none" dirty="0">
              <a:solidFill>
                <a:schemeClr val="dk1"/>
              </a:solidFill>
              <a:latin typeface="Arial"/>
              <a:ea typeface="Arial"/>
              <a:cs typeface="Arial"/>
              <a:sym typeface="Arial"/>
            </a:endParaRPr>
          </a:p>
        </p:txBody>
      </p:sp>
      <p:sp>
        <p:nvSpPr>
          <p:cNvPr id="12"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Création d’un formulaire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9"/>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fr-FR" sz="1200" b="0" i="0" u="none" strike="noStrike" cap="none">
                <a:solidFill>
                  <a:srgbClr val="898989"/>
                </a:solidFill>
                <a:latin typeface="Calibri"/>
                <a:ea typeface="Calibri"/>
                <a:cs typeface="Calibri"/>
                <a:sym typeface="Calibri"/>
              </a:rPr>
              <a:t>9</a:t>
            </a:fld>
            <a:endParaRPr sz="1400" b="0" i="0" u="none" strike="noStrike" cap="none">
              <a:solidFill>
                <a:srgbClr val="000000"/>
              </a:solidFill>
              <a:latin typeface="Arial"/>
              <a:ea typeface="Arial"/>
              <a:cs typeface="Arial"/>
              <a:sym typeface="Arial"/>
            </a:endParaRPr>
          </a:p>
        </p:txBody>
      </p:sp>
      <p:sp>
        <p:nvSpPr>
          <p:cNvPr id="199" name="Google Shape;199;p9"/>
          <p:cNvSpPr/>
          <p:nvPr/>
        </p:nvSpPr>
        <p:spPr>
          <a:xfrm>
            <a:off x="150150" y="1248539"/>
            <a:ext cx="6606300" cy="40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Arial"/>
                <a:ea typeface="Arial"/>
                <a:cs typeface="Arial"/>
                <a:sym typeface="Arial"/>
              </a:rPr>
              <a:t>Récupération du formulaire dans le contrôleur</a:t>
            </a:r>
            <a:endParaRPr sz="2000" b="1" i="0" u="none" strike="noStrike" cap="none">
              <a:solidFill>
                <a:srgbClr val="000000"/>
              </a:solidFill>
              <a:latin typeface="Arial"/>
              <a:ea typeface="Arial"/>
              <a:cs typeface="Arial"/>
              <a:sym typeface="Arial"/>
            </a:endParaRPr>
          </a:p>
        </p:txBody>
      </p:sp>
      <p:sp>
        <p:nvSpPr>
          <p:cNvPr id="201" name="Google Shape;201;p9"/>
          <p:cNvSpPr/>
          <p:nvPr/>
        </p:nvSpPr>
        <p:spPr>
          <a:xfrm>
            <a:off x="218402" y="1970389"/>
            <a:ext cx="8707200" cy="3785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La récupération du formulaire au niveau des contrôleurs devient beaucoup plus facile :</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202" name="Google Shape;202;p9"/>
          <p:cNvPicPr preferRelativeResize="0"/>
          <p:nvPr/>
        </p:nvPicPr>
        <p:blipFill rotWithShape="1">
          <a:blip r:embed="rId3">
            <a:alphaModFix/>
          </a:blip>
          <a:srcRect l="33660" t="49937" r="16340" b="33883"/>
          <a:stretch/>
        </p:blipFill>
        <p:spPr>
          <a:xfrm>
            <a:off x="894080" y="3383280"/>
            <a:ext cx="7554602" cy="1763853"/>
          </a:xfrm>
          <a:prstGeom prst="rect">
            <a:avLst/>
          </a:prstGeom>
          <a:noFill/>
          <a:ln>
            <a:noFill/>
          </a:ln>
        </p:spPr>
      </p:pic>
      <p:sp>
        <p:nvSpPr>
          <p:cNvPr id="12"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Création d’un formulaire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14" name="Google Shape;214;p10"/>
          <p:cNvSpPr/>
          <p:nvPr/>
        </p:nvSpPr>
        <p:spPr>
          <a:xfrm>
            <a:off x="162900" y="1525038"/>
            <a:ext cx="8818200" cy="3046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Calibri"/>
                <a:ea typeface="Calibri"/>
                <a:cs typeface="Calibri"/>
                <a:sym typeface="Calibri"/>
              </a:rPr>
              <a:t>Il existe différents types proposés par </a:t>
            </a:r>
            <a:r>
              <a:rPr lang="fr-FR" sz="2400" b="0" i="0" u="none" strike="noStrike" cap="none" dirty="0" err="1">
                <a:solidFill>
                  <a:srgbClr val="000000"/>
                </a:solidFill>
                <a:latin typeface="Calibri"/>
                <a:ea typeface="Calibri"/>
                <a:cs typeface="Calibri"/>
                <a:sym typeface="Calibri"/>
              </a:rPr>
              <a:t>Symfony</a:t>
            </a:r>
            <a:r>
              <a:rPr lang="fr-FR" sz="2400" b="0" i="0" u="none" strike="noStrike" cap="none" dirty="0">
                <a:solidFill>
                  <a:srgbClr val="000000"/>
                </a:solidFill>
                <a:latin typeface="Calibri"/>
                <a:ea typeface="Calibri"/>
                <a:cs typeface="Calibri"/>
                <a:sym typeface="Calibri"/>
              </a:rPr>
              <a:t> pour les champs d'un formulaire dont chaque champ possède un nom, un type et des options.</a:t>
            </a:r>
            <a:endParaRPr sz="2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a:ea typeface="Calibri"/>
              <a:cs typeface="Calibri"/>
              <a:sym typeface="Calibri"/>
            </a:endParaRPr>
          </a:p>
        </p:txBody>
      </p:sp>
      <p:sp>
        <p:nvSpPr>
          <p:cNvPr id="215" name="Google Shape;215;p10"/>
          <p:cNvSpPr/>
          <p:nvPr/>
        </p:nvSpPr>
        <p:spPr>
          <a:xfrm>
            <a:off x="0" y="1155738"/>
            <a:ext cx="81417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Types dans le formulaire:</a:t>
            </a:r>
            <a:endParaRP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pic>
        <p:nvPicPr>
          <p:cNvPr id="217" name="Google Shape;217;p10"/>
          <p:cNvPicPr preferRelativeResize="0"/>
          <p:nvPr/>
        </p:nvPicPr>
        <p:blipFill rotWithShape="1">
          <a:blip r:embed="rId3">
            <a:clrChange>
              <a:clrFrom>
                <a:srgbClr val="FFFFFF"/>
              </a:clrFrom>
              <a:clrTo>
                <a:srgbClr val="FFFFFF">
                  <a:alpha val="0"/>
                </a:srgbClr>
              </a:clrTo>
            </a:clrChange>
            <a:alphaModFix/>
          </a:blip>
          <a:srcRect t="1200"/>
          <a:stretch/>
        </p:blipFill>
        <p:spPr>
          <a:xfrm>
            <a:off x="762340" y="2712720"/>
            <a:ext cx="8130871" cy="3602964"/>
          </a:xfrm>
          <a:prstGeom prst="rect">
            <a:avLst/>
          </a:prstGeom>
          <a:noFill/>
          <a:ln>
            <a:noFill/>
          </a:ln>
        </p:spPr>
      </p:pic>
      <p:sp>
        <p:nvSpPr>
          <p:cNvPr id="12"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Types de champs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8" name="Google Shape;228;p11"/>
          <p:cNvSpPr/>
          <p:nvPr/>
        </p:nvSpPr>
        <p:spPr>
          <a:xfrm>
            <a:off x="239100" y="1525038"/>
            <a:ext cx="8818200" cy="53331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None/>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Les  champs à choix (</a:t>
            </a:r>
            <a:r>
              <a:rPr lang="fr-FR" sz="24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choice</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Type) seront chargés à partir des éléments d’une entité Doctrine. Il existe différentes façons d'implémenter ces </a:t>
            </a:r>
            <a:r>
              <a:rPr lang="fr-FR" sz="24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choices</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type. Les plus importants sont les deux attributs </a:t>
            </a:r>
            <a:r>
              <a:rPr lang="fr-FR" sz="24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expanded</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et multiple qui construisent la façon d'afficher cette liste de choix.</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29" name="Google Shape;229;p11"/>
          <p:cNvSpPr/>
          <p:nvPr/>
        </p:nvSpPr>
        <p:spPr>
          <a:xfrm>
            <a:off x="0" y="1155738"/>
            <a:ext cx="81417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Champ à choix particulier:</a:t>
            </a:r>
            <a:endParaRP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pic>
        <p:nvPicPr>
          <p:cNvPr id="231" name="Google Shape;231;p11"/>
          <p:cNvPicPr preferRelativeResize="0"/>
          <p:nvPr/>
        </p:nvPicPr>
        <p:blipFill rotWithShape="1">
          <a:blip r:embed="rId3">
            <a:alphaModFix/>
          </a:blip>
          <a:srcRect/>
          <a:stretch/>
        </p:blipFill>
        <p:spPr>
          <a:xfrm>
            <a:off x="3770312" y="3072312"/>
            <a:ext cx="5373688" cy="2047134"/>
          </a:xfrm>
          <a:prstGeom prst="rect">
            <a:avLst/>
          </a:prstGeom>
          <a:noFill/>
          <a:ln>
            <a:noFill/>
          </a:ln>
        </p:spPr>
      </p:pic>
      <p:pic>
        <p:nvPicPr>
          <p:cNvPr id="232" name="Google Shape;232;p11"/>
          <p:cNvPicPr preferRelativeResize="0"/>
          <p:nvPr/>
        </p:nvPicPr>
        <p:blipFill rotWithShape="1">
          <a:blip r:embed="rId4">
            <a:alphaModFix/>
          </a:blip>
          <a:srcRect/>
          <a:stretch/>
        </p:blipFill>
        <p:spPr>
          <a:xfrm>
            <a:off x="1144281" y="5119446"/>
            <a:ext cx="4417037" cy="1619027"/>
          </a:xfrm>
          <a:prstGeom prst="rect">
            <a:avLst/>
          </a:prstGeom>
          <a:noFill/>
          <a:ln>
            <a:noFill/>
          </a:ln>
        </p:spPr>
      </p:pic>
      <p:sp>
        <p:nvSpPr>
          <p:cNvPr id="13"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Types de champs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42" name="Google Shape;242;p12"/>
          <p:cNvSpPr/>
          <p:nvPr/>
        </p:nvSpPr>
        <p:spPr>
          <a:xfrm>
            <a:off x="28277" y="1241226"/>
            <a:ext cx="6606300" cy="40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2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L’envoi du formulaire à la page </a:t>
            </a:r>
            <a:r>
              <a:rPr lang="fr-FR" sz="22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twig</a:t>
            </a:r>
            <a:endParaRPr sz="22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4" name="Google Shape;244;p12"/>
          <p:cNvSpPr/>
          <p:nvPr/>
        </p:nvSpPr>
        <p:spPr>
          <a:xfrm>
            <a:off x="28277" y="3235421"/>
            <a:ext cx="6784800" cy="40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2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Affichage du formulaire dans TWIG</a:t>
            </a:r>
            <a:endParaRPr sz="22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5" name="Google Shape;245;p12"/>
          <p:cNvSpPr/>
          <p:nvPr/>
        </p:nvSpPr>
        <p:spPr>
          <a:xfrm>
            <a:off x="218400" y="3745332"/>
            <a:ext cx="8707200" cy="8310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000000"/>
              </a:buClr>
              <a:buSzPts val="2400"/>
              <a:buFont typeface="Noto Sans Symbols"/>
              <a:buChar char="⮚"/>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Afficher  la totalité du formulaire avec la méthode </a:t>
            </a:r>
            <a:r>
              <a:rPr lang="fr-FR" sz="24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qui </a:t>
            </a: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affiche le formulaire sans aucune mise en forme</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just" rtl="0">
              <a:lnSpc>
                <a:spcPct val="100000"/>
              </a:lnSpc>
              <a:spcBef>
                <a:spcPts val="0"/>
              </a:spcBef>
              <a:spcAft>
                <a:spcPts val="0"/>
              </a:spcAft>
              <a:buClr>
                <a:srgbClr val="000000"/>
              </a:buClr>
              <a:buSzPts val="2400"/>
              <a:buFont typeface="Arial"/>
              <a:buNone/>
            </a:pPr>
            <a:r>
              <a:rPr lang="fr-F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r>
              <a:rPr lang="fr-FR" sz="24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a:t>
            </a:r>
            <a:r>
              <a:rPr lang="fr-F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fr-FR" sz="24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nomDuFormulaire</a:t>
            </a:r>
            <a:r>
              <a:rPr lang="fr-F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endParaRP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46" name="Google Shape;246;p12"/>
          <p:cNvSpPr txBox="1"/>
          <p:nvPr/>
        </p:nvSpPr>
        <p:spPr>
          <a:xfrm>
            <a:off x="184150" y="1824321"/>
            <a:ext cx="8956500" cy="5781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rgbClr val="000000"/>
              </a:buClr>
              <a:buSzPts val="1800"/>
              <a:buFont typeface="Arial"/>
              <a:buChar char="➔"/>
            </a:pPr>
            <a:r>
              <a:rPr lang="fr-F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return $</a:t>
            </a:r>
            <a:r>
              <a:rPr lang="fr-FR" sz="1800" b="0" i="0"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this</a:t>
            </a:r>
            <a:r>
              <a:rPr lang="fr-F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-&gt;</a:t>
            </a:r>
            <a:r>
              <a:rPr lang="fr-FR" sz="1800" b="0" i="0"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render</a:t>
            </a:r>
            <a:r>
              <a:rPr lang="fr-F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('formation/.</a:t>
            </a:r>
            <a:r>
              <a:rPr lang="fr-FR" sz="1800" b="0" i="0" u="none" strike="noStrike" cap="none" dirty="0" err="1">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html.twig</a:t>
            </a:r>
            <a:r>
              <a:rPr lang="fr-FR" sz="18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sym typeface="Arial"/>
              </a:rPr>
              <a:t>', ['</a:t>
            </a:r>
            <a:r>
              <a:rPr lang="fr-FR" sz="1800" b="1" i="0" u="none" strike="noStrike" cap="none" dirty="0" err="1">
                <a:solidFill>
                  <a:schemeClr val="dk2"/>
                </a:solidFill>
                <a:latin typeface="Calibri" panose="020F0502020204030204" pitchFamily="34" charset="0"/>
                <a:ea typeface="Calibri" panose="020F0502020204030204" pitchFamily="34" charset="0"/>
                <a:cs typeface="Calibri" panose="020F0502020204030204" pitchFamily="34" charset="0"/>
                <a:sym typeface="Arial"/>
              </a:rPr>
              <a:t>formA</a:t>
            </a:r>
            <a:r>
              <a:rPr lang="fr-FR" sz="18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sym typeface="Arial"/>
              </a:rPr>
              <a:t>' =&gt; $</a:t>
            </a:r>
            <a:r>
              <a:rPr lang="fr-FR" sz="1800" b="1" i="0" u="none" strike="noStrike" cap="none" dirty="0" err="1">
                <a:solidFill>
                  <a:schemeClr val="dk2"/>
                </a:solidFill>
                <a:latin typeface="Calibri" panose="020F0502020204030204" pitchFamily="34" charset="0"/>
                <a:ea typeface="Calibri" panose="020F0502020204030204" pitchFamily="34" charset="0"/>
                <a:cs typeface="Calibri" panose="020F0502020204030204" pitchFamily="34" charset="0"/>
                <a:sym typeface="Arial"/>
              </a:rPr>
              <a:t>form</a:t>
            </a:r>
            <a:r>
              <a:rPr lang="fr-FR" sz="18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sym typeface="Arial"/>
              </a:rPr>
              <a:t>]</a:t>
            </a:r>
            <a:r>
              <a:rPr lang="fr-F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a:t>
            </a:r>
            <a:endParaRP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pic>
        <p:nvPicPr>
          <p:cNvPr id="248" name="Google Shape;248;p12"/>
          <p:cNvPicPr preferRelativeResize="0"/>
          <p:nvPr/>
        </p:nvPicPr>
        <p:blipFill rotWithShape="1">
          <a:blip r:embed="rId3">
            <a:alphaModFix/>
          </a:blip>
          <a:srcRect/>
          <a:stretch/>
        </p:blipFill>
        <p:spPr>
          <a:xfrm>
            <a:off x="2894136" y="5511938"/>
            <a:ext cx="3355728" cy="459498"/>
          </a:xfrm>
          <a:prstGeom prst="rect">
            <a:avLst/>
          </a:prstGeom>
          <a:noFill/>
          <a:ln>
            <a:noFill/>
          </a:ln>
        </p:spPr>
      </p:pic>
      <p:sp>
        <p:nvSpPr>
          <p:cNvPr id="14"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Formulaire dans TWIG</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9" name="Google Shape;259;p13"/>
          <p:cNvSpPr/>
          <p:nvPr/>
        </p:nvSpPr>
        <p:spPr>
          <a:xfrm>
            <a:off x="0" y="1433715"/>
            <a:ext cx="9103197" cy="75368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0" i="0" u="none" strike="noStrike" cap="none" dirty="0">
                <a:solidFill>
                  <a:srgbClr val="000000"/>
                </a:solidFill>
                <a:latin typeface="Calibri"/>
                <a:ea typeface="Calibri"/>
                <a:cs typeface="Calibri"/>
                <a:sym typeface="Calibri"/>
              </a:rPr>
              <a:t>Afficher les composants du formulaire séparément un à un d’une façon personnalisée </a:t>
            </a:r>
            <a:endParaRPr sz="2000" b="0" i="0" u="none" strike="noStrike" cap="none" dirty="0">
              <a:solidFill>
                <a:srgbClr val="000000"/>
              </a:solidFill>
              <a:latin typeface="Calibri"/>
              <a:ea typeface="Calibri"/>
              <a:cs typeface="Calibri"/>
              <a:sym typeface="Calibri"/>
            </a:endParaRPr>
          </a:p>
        </p:txBody>
      </p:sp>
      <p:pic>
        <p:nvPicPr>
          <p:cNvPr id="261" name="Google Shape;261;p13"/>
          <p:cNvPicPr preferRelativeResize="0"/>
          <p:nvPr/>
        </p:nvPicPr>
        <p:blipFill rotWithShape="1">
          <a:blip r:embed="rId3">
            <a:alphaModFix/>
          </a:blip>
          <a:srcRect/>
          <a:stretch/>
        </p:blipFill>
        <p:spPr>
          <a:xfrm>
            <a:off x="7395374" y="5444006"/>
            <a:ext cx="1707823" cy="443477"/>
          </a:xfrm>
          <a:prstGeom prst="rect">
            <a:avLst/>
          </a:prstGeom>
          <a:noFill/>
          <a:ln>
            <a:noFill/>
          </a:ln>
        </p:spPr>
      </p:pic>
      <p:sp>
        <p:nvSpPr>
          <p:cNvPr id="262" name="Google Shape;262;p13"/>
          <p:cNvSpPr txBox="1"/>
          <p:nvPr/>
        </p:nvSpPr>
        <p:spPr>
          <a:xfrm>
            <a:off x="209157" y="2478408"/>
            <a:ext cx="8725686"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Form_start</a:t>
            </a:r>
            <a:r>
              <a:rPr lang="fr-FR" sz="20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est l’équivalent de &lt;</a:t>
            </a:r>
            <a:r>
              <a:rPr lang="fr-FR" sz="20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&gt; en HTML</a:t>
            </a: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Form_errors</a:t>
            </a:r>
            <a:r>
              <a:rPr lang="fr-FR" sz="20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affiche les erreurs relatives au champ passé en  argument </a:t>
            </a:r>
            <a:endParaRP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Form_label</a:t>
            </a:r>
            <a:r>
              <a:rPr lang="fr-FR" sz="20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affiche le label HTML d’un élément du formulaire</a:t>
            </a: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Form_widget</a:t>
            </a:r>
            <a:r>
              <a:rPr lang="fr-FR" sz="20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affiche le champ du formulaire</a:t>
            </a: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Form_help</a:t>
            </a:r>
            <a:r>
              <a:rPr lang="fr-FR" sz="20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affiche l’aide relatives au champ donné</a:t>
            </a: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Form_row</a:t>
            </a:r>
            <a:r>
              <a:rPr lang="fr-FR" sz="20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est l’équivalent de  </a:t>
            </a:r>
            <a:r>
              <a:rPr lang="fr-FR" sz="20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form_label</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 </a:t>
            </a:r>
            <a:r>
              <a:rPr lang="fr-FR" sz="20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form_errors</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 </a:t>
            </a:r>
            <a:r>
              <a:rPr lang="fr-FR" sz="20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form_widget</a:t>
            </a:r>
            <a:r>
              <a:rPr lang="fr-F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263" name="Google Shape;263;p13"/>
          <p:cNvPicPr preferRelativeResize="0"/>
          <p:nvPr/>
        </p:nvPicPr>
        <p:blipFill rotWithShape="1">
          <a:blip r:embed="rId4">
            <a:alphaModFix/>
          </a:blip>
          <a:srcRect/>
          <a:stretch/>
        </p:blipFill>
        <p:spPr>
          <a:xfrm>
            <a:off x="2817004" y="4852540"/>
            <a:ext cx="4012021" cy="1601033"/>
          </a:xfrm>
          <a:prstGeom prst="rect">
            <a:avLst/>
          </a:prstGeom>
          <a:noFill/>
          <a:ln>
            <a:noFill/>
          </a:ln>
        </p:spPr>
      </p:pic>
      <p:sp>
        <p:nvSpPr>
          <p:cNvPr id="264" name="Google Shape;264;p13"/>
          <p:cNvSpPr/>
          <p:nvPr/>
        </p:nvSpPr>
        <p:spPr>
          <a:xfrm flipH="1">
            <a:off x="6912478" y="5252225"/>
            <a:ext cx="427267" cy="948209"/>
          </a:xfrm>
          <a:prstGeom prst="leftBrace">
            <a:avLst>
              <a:gd name="adj1" fmla="val 8333"/>
              <a:gd name="adj2" fmla="val 46231"/>
            </a:avLst>
          </a:prstGeom>
          <a:noFill/>
          <a:ln w="38100" cap="flat" cmpd="sng">
            <a:solidFill>
              <a:srgbClr val="FF0000"/>
            </a:solidFill>
            <a:prstDash val="solid"/>
            <a:round/>
            <a:headEnd type="none" w="sm" len="sm"/>
            <a:tailEnd type="none" w="sm" len="sm"/>
          </a:ln>
          <a:effectLst>
            <a:outerShdw blurRad="40000" dist="23000" dir="5400000" rotWithShape="0">
              <a:srgbClr val="000000">
                <a:alpha val="3215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5" name="Google Shape;265;p13"/>
          <p:cNvSpPr/>
          <p:nvPr/>
        </p:nvSpPr>
        <p:spPr>
          <a:xfrm>
            <a:off x="2279667" y="1780153"/>
            <a:ext cx="3491661" cy="70788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fr-FR" sz="2000" b="1" i="0" u="none" strike="noStrike" cap="none" dirty="0">
                <a:solidFill>
                  <a:srgbClr val="000000"/>
                </a:solidFill>
                <a:latin typeface="Times New Roman"/>
                <a:ea typeface="Times New Roman"/>
                <a:cs typeface="Times New Roman"/>
                <a:sym typeface="Times New Roman"/>
              </a:rPr>
              <a:t>{{ </a:t>
            </a:r>
            <a:r>
              <a:rPr lang="fr-FR" sz="2000" b="1" i="0" u="none" strike="noStrike" cap="none" dirty="0" err="1">
                <a:solidFill>
                  <a:srgbClr val="000000"/>
                </a:solidFill>
                <a:latin typeface="Times New Roman"/>
                <a:ea typeface="Times New Roman"/>
                <a:cs typeface="Times New Roman"/>
                <a:sym typeface="Times New Roman"/>
              </a:rPr>
              <a:t>form</a:t>
            </a:r>
            <a:r>
              <a:rPr lang="fr-FR" sz="2000" b="1" i="0" u="none" strike="noStrike" cap="none" dirty="0">
                <a:solidFill>
                  <a:srgbClr val="000000"/>
                </a:solidFill>
                <a:latin typeface="Times New Roman"/>
                <a:ea typeface="Times New Roman"/>
                <a:cs typeface="Times New Roman"/>
                <a:sym typeface="Times New Roman"/>
              </a:rPr>
              <a:t>(</a:t>
            </a:r>
            <a:r>
              <a:rPr lang="fr-FR" sz="2000" b="1" i="0" u="none" strike="noStrike" cap="none" dirty="0" err="1">
                <a:solidFill>
                  <a:srgbClr val="000000"/>
                </a:solidFill>
                <a:latin typeface="Times New Roman"/>
                <a:ea typeface="Times New Roman"/>
                <a:cs typeface="Times New Roman"/>
                <a:sym typeface="Times New Roman"/>
              </a:rPr>
              <a:t>nomDuFormulaire</a:t>
            </a:r>
            <a:r>
              <a:rPr lang="fr-FR" sz="2000" b="1"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fr-FR" sz="2000" b="1" i="0" u="none" strike="noStrike" cap="none" dirty="0">
                <a:solidFill>
                  <a:srgbClr val="000000"/>
                </a:solidFill>
                <a:latin typeface="Times New Roman"/>
                <a:ea typeface="Times New Roman"/>
                <a:cs typeface="Times New Roman"/>
                <a:sym typeface="Times New Roman"/>
              </a:rPr>
              <a:t>=</a:t>
            </a:r>
            <a:endParaRPr sz="1400" b="0" i="0" u="none" strike="noStrike" cap="none" dirty="0">
              <a:solidFill>
                <a:srgbClr val="000000"/>
              </a:solidFill>
              <a:latin typeface="Arial"/>
              <a:ea typeface="Arial"/>
              <a:cs typeface="Arial"/>
              <a:sym typeface="Arial"/>
            </a:endParaRPr>
          </a:p>
        </p:txBody>
      </p:sp>
      <p:pic>
        <p:nvPicPr>
          <p:cNvPr id="266" name="Google Shape;266;p13"/>
          <p:cNvPicPr preferRelativeResize="0"/>
          <p:nvPr/>
        </p:nvPicPr>
        <p:blipFill rotWithShape="1">
          <a:blip r:embed="rId5">
            <a:alphaModFix/>
          </a:blip>
          <a:srcRect/>
          <a:stretch/>
        </p:blipFill>
        <p:spPr>
          <a:xfrm>
            <a:off x="0" y="5444006"/>
            <a:ext cx="2221779" cy="304227"/>
          </a:xfrm>
          <a:prstGeom prst="rect">
            <a:avLst/>
          </a:prstGeom>
          <a:noFill/>
          <a:ln>
            <a:noFill/>
          </a:ln>
        </p:spPr>
      </p:pic>
      <p:sp>
        <p:nvSpPr>
          <p:cNvPr id="267" name="Google Shape;267;p13"/>
          <p:cNvSpPr/>
          <p:nvPr/>
        </p:nvSpPr>
        <p:spPr>
          <a:xfrm>
            <a:off x="2279667" y="4866531"/>
            <a:ext cx="496867" cy="1573053"/>
          </a:xfrm>
          <a:prstGeom prst="leftBrace">
            <a:avLst>
              <a:gd name="adj1" fmla="val 8333"/>
              <a:gd name="adj2" fmla="val 50000"/>
            </a:avLst>
          </a:prstGeom>
          <a:noFill/>
          <a:ln w="38100" cap="flat" cmpd="sng">
            <a:solidFill>
              <a:srgbClr val="FF0000"/>
            </a:solidFill>
            <a:prstDash val="solid"/>
            <a:round/>
            <a:headEnd type="none" w="sm" len="sm"/>
            <a:tailEnd type="none" w="sm" len="sm"/>
          </a:ln>
          <a:effectLst>
            <a:outerShdw blurRad="40000" dist="23000" dir="5400000" rotWithShape="0">
              <a:srgbClr val="000000">
                <a:alpha val="3215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Formulaire dans TWIG</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9" name="Google Shape;279;p14"/>
          <p:cNvPicPr preferRelativeResize="0"/>
          <p:nvPr/>
        </p:nvPicPr>
        <p:blipFill rotWithShape="1">
          <a:blip r:embed="rId3">
            <a:alphaModFix/>
          </a:blip>
          <a:srcRect/>
          <a:stretch/>
        </p:blipFill>
        <p:spPr>
          <a:xfrm>
            <a:off x="1327150" y="1924820"/>
            <a:ext cx="6829426" cy="3243262"/>
          </a:xfrm>
          <a:prstGeom prst="rect">
            <a:avLst/>
          </a:prstGeom>
          <a:noFill/>
          <a:ln>
            <a:noFill/>
          </a:ln>
        </p:spPr>
      </p:pic>
      <p:sp>
        <p:nvSpPr>
          <p:cNvPr id="10"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Formulaire dans TWIG</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92" name="Google Shape;292;p15"/>
          <p:cNvSpPr txBox="1"/>
          <p:nvPr/>
        </p:nvSpPr>
        <p:spPr>
          <a:xfrm>
            <a:off x="914400" y="1750751"/>
            <a:ext cx="8229600" cy="4662775"/>
          </a:xfrm>
          <a:prstGeom prst="rect">
            <a:avLst/>
          </a:prstGeom>
          <a:noFill/>
          <a:ln>
            <a:noFill/>
          </a:ln>
        </p:spPr>
        <p:txBody>
          <a:bodyPr spcFirstLastPara="1" wrap="square" lIns="91425" tIns="45700" rIns="91425" bIns="45700" anchor="t" anchorCtr="0">
            <a:spAutoFit/>
          </a:bodyPr>
          <a:lstStyle/>
          <a:p>
            <a:pPr marL="355600" marR="0" lvl="0" algn="l" rtl="0">
              <a:lnSpc>
                <a:spcPct val="150000"/>
              </a:lnSpc>
              <a:spcBef>
                <a:spcPts val="0"/>
              </a:spcBef>
              <a:spcAft>
                <a:spcPts val="0"/>
              </a:spcAft>
              <a:buClr>
                <a:srgbClr val="000000"/>
              </a:buClr>
              <a:buSzPts val="1800"/>
              <a:buFont typeface="Arial"/>
              <a:buNone/>
            </a:pP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use Doctrine\</a:t>
            </a:r>
            <a:r>
              <a:rPr lang="fr-FR" sz="1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Persistence</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r>
              <a:rPr lang="fr-FR" sz="1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ManagerRegistry</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55600" marR="0" lvl="0" algn="l" rtl="0">
              <a:lnSpc>
                <a:spcPct val="150000"/>
              </a:lnSpc>
              <a:spcBef>
                <a:spcPts val="0"/>
              </a:spcBef>
              <a:spcAft>
                <a:spcPts val="0"/>
              </a:spcAft>
              <a:buClr>
                <a:srgbClr val="000000"/>
              </a:buClr>
              <a:buSzPts val="1800"/>
              <a:buFont typeface="Arial"/>
              <a:buNone/>
            </a:pP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endParaRP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55600" marR="0" lvl="0" algn="l" rtl="0">
              <a:lnSpc>
                <a:spcPct val="150000"/>
              </a:lnSpc>
              <a:spcBef>
                <a:spcPts val="0"/>
              </a:spcBef>
              <a:spcAft>
                <a:spcPts val="0"/>
              </a:spcAft>
              <a:buClr>
                <a:srgbClr val="000000"/>
              </a:buClr>
              <a:buSzPts val="1800"/>
              <a:buFont typeface="Arial"/>
              <a:buNone/>
            </a:pP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public </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function</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add</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ManagerRegistry</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$doctrine){</a:t>
            </a: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55600" marR="0" lvl="0" algn="l" rtl="0">
              <a:lnSpc>
                <a:spcPct val="150000"/>
              </a:lnSpc>
              <a:spcBef>
                <a:spcPts val="0"/>
              </a:spcBef>
              <a:spcAft>
                <a:spcPts val="0"/>
              </a:spcAft>
              <a:buClr>
                <a:srgbClr val="000000"/>
              </a:buClr>
              <a:buSzPts val="1800"/>
              <a:buFont typeface="Arial"/>
              <a:buNone/>
            </a:pP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product</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 new Product();</a:t>
            </a: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55600" marR="0" lvl="0" algn="l" rtl="0">
              <a:lnSpc>
                <a:spcPct val="150000"/>
              </a:lnSpc>
              <a:spcBef>
                <a:spcPts val="0"/>
              </a:spcBef>
              <a:spcAft>
                <a:spcPts val="0"/>
              </a:spcAft>
              <a:buClr>
                <a:srgbClr val="000000"/>
              </a:buClr>
              <a:buSzPts val="1800"/>
              <a:buFont typeface="Arial"/>
              <a:buNone/>
            </a:pP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form</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this</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-&gt;</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createForm</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ProductType</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::class,$</a:t>
            </a:r>
            <a:r>
              <a:rPr lang="fr-FR" sz="1800" b="0"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product</a:t>
            </a:r>
            <a:r>
              <a:rPr lang="fr-F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endParaRP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55600" marR="0" lvl="0" algn="l" rtl="0">
              <a:lnSpc>
                <a:spcPct val="150000"/>
              </a:lnSpc>
              <a:spcBef>
                <a:spcPts val="0"/>
              </a:spcBef>
              <a:spcAft>
                <a:spcPts val="0"/>
              </a:spcAft>
              <a:buClr>
                <a:srgbClr val="000000"/>
              </a:buClr>
              <a:buSzPts val="1800"/>
              <a:buFont typeface="Arial"/>
              <a:buNone/>
            </a:pPr>
            <a:r>
              <a:rPr lang="fr-FR" sz="18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fr-FR" sz="1800" b="1" dirty="0" err="1">
                <a:solidFill>
                  <a:srgbClr val="00B050"/>
                </a:solidFill>
                <a:latin typeface="Calibri" panose="020F0502020204030204" pitchFamily="34" charset="0"/>
                <a:ea typeface="Calibri" panose="020F0502020204030204" pitchFamily="34" charset="0"/>
                <a:cs typeface="Calibri" panose="020F0502020204030204" pitchFamily="34" charset="0"/>
              </a:rPr>
              <a:t>form</a:t>
            </a:r>
            <a:r>
              <a:rPr lang="fr-FR" sz="1800" b="1" dirty="0">
                <a:solidFill>
                  <a:srgbClr val="00B050"/>
                </a:solidFill>
                <a:latin typeface="Calibri" panose="020F0502020204030204" pitchFamily="34" charset="0"/>
                <a:ea typeface="Calibri" panose="020F0502020204030204" pitchFamily="34" charset="0"/>
                <a:cs typeface="Calibri" panose="020F0502020204030204" pitchFamily="34" charset="0"/>
              </a:rPr>
              <a:t>-&gt;</a:t>
            </a:r>
            <a:r>
              <a:rPr lang="fr-FR" sz="1800" b="1" dirty="0" err="1">
                <a:solidFill>
                  <a:srgbClr val="00B050"/>
                </a:solidFill>
                <a:latin typeface="Calibri" panose="020F0502020204030204" pitchFamily="34" charset="0"/>
                <a:ea typeface="Calibri" panose="020F0502020204030204" pitchFamily="34" charset="0"/>
                <a:cs typeface="Calibri" panose="020F0502020204030204" pitchFamily="34" charset="0"/>
              </a:rPr>
              <a:t>handelRequest</a:t>
            </a:r>
            <a:r>
              <a:rPr lang="fr-FR" sz="18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sz="18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marL="355600" marR="0" lvl="0" algn="l" rtl="0">
              <a:lnSpc>
                <a:spcPct val="150000"/>
              </a:lnSpc>
              <a:spcBef>
                <a:spcPts val="0"/>
              </a:spcBef>
              <a:spcAft>
                <a:spcPts val="0"/>
              </a:spcAft>
              <a:buClr>
                <a:srgbClr val="000000"/>
              </a:buClr>
              <a:buSzPts val="1800"/>
              <a:buFont typeface="Arial"/>
              <a:buNone/>
            </a:pPr>
            <a:r>
              <a:rPr lang="fr-FR" sz="1800" dirty="0">
                <a:latin typeface="Calibri" panose="020F0502020204030204" pitchFamily="34" charset="0"/>
                <a:ea typeface="Calibri" panose="020F0502020204030204" pitchFamily="34" charset="0"/>
                <a:cs typeface="Calibri" panose="020F0502020204030204" pitchFamily="34" charset="0"/>
              </a:rPr>
              <a:t>if (</a:t>
            </a:r>
            <a:r>
              <a:rPr lang="fr-FR" sz="18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fr-FR" sz="1800" b="1" dirty="0" err="1">
                <a:solidFill>
                  <a:srgbClr val="00B050"/>
                </a:solidFill>
                <a:latin typeface="Calibri" panose="020F0502020204030204" pitchFamily="34" charset="0"/>
                <a:ea typeface="Calibri" panose="020F0502020204030204" pitchFamily="34" charset="0"/>
                <a:cs typeface="Calibri" panose="020F0502020204030204" pitchFamily="34" charset="0"/>
              </a:rPr>
              <a:t>form</a:t>
            </a:r>
            <a:r>
              <a:rPr lang="fr-FR" sz="1800" b="1" dirty="0">
                <a:solidFill>
                  <a:srgbClr val="00B050"/>
                </a:solidFill>
                <a:latin typeface="Calibri" panose="020F0502020204030204" pitchFamily="34" charset="0"/>
                <a:ea typeface="Calibri" panose="020F0502020204030204" pitchFamily="34" charset="0"/>
                <a:cs typeface="Calibri" panose="020F0502020204030204" pitchFamily="34" charset="0"/>
              </a:rPr>
              <a:t>-&gt;</a:t>
            </a:r>
            <a:r>
              <a:rPr lang="fr-FR" sz="1800" b="1" dirty="0" err="1">
                <a:solidFill>
                  <a:srgbClr val="00B050"/>
                </a:solidFill>
                <a:latin typeface="Calibri" panose="020F0502020204030204" pitchFamily="34" charset="0"/>
                <a:ea typeface="Calibri" panose="020F0502020204030204" pitchFamily="34" charset="0"/>
                <a:cs typeface="Calibri" panose="020F0502020204030204" pitchFamily="34" charset="0"/>
              </a:rPr>
              <a:t>isSubmitted</a:t>
            </a:r>
            <a:r>
              <a:rPr lang="fr-FR" sz="18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fr-FR" sz="1800" dirty="0">
                <a:latin typeface="Calibri" panose="020F0502020204030204" pitchFamily="34" charset="0"/>
                <a:ea typeface="Calibri" panose="020F0502020204030204" pitchFamily="34" charset="0"/>
                <a:cs typeface="Calibri" panose="020F0502020204030204" pitchFamily="34" charset="0"/>
              </a:rPr>
              <a:t>){</a:t>
            </a:r>
            <a:endParaRPr sz="1800" dirty="0">
              <a:latin typeface="Calibri" panose="020F0502020204030204" pitchFamily="34" charset="0"/>
              <a:ea typeface="Calibri" panose="020F0502020204030204" pitchFamily="34" charset="0"/>
              <a:cs typeface="Calibri" panose="020F0502020204030204" pitchFamily="34" charset="0"/>
            </a:endParaRPr>
          </a:p>
          <a:p>
            <a:pPr marL="355600" marR="0" lvl="0" algn="l" rtl="0">
              <a:lnSpc>
                <a:spcPct val="150000"/>
              </a:lnSpc>
              <a:spcBef>
                <a:spcPts val="0"/>
              </a:spcBef>
              <a:spcAft>
                <a:spcPts val="0"/>
              </a:spcAft>
              <a:buClr>
                <a:srgbClr val="000000"/>
              </a:buClr>
              <a:buSzPts val="1800"/>
              <a:buFont typeface="Arial"/>
              <a:buNone/>
            </a:pPr>
            <a:r>
              <a:rPr lang="fr-FR" sz="1800" dirty="0">
                <a:latin typeface="Calibri" panose="020F0502020204030204" pitchFamily="34" charset="0"/>
                <a:ea typeface="Calibri" panose="020F0502020204030204" pitchFamily="34" charset="0"/>
                <a:cs typeface="Calibri" panose="020F0502020204030204" pitchFamily="34" charset="0"/>
              </a:rPr>
              <a:t>…</a:t>
            </a:r>
            <a:endParaRPr sz="1800" dirty="0">
              <a:latin typeface="Calibri" panose="020F0502020204030204" pitchFamily="34" charset="0"/>
              <a:ea typeface="Calibri" panose="020F0502020204030204" pitchFamily="34" charset="0"/>
              <a:cs typeface="Calibri" panose="020F0502020204030204" pitchFamily="34" charset="0"/>
            </a:endParaRPr>
          </a:p>
          <a:p>
            <a:pPr marL="355600" marR="0" lvl="0" algn="l" rtl="0">
              <a:lnSpc>
                <a:spcPct val="150000"/>
              </a:lnSpc>
              <a:spcBef>
                <a:spcPts val="0"/>
              </a:spcBef>
              <a:spcAft>
                <a:spcPts val="0"/>
              </a:spcAft>
              <a:buClr>
                <a:srgbClr val="000000"/>
              </a:buClr>
              <a:buSzPts val="1800"/>
              <a:buFont typeface="Arial"/>
              <a:buNone/>
            </a:pPr>
            <a:r>
              <a:rPr lang="fr-FR" sz="1800" dirty="0">
                <a:latin typeface="Calibri" panose="020F0502020204030204" pitchFamily="34" charset="0"/>
                <a:ea typeface="Calibri" panose="020F0502020204030204" pitchFamily="34" charset="0"/>
                <a:cs typeface="Calibri" panose="020F0502020204030204" pitchFamily="34" charset="0"/>
              </a:rPr>
              <a:t>}</a:t>
            </a:r>
            <a:endParaRPr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0"/>
              </a:spcAft>
              <a:buClr>
                <a:srgbClr val="000000"/>
              </a:buClr>
              <a:buSzPts val="1800"/>
              <a:buFont typeface="Arial"/>
              <a:buNone/>
            </a:pPr>
            <a:r>
              <a:rPr lang="fr-FR" sz="1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Retun</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r>
              <a:rPr lang="fr-FR" sz="1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this</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-&gt;</a:t>
            </a:r>
            <a:r>
              <a:rPr lang="fr-FR" sz="1800" b="1" i="0" u="none" strike="noStrike" cap="none" dirty="0" err="1">
                <a:solidFill>
                  <a:srgbClr val="00B050"/>
                </a:solidFill>
                <a:latin typeface="Calibri" panose="020F0502020204030204" pitchFamily="34" charset="0"/>
                <a:ea typeface="Calibri" panose="020F0502020204030204" pitchFamily="34" charset="0"/>
                <a:cs typeface="Calibri" panose="020F0502020204030204" pitchFamily="34" charset="0"/>
                <a:sym typeface="Arial"/>
              </a:rPr>
              <a:t>renderForm</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(“add.html.</a:t>
            </a:r>
            <a:r>
              <a:rPr lang="fr-FR" sz="1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twig</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r>
              <a:rPr lang="fr-FR" sz="1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array</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r>
              <a:rPr lang="fr-FR" sz="1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form</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”=&gt;$</a:t>
            </a:r>
            <a:r>
              <a:rPr lang="fr-FR" sz="1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form</a:t>
            </a: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endParaRP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spcBef>
                <a:spcPts val="0"/>
              </a:spcBef>
              <a:spcAft>
                <a:spcPts val="0"/>
              </a:spcAft>
              <a:buClr>
                <a:srgbClr val="000000"/>
              </a:buClr>
              <a:buSzPts val="1800"/>
              <a:buFont typeface="Arial"/>
              <a:buNone/>
            </a:pPr>
            <a:r>
              <a:rPr lang="fr-F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ou </a:t>
            </a:r>
            <a:endParaRPr sz="1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lvl="0" indent="0" algn="l" rtl="0">
              <a:spcBef>
                <a:spcPts val="0"/>
              </a:spcBef>
              <a:spcAft>
                <a:spcPts val="0"/>
              </a:spcAft>
              <a:buClr>
                <a:schemeClr val="dk1"/>
              </a:buClr>
              <a:buSzPts val="1800"/>
              <a:buFont typeface="Arial"/>
              <a:buNone/>
            </a:pPr>
            <a:r>
              <a:rPr lang="fr-FR" sz="1800" b="1" dirty="0" err="1">
                <a:solidFill>
                  <a:schemeClr val="dk1"/>
                </a:solidFill>
                <a:latin typeface="Calibri" panose="020F0502020204030204" pitchFamily="34" charset="0"/>
                <a:ea typeface="Calibri" panose="020F0502020204030204" pitchFamily="34" charset="0"/>
                <a:cs typeface="Calibri" panose="020F0502020204030204" pitchFamily="34" charset="0"/>
              </a:rPr>
              <a:t>Retun</a:t>
            </a:r>
            <a:r>
              <a:rPr lang="fr-FR" sz="1800" b="1" dirty="0">
                <a:solidFill>
                  <a:schemeClr val="dk1"/>
                </a:solidFill>
                <a:latin typeface="Calibri" panose="020F0502020204030204" pitchFamily="34" charset="0"/>
                <a:ea typeface="Calibri" panose="020F0502020204030204" pitchFamily="34" charset="0"/>
                <a:cs typeface="Calibri" panose="020F0502020204030204" pitchFamily="34" charset="0"/>
              </a:rPr>
              <a:t> $</a:t>
            </a:r>
            <a:r>
              <a:rPr lang="fr-FR" sz="1800" b="1" dirty="0" err="1">
                <a:solidFill>
                  <a:schemeClr val="dk1"/>
                </a:solidFill>
                <a:latin typeface="Calibri" panose="020F0502020204030204" pitchFamily="34" charset="0"/>
                <a:ea typeface="Calibri" panose="020F0502020204030204" pitchFamily="34" charset="0"/>
                <a:cs typeface="Calibri" panose="020F0502020204030204" pitchFamily="34" charset="0"/>
              </a:rPr>
              <a:t>this</a:t>
            </a:r>
            <a:r>
              <a:rPr lang="fr-FR" sz="1800" b="1" dirty="0">
                <a:solidFill>
                  <a:schemeClr val="dk1"/>
                </a:solidFill>
                <a:latin typeface="Calibri" panose="020F0502020204030204" pitchFamily="34" charset="0"/>
                <a:ea typeface="Calibri" panose="020F0502020204030204" pitchFamily="34" charset="0"/>
                <a:cs typeface="Calibri" panose="020F0502020204030204" pitchFamily="34" charset="0"/>
              </a:rPr>
              <a:t>-&gt;</a:t>
            </a:r>
            <a:r>
              <a:rPr lang="fr-FR" sz="1800" b="1" dirty="0" err="1">
                <a:solidFill>
                  <a:schemeClr val="dk1"/>
                </a:solidFill>
                <a:latin typeface="Calibri" panose="020F0502020204030204" pitchFamily="34" charset="0"/>
                <a:ea typeface="Calibri" panose="020F0502020204030204" pitchFamily="34" charset="0"/>
                <a:cs typeface="Calibri" panose="020F0502020204030204" pitchFamily="34" charset="0"/>
              </a:rPr>
              <a:t>render</a:t>
            </a:r>
            <a:r>
              <a:rPr lang="fr-FR" sz="1800" b="1" dirty="0">
                <a:solidFill>
                  <a:schemeClr val="dk1"/>
                </a:solidFill>
                <a:latin typeface="Calibri" panose="020F0502020204030204" pitchFamily="34" charset="0"/>
                <a:ea typeface="Calibri" panose="020F0502020204030204" pitchFamily="34" charset="0"/>
                <a:cs typeface="Calibri" panose="020F0502020204030204" pitchFamily="34" charset="0"/>
              </a:rPr>
              <a:t>(“add.html.</a:t>
            </a:r>
            <a:r>
              <a:rPr lang="fr-FR" sz="1800" b="1" dirty="0" err="1">
                <a:solidFill>
                  <a:schemeClr val="dk1"/>
                </a:solidFill>
                <a:latin typeface="Calibri" panose="020F0502020204030204" pitchFamily="34" charset="0"/>
                <a:ea typeface="Calibri" panose="020F0502020204030204" pitchFamily="34" charset="0"/>
                <a:cs typeface="Calibri" panose="020F0502020204030204" pitchFamily="34" charset="0"/>
              </a:rPr>
              <a:t>twig</a:t>
            </a:r>
            <a:r>
              <a:rPr lang="fr-FR" sz="1800" b="1" dirty="0">
                <a:solidFill>
                  <a:schemeClr val="dk1"/>
                </a:solidFill>
                <a:latin typeface="Calibri" panose="020F0502020204030204" pitchFamily="34" charset="0"/>
                <a:ea typeface="Calibri" panose="020F0502020204030204" pitchFamily="34" charset="0"/>
                <a:cs typeface="Calibri" panose="020F0502020204030204" pitchFamily="34" charset="0"/>
              </a:rPr>
              <a:t>”,</a:t>
            </a:r>
            <a:r>
              <a:rPr lang="fr-FR" sz="1800" b="1" dirty="0" err="1">
                <a:solidFill>
                  <a:schemeClr val="dk1"/>
                </a:solidFill>
                <a:latin typeface="Calibri" panose="020F0502020204030204" pitchFamily="34" charset="0"/>
                <a:ea typeface="Calibri" panose="020F0502020204030204" pitchFamily="34" charset="0"/>
                <a:cs typeface="Calibri" panose="020F0502020204030204" pitchFamily="34" charset="0"/>
              </a:rPr>
              <a:t>array</a:t>
            </a:r>
            <a:r>
              <a:rPr lang="fr-FR" sz="1800" b="1" dirty="0">
                <a:solidFill>
                  <a:schemeClr val="dk1"/>
                </a:solidFill>
                <a:latin typeface="Calibri" panose="020F0502020204030204" pitchFamily="34" charset="0"/>
                <a:ea typeface="Calibri" panose="020F0502020204030204" pitchFamily="34" charset="0"/>
                <a:cs typeface="Calibri" panose="020F0502020204030204" pitchFamily="34" charset="0"/>
              </a:rPr>
              <a:t>(‘</a:t>
            </a:r>
            <a:r>
              <a:rPr lang="fr-FR" sz="1800" b="1" dirty="0" err="1">
                <a:solidFill>
                  <a:schemeClr val="dk1"/>
                </a:solidFill>
                <a:latin typeface="Calibri" panose="020F0502020204030204" pitchFamily="34" charset="0"/>
                <a:ea typeface="Calibri" panose="020F0502020204030204" pitchFamily="34" charset="0"/>
                <a:cs typeface="Calibri" panose="020F0502020204030204" pitchFamily="34" charset="0"/>
              </a:rPr>
              <a:t>form</a:t>
            </a:r>
            <a:r>
              <a:rPr lang="fr-FR" sz="1800" b="1" dirty="0">
                <a:solidFill>
                  <a:schemeClr val="dk1"/>
                </a:solidFill>
                <a:latin typeface="Calibri" panose="020F0502020204030204" pitchFamily="34" charset="0"/>
                <a:ea typeface="Calibri" panose="020F0502020204030204" pitchFamily="34" charset="0"/>
                <a:cs typeface="Calibri" panose="020F0502020204030204" pitchFamily="34" charset="0"/>
              </a:rPr>
              <a:t>”=&gt;$</a:t>
            </a:r>
            <a:r>
              <a:rPr lang="fr-FR" sz="1800" b="1" dirty="0" err="1">
                <a:solidFill>
                  <a:schemeClr val="dk1"/>
                </a:solidFill>
                <a:latin typeface="Calibri" panose="020F0502020204030204" pitchFamily="34" charset="0"/>
                <a:ea typeface="Calibri" panose="020F0502020204030204" pitchFamily="34" charset="0"/>
                <a:cs typeface="Calibri" panose="020F0502020204030204" pitchFamily="34" charset="0"/>
              </a:rPr>
              <a:t>form</a:t>
            </a:r>
            <a:r>
              <a:rPr lang="fr-FR" sz="1800" b="1" dirty="0">
                <a:solidFill>
                  <a:schemeClr val="dk1"/>
                </a:solidFill>
                <a:latin typeface="Calibri" panose="020F0502020204030204" pitchFamily="34" charset="0"/>
                <a:ea typeface="Calibri" panose="020F0502020204030204" pitchFamily="34" charset="0"/>
                <a:cs typeface="Calibri" panose="020F0502020204030204" pitchFamily="34" charset="0"/>
              </a:rPr>
              <a:t>-&gt;</a:t>
            </a:r>
            <a:r>
              <a:rPr lang="fr-FR" sz="1800" b="1" dirty="0" err="1">
                <a:solidFill>
                  <a:srgbClr val="00B050"/>
                </a:solidFill>
                <a:latin typeface="Calibri" panose="020F0502020204030204" pitchFamily="34" charset="0"/>
                <a:ea typeface="Calibri" panose="020F0502020204030204" pitchFamily="34" charset="0"/>
                <a:cs typeface="Calibri" panose="020F0502020204030204" pitchFamily="34" charset="0"/>
              </a:rPr>
              <a:t>createView</a:t>
            </a:r>
            <a:r>
              <a:rPr lang="fr-FR" sz="18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fr-FR" sz="1800" b="1" dirty="0">
                <a:solidFill>
                  <a:schemeClr val="dk1"/>
                </a:solidFill>
                <a:latin typeface="Calibri" panose="020F0502020204030204" pitchFamily="34" charset="0"/>
                <a:ea typeface="Calibri" panose="020F0502020204030204" pitchFamily="34" charset="0"/>
                <a:cs typeface="Calibri" panose="020F0502020204030204" pitchFamily="34" charset="0"/>
              </a:rPr>
              <a:t>) </a:t>
            </a:r>
            <a:r>
              <a:rPr lang="fr-FR" sz="1800" b="0" i="0" u="none" strike="noStrike" cap="none" dirty="0" smtClean="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endParaRP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93" name="Google Shape;293;p15"/>
          <p:cNvSpPr/>
          <p:nvPr/>
        </p:nvSpPr>
        <p:spPr>
          <a:xfrm>
            <a:off x="0" y="1129231"/>
            <a:ext cx="8899800" cy="753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fr-FR" sz="2000" b="0" i="0" u="none" strike="noStrike" cap="none" dirty="0">
                <a:solidFill>
                  <a:srgbClr val="000000"/>
                </a:solidFill>
                <a:latin typeface="Calibri"/>
                <a:ea typeface="Calibri"/>
                <a:cs typeface="Calibri"/>
                <a:sym typeface="Calibri"/>
              </a:rPr>
              <a:t> Et Finalement, pour créer et envoyer le rendu d'un formulaire vers notre vue, on peut suivre l'exemple de ce code:</a:t>
            </a:r>
            <a:endParaRPr sz="2000" b="0" i="0" u="none" strike="noStrike" cap="none" dirty="0">
              <a:solidFill>
                <a:srgbClr val="000000"/>
              </a:solidFill>
              <a:latin typeface="Calibri"/>
              <a:ea typeface="Calibri"/>
              <a:cs typeface="Calibri"/>
              <a:sym typeface="Calibri"/>
            </a:endParaRPr>
          </a:p>
        </p:txBody>
      </p:sp>
      <p:sp>
        <p:nvSpPr>
          <p:cNvPr id="12"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Rendu d’un formulaire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305" name="Google Shape;305;g28511dbc5a1_0_0"/>
          <p:cNvSpPr txBox="1"/>
          <p:nvPr/>
        </p:nvSpPr>
        <p:spPr>
          <a:xfrm>
            <a:off x="174150" y="1666375"/>
            <a:ext cx="8795700" cy="3231614"/>
          </a:xfrm>
          <a:prstGeom prst="rect">
            <a:avLst/>
          </a:prstGeom>
          <a:noFill/>
          <a:ln>
            <a:noFill/>
          </a:ln>
        </p:spPr>
        <p:txBody>
          <a:bodyPr spcFirstLastPara="1" wrap="square" lIns="91425" tIns="45700" rIns="91425" bIns="45700" anchor="t" anchorCtr="0">
            <a:spAutoFit/>
          </a:bodyPr>
          <a:lstStyle/>
          <a:p>
            <a:pPr marL="0" lvl="0" indent="0" algn="just" rtl="0">
              <a:lnSpc>
                <a:spcPct val="150000"/>
              </a:lnSpc>
              <a:spcBef>
                <a:spcPts val="0"/>
              </a:spcBef>
              <a:spcAft>
                <a:spcPts val="0"/>
              </a:spcAft>
              <a:buClr>
                <a:schemeClr val="dk1"/>
              </a:buClr>
              <a:buSzPts val="1800"/>
              <a:buFont typeface="Arial"/>
              <a:buNone/>
            </a:pPr>
            <a:r>
              <a:rPr lang="fr-FR" sz="2400" b="1" dirty="0" smtClean="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fr-FR" sz="2400" b="1" dirty="0" smtClean="0">
                <a:solidFill>
                  <a:schemeClr val="dk1"/>
                </a:solidFill>
                <a:latin typeface="Calibri" panose="020F0502020204030204" pitchFamily="34" charset="0"/>
                <a:ea typeface="Calibri" panose="020F0502020204030204" pitchFamily="34" charset="0"/>
                <a:cs typeface="Calibri" panose="020F0502020204030204" pitchFamily="34" charset="0"/>
              </a:rPr>
              <a:t> </a:t>
            </a:r>
            <a:r>
              <a:rPr lang="fr-FR" sz="2400" dirty="0" smtClean="0">
                <a:solidFill>
                  <a:schemeClr val="dk1"/>
                </a:solidFill>
                <a:latin typeface="Calibri" panose="020F0502020204030204" pitchFamily="34" charset="0"/>
                <a:ea typeface="Calibri" panose="020F0502020204030204" pitchFamily="34" charset="0"/>
                <a:cs typeface="Calibri" panose="020F0502020204030204" pitchFamily="34" charset="0"/>
              </a:rPr>
              <a:t>La </a:t>
            </a:r>
            <a:r>
              <a:rPr lang="fr-FR" sz="2400" dirty="0">
                <a:solidFill>
                  <a:schemeClr val="dk1"/>
                </a:solidFill>
                <a:latin typeface="Calibri" panose="020F0502020204030204" pitchFamily="34" charset="0"/>
                <a:ea typeface="Calibri" panose="020F0502020204030204" pitchFamily="34" charset="0"/>
                <a:cs typeface="Calibri" panose="020F0502020204030204" pitchFamily="34" charset="0"/>
              </a:rPr>
              <a:t>méthode </a:t>
            </a:r>
            <a:r>
              <a:rPr lang="fr-FR" sz="2400" b="1" dirty="0" err="1">
                <a:solidFill>
                  <a:srgbClr val="00B050"/>
                </a:solidFill>
                <a:latin typeface="Calibri" panose="020F0502020204030204" pitchFamily="34" charset="0"/>
                <a:ea typeface="Calibri" panose="020F0502020204030204" pitchFamily="34" charset="0"/>
                <a:cs typeface="Calibri" panose="020F0502020204030204" pitchFamily="34" charset="0"/>
              </a:rPr>
              <a:t>handleRequest</a:t>
            </a:r>
            <a:r>
              <a:rPr lang="fr-FR" sz="2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fr-FR" sz="2400" b="1" dirty="0">
                <a:solidFill>
                  <a:schemeClr val="dk1"/>
                </a:solidFill>
                <a:latin typeface="Calibri" panose="020F0502020204030204" pitchFamily="34" charset="0"/>
                <a:ea typeface="Calibri" panose="020F0502020204030204" pitchFamily="34" charset="0"/>
                <a:cs typeface="Calibri" panose="020F0502020204030204" pitchFamily="34" charset="0"/>
              </a:rPr>
              <a:t> </a:t>
            </a:r>
            <a:r>
              <a:rPr lang="fr-FR" sz="2400" dirty="0">
                <a:solidFill>
                  <a:schemeClr val="dk1"/>
                </a:solidFill>
                <a:latin typeface="Calibri" panose="020F0502020204030204" pitchFamily="34" charset="0"/>
                <a:ea typeface="Calibri" panose="020F0502020204030204" pitchFamily="34" charset="0"/>
                <a:cs typeface="Calibri" panose="020F0502020204030204" pitchFamily="34" charset="0"/>
              </a:rPr>
              <a:t> de la classe </a:t>
            </a:r>
            <a:r>
              <a:rPr lang="fr-FR" sz="2400" dirty="0" err="1">
                <a:solidFill>
                  <a:schemeClr val="dk1"/>
                </a:solidFill>
                <a:latin typeface="Calibri" panose="020F0502020204030204" pitchFamily="34" charset="0"/>
                <a:ea typeface="Calibri" panose="020F0502020204030204" pitchFamily="34" charset="0"/>
                <a:cs typeface="Calibri" panose="020F0502020204030204" pitchFamily="34" charset="0"/>
              </a:rPr>
              <a:t>Form</a:t>
            </a:r>
            <a:r>
              <a:rPr lang="fr-FR" sz="2400" dirty="0">
                <a:solidFill>
                  <a:schemeClr val="dk1"/>
                </a:solidFill>
                <a:latin typeface="Calibri" panose="020F0502020204030204" pitchFamily="34" charset="0"/>
                <a:ea typeface="Calibri" panose="020F0502020204030204" pitchFamily="34" charset="0"/>
                <a:cs typeface="Calibri" panose="020F0502020204030204" pitchFamily="34" charset="0"/>
              </a:rPr>
              <a:t> permet de récupérer les données saisies dans les inputs du formulaire</a:t>
            </a:r>
            <a:r>
              <a:rPr lang="fr-FR" sz="2400" dirty="0" smtClean="0">
                <a:solidFill>
                  <a:schemeClr val="dk1"/>
                </a:solidFill>
                <a:latin typeface="Calibri" panose="020F0502020204030204" pitchFamily="34" charset="0"/>
                <a:ea typeface="Calibri" panose="020F0502020204030204" pitchFamily="34" charset="0"/>
                <a:cs typeface="Calibri" panose="020F0502020204030204" pitchFamily="34" charset="0"/>
              </a:rPr>
              <a:t>.</a:t>
            </a:r>
          </a:p>
          <a:p>
            <a:pPr marL="0" lvl="0" indent="0" algn="just" rtl="0">
              <a:lnSpc>
                <a:spcPct val="150000"/>
              </a:lnSpc>
              <a:spcBef>
                <a:spcPts val="0"/>
              </a:spcBef>
              <a:spcAft>
                <a:spcPts val="0"/>
              </a:spcAft>
              <a:buClr>
                <a:schemeClr val="dk1"/>
              </a:buClr>
              <a:buSzPts val="1800"/>
              <a:buFont typeface="Arial"/>
              <a:buNone/>
            </a:pP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lvl="0" indent="0" algn="just" rtl="0">
              <a:lnSpc>
                <a:spcPct val="150000"/>
              </a:lnSpc>
              <a:spcBef>
                <a:spcPts val="0"/>
              </a:spcBef>
              <a:spcAft>
                <a:spcPts val="0"/>
              </a:spcAft>
              <a:buClr>
                <a:schemeClr val="dk1"/>
              </a:buClr>
              <a:buSzPts val="1800"/>
              <a:buFont typeface="Arial"/>
              <a:buNone/>
            </a:pPr>
            <a:r>
              <a:rPr lang="fr-FR" sz="24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fr-FR" sz="2400" dirty="0">
                <a:solidFill>
                  <a:schemeClr val="dk1"/>
                </a:solidFill>
                <a:latin typeface="Calibri" panose="020F0502020204030204" pitchFamily="34" charset="0"/>
                <a:ea typeface="Calibri" panose="020F0502020204030204" pitchFamily="34" charset="0"/>
                <a:cs typeface="Calibri" panose="020F0502020204030204" pitchFamily="34" charset="0"/>
              </a:rPr>
              <a:t>La méthode </a:t>
            </a:r>
            <a:r>
              <a:rPr lang="fr-FR" sz="2400" b="1" dirty="0" err="1">
                <a:solidFill>
                  <a:srgbClr val="00B050"/>
                </a:solidFill>
                <a:latin typeface="Calibri" panose="020F0502020204030204" pitchFamily="34" charset="0"/>
                <a:ea typeface="Calibri" panose="020F0502020204030204" pitchFamily="34" charset="0"/>
                <a:cs typeface="Calibri" panose="020F0502020204030204" pitchFamily="34" charset="0"/>
              </a:rPr>
              <a:t>isSubmitted</a:t>
            </a:r>
            <a:r>
              <a:rPr lang="fr-FR" sz="2400" b="1"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fr-FR" sz="2400" dirty="0">
                <a:solidFill>
                  <a:schemeClr val="dk1"/>
                </a:solidFill>
                <a:latin typeface="Calibri" panose="020F0502020204030204" pitchFamily="34" charset="0"/>
                <a:ea typeface="Calibri" panose="020F0502020204030204" pitchFamily="34" charset="0"/>
                <a:cs typeface="Calibri" panose="020F0502020204030204" pitchFamily="34" charset="0"/>
              </a:rPr>
              <a:t>de la classe </a:t>
            </a:r>
            <a:r>
              <a:rPr lang="fr-FR" sz="2400" dirty="0" err="1">
                <a:solidFill>
                  <a:schemeClr val="dk1"/>
                </a:solidFill>
                <a:latin typeface="Calibri" panose="020F0502020204030204" pitchFamily="34" charset="0"/>
                <a:ea typeface="Calibri" panose="020F0502020204030204" pitchFamily="34" charset="0"/>
                <a:cs typeface="Calibri" panose="020F0502020204030204" pitchFamily="34" charset="0"/>
              </a:rPr>
              <a:t>Form</a:t>
            </a:r>
            <a:r>
              <a:rPr lang="fr-FR" sz="2400" b="1"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fr-FR" sz="2400" dirty="0">
                <a:solidFill>
                  <a:schemeClr val="dk1"/>
                </a:solidFill>
                <a:latin typeface="Calibri" panose="020F0502020204030204" pitchFamily="34" charset="0"/>
                <a:ea typeface="Calibri" panose="020F0502020204030204" pitchFamily="34" charset="0"/>
                <a:cs typeface="Calibri" panose="020F0502020204030204" pitchFamily="34" charset="0"/>
              </a:rPr>
              <a:t>permet de savoir si on est effectivement en méthode </a:t>
            </a:r>
            <a:r>
              <a:rPr lang="fr-FR" sz="2400" b="1" dirty="0">
                <a:solidFill>
                  <a:schemeClr val="dk1"/>
                </a:solidFill>
                <a:latin typeface="Calibri" panose="020F0502020204030204" pitchFamily="34" charset="0"/>
                <a:ea typeface="Calibri" panose="020F0502020204030204" pitchFamily="34" charset="0"/>
                <a:cs typeface="Calibri" panose="020F0502020204030204" pitchFamily="34" charset="0"/>
              </a:rPr>
              <a:t>POST</a:t>
            </a:r>
            <a:endParaRPr sz="2400" b="1"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00000"/>
              </a:lnSpc>
              <a:spcBef>
                <a:spcPts val="0"/>
              </a:spcBef>
              <a:spcAft>
                <a:spcPts val="0"/>
              </a:spcAft>
              <a:buClr>
                <a:srgbClr val="000000"/>
              </a:buClr>
              <a:buSzPts val="1400"/>
              <a:buFont typeface="Arial"/>
              <a:buNone/>
            </a:pPr>
            <a:r>
              <a:rPr lang="fr-F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endParaRPr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0"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Rendu d’un formulaire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7" name="Google Shape;317;p16"/>
          <p:cNvSpPr/>
          <p:nvPr/>
        </p:nvSpPr>
        <p:spPr>
          <a:xfrm>
            <a:off x="243840" y="1676581"/>
            <a:ext cx="8727440" cy="3332519"/>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fr-FR" sz="2400" b="0" i="0" u="none" strike="noStrike" cap="none" dirty="0" err="1">
                <a:solidFill>
                  <a:srgbClr val="000000"/>
                </a:solidFill>
                <a:latin typeface="Calibri"/>
                <a:ea typeface="Calibri"/>
                <a:cs typeface="Calibri"/>
                <a:sym typeface="Calibri"/>
              </a:rPr>
              <a:t>Symfony</a:t>
            </a:r>
            <a:r>
              <a:rPr lang="fr-FR" sz="2400" b="0" i="0" u="none" strike="noStrike" cap="none" dirty="0">
                <a:solidFill>
                  <a:srgbClr val="000000"/>
                </a:solidFill>
                <a:latin typeface="Calibri"/>
                <a:ea typeface="Calibri"/>
                <a:cs typeface="Calibri"/>
                <a:sym typeface="Calibri"/>
              </a:rPr>
              <a:t> </a:t>
            </a:r>
            <a:r>
              <a:rPr lang="fr-FR" sz="2400" b="0" i="0" u="none" strike="noStrike" cap="none" dirty="0" err="1">
                <a:solidFill>
                  <a:srgbClr val="000000"/>
                </a:solidFill>
                <a:latin typeface="Calibri"/>
                <a:ea typeface="Calibri"/>
                <a:cs typeface="Calibri"/>
                <a:sym typeface="Calibri"/>
              </a:rPr>
              <a:t>Forms</a:t>
            </a:r>
            <a:r>
              <a:rPr lang="fr-FR" sz="2400" b="0" i="0" u="none" strike="noStrike" cap="none" dirty="0">
                <a:solidFill>
                  <a:srgbClr val="000000"/>
                </a:solidFill>
                <a:latin typeface="Calibri"/>
                <a:ea typeface="Calibri"/>
                <a:cs typeface="Calibri"/>
                <a:sym typeface="Calibri"/>
              </a:rPr>
              <a:t> nous sera très utile car, à part la création du formulaire en lui-même,  il nous </a:t>
            </a:r>
            <a:r>
              <a:rPr lang="fr-FR" sz="2400" dirty="0">
                <a:latin typeface="Calibri"/>
                <a:ea typeface="Calibri"/>
                <a:cs typeface="Calibri"/>
                <a:sym typeface="Calibri"/>
              </a:rPr>
              <a:t>permettra</a:t>
            </a:r>
            <a:r>
              <a:rPr lang="fr-FR" sz="2400" b="0" i="0" u="none" strike="noStrike" cap="none" dirty="0">
                <a:solidFill>
                  <a:srgbClr val="000000"/>
                </a:solidFill>
                <a:latin typeface="Calibri"/>
                <a:ea typeface="Calibri"/>
                <a:cs typeface="Calibri"/>
                <a:sym typeface="Calibri"/>
              </a:rPr>
              <a:t> d'effectuer facilement des contrôles de saisies, tout en offrant une grande variété de personnalisation ( Messages d'erreurs, CSS, etc..)</a:t>
            </a:r>
            <a:endParaRPr sz="2400" b="0" i="0" u="none" strike="noStrike" cap="none" dirty="0">
              <a:solidFill>
                <a:srgbClr val="000000"/>
              </a:solidFill>
              <a:sym typeface="Arial"/>
            </a:endParaRPr>
          </a:p>
        </p:txBody>
      </p:sp>
      <p:sp>
        <p:nvSpPr>
          <p:cNvPr id="10"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Conclusion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4" name="Google Shape;324;p17"/>
          <p:cNvSpPr txBox="1"/>
          <p:nvPr/>
        </p:nvSpPr>
        <p:spPr>
          <a:xfrm>
            <a:off x="-1331912" y="-184150"/>
            <a:ext cx="7886700"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326" name="Google Shape;326;p17"/>
          <p:cNvPicPr preferRelativeResize="0"/>
          <p:nvPr/>
        </p:nvPicPr>
        <p:blipFill rotWithShape="1">
          <a:blip r:embed="rId3">
            <a:alphaModFix/>
          </a:blip>
          <a:srcRect/>
          <a:stretch/>
        </p:blipFill>
        <p:spPr>
          <a:xfrm>
            <a:off x="858837" y="2073275"/>
            <a:ext cx="7145338" cy="3998912"/>
          </a:xfrm>
          <a:prstGeom prst="rect">
            <a:avLst/>
          </a:prstGeom>
          <a:noFill/>
          <a:ln>
            <a:noFill/>
          </a:ln>
        </p:spPr>
      </p:pic>
      <p:sp>
        <p:nvSpPr>
          <p:cNvPr id="329" name="Google Shape;329;p17"/>
          <p:cNvSpPr txBox="1"/>
          <p:nvPr/>
        </p:nvSpPr>
        <p:spPr>
          <a:xfrm>
            <a:off x="0" y="1739720"/>
            <a:ext cx="9040969" cy="4503600"/>
          </a:xfrm>
          <a:prstGeom prst="rect">
            <a:avLst/>
          </a:prstGeom>
          <a:noFill/>
          <a:ln>
            <a:noFill/>
          </a:ln>
        </p:spPr>
        <p:txBody>
          <a:bodyPr spcFirstLastPara="1" wrap="square" lIns="91425" tIns="91425" rIns="91425" bIns="91425" anchor="t" anchorCtr="0">
            <a:noAutofit/>
          </a:bodyPr>
          <a:lstStyle/>
          <a:p>
            <a:pPr marL="311150" marR="0" lvl="0" indent="-285750" algn="l" rtl="0">
              <a:lnSpc>
                <a:spcPct val="100000"/>
              </a:lnSpc>
              <a:spcBef>
                <a:spcPts val="360"/>
              </a:spcBef>
              <a:spcAft>
                <a:spcPts val="0"/>
              </a:spcAft>
              <a:buClr>
                <a:srgbClr val="000000"/>
              </a:buClr>
              <a:buSzPts val="3200"/>
              <a:buFont typeface="Arial"/>
              <a:buChar char="•"/>
            </a:pPr>
            <a:r>
              <a:rPr lang="fr-FR" sz="1800" b="0" i="0" u="sng" strike="noStrike" cap="none" dirty="0">
                <a:solidFill>
                  <a:schemeClr val="hlink"/>
                </a:solidFill>
                <a:latin typeface="Arial"/>
                <a:ea typeface="Arial"/>
                <a:cs typeface="Arial"/>
                <a:sym typeface="Arial"/>
                <a:hlinkClick r:id="rId4"/>
              </a:rPr>
              <a:t>https://</a:t>
            </a:r>
            <a:r>
              <a:rPr lang="fr-FR" sz="1800" b="0" i="0" u="sng" strike="noStrike" cap="none" dirty="0" smtClean="0">
                <a:solidFill>
                  <a:schemeClr val="hlink"/>
                </a:solidFill>
                <a:latin typeface="Arial"/>
                <a:ea typeface="Arial"/>
                <a:cs typeface="Arial"/>
                <a:sym typeface="Arial"/>
                <a:hlinkClick r:id="rId4"/>
              </a:rPr>
              <a:t>symfony.com/doc/current/forms.html</a:t>
            </a:r>
            <a:endParaRPr lang="fr-FR" sz="1800" b="0" i="0" u="sng" strike="noStrike" cap="none" dirty="0" smtClean="0">
              <a:solidFill>
                <a:schemeClr val="hlink"/>
              </a:solidFill>
              <a:latin typeface="Arial"/>
              <a:ea typeface="Arial"/>
              <a:cs typeface="Arial"/>
              <a:sym typeface="Arial"/>
            </a:endParaRPr>
          </a:p>
          <a:p>
            <a:pPr marL="311150" marR="0" lvl="0" indent="-285750" algn="l" rtl="0">
              <a:lnSpc>
                <a:spcPct val="100000"/>
              </a:lnSpc>
              <a:spcBef>
                <a:spcPts val="360"/>
              </a:spcBef>
              <a:spcAft>
                <a:spcPts val="0"/>
              </a:spcAft>
              <a:buClr>
                <a:srgbClr val="000000"/>
              </a:buClr>
              <a:buSzPts val="3200"/>
              <a:buFont typeface="Arial"/>
              <a:buChar char="•"/>
            </a:pPr>
            <a:endParaRPr sz="1800" b="0" i="0" u="sng" strike="noStrike" cap="none" dirty="0">
              <a:solidFill>
                <a:schemeClr val="hlink"/>
              </a:solidFill>
              <a:latin typeface="Arial"/>
              <a:ea typeface="Arial"/>
              <a:cs typeface="Arial"/>
              <a:sym typeface="Arial"/>
              <a:hlinkClick r:id="rId4"/>
            </a:endParaRPr>
          </a:p>
          <a:p>
            <a:pPr marL="311150" marR="0" lvl="0" indent="-285750" algn="l" rtl="0">
              <a:lnSpc>
                <a:spcPct val="100000"/>
              </a:lnSpc>
              <a:spcBef>
                <a:spcPts val="360"/>
              </a:spcBef>
              <a:spcAft>
                <a:spcPts val="0"/>
              </a:spcAft>
              <a:buClr>
                <a:srgbClr val="000000"/>
              </a:buClr>
              <a:buSzPts val="3200"/>
              <a:buFont typeface="Arial"/>
              <a:buChar char="•"/>
            </a:pPr>
            <a:r>
              <a:rPr lang="fr-FR" sz="1800" b="0" i="0" u="none" strike="noStrike" cap="none" dirty="0">
                <a:solidFill>
                  <a:schemeClr val="hlink"/>
                </a:solidFill>
                <a:latin typeface="Arial"/>
                <a:ea typeface="Arial"/>
                <a:cs typeface="Arial"/>
                <a:sym typeface="Arial"/>
              </a:rPr>
              <a:t>https://symfony.com/legacy/doc/forms/1_4/fr/03-forms-for-web-designers</a:t>
            </a:r>
            <a:endParaRPr dirty="0"/>
          </a:p>
        </p:txBody>
      </p:sp>
      <p:sp>
        <p:nvSpPr>
          <p:cNvPr id="13" name="Google Shape;108;p2"/>
          <p:cNvSpPr txBox="1"/>
          <p:nvPr/>
        </p:nvSpPr>
        <p:spPr>
          <a:xfrm>
            <a:off x="0" y="-27559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alibri"/>
              <a:buNone/>
            </a:pPr>
            <a:r>
              <a:rPr lang="fr-FR" sz="4400" b="1" i="0" u="none" strike="noStrike" cap="none" dirty="0" smtClean="0">
                <a:solidFill>
                  <a:schemeClr val="dk1"/>
                </a:solidFill>
                <a:latin typeface="Calibri"/>
                <a:ea typeface="Calibri"/>
                <a:cs typeface="Calibri"/>
                <a:sym typeface="Calibri"/>
              </a:rPr>
              <a:t>Références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552</Words>
  <Application>Microsoft Office PowerPoint</Application>
  <PresentationFormat>On-screen Show (4:3)</PresentationFormat>
  <Paragraphs>118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Noto Sans Symbols</vt:lpstr>
      <vt:lpstr>Times New Roman</vt: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Linda Ouerfelli</dc:creator>
  <cp:lastModifiedBy>Linda Ouerfelli</cp:lastModifiedBy>
  <cp:revision>6</cp:revision>
  <dcterms:modified xsi:type="dcterms:W3CDTF">2023-09-30T19:10:18Z</dcterms:modified>
</cp:coreProperties>
</file>