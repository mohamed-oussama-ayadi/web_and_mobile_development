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9144000"/>
  <p:notesSz cx="6858000" cy="9144000"/>
  <p:embeddedFontLst>
    <p:embeddedFont>
      <p:font typeface="Open Sans"/>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bold.fntdata"/><Relationship Id="rId30" Type="http://schemas.openxmlformats.org/officeDocument/2006/relationships/font" Target="fonts/OpenSans-regular.fntdata"/><Relationship Id="rId11" Type="http://schemas.openxmlformats.org/officeDocument/2006/relationships/slide" Target="slides/slide6.xml"/><Relationship Id="rId33" Type="http://schemas.openxmlformats.org/officeDocument/2006/relationships/font" Target="fonts/OpenSans-boldItalic.fntdata"/><Relationship Id="rId10" Type="http://schemas.openxmlformats.org/officeDocument/2006/relationships/slide" Target="slides/slide5.xml"/><Relationship Id="rId32" Type="http://schemas.openxmlformats.org/officeDocument/2006/relationships/font" Target="fonts/OpenSans-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 name="Google Shape;10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 name="Google Shape;11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 name="Google Shape;15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 name="Google Shape;20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0" name="Google Shape;290;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3" name="Google Shape;303;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7" name="Google Shape;317;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5" name="Google Shape;34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2" name="Google Shape;36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0" name="Google Shape;450;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 name="Google Shape;17;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 name="Google Shape;23;p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27" name="Google Shape;27;p3"/>
          <p:cNvPicPr preferRelativeResize="0"/>
          <p:nvPr/>
        </p:nvPicPr>
        <p:blipFill rotWithShape="1">
          <a:blip r:embed="rId2">
            <a:alphaModFix/>
          </a:blip>
          <a:srcRect b="0" l="0" r="0" t="0"/>
          <a:stretch/>
        </p:blipFill>
        <p:spPr>
          <a:xfrm>
            <a:off x="3402950" y="6308713"/>
            <a:ext cx="1085850" cy="3905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28" name="Shape 28"/>
        <p:cNvGrpSpPr/>
        <p:nvPr/>
      </p:nvGrpSpPr>
      <p:grpSpPr>
        <a:xfrm>
          <a:off x="0" y="0"/>
          <a:ext cx="0" cy="0"/>
          <a:chOff x="0" y="0"/>
          <a:chExt cx="0" cy="0"/>
        </a:xfrm>
      </p:grpSpPr>
      <p:sp>
        <p:nvSpPr>
          <p:cNvPr id="29" name="Google Shape;29;p4"/>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 name="Google Shape;30;p4"/>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1" name="Google Shape;31;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34" name="Shape 34"/>
        <p:cNvGrpSpPr/>
        <p:nvPr/>
      </p:nvGrpSpPr>
      <p:grpSpPr>
        <a:xfrm>
          <a:off x="0" y="0"/>
          <a:ext cx="0" cy="0"/>
          <a:chOff x="0" y="0"/>
          <a:chExt cx="0" cy="0"/>
        </a:xfrm>
      </p:grpSpPr>
      <p:sp>
        <p:nvSpPr>
          <p:cNvPr id="35" name="Google Shape;35;p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6" name="Google Shape;36;p5"/>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7" name="Google Shape;37;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40" name="Shape 40"/>
        <p:cNvGrpSpPr/>
        <p:nvPr/>
      </p:nvGrpSpPr>
      <p:grpSpPr>
        <a:xfrm>
          <a:off x="0" y="0"/>
          <a:ext cx="0" cy="0"/>
          <a:chOff x="0" y="0"/>
          <a:chExt cx="0" cy="0"/>
        </a:xfrm>
      </p:grpSpPr>
      <p:sp>
        <p:nvSpPr>
          <p:cNvPr id="41" name="Google Shape;41;p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2" name="Google Shape;42;p6"/>
          <p:cNvSpPr/>
          <p:nvPr>
            <p:ph idx="2" type="pic"/>
          </p:nvPr>
        </p:nvSpPr>
        <p:spPr>
          <a:xfrm>
            <a:off x="1792288" y="612775"/>
            <a:ext cx="5486400" cy="4114800"/>
          </a:xfrm>
          <a:prstGeom prst="rect">
            <a:avLst/>
          </a:prstGeom>
          <a:noFill/>
          <a:ln>
            <a:noFill/>
          </a:ln>
        </p:spPr>
      </p:sp>
      <p:sp>
        <p:nvSpPr>
          <p:cNvPr id="43" name="Google Shape;43;p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44" name="Google Shape;44;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47" name="Shape 47"/>
        <p:cNvGrpSpPr/>
        <p:nvPr/>
      </p:nvGrpSpPr>
      <p:grpSpPr>
        <a:xfrm>
          <a:off x="0" y="0"/>
          <a:ext cx="0" cy="0"/>
          <a:chOff x="0" y="0"/>
          <a:chExt cx="0" cy="0"/>
        </a:xfrm>
      </p:grpSpPr>
      <p:sp>
        <p:nvSpPr>
          <p:cNvPr id="48" name="Google Shape;48;p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9" name="Google Shape;49;p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0" name="Google Shape;50;p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1" name="Google Shape;51;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58" name="Shape 58"/>
        <p:cNvGrpSpPr/>
        <p:nvPr/>
      </p:nvGrpSpPr>
      <p:grpSpPr>
        <a:xfrm>
          <a:off x="0" y="0"/>
          <a:ext cx="0" cy="0"/>
          <a:chOff x="0" y="0"/>
          <a:chExt cx="0" cy="0"/>
        </a:xfrm>
      </p:grpSpPr>
      <p:sp>
        <p:nvSpPr>
          <p:cNvPr id="59" name="Google Shape;59;p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0" name="Google Shape;60;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63" name="Shape 63"/>
        <p:cNvGrpSpPr/>
        <p:nvPr/>
      </p:nvGrpSpPr>
      <p:grpSpPr>
        <a:xfrm>
          <a:off x="0" y="0"/>
          <a:ext cx="0" cy="0"/>
          <a:chOff x="0" y="0"/>
          <a:chExt cx="0" cy="0"/>
        </a:xfrm>
      </p:grpSpPr>
      <p:sp>
        <p:nvSpPr>
          <p:cNvPr id="64" name="Google Shape;64;p1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5" name="Google Shape;65;p1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66" name="Google Shape;66;p1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67" name="Google Shape;67;p1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68" name="Google Shape;68;p1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4" name="Google Shape;74;p1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75" name="Google Shape;75;p1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76" name="Google Shape;76;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79" name="Shape 79"/>
        <p:cNvGrpSpPr/>
        <p:nvPr/>
      </p:nvGrpSpPr>
      <p:grpSpPr>
        <a:xfrm>
          <a:off x="0" y="0"/>
          <a:ext cx="0" cy="0"/>
          <a:chOff x="0" y="0"/>
          <a:chExt cx="0" cy="0"/>
        </a:xfrm>
      </p:grpSpPr>
      <p:sp>
        <p:nvSpPr>
          <p:cNvPr id="80" name="Google Shape;80;p1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1" name="Google Shape;81;p1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82" name="Google Shape;82;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1" name="Google Shape;11;p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1.png"/><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7.png"/><Relationship Id="rId9" Type="http://schemas.openxmlformats.org/officeDocument/2006/relationships/image" Target="../media/image1.png"/><Relationship Id="rId5" Type="http://schemas.openxmlformats.org/officeDocument/2006/relationships/image" Target="../media/image18.jpg"/><Relationship Id="rId6" Type="http://schemas.openxmlformats.org/officeDocument/2006/relationships/image" Target="../media/image9.jpg"/><Relationship Id="rId7" Type="http://schemas.openxmlformats.org/officeDocument/2006/relationships/image" Target="../media/image8.png"/><Relationship Id="rId8"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2.png"/><Relationship Id="rId6"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4.png"/><Relationship Id="rId6"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7.png"/><Relationship Id="rId9" Type="http://schemas.openxmlformats.org/officeDocument/2006/relationships/image" Target="../media/image1.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20.png"/><Relationship Id="rId8"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9.png"/><Relationship Id="rId6"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23.png"/><Relationship Id="rId6" Type="http://schemas.openxmlformats.org/officeDocument/2006/relationships/image" Target="../media/image22.jpg"/><Relationship Id="rId7"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21.png"/><Relationship Id="rId6"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26.png"/><Relationship Id="rId6"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4.jpg"/><Relationship Id="rId4" Type="http://schemas.openxmlformats.org/officeDocument/2006/relationships/image" Target="../media/image7.png"/><Relationship Id="rId10" Type="http://schemas.openxmlformats.org/officeDocument/2006/relationships/image" Target="../media/image1.png"/><Relationship Id="rId9" Type="http://schemas.openxmlformats.org/officeDocument/2006/relationships/hyperlink" Target="https://www.camillejourdain.fr/schemas-evolution-du-web/" TargetMode="External"/><Relationship Id="rId5" Type="http://schemas.openxmlformats.org/officeDocument/2006/relationships/hyperlink" Target="https://www.commentcamarche.net/contents/221-reseaux-architecture-client-serveur-a-3-niveaux" TargetMode="External"/><Relationship Id="rId6" Type="http://schemas.openxmlformats.org/officeDocument/2006/relationships/hyperlink" Target="https://www.imedias.pro/cours-en-ligne/web-internet/page-web-page-internet/" TargetMode="External"/><Relationship Id="rId7" Type="http://schemas.openxmlformats.org/officeDocument/2006/relationships/hyperlink" Target="https://www.researchgate.net/figure/Mode-de-fonctionnement-des-applications-Web-XHTML-est-une-extension-dHTML-basee-sur-le_fig2_278629167" TargetMode="External"/><Relationship Id="rId8" Type="http://schemas.openxmlformats.org/officeDocument/2006/relationships/hyperlink" Target="https://www.w3schools.com/php/php_oop_classes_objects.asp"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png"/><Relationship Id="rId4" Type="http://schemas.openxmlformats.org/officeDocument/2006/relationships/image" Target="../media/image25.png"/><Relationship Id="rId5" Type="http://schemas.openxmlformats.org/officeDocument/2006/relationships/image" Target="../media/image7.png"/><Relationship Id="rId6"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400">
              <a:solidFill>
                <a:schemeClr val="dk1"/>
              </a:solidFill>
              <a:latin typeface="Calibri"/>
              <a:ea typeface="Calibri"/>
              <a:cs typeface="Calibri"/>
              <a:sym typeface="Calibri"/>
            </a:endParaRPr>
          </a:p>
        </p:txBody>
      </p:sp>
      <p:sp>
        <p:nvSpPr>
          <p:cNvPr id="90" name="Google Shape;90;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888888"/>
              </a:buClr>
              <a:buSzPts val="3200"/>
              <a:buNone/>
            </a:pPr>
            <a:r>
              <a:t/>
            </a:r>
            <a:endParaRPr>
              <a:solidFill>
                <a:srgbClr val="888888"/>
              </a:solidFill>
            </a:endParaRPr>
          </a:p>
        </p:txBody>
      </p:sp>
      <p:pic>
        <p:nvPicPr>
          <p:cNvPr id="91" name="Google Shape;91;p13"/>
          <p:cNvPicPr preferRelativeResize="0"/>
          <p:nvPr/>
        </p:nvPicPr>
        <p:blipFill rotWithShape="1">
          <a:blip r:embed="rId3">
            <a:alphaModFix/>
          </a:blip>
          <a:srcRect b="0" l="0" r="0" t="0"/>
          <a:stretch/>
        </p:blipFill>
        <p:spPr>
          <a:xfrm>
            <a:off x="-88900" y="0"/>
            <a:ext cx="9280525" cy="6858000"/>
          </a:xfrm>
          <a:prstGeom prst="rect">
            <a:avLst/>
          </a:prstGeom>
          <a:noFill/>
          <a:ln>
            <a:noFill/>
          </a:ln>
        </p:spPr>
      </p:pic>
      <p:sp>
        <p:nvSpPr>
          <p:cNvPr id="92" name="Google Shape;92;p13"/>
          <p:cNvSpPr txBox="1"/>
          <p:nvPr/>
        </p:nvSpPr>
        <p:spPr>
          <a:xfrm>
            <a:off x="-136525" y="3124200"/>
            <a:ext cx="9280525" cy="1030287"/>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C00000"/>
              </a:buClr>
              <a:buSzPts val="4700"/>
              <a:buFont typeface="Calibri"/>
              <a:buNone/>
            </a:pPr>
            <a:r>
              <a:rPr b="1" i="0" lang="en-US" sz="4700" u="none" cap="none" strike="noStrike">
                <a:solidFill>
                  <a:srgbClr val="C00000"/>
                </a:solidFill>
                <a:latin typeface="Calibri"/>
                <a:ea typeface="Calibri"/>
                <a:cs typeface="Calibri"/>
                <a:sym typeface="Calibri"/>
              </a:rPr>
              <a:t>UP Web</a:t>
            </a:r>
            <a:endParaRPr b="0" i="0" sz="1400" u="none" cap="none" strike="noStrike">
              <a:solidFill>
                <a:srgbClr val="000000"/>
              </a:solidFill>
              <a:latin typeface="Arial"/>
              <a:ea typeface="Arial"/>
              <a:cs typeface="Arial"/>
              <a:sym typeface="Arial"/>
            </a:endParaRPr>
          </a:p>
        </p:txBody>
      </p:sp>
      <p:sp>
        <p:nvSpPr>
          <p:cNvPr id="93" name="Google Shape;93;p13"/>
          <p:cNvSpPr txBox="1"/>
          <p:nvPr/>
        </p:nvSpPr>
        <p:spPr>
          <a:xfrm>
            <a:off x="1143000" y="1885950"/>
            <a:ext cx="6781800" cy="12001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600"/>
              <a:buFont typeface="Calibri"/>
              <a:buNone/>
            </a:pPr>
            <a:r>
              <a:rPr b="1" i="0" lang="en-US" sz="3600" u="none" cap="none" strike="noStrike">
                <a:solidFill>
                  <a:schemeClr val="dk1"/>
                </a:solidFill>
                <a:latin typeface="Calibri"/>
                <a:ea typeface="Calibri"/>
                <a:cs typeface="Calibri"/>
                <a:sym typeface="Calibri"/>
              </a:rPr>
              <a:t>Introduction au Web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chemeClr val="dk1"/>
              </a:solidFill>
              <a:latin typeface="Calibri"/>
              <a:ea typeface="Calibri"/>
              <a:cs typeface="Calibri"/>
              <a:sym typeface="Calibri"/>
            </a:endParaRPr>
          </a:p>
        </p:txBody>
      </p:sp>
      <p:pic>
        <p:nvPicPr>
          <p:cNvPr descr="D:\esprit 2014\ESPRIT 2014\charte essprit 2014\render\support final\triangle.png" id="94" name="Google Shape;94;p13"/>
          <p:cNvPicPr preferRelativeResize="0"/>
          <p:nvPr/>
        </p:nvPicPr>
        <p:blipFill rotWithShape="1">
          <a:blip r:embed="rId4">
            <a:alphaModFix/>
          </a:blip>
          <a:srcRect b="0" l="0" r="0" t="0"/>
          <a:stretch/>
        </p:blipFill>
        <p:spPr>
          <a:xfrm>
            <a:off x="5213350" y="0"/>
            <a:ext cx="3978275" cy="2344737"/>
          </a:xfrm>
          <a:prstGeom prst="rect">
            <a:avLst/>
          </a:prstGeom>
          <a:noFill/>
          <a:ln>
            <a:noFill/>
          </a:ln>
        </p:spPr>
      </p:pic>
      <p:sp>
        <p:nvSpPr>
          <p:cNvPr id="95" name="Google Shape;95;p13"/>
          <p:cNvSpPr txBox="1"/>
          <p:nvPr/>
        </p:nvSpPr>
        <p:spPr>
          <a:xfrm>
            <a:off x="1143000" y="5105400"/>
            <a:ext cx="67818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AU: 202</a:t>
            </a:r>
            <a:r>
              <a:rPr b="1" lang="en-US" sz="1800">
                <a:solidFill>
                  <a:schemeClr val="dk1"/>
                </a:solidFill>
                <a:latin typeface="Calibri"/>
                <a:ea typeface="Calibri"/>
                <a:cs typeface="Calibri"/>
                <a:sym typeface="Calibri"/>
              </a:rPr>
              <a:t>3</a:t>
            </a:r>
            <a:r>
              <a:rPr b="1" i="0" lang="en-US" sz="1800" u="none" cap="none" strike="noStrike">
                <a:solidFill>
                  <a:schemeClr val="dk1"/>
                </a:solidFill>
                <a:latin typeface="Calibri"/>
                <a:ea typeface="Calibri"/>
                <a:cs typeface="Calibri"/>
                <a:sym typeface="Calibri"/>
              </a:rPr>
              <a:t>/202</a:t>
            </a:r>
            <a:r>
              <a:rPr b="1" lang="en-US" sz="1800">
                <a:solidFill>
                  <a:schemeClr val="dk1"/>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pic>
        <p:nvPicPr>
          <p:cNvPr id="96" name="Google Shape;96;p13"/>
          <p:cNvPicPr preferRelativeResize="0"/>
          <p:nvPr/>
        </p:nvPicPr>
        <p:blipFill rotWithShape="1">
          <a:blip r:embed="rId5">
            <a:alphaModFix/>
          </a:blip>
          <a:srcRect b="0" l="0" r="0" t="0"/>
          <a:stretch/>
        </p:blipFill>
        <p:spPr>
          <a:xfrm>
            <a:off x="-88900" y="84125"/>
            <a:ext cx="3306949" cy="1200150"/>
          </a:xfrm>
          <a:prstGeom prst="rect">
            <a:avLst/>
          </a:prstGeom>
          <a:noFill/>
          <a:ln>
            <a:noFill/>
          </a:ln>
        </p:spPr>
      </p:pic>
      <p:pic>
        <p:nvPicPr>
          <p:cNvPr id="97" name="Google Shape;97;p13"/>
          <p:cNvPicPr preferRelativeResize="0"/>
          <p:nvPr/>
        </p:nvPicPr>
        <p:blipFill rotWithShape="1">
          <a:blip r:embed="rId6">
            <a:alphaModFix/>
          </a:blip>
          <a:srcRect b="0" l="0" r="0" t="0"/>
          <a:stretch/>
        </p:blipFill>
        <p:spPr>
          <a:xfrm>
            <a:off x="55563" y="5548700"/>
            <a:ext cx="8896350" cy="9334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400">
              <a:solidFill>
                <a:schemeClr val="dk1"/>
              </a:solidFill>
              <a:latin typeface="Calibri"/>
              <a:ea typeface="Calibri"/>
              <a:cs typeface="Calibri"/>
              <a:sym typeface="Calibri"/>
            </a:endParaRPr>
          </a:p>
        </p:txBody>
      </p:sp>
      <p:pic>
        <p:nvPicPr>
          <p:cNvPr id="103" name="Google Shape;103;p14"/>
          <p:cNvPicPr preferRelativeResize="0"/>
          <p:nvPr/>
        </p:nvPicPr>
        <p:blipFill rotWithShape="1">
          <a:blip r:embed="rId3">
            <a:alphaModFix/>
          </a:blip>
          <a:srcRect b="0" l="0" r="0" t="0"/>
          <a:stretch/>
        </p:blipFill>
        <p:spPr>
          <a:xfrm>
            <a:off x="0" y="-71437"/>
            <a:ext cx="9326562" cy="7056437"/>
          </a:xfrm>
          <a:prstGeom prst="rect">
            <a:avLst/>
          </a:prstGeom>
          <a:noFill/>
          <a:ln>
            <a:noFill/>
          </a:ln>
        </p:spPr>
      </p:pic>
      <p:sp>
        <p:nvSpPr>
          <p:cNvPr id="104" name="Google Shape;104;p14"/>
          <p:cNvSpPr txBox="1"/>
          <p:nvPr/>
        </p:nvSpPr>
        <p:spPr>
          <a:xfrm>
            <a:off x="-1331912" y="-184150"/>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5" name="Google Shape;105;p1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descr="D:\esprit 2014\ESPRIT 2014\charte essprit 2014\render\support final\triangle.png" id="106" name="Google Shape;106;p14"/>
          <p:cNvPicPr preferRelativeResize="0"/>
          <p:nvPr/>
        </p:nvPicPr>
        <p:blipFill rotWithShape="1">
          <a:blip r:embed="rId4">
            <a:alphaModFix/>
          </a:blip>
          <a:srcRect b="0" l="0" r="0" t="0"/>
          <a:stretch/>
        </p:blipFill>
        <p:spPr>
          <a:xfrm>
            <a:off x="7173912" y="157162"/>
            <a:ext cx="2000250" cy="1377950"/>
          </a:xfrm>
          <a:prstGeom prst="rect">
            <a:avLst/>
          </a:prstGeom>
          <a:noFill/>
          <a:ln>
            <a:noFill/>
          </a:ln>
        </p:spPr>
      </p:pic>
      <p:sp>
        <p:nvSpPr>
          <p:cNvPr id="107" name="Google Shape;107;p14"/>
          <p:cNvSpPr txBox="1"/>
          <p:nvPr/>
        </p:nvSpPr>
        <p:spPr>
          <a:xfrm>
            <a:off x="457200" y="115887"/>
            <a:ext cx="8229600" cy="11430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Objectifs</a:t>
            </a:r>
            <a:endParaRPr b="0" i="0" sz="1400" u="none" cap="none" strike="noStrike">
              <a:solidFill>
                <a:srgbClr val="000000"/>
              </a:solidFill>
              <a:latin typeface="Arial"/>
              <a:ea typeface="Arial"/>
              <a:cs typeface="Arial"/>
              <a:sym typeface="Arial"/>
            </a:endParaRPr>
          </a:p>
        </p:txBody>
      </p:sp>
      <p:sp>
        <p:nvSpPr>
          <p:cNvPr id="108" name="Google Shape;108;p14"/>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177800" lvl="0" marL="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Comprendre comment marche un site web,</a:t>
            </a:r>
            <a:endParaRPr/>
          </a:p>
          <a:p>
            <a:pPr indent="-177800" lvl="0" marL="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Avoir les idées claires par rapport aux langages et aux architectures utilisées dans le web </a:t>
            </a:r>
            <a:endParaRPr/>
          </a:p>
          <a:p>
            <a:pPr indent="-177800" lvl="0" marL="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Avoir un aperçu sur l’historique et l’évolution du web</a:t>
            </a:r>
            <a:endParaRPr/>
          </a:p>
          <a:p>
            <a:pPr indent="-177800" lvl="0" marL="0" marR="0" rtl="0" algn="l">
              <a:lnSpc>
                <a:spcPct val="100000"/>
              </a:lnSpc>
              <a:spcBef>
                <a:spcPts val="560"/>
              </a:spcBef>
              <a:spcAft>
                <a:spcPts val="0"/>
              </a:spcAft>
              <a:buClr>
                <a:schemeClr val="dk1"/>
              </a:buClr>
              <a:buSzPts val="2800"/>
              <a:buFont typeface="Arial"/>
              <a:buChar char="•"/>
            </a:pPr>
            <a:r>
              <a:rPr lang="en-US" sz="2800"/>
              <a:t>Differencier un site web statique d’un site web dynamique.</a:t>
            </a:r>
            <a:endParaRPr/>
          </a:p>
          <a:p>
            <a:pPr indent="0" lvl="0" marL="0" marR="0" rtl="0" algn="l">
              <a:lnSpc>
                <a:spcPct val="100000"/>
              </a:lnSpc>
              <a:spcBef>
                <a:spcPts val="56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165100" lvl="0" marL="342900" marR="0" rtl="0" algn="l">
              <a:lnSpc>
                <a:spcPct val="100000"/>
              </a:lnSpc>
              <a:spcBef>
                <a:spcPts val="56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pic>
        <p:nvPicPr>
          <p:cNvPr id="109" name="Google Shape;109;p14"/>
          <p:cNvPicPr preferRelativeResize="0"/>
          <p:nvPr/>
        </p:nvPicPr>
        <p:blipFill rotWithShape="1">
          <a:blip r:embed="rId5">
            <a:alphaModFix/>
          </a:blip>
          <a:srcRect b="0" l="0" r="0" t="0"/>
          <a:stretch/>
        </p:blipFill>
        <p:spPr>
          <a:xfrm>
            <a:off x="304800" y="6280138"/>
            <a:ext cx="1085850" cy="390525"/>
          </a:xfrm>
          <a:prstGeom prst="rect">
            <a:avLst/>
          </a:prstGeom>
          <a:noFill/>
          <a:ln>
            <a:noFill/>
          </a:ln>
        </p:spPr>
      </p:pic>
      <p:sp>
        <p:nvSpPr>
          <p:cNvPr id="110" name="Google Shape;110;p1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1200"/>
              <a:buFont typeface="Calibri"/>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400">
              <a:solidFill>
                <a:schemeClr val="dk1"/>
              </a:solidFill>
              <a:latin typeface="Calibri"/>
              <a:ea typeface="Calibri"/>
              <a:cs typeface="Calibri"/>
              <a:sym typeface="Calibri"/>
            </a:endParaRPr>
          </a:p>
        </p:txBody>
      </p:sp>
      <p:pic>
        <p:nvPicPr>
          <p:cNvPr id="116" name="Google Shape;116;p15"/>
          <p:cNvPicPr preferRelativeResize="0"/>
          <p:nvPr/>
        </p:nvPicPr>
        <p:blipFill rotWithShape="1">
          <a:blip r:embed="rId3">
            <a:alphaModFix/>
          </a:blip>
          <a:srcRect b="0" l="0" r="0" t="0"/>
          <a:stretch/>
        </p:blipFill>
        <p:spPr>
          <a:xfrm>
            <a:off x="0" y="-71437"/>
            <a:ext cx="9326562" cy="7056437"/>
          </a:xfrm>
          <a:prstGeom prst="rect">
            <a:avLst/>
          </a:prstGeom>
          <a:noFill/>
          <a:ln>
            <a:noFill/>
          </a:ln>
        </p:spPr>
      </p:pic>
      <p:sp>
        <p:nvSpPr>
          <p:cNvPr id="117" name="Google Shape;117;p15"/>
          <p:cNvSpPr txBox="1"/>
          <p:nvPr/>
        </p:nvSpPr>
        <p:spPr>
          <a:xfrm>
            <a:off x="-1331912" y="-184150"/>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8" name="Google Shape;118;p15"/>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descr="D:\esprit 2014\ESPRIT 2014\charte essprit 2014\render\support final\triangle.png" id="119" name="Google Shape;119;p15"/>
          <p:cNvPicPr preferRelativeResize="0"/>
          <p:nvPr/>
        </p:nvPicPr>
        <p:blipFill rotWithShape="1">
          <a:blip r:embed="rId4">
            <a:alphaModFix/>
          </a:blip>
          <a:srcRect b="0" l="0" r="0" t="0"/>
          <a:stretch/>
        </p:blipFill>
        <p:spPr>
          <a:xfrm>
            <a:off x="7173912" y="157162"/>
            <a:ext cx="2000250" cy="1377950"/>
          </a:xfrm>
          <a:prstGeom prst="rect">
            <a:avLst/>
          </a:prstGeom>
          <a:noFill/>
          <a:ln>
            <a:noFill/>
          </a:ln>
        </p:spPr>
      </p:pic>
      <p:sp>
        <p:nvSpPr>
          <p:cNvPr id="120" name="Google Shape;120;p15"/>
          <p:cNvSpPr txBox="1"/>
          <p:nvPr/>
        </p:nvSpPr>
        <p:spPr>
          <a:xfrm>
            <a:off x="457200" y="115887"/>
            <a:ext cx="8229600" cy="11430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Plan</a:t>
            </a:r>
            <a:endParaRPr b="0" i="0" sz="1400" u="none" cap="none" strike="noStrike">
              <a:solidFill>
                <a:srgbClr val="000000"/>
              </a:solidFill>
              <a:latin typeface="Arial"/>
              <a:ea typeface="Arial"/>
              <a:cs typeface="Arial"/>
              <a:sym typeface="Arial"/>
            </a:endParaRPr>
          </a:p>
        </p:txBody>
      </p:sp>
      <p:sp>
        <p:nvSpPr>
          <p:cNvPr id="121" name="Google Shape;121;p15"/>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165100" lvl="0" marL="342900" marR="0" rtl="0" algn="l">
              <a:lnSpc>
                <a:spcPct val="100000"/>
              </a:lnSpc>
              <a:spcBef>
                <a:spcPts val="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Le WEB , son </a:t>
            </a:r>
            <a:r>
              <a:rPr lang="en-US" sz="2800"/>
              <a:t>h</a:t>
            </a:r>
            <a:r>
              <a:rPr b="0" i="0" lang="en-US" sz="2800" u="none">
                <a:solidFill>
                  <a:schemeClr val="dk1"/>
                </a:solidFill>
                <a:latin typeface="Calibri"/>
                <a:ea typeface="Calibri"/>
                <a:cs typeface="Calibri"/>
                <a:sym typeface="Calibri"/>
              </a:rPr>
              <a:t>istorique et son evolution</a:t>
            </a:r>
            <a:r>
              <a:rPr lang="en-US" sz="2800"/>
              <a:t>.</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Fonctionnement d’un site web </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Les architectures d’un site web </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Quelques langages web</a:t>
            </a:r>
            <a:endParaRPr/>
          </a:p>
          <a:p>
            <a:pPr indent="-165100" lvl="0" marL="342900" marR="0" rtl="0" algn="l">
              <a:lnSpc>
                <a:spcPct val="100000"/>
              </a:lnSpc>
              <a:spcBef>
                <a:spcPts val="56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pic>
        <p:nvPicPr>
          <p:cNvPr id="122" name="Google Shape;122;p15"/>
          <p:cNvPicPr preferRelativeResize="0"/>
          <p:nvPr/>
        </p:nvPicPr>
        <p:blipFill rotWithShape="1">
          <a:blip r:embed="rId5">
            <a:alphaModFix/>
          </a:blip>
          <a:srcRect b="0" l="0" r="0" t="0"/>
          <a:stretch/>
        </p:blipFill>
        <p:spPr>
          <a:xfrm>
            <a:off x="526075" y="6194038"/>
            <a:ext cx="1085850" cy="390525"/>
          </a:xfrm>
          <a:prstGeom prst="rect">
            <a:avLst/>
          </a:prstGeom>
          <a:noFill/>
          <a:ln>
            <a:noFill/>
          </a:ln>
        </p:spPr>
      </p:pic>
      <p:sp>
        <p:nvSpPr>
          <p:cNvPr id="123" name="Google Shape;123;p1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1200"/>
              <a:buFont typeface="Calibri"/>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400">
              <a:solidFill>
                <a:schemeClr val="dk1"/>
              </a:solidFill>
              <a:latin typeface="Calibri"/>
              <a:ea typeface="Calibri"/>
              <a:cs typeface="Calibri"/>
              <a:sym typeface="Calibri"/>
            </a:endParaRPr>
          </a:p>
        </p:txBody>
      </p:sp>
      <p:pic>
        <p:nvPicPr>
          <p:cNvPr id="129" name="Google Shape;129;p16"/>
          <p:cNvPicPr preferRelativeResize="0"/>
          <p:nvPr/>
        </p:nvPicPr>
        <p:blipFill rotWithShape="1">
          <a:blip r:embed="rId3">
            <a:alphaModFix/>
          </a:blip>
          <a:srcRect b="0" l="0" r="0" t="0"/>
          <a:stretch/>
        </p:blipFill>
        <p:spPr>
          <a:xfrm>
            <a:off x="0" y="-71437"/>
            <a:ext cx="9326562" cy="7056437"/>
          </a:xfrm>
          <a:prstGeom prst="rect">
            <a:avLst/>
          </a:prstGeom>
          <a:noFill/>
          <a:ln>
            <a:noFill/>
          </a:ln>
        </p:spPr>
      </p:pic>
      <p:sp>
        <p:nvSpPr>
          <p:cNvPr id="130" name="Google Shape;130;p16"/>
          <p:cNvSpPr txBox="1"/>
          <p:nvPr/>
        </p:nvSpPr>
        <p:spPr>
          <a:xfrm>
            <a:off x="-1331912" y="-184150"/>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1" name="Google Shape;131;p16"/>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descr="D:\esprit 2014\ESPRIT 2014\charte essprit 2014\render\support final\triangle.png" id="132" name="Google Shape;132;p16"/>
          <p:cNvPicPr preferRelativeResize="0"/>
          <p:nvPr/>
        </p:nvPicPr>
        <p:blipFill rotWithShape="1">
          <a:blip r:embed="rId4">
            <a:alphaModFix/>
          </a:blip>
          <a:srcRect b="0" l="0" r="0" t="0"/>
          <a:stretch/>
        </p:blipFill>
        <p:spPr>
          <a:xfrm>
            <a:off x="7173912" y="157162"/>
            <a:ext cx="2000250" cy="1377950"/>
          </a:xfrm>
          <a:prstGeom prst="rect">
            <a:avLst/>
          </a:prstGeom>
          <a:noFill/>
          <a:ln>
            <a:noFill/>
          </a:ln>
        </p:spPr>
      </p:pic>
      <p:sp>
        <p:nvSpPr>
          <p:cNvPr id="133" name="Google Shape;133;p16"/>
          <p:cNvSpPr txBox="1"/>
          <p:nvPr/>
        </p:nvSpPr>
        <p:spPr>
          <a:xfrm>
            <a:off x="457200" y="11588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Arial"/>
              <a:buNone/>
            </a:pPr>
            <a:r>
              <a:rPr b="0" i="0" lang="en-US" sz="4400" u="none" cap="none" strike="noStrike">
                <a:solidFill>
                  <a:schemeClr val="dk1"/>
                </a:solidFill>
                <a:latin typeface="Arial"/>
                <a:ea typeface="Arial"/>
                <a:cs typeface="Arial"/>
                <a:sym typeface="Arial"/>
              </a:rPr>
              <a:t>C’est quoi le Web ?</a:t>
            </a:r>
            <a:endParaRPr b="0" i="0" sz="1400" u="none" cap="none" strike="noStrike">
              <a:solidFill>
                <a:srgbClr val="000000"/>
              </a:solidFill>
              <a:latin typeface="Arial"/>
              <a:ea typeface="Arial"/>
              <a:cs typeface="Arial"/>
              <a:sym typeface="Arial"/>
            </a:endParaRPr>
          </a:p>
        </p:txBody>
      </p:sp>
      <p:sp>
        <p:nvSpPr>
          <p:cNvPr id="134" name="Google Shape;134;p16"/>
          <p:cNvSpPr txBox="1"/>
          <p:nvPr/>
        </p:nvSpPr>
        <p:spPr>
          <a:xfrm>
            <a:off x="6462712" y="1854200"/>
            <a:ext cx="1833562" cy="100965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5" name="Google Shape;135;p16"/>
          <p:cNvSpPr/>
          <p:nvPr/>
        </p:nvSpPr>
        <p:spPr>
          <a:xfrm>
            <a:off x="8462962" y="2222500"/>
            <a:ext cx="665162" cy="123825"/>
          </a:xfrm>
          <a:custGeom>
            <a:rect b="b" l="l" r="r" t="t"/>
            <a:pathLst>
              <a:path extrusionOk="0" h="147319" w="534670">
                <a:moveTo>
                  <a:pt x="534669" y="0"/>
                </a:moveTo>
                <a:lnTo>
                  <a:pt x="0" y="0"/>
                </a:lnTo>
                <a:lnTo>
                  <a:pt x="0" y="146938"/>
                </a:lnTo>
                <a:lnTo>
                  <a:pt x="534669" y="146938"/>
                </a:lnTo>
                <a:lnTo>
                  <a:pt x="534669" y="0"/>
                </a:lnTo>
                <a:close/>
              </a:path>
            </a:pathLst>
          </a:custGeom>
          <a:solidFill>
            <a:srgbClr val="B1C1D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6" name="Google Shape;136;p16"/>
          <p:cNvSpPr/>
          <p:nvPr/>
        </p:nvSpPr>
        <p:spPr>
          <a:xfrm>
            <a:off x="8462962" y="2390775"/>
            <a:ext cx="665162" cy="123825"/>
          </a:xfrm>
          <a:custGeom>
            <a:rect b="b" l="l" r="r" t="t"/>
            <a:pathLst>
              <a:path extrusionOk="0" h="147319" w="534670">
                <a:moveTo>
                  <a:pt x="534669" y="0"/>
                </a:moveTo>
                <a:lnTo>
                  <a:pt x="0" y="0"/>
                </a:lnTo>
                <a:lnTo>
                  <a:pt x="0" y="146939"/>
                </a:lnTo>
                <a:lnTo>
                  <a:pt x="534669" y="146939"/>
                </a:lnTo>
                <a:lnTo>
                  <a:pt x="534669" y="0"/>
                </a:lnTo>
                <a:close/>
              </a:path>
            </a:pathLst>
          </a:custGeom>
          <a:solidFill>
            <a:srgbClr val="B1C1D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7" name="Google Shape;137;p16"/>
          <p:cNvSpPr txBox="1"/>
          <p:nvPr/>
        </p:nvSpPr>
        <p:spPr>
          <a:xfrm>
            <a:off x="7092950" y="3381375"/>
            <a:ext cx="965200" cy="928687"/>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8" name="Google Shape;138;p16"/>
          <p:cNvSpPr txBox="1"/>
          <p:nvPr/>
        </p:nvSpPr>
        <p:spPr>
          <a:xfrm>
            <a:off x="7302500" y="4283075"/>
            <a:ext cx="606425" cy="385762"/>
          </a:xfrm>
          <a:prstGeom prst="rect">
            <a:avLst/>
          </a:prstGeom>
          <a:noFill/>
          <a:ln>
            <a:noFill/>
          </a:ln>
        </p:spPr>
        <p:txBody>
          <a:bodyPr anchorCtr="0" anchor="t" bIns="0" lIns="0" spcFirstLastPara="1" rIns="0" wrap="square" tIns="16925">
            <a:spAutoFit/>
          </a:bodyPr>
          <a:lstStyle/>
          <a:p>
            <a:pPr indent="0" lvl="0" marL="15875" marR="0" rtl="0" algn="l">
              <a:lnSpc>
                <a:spcPct val="100000"/>
              </a:lnSpc>
              <a:spcBef>
                <a:spcPts val="0"/>
              </a:spcBef>
              <a:spcAft>
                <a:spcPts val="0"/>
              </a:spcAft>
              <a:buClr>
                <a:schemeClr val="dk1"/>
              </a:buClr>
              <a:buSzPts val="2400"/>
              <a:buFont typeface="Calibri"/>
              <a:buNone/>
            </a:pPr>
            <a:r>
              <a:rPr b="0" i="0" lang="en-US" sz="2400" u="none" cap="none" strike="noStrike">
                <a:solidFill>
                  <a:schemeClr val="dk1"/>
                </a:solidFill>
                <a:latin typeface="Calibri"/>
                <a:ea typeface="Calibri"/>
                <a:cs typeface="Calibri"/>
                <a:sym typeface="Calibri"/>
              </a:rPr>
              <a:t>Web</a:t>
            </a:r>
            <a:endParaRPr b="0" i="0" sz="1400" u="none" cap="none" strike="noStrike">
              <a:solidFill>
                <a:srgbClr val="000000"/>
              </a:solidFill>
              <a:latin typeface="Arial"/>
              <a:ea typeface="Arial"/>
              <a:cs typeface="Arial"/>
              <a:sym typeface="Arial"/>
            </a:endParaRPr>
          </a:p>
        </p:txBody>
      </p:sp>
      <p:sp>
        <p:nvSpPr>
          <p:cNvPr id="139" name="Google Shape;139;p16"/>
          <p:cNvSpPr txBox="1"/>
          <p:nvPr/>
        </p:nvSpPr>
        <p:spPr>
          <a:xfrm>
            <a:off x="5654675" y="3468687"/>
            <a:ext cx="768350" cy="752475"/>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0" name="Google Shape;140;p16"/>
          <p:cNvSpPr/>
          <p:nvPr/>
        </p:nvSpPr>
        <p:spPr>
          <a:xfrm>
            <a:off x="5065712" y="3581400"/>
            <a:ext cx="541337" cy="485775"/>
          </a:xfrm>
          <a:custGeom>
            <a:rect b="b" l="l" r="r" t="t"/>
            <a:pathLst>
              <a:path extrusionOk="0" h="458470" w="534670">
                <a:moveTo>
                  <a:pt x="534543" y="156210"/>
                </a:moveTo>
                <a:lnTo>
                  <a:pt x="340741" y="156210"/>
                </a:lnTo>
                <a:lnTo>
                  <a:pt x="340741" y="0"/>
                </a:lnTo>
                <a:lnTo>
                  <a:pt x="193802" y="0"/>
                </a:lnTo>
                <a:lnTo>
                  <a:pt x="193802" y="156210"/>
                </a:lnTo>
                <a:lnTo>
                  <a:pt x="0" y="156210"/>
                </a:lnTo>
                <a:lnTo>
                  <a:pt x="0" y="303530"/>
                </a:lnTo>
                <a:lnTo>
                  <a:pt x="193802" y="303530"/>
                </a:lnTo>
                <a:lnTo>
                  <a:pt x="193802" y="458470"/>
                </a:lnTo>
                <a:lnTo>
                  <a:pt x="340741" y="458470"/>
                </a:lnTo>
                <a:lnTo>
                  <a:pt x="340741" y="303530"/>
                </a:lnTo>
                <a:lnTo>
                  <a:pt x="534543" y="303530"/>
                </a:lnTo>
                <a:lnTo>
                  <a:pt x="534543" y="156210"/>
                </a:lnTo>
                <a:close/>
              </a:path>
            </a:pathLst>
          </a:custGeom>
          <a:solidFill>
            <a:srgbClr val="B1C1D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1" name="Google Shape;141;p16"/>
          <p:cNvSpPr txBox="1"/>
          <p:nvPr/>
        </p:nvSpPr>
        <p:spPr>
          <a:xfrm>
            <a:off x="5594350" y="4216400"/>
            <a:ext cx="969962" cy="385762"/>
          </a:xfrm>
          <a:prstGeom prst="rect">
            <a:avLst/>
          </a:prstGeom>
          <a:noFill/>
          <a:ln>
            <a:noFill/>
          </a:ln>
        </p:spPr>
        <p:txBody>
          <a:bodyPr anchorCtr="0" anchor="t" bIns="0" lIns="0" spcFirstLastPara="1" rIns="0" wrap="square" tIns="16925">
            <a:spAutoFit/>
          </a:bodyPr>
          <a:lstStyle/>
          <a:p>
            <a:pPr indent="0" lvl="0" marL="15875" marR="0" rtl="0" algn="l">
              <a:lnSpc>
                <a:spcPct val="100000"/>
              </a:lnSpc>
              <a:spcBef>
                <a:spcPts val="0"/>
              </a:spcBef>
              <a:spcAft>
                <a:spcPts val="0"/>
              </a:spcAft>
              <a:buClr>
                <a:schemeClr val="dk1"/>
              </a:buClr>
              <a:buSzPts val="2400"/>
              <a:buFont typeface="Calibri"/>
              <a:buNone/>
            </a:pPr>
            <a:r>
              <a:rPr b="0" i="0" lang="en-US" sz="2400" u="none" cap="none" strike="noStrike">
                <a:solidFill>
                  <a:schemeClr val="dk1"/>
                </a:solidFill>
                <a:latin typeface="Calibri"/>
                <a:ea typeface="Calibri"/>
                <a:cs typeface="Calibri"/>
                <a:sym typeface="Calibri"/>
              </a:rPr>
              <a:t>Fichiers</a:t>
            </a:r>
            <a:endParaRPr b="0" i="0" sz="1400" u="none" cap="none" strike="noStrike">
              <a:solidFill>
                <a:srgbClr val="000000"/>
              </a:solidFill>
              <a:latin typeface="Arial"/>
              <a:ea typeface="Arial"/>
              <a:cs typeface="Arial"/>
              <a:sym typeface="Arial"/>
            </a:endParaRPr>
          </a:p>
        </p:txBody>
      </p:sp>
      <p:sp>
        <p:nvSpPr>
          <p:cNvPr id="142" name="Google Shape;142;p16"/>
          <p:cNvSpPr txBox="1"/>
          <p:nvPr/>
        </p:nvSpPr>
        <p:spPr>
          <a:xfrm>
            <a:off x="3505200" y="3206750"/>
            <a:ext cx="1557337" cy="1071562"/>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3" name="Google Shape;143;p16"/>
          <p:cNvSpPr txBox="1"/>
          <p:nvPr/>
        </p:nvSpPr>
        <p:spPr>
          <a:xfrm>
            <a:off x="3571875" y="4173537"/>
            <a:ext cx="1519237" cy="385762"/>
          </a:xfrm>
          <a:prstGeom prst="rect">
            <a:avLst/>
          </a:prstGeom>
          <a:noFill/>
          <a:ln>
            <a:noFill/>
          </a:ln>
        </p:spPr>
        <p:txBody>
          <a:bodyPr anchorCtr="0" anchor="t" bIns="0" lIns="0" spcFirstLastPara="1" rIns="0" wrap="square" tIns="16925">
            <a:spAutoFit/>
          </a:bodyPr>
          <a:lstStyle/>
          <a:p>
            <a:pPr indent="0" lvl="0" marL="15875" marR="0" rtl="0" algn="l">
              <a:lnSpc>
                <a:spcPct val="100000"/>
              </a:lnSpc>
              <a:spcBef>
                <a:spcPts val="0"/>
              </a:spcBef>
              <a:spcAft>
                <a:spcPts val="0"/>
              </a:spcAft>
              <a:buClr>
                <a:schemeClr val="dk1"/>
              </a:buClr>
              <a:buSzPts val="2400"/>
              <a:buFont typeface="Calibri"/>
              <a:buNone/>
            </a:pPr>
            <a:r>
              <a:rPr b="0" i="0" lang="en-US" sz="2400" u="none" cap="none" strike="noStrike">
                <a:solidFill>
                  <a:schemeClr val="dk1"/>
                </a:solidFill>
                <a:latin typeface="Calibri"/>
                <a:ea typeface="Calibri"/>
                <a:cs typeface="Calibri"/>
                <a:sym typeface="Calibri"/>
              </a:rPr>
              <a:t>Service mail</a:t>
            </a:r>
            <a:endParaRPr b="0" i="0" sz="1400" u="none" cap="none" strike="noStrike">
              <a:solidFill>
                <a:srgbClr val="000000"/>
              </a:solidFill>
              <a:latin typeface="Arial"/>
              <a:ea typeface="Arial"/>
              <a:cs typeface="Arial"/>
              <a:sym typeface="Arial"/>
            </a:endParaRPr>
          </a:p>
        </p:txBody>
      </p:sp>
      <p:sp>
        <p:nvSpPr>
          <p:cNvPr id="144" name="Google Shape;144;p16"/>
          <p:cNvSpPr txBox="1"/>
          <p:nvPr/>
        </p:nvSpPr>
        <p:spPr>
          <a:xfrm>
            <a:off x="8648700" y="2857500"/>
            <a:ext cx="384175" cy="1249362"/>
          </a:xfrm>
          <a:prstGeom prst="rect">
            <a:avLst/>
          </a:prstGeom>
          <a:noFill/>
          <a:ln>
            <a:noFill/>
          </a:ln>
        </p:spPr>
        <p:txBody>
          <a:bodyPr anchorCtr="0" anchor="t" bIns="0" lIns="0" spcFirstLastPara="1" rIns="0" wrap="square" tIns="16925">
            <a:spAutoFit/>
          </a:bodyPr>
          <a:lstStyle/>
          <a:p>
            <a:pPr indent="0" lvl="0" marL="15875" marR="0" rtl="0" algn="l">
              <a:lnSpc>
                <a:spcPct val="100000"/>
              </a:lnSpc>
              <a:spcBef>
                <a:spcPts val="0"/>
              </a:spcBef>
              <a:spcAft>
                <a:spcPts val="0"/>
              </a:spcAft>
              <a:buClr>
                <a:schemeClr val="dk1"/>
              </a:buClr>
              <a:buSzPts val="8000"/>
              <a:buFont typeface="Calibri"/>
              <a:buNone/>
            </a:pPr>
            <a:r>
              <a:rPr b="0" i="0" lang="en-US" sz="80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45" name="Google Shape;145;p16"/>
          <p:cNvSpPr txBox="1"/>
          <p:nvPr/>
        </p:nvSpPr>
        <p:spPr>
          <a:xfrm>
            <a:off x="184150" y="1196975"/>
            <a:ext cx="6711300" cy="8310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L’internet c’est la mise en réseau mondial des ordinateurs</a:t>
            </a:r>
            <a:endParaRPr b="0" i="0" sz="1400" u="none" cap="none" strike="noStrike">
              <a:solidFill>
                <a:srgbClr val="000000"/>
              </a:solidFill>
              <a:latin typeface="Arial"/>
              <a:ea typeface="Arial"/>
              <a:cs typeface="Arial"/>
              <a:sym typeface="Arial"/>
            </a:endParaRPr>
          </a:p>
        </p:txBody>
      </p:sp>
      <p:sp>
        <p:nvSpPr>
          <p:cNvPr id="146" name="Google Shape;146;p16"/>
          <p:cNvSpPr txBox="1"/>
          <p:nvPr/>
        </p:nvSpPr>
        <p:spPr>
          <a:xfrm>
            <a:off x="174625" y="1990725"/>
            <a:ext cx="5888037" cy="120015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L’internet dispose de plusieurs applications pour l’échange de courriels (smtp-pop), le partage de fichiers (ftp), le Web, …</a:t>
            </a:r>
            <a:endParaRPr b="0" i="0" sz="1400" u="none" cap="none" strike="noStrike">
              <a:solidFill>
                <a:srgbClr val="000000"/>
              </a:solidFill>
              <a:latin typeface="Arial"/>
              <a:ea typeface="Arial"/>
              <a:cs typeface="Arial"/>
              <a:sym typeface="Arial"/>
            </a:endParaRPr>
          </a:p>
        </p:txBody>
      </p:sp>
      <p:sp>
        <p:nvSpPr>
          <p:cNvPr id="147" name="Google Shape;147;p16"/>
          <p:cNvSpPr txBox="1"/>
          <p:nvPr/>
        </p:nvSpPr>
        <p:spPr>
          <a:xfrm>
            <a:off x="457200" y="5287950"/>
            <a:ext cx="8367300" cy="831900"/>
          </a:xfrm>
          <a:prstGeom prst="rect">
            <a:avLst/>
          </a:prstGeom>
          <a:noFill/>
          <a:ln>
            <a:noFill/>
          </a:ln>
        </p:spPr>
        <p:txBody>
          <a:bodyPr anchorCtr="0" anchor="t" bIns="45700" lIns="91425" spcFirstLastPara="1" rIns="91425" wrap="square" tIns="45700">
            <a:spAutoFit/>
          </a:bodyPr>
          <a:lstStyle/>
          <a:p>
            <a:pPr indent="-381000" lvl="0" marL="457200" marR="0" rtl="0" algn="l">
              <a:lnSpc>
                <a:spcPct val="100000"/>
              </a:lnSpc>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Le Web n’est qu’une des applications d’Internet qui vise à favoriser l’échange de documents et de données.</a:t>
            </a:r>
            <a:endParaRPr b="0" i="0" sz="1400" u="none" cap="none" strike="noStrike">
              <a:solidFill>
                <a:srgbClr val="000000"/>
              </a:solidFill>
              <a:latin typeface="Arial"/>
              <a:ea typeface="Arial"/>
              <a:cs typeface="Arial"/>
              <a:sym typeface="Arial"/>
            </a:endParaRPr>
          </a:p>
        </p:txBody>
      </p:sp>
      <p:sp>
        <p:nvSpPr>
          <p:cNvPr id="148" name="Google Shape;148;p16"/>
          <p:cNvSpPr/>
          <p:nvPr/>
        </p:nvSpPr>
        <p:spPr>
          <a:xfrm>
            <a:off x="6446837" y="3524250"/>
            <a:ext cx="539750" cy="487362"/>
          </a:xfrm>
          <a:custGeom>
            <a:rect b="b" l="l" r="r" t="t"/>
            <a:pathLst>
              <a:path extrusionOk="0" h="458470" w="534670">
                <a:moveTo>
                  <a:pt x="534543" y="156210"/>
                </a:moveTo>
                <a:lnTo>
                  <a:pt x="340741" y="156210"/>
                </a:lnTo>
                <a:lnTo>
                  <a:pt x="340741" y="0"/>
                </a:lnTo>
                <a:lnTo>
                  <a:pt x="193802" y="0"/>
                </a:lnTo>
                <a:lnTo>
                  <a:pt x="193802" y="156210"/>
                </a:lnTo>
                <a:lnTo>
                  <a:pt x="0" y="156210"/>
                </a:lnTo>
                <a:lnTo>
                  <a:pt x="0" y="303530"/>
                </a:lnTo>
                <a:lnTo>
                  <a:pt x="193802" y="303530"/>
                </a:lnTo>
                <a:lnTo>
                  <a:pt x="193802" y="458470"/>
                </a:lnTo>
                <a:lnTo>
                  <a:pt x="340741" y="458470"/>
                </a:lnTo>
                <a:lnTo>
                  <a:pt x="340741" y="303530"/>
                </a:lnTo>
                <a:lnTo>
                  <a:pt x="534543" y="303530"/>
                </a:lnTo>
                <a:lnTo>
                  <a:pt x="534543" y="156210"/>
                </a:lnTo>
                <a:close/>
              </a:path>
            </a:pathLst>
          </a:custGeom>
          <a:solidFill>
            <a:srgbClr val="B1C1D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9" name="Google Shape;149;p16"/>
          <p:cNvSpPr/>
          <p:nvPr/>
        </p:nvSpPr>
        <p:spPr>
          <a:xfrm>
            <a:off x="8162925" y="3533775"/>
            <a:ext cx="541337" cy="485775"/>
          </a:xfrm>
          <a:custGeom>
            <a:rect b="b" l="l" r="r" t="t"/>
            <a:pathLst>
              <a:path extrusionOk="0" h="458470" w="534670">
                <a:moveTo>
                  <a:pt x="534543" y="156210"/>
                </a:moveTo>
                <a:lnTo>
                  <a:pt x="340741" y="156210"/>
                </a:lnTo>
                <a:lnTo>
                  <a:pt x="340741" y="0"/>
                </a:lnTo>
                <a:lnTo>
                  <a:pt x="193802" y="0"/>
                </a:lnTo>
                <a:lnTo>
                  <a:pt x="193802" y="156210"/>
                </a:lnTo>
                <a:lnTo>
                  <a:pt x="0" y="156210"/>
                </a:lnTo>
                <a:lnTo>
                  <a:pt x="0" y="303530"/>
                </a:lnTo>
                <a:lnTo>
                  <a:pt x="193802" y="303530"/>
                </a:lnTo>
                <a:lnTo>
                  <a:pt x="193802" y="458470"/>
                </a:lnTo>
                <a:lnTo>
                  <a:pt x="340741" y="458470"/>
                </a:lnTo>
                <a:lnTo>
                  <a:pt x="340741" y="303530"/>
                </a:lnTo>
                <a:lnTo>
                  <a:pt x="534543" y="303530"/>
                </a:lnTo>
                <a:lnTo>
                  <a:pt x="534543" y="156210"/>
                </a:lnTo>
                <a:close/>
              </a:path>
            </a:pathLst>
          </a:custGeom>
          <a:solidFill>
            <a:srgbClr val="B1C1D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150" name="Google Shape;150;p16"/>
          <p:cNvPicPr preferRelativeResize="0"/>
          <p:nvPr/>
        </p:nvPicPr>
        <p:blipFill rotWithShape="1">
          <a:blip r:embed="rId9">
            <a:alphaModFix/>
          </a:blip>
          <a:srcRect b="0" l="0" r="0" t="0"/>
          <a:stretch/>
        </p:blipFill>
        <p:spPr>
          <a:xfrm>
            <a:off x="457200" y="6467463"/>
            <a:ext cx="1085850" cy="390525"/>
          </a:xfrm>
          <a:prstGeom prst="rect">
            <a:avLst/>
          </a:prstGeom>
          <a:noFill/>
          <a:ln>
            <a:noFill/>
          </a:ln>
        </p:spPr>
      </p:pic>
      <p:sp>
        <p:nvSpPr>
          <p:cNvPr id="151" name="Google Shape;151;p1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1200"/>
              <a:buFont typeface="Calibri"/>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400">
              <a:solidFill>
                <a:schemeClr val="dk1"/>
              </a:solidFill>
              <a:latin typeface="Calibri"/>
              <a:ea typeface="Calibri"/>
              <a:cs typeface="Calibri"/>
              <a:sym typeface="Calibri"/>
            </a:endParaRPr>
          </a:p>
        </p:txBody>
      </p:sp>
      <p:pic>
        <p:nvPicPr>
          <p:cNvPr id="157" name="Google Shape;157;p17"/>
          <p:cNvPicPr preferRelativeResize="0"/>
          <p:nvPr/>
        </p:nvPicPr>
        <p:blipFill rotWithShape="1">
          <a:blip r:embed="rId3">
            <a:alphaModFix/>
          </a:blip>
          <a:srcRect b="0" l="0" r="0" t="0"/>
          <a:stretch/>
        </p:blipFill>
        <p:spPr>
          <a:xfrm>
            <a:off x="0" y="-71437"/>
            <a:ext cx="9326562" cy="7056437"/>
          </a:xfrm>
          <a:prstGeom prst="rect">
            <a:avLst/>
          </a:prstGeom>
          <a:noFill/>
          <a:ln>
            <a:noFill/>
          </a:ln>
        </p:spPr>
      </p:pic>
      <p:sp>
        <p:nvSpPr>
          <p:cNvPr id="158" name="Google Shape;158;p17"/>
          <p:cNvSpPr txBox="1"/>
          <p:nvPr/>
        </p:nvSpPr>
        <p:spPr>
          <a:xfrm>
            <a:off x="-1331912" y="-184150"/>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9" name="Google Shape;159;p17"/>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descr="D:\esprit 2014\ESPRIT 2014\charte essprit 2014\render\support final\triangle.png" id="160" name="Google Shape;160;p17"/>
          <p:cNvPicPr preferRelativeResize="0"/>
          <p:nvPr/>
        </p:nvPicPr>
        <p:blipFill rotWithShape="1">
          <a:blip r:embed="rId4">
            <a:alphaModFix/>
          </a:blip>
          <a:srcRect b="0" l="0" r="0" t="0"/>
          <a:stretch/>
        </p:blipFill>
        <p:spPr>
          <a:xfrm>
            <a:off x="7173912" y="157162"/>
            <a:ext cx="2000250" cy="1377950"/>
          </a:xfrm>
          <a:prstGeom prst="rect">
            <a:avLst/>
          </a:prstGeom>
          <a:noFill/>
          <a:ln>
            <a:noFill/>
          </a:ln>
        </p:spPr>
      </p:pic>
      <p:sp>
        <p:nvSpPr>
          <p:cNvPr id="161" name="Google Shape;161;p17"/>
          <p:cNvSpPr txBox="1"/>
          <p:nvPr/>
        </p:nvSpPr>
        <p:spPr>
          <a:xfrm>
            <a:off x="457200" y="11588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Arial"/>
              <a:buNone/>
            </a:pPr>
            <a:r>
              <a:rPr b="0" i="0" lang="en-US" sz="4400" u="none" cap="none" strike="noStrike">
                <a:solidFill>
                  <a:schemeClr val="dk1"/>
                </a:solidFill>
                <a:latin typeface="Arial"/>
                <a:ea typeface="Arial"/>
                <a:cs typeface="Arial"/>
                <a:sym typeface="Arial"/>
              </a:rPr>
              <a:t>C’est quoi le Web ?</a:t>
            </a:r>
            <a:endParaRPr b="0" i="0" sz="1400" u="none" cap="none" strike="noStrike">
              <a:solidFill>
                <a:srgbClr val="000000"/>
              </a:solidFill>
              <a:latin typeface="Arial"/>
              <a:ea typeface="Arial"/>
              <a:cs typeface="Arial"/>
              <a:sym typeface="Arial"/>
            </a:endParaRPr>
          </a:p>
        </p:txBody>
      </p:sp>
      <p:pic>
        <p:nvPicPr>
          <p:cNvPr id="162" name="Google Shape;162;p17"/>
          <p:cNvPicPr preferRelativeResize="0"/>
          <p:nvPr/>
        </p:nvPicPr>
        <p:blipFill rotWithShape="1">
          <a:blip r:embed="rId5">
            <a:alphaModFix/>
          </a:blip>
          <a:srcRect b="0" l="0" r="0" t="0"/>
          <a:stretch/>
        </p:blipFill>
        <p:spPr>
          <a:xfrm>
            <a:off x="504825" y="1409700"/>
            <a:ext cx="8316912" cy="3646487"/>
          </a:xfrm>
          <a:prstGeom prst="rect">
            <a:avLst/>
          </a:prstGeom>
          <a:noFill/>
          <a:ln>
            <a:noFill/>
          </a:ln>
        </p:spPr>
      </p:pic>
      <p:sp>
        <p:nvSpPr>
          <p:cNvPr id="163" name="Google Shape;163;p17"/>
          <p:cNvSpPr txBox="1"/>
          <p:nvPr/>
        </p:nvSpPr>
        <p:spPr>
          <a:xfrm>
            <a:off x="214312" y="5184775"/>
            <a:ext cx="9418637" cy="8318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C’est une grande bibliothèque virtuelle composée de documents appelés « ressources »</a:t>
            </a:r>
            <a:endParaRPr b="0" i="0" sz="1400" u="none" cap="none" strike="noStrike">
              <a:solidFill>
                <a:srgbClr val="000000"/>
              </a:solidFill>
              <a:latin typeface="Arial"/>
              <a:ea typeface="Arial"/>
              <a:cs typeface="Arial"/>
              <a:sym typeface="Arial"/>
            </a:endParaRPr>
          </a:p>
        </p:txBody>
      </p:sp>
      <p:pic>
        <p:nvPicPr>
          <p:cNvPr id="164" name="Google Shape;164;p17"/>
          <p:cNvPicPr preferRelativeResize="0"/>
          <p:nvPr/>
        </p:nvPicPr>
        <p:blipFill rotWithShape="1">
          <a:blip r:embed="rId6">
            <a:alphaModFix/>
          </a:blip>
          <a:srcRect b="0" l="0" r="0" t="0"/>
          <a:stretch/>
        </p:blipFill>
        <p:spPr>
          <a:xfrm>
            <a:off x="295825" y="6467463"/>
            <a:ext cx="1085850" cy="390525"/>
          </a:xfrm>
          <a:prstGeom prst="rect">
            <a:avLst/>
          </a:prstGeom>
          <a:noFill/>
          <a:ln>
            <a:noFill/>
          </a:ln>
        </p:spPr>
      </p:pic>
      <p:sp>
        <p:nvSpPr>
          <p:cNvPr id="165" name="Google Shape;165;p1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t/>
            </a:r>
            <a:endParaRPr/>
          </a:p>
        </p:txBody>
      </p:sp>
      <p:sp>
        <p:nvSpPr>
          <p:cNvPr id="166" name="Google Shape;166;p1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1200"/>
              <a:buFont typeface="Calibri"/>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400">
              <a:solidFill>
                <a:schemeClr val="dk1"/>
              </a:solidFill>
              <a:latin typeface="Calibri"/>
              <a:ea typeface="Calibri"/>
              <a:cs typeface="Calibri"/>
              <a:sym typeface="Calibri"/>
            </a:endParaRPr>
          </a:p>
        </p:txBody>
      </p:sp>
      <p:pic>
        <p:nvPicPr>
          <p:cNvPr id="172" name="Google Shape;172;p18"/>
          <p:cNvPicPr preferRelativeResize="0"/>
          <p:nvPr/>
        </p:nvPicPr>
        <p:blipFill rotWithShape="1">
          <a:blip r:embed="rId3">
            <a:alphaModFix/>
          </a:blip>
          <a:srcRect b="0" l="0" r="0" t="0"/>
          <a:stretch/>
        </p:blipFill>
        <p:spPr>
          <a:xfrm>
            <a:off x="-92075" y="0"/>
            <a:ext cx="9326562" cy="7056437"/>
          </a:xfrm>
          <a:prstGeom prst="rect">
            <a:avLst/>
          </a:prstGeom>
          <a:noFill/>
          <a:ln>
            <a:noFill/>
          </a:ln>
        </p:spPr>
      </p:pic>
      <p:sp>
        <p:nvSpPr>
          <p:cNvPr id="173" name="Google Shape;173;p18"/>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descr="D:\esprit 2014\ESPRIT 2014\charte essprit 2014\render\support final\triangle.png" id="174" name="Google Shape;174;p18"/>
          <p:cNvPicPr preferRelativeResize="0"/>
          <p:nvPr/>
        </p:nvPicPr>
        <p:blipFill rotWithShape="1">
          <a:blip r:embed="rId4">
            <a:alphaModFix/>
          </a:blip>
          <a:srcRect b="0" l="0" r="0" t="0"/>
          <a:stretch/>
        </p:blipFill>
        <p:spPr>
          <a:xfrm>
            <a:off x="7173912" y="157162"/>
            <a:ext cx="2000250" cy="1377950"/>
          </a:xfrm>
          <a:prstGeom prst="rect">
            <a:avLst/>
          </a:prstGeom>
          <a:noFill/>
          <a:ln>
            <a:noFill/>
          </a:ln>
        </p:spPr>
      </p:pic>
      <p:sp>
        <p:nvSpPr>
          <p:cNvPr id="175" name="Google Shape;175;p18"/>
          <p:cNvSpPr txBox="1"/>
          <p:nvPr/>
        </p:nvSpPr>
        <p:spPr>
          <a:xfrm>
            <a:off x="457200" y="1692275"/>
            <a:ext cx="8161337" cy="3416279"/>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Le world wide web est un système hypertexte permettant de visiter des pages (</a:t>
            </a:r>
            <a:r>
              <a:rPr b="1" i="0" lang="en-US" sz="2400" u="none" cap="none" strike="noStrike">
                <a:solidFill>
                  <a:schemeClr val="dk1"/>
                </a:solidFill>
                <a:latin typeface="Arial"/>
                <a:ea typeface="Arial"/>
                <a:cs typeface="Arial"/>
                <a:sym typeface="Arial"/>
              </a:rPr>
              <a:t>Hyperdocuments</a:t>
            </a:r>
            <a:r>
              <a:rPr b="0" i="0" lang="en-US" sz="2400" u="none" cap="none" strike="noStrike">
                <a:solidFill>
                  <a:schemeClr val="dk1"/>
                </a:solidFill>
                <a:latin typeface="Arial"/>
                <a:ea typeface="Arial"/>
                <a:cs typeface="Arial"/>
                <a:sym typeface="Arial"/>
              </a:rPr>
              <a:t>), principalement à l’aide d’un </a:t>
            </a:r>
            <a:r>
              <a:rPr b="1" i="0" lang="en-US" sz="2400" u="none" cap="none" strike="noStrike">
                <a:solidFill>
                  <a:schemeClr val="dk1"/>
                </a:solidFill>
                <a:latin typeface="Arial"/>
                <a:ea typeface="Arial"/>
                <a:cs typeface="Arial"/>
                <a:sym typeface="Arial"/>
              </a:rPr>
              <a:t>navigateur</a:t>
            </a:r>
            <a:r>
              <a:rPr b="0" i="0" lang="en-US" sz="2400" u="none" cap="none" strike="noStrike">
                <a:solidFill>
                  <a:schemeClr val="dk1"/>
                </a:solidFill>
                <a:latin typeface="Arial"/>
                <a:ea typeface="Arial"/>
                <a:cs typeface="Arial"/>
                <a:sym typeface="Arial"/>
              </a:rPr>
              <a:t> sur le réseau Internet. </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Il met en oeuvre le protocole </a:t>
            </a:r>
            <a:r>
              <a:rPr b="1" i="0" lang="en-US" sz="2400" u="none" cap="none" strike="noStrike">
                <a:solidFill>
                  <a:schemeClr val="dk1"/>
                </a:solidFill>
                <a:latin typeface="Arial"/>
                <a:ea typeface="Arial"/>
                <a:cs typeface="Arial"/>
                <a:sym typeface="Arial"/>
              </a:rPr>
              <a:t>HTTP</a:t>
            </a:r>
            <a:r>
              <a:rPr b="0" i="0" lang="en-US" sz="2400" u="none" cap="none" strike="noStrike">
                <a:solidFill>
                  <a:schemeClr val="dk1"/>
                </a:solidFill>
                <a:latin typeface="Arial"/>
                <a:ea typeface="Arial"/>
                <a:cs typeface="Arial"/>
                <a:sym typeface="Arial"/>
              </a:rPr>
              <a:t>, les formats HTML, CSS, JPEG...). </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Le web utilise internet pour transporter les données.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176" name="Google Shape;176;p18"/>
          <p:cNvSpPr txBox="1"/>
          <p:nvPr/>
        </p:nvSpPr>
        <p:spPr>
          <a:xfrm>
            <a:off x="457200" y="115887"/>
            <a:ext cx="8229600" cy="11430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1"/>
                </a:solidFill>
                <a:latin typeface="Arial"/>
                <a:ea typeface="Arial"/>
                <a:cs typeface="Arial"/>
                <a:sym typeface="Arial"/>
              </a:rPr>
              <a:t>C’est quoi le Web ?</a:t>
            </a:r>
            <a:endParaRPr b="0" i="0" sz="4400" u="none" cap="none" strike="noStrike">
              <a:solidFill>
                <a:srgbClr val="000000"/>
              </a:solidFill>
              <a:latin typeface="Arial"/>
              <a:ea typeface="Arial"/>
              <a:cs typeface="Arial"/>
              <a:sym typeface="Arial"/>
            </a:endParaRPr>
          </a:p>
        </p:txBody>
      </p:sp>
      <p:pic>
        <p:nvPicPr>
          <p:cNvPr id="177" name="Google Shape;177;p18"/>
          <p:cNvPicPr preferRelativeResize="0"/>
          <p:nvPr/>
        </p:nvPicPr>
        <p:blipFill rotWithShape="1">
          <a:blip r:embed="rId5">
            <a:alphaModFix/>
          </a:blip>
          <a:srcRect b="0" l="0" r="0" t="0"/>
          <a:stretch/>
        </p:blipFill>
        <p:spPr>
          <a:xfrm>
            <a:off x="457200" y="6343638"/>
            <a:ext cx="1085850" cy="390525"/>
          </a:xfrm>
          <a:prstGeom prst="rect">
            <a:avLst/>
          </a:prstGeom>
          <a:noFill/>
          <a:ln>
            <a:noFill/>
          </a:ln>
        </p:spPr>
      </p:pic>
      <p:sp>
        <p:nvSpPr>
          <p:cNvPr id="178" name="Google Shape;178;p18"/>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t/>
            </a:r>
            <a:endParaRPr/>
          </a:p>
        </p:txBody>
      </p:sp>
      <p:sp>
        <p:nvSpPr>
          <p:cNvPr id="179" name="Google Shape;179;p1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1200"/>
              <a:buFont typeface="Calibri"/>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400">
              <a:solidFill>
                <a:schemeClr val="dk1"/>
              </a:solidFill>
              <a:latin typeface="Calibri"/>
              <a:ea typeface="Calibri"/>
              <a:cs typeface="Calibri"/>
              <a:sym typeface="Calibri"/>
            </a:endParaRPr>
          </a:p>
        </p:txBody>
      </p:sp>
      <p:pic>
        <p:nvPicPr>
          <p:cNvPr id="185" name="Google Shape;185;p19"/>
          <p:cNvPicPr preferRelativeResize="0"/>
          <p:nvPr/>
        </p:nvPicPr>
        <p:blipFill rotWithShape="1">
          <a:blip r:embed="rId3">
            <a:alphaModFix/>
          </a:blip>
          <a:srcRect b="0" l="0" r="0" t="0"/>
          <a:stretch/>
        </p:blipFill>
        <p:spPr>
          <a:xfrm>
            <a:off x="-92075" y="-184150"/>
            <a:ext cx="9326562" cy="7056437"/>
          </a:xfrm>
          <a:prstGeom prst="rect">
            <a:avLst/>
          </a:prstGeom>
          <a:noFill/>
          <a:ln>
            <a:noFill/>
          </a:ln>
        </p:spPr>
      </p:pic>
      <p:sp>
        <p:nvSpPr>
          <p:cNvPr id="186" name="Google Shape;186;p19"/>
          <p:cNvSpPr txBox="1"/>
          <p:nvPr/>
        </p:nvSpPr>
        <p:spPr>
          <a:xfrm>
            <a:off x="-1331912" y="-184150"/>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7" name="Google Shape;187;p19"/>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descr="D:\esprit 2014\ESPRIT 2014\charte essprit 2014\render\support final\triangle.png" id="188" name="Google Shape;188;p19"/>
          <p:cNvPicPr preferRelativeResize="0"/>
          <p:nvPr/>
        </p:nvPicPr>
        <p:blipFill rotWithShape="1">
          <a:blip r:embed="rId4">
            <a:alphaModFix/>
          </a:blip>
          <a:srcRect b="0" l="0" r="0" t="0"/>
          <a:stretch/>
        </p:blipFill>
        <p:spPr>
          <a:xfrm>
            <a:off x="7173912" y="157162"/>
            <a:ext cx="2000250" cy="1377950"/>
          </a:xfrm>
          <a:prstGeom prst="rect">
            <a:avLst/>
          </a:prstGeom>
          <a:noFill/>
          <a:ln>
            <a:noFill/>
          </a:ln>
        </p:spPr>
      </p:pic>
      <p:sp>
        <p:nvSpPr>
          <p:cNvPr id="189" name="Google Shape;189;p19"/>
          <p:cNvSpPr txBox="1"/>
          <p:nvPr/>
        </p:nvSpPr>
        <p:spPr>
          <a:xfrm>
            <a:off x="457200" y="115887"/>
            <a:ext cx="8229600" cy="11430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Historique et évolution du Web</a:t>
            </a:r>
            <a:endParaRPr b="0" i="0" sz="1400" u="none" cap="none" strike="noStrike">
              <a:solidFill>
                <a:srgbClr val="000000"/>
              </a:solidFill>
              <a:latin typeface="Arial"/>
              <a:ea typeface="Arial"/>
              <a:cs typeface="Arial"/>
              <a:sym typeface="Arial"/>
            </a:endParaRPr>
          </a:p>
        </p:txBody>
      </p:sp>
      <p:sp>
        <p:nvSpPr>
          <p:cNvPr id="190" name="Google Shape;190;p19"/>
          <p:cNvSpPr txBox="1"/>
          <p:nvPr/>
        </p:nvSpPr>
        <p:spPr>
          <a:xfrm>
            <a:off x="609600" y="1704975"/>
            <a:ext cx="8305800" cy="40941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a:p>
            <a:pPr indent="-152400" lvl="0" marL="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Création du web (et non pas internet) par Tim Berners-Lee en 1991 en créant le W3C (world Wide Web Consortium) qui définit les nouvelles versions des langages liées au web.</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152400" lvl="0" marL="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Il a créé aussi par la suite le World Wide Web foundation qui analyse et suit l’évolution du web.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152400" lvl="0" marL="0" marR="0" rtl="0" algn="just">
              <a:lnSpc>
                <a:spcPct val="100000"/>
              </a:lnSpc>
              <a:spcBef>
                <a:spcPts val="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L'idée c’était de lire des hyperdocuments à l'aide d'un navigateur. </a:t>
            </a:r>
            <a:endParaRPr b="0" i="0" sz="1400" u="none" cap="none" strike="noStrike">
              <a:solidFill>
                <a:srgbClr val="000000"/>
              </a:solidFill>
              <a:latin typeface="Arial"/>
              <a:ea typeface="Arial"/>
              <a:cs typeface="Arial"/>
              <a:sym typeface="Arial"/>
            </a:endParaRPr>
          </a:p>
        </p:txBody>
      </p:sp>
      <p:pic>
        <p:nvPicPr>
          <p:cNvPr id="191" name="Google Shape;191;p19"/>
          <p:cNvPicPr preferRelativeResize="0"/>
          <p:nvPr/>
        </p:nvPicPr>
        <p:blipFill rotWithShape="1">
          <a:blip r:embed="rId5">
            <a:alphaModFix/>
          </a:blip>
          <a:srcRect b="0" l="0" r="0" t="0"/>
          <a:stretch/>
        </p:blipFill>
        <p:spPr>
          <a:xfrm>
            <a:off x="457200" y="6086463"/>
            <a:ext cx="1085850" cy="390525"/>
          </a:xfrm>
          <a:prstGeom prst="rect">
            <a:avLst/>
          </a:prstGeom>
          <a:noFill/>
          <a:ln>
            <a:noFill/>
          </a:ln>
        </p:spPr>
      </p:pic>
      <p:sp>
        <p:nvSpPr>
          <p:cNvPr id="192" name="Google Shape;192;p19"/>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t/>
            </a:r>
            <a:endParaRPr/>
          </a:p>
        </p:txBody>
      </p:sp>
      <p:sp>
        <p:nvSpPr>
          <p:cNvPr id="193" name="Google Shape;193;p1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1200"/>
              <a:buFont typeface="Calibri"/>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400">
              <a:solidFill>
                <a:schemeClr val="dk1"/>
              </a:solidFill>
              <a:latin typeface="Calibri"/>
              <a:ea typeface="Calibri"/>
              <a:cs typeface="Calibri"/>
              <a:sym typeface="Calibri"/>
            </a:endParaRPr>
          </a:p>
        </p:txBody>
      </p:sp>
      <p:pic>
        <p:nvPicPr>
          <p:cNvPr id="199" name="Google Shape;199;p20"/>
          <p:cNvPicPr preferRelativeResize="0"/>
          <p:nvPr/>
        </p:nvPicPr>
        <p:blipFill rotWithShape="1">
          <a:blip r:embed="rId3">
            <a:alphaModFix/>
          </a:blip>
          <a:srcRect b="0" l="0" r="0" t="0"/>
          <a:stretch/>
        </p:blipFill>
        <p:spPr>
          <a:xfrm>
            <a:off x="-30162" y="-6350"/>
            <a:ext cx="9326562" cy="7056437"/>
          </a:xfrm>
          <a:prstGeom prst="rect">
            <a:avLst/>
          </a:prstGeom>
          <a:noFill/>
          <a:ln>
            <a:noFill/>
          </a:ln>
        </p:spPr>
      </p:pic>
      <p:sp>
        <p:nvSpPr>
          <p:cNvPr id="200" name="Google Shape;200;p20"/>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descr="D:\esprit 2014\ESPRIT 2014\charte essprit 2014\render\support final\triangle.png" id="201" name="Google Shape;201;p20"/>
          <p:cNvPicPr preferRelativeResize="0"/>
          <p:nvPr/>
        </p:nvPicPr>
        <p:blipFill rotWithShape="1">
          <a:blip r:embed="rId4">
            <a:alphaModFix/>
          </a:blip>
          <a:srcRect b="0" l="0" r="0" t="0"/>
          <a:stretch/>
        </p:blipFill>
        <p:spPr>
          <a:xfrm>
            <a:off x="7173912" y="157162"/>
            <a:ext cx="2000250" cy="1377950"/>
          </a:xfrm>
          <a:prstGeom prst="rect">
            <a:avLst/>
          </a:prstGeom>
          <a:noFill/>
          <a:ln>
            <a:noFill/>
          </a:ln>
        </p:spPr>
      </p:pic>
      <p:sp>
        <p:nvSpPr>
          <p:cNvPr id="202" name="Google Shape;202;p20"/>
          <p:cNvSpPr txBox="1"/>
          <p:nvPr/>
        </p:nvSpPr>
        <p:spPr>
          <a:xfrm>
            <a:off x="457200" y="115887"/>
            <a:ext cx="8229600" cy="11430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Historique et évolution du Web</a:t>
            </a:r>
            <a:endParaRPr b="0" i="0" sz="1400" u="none" cap="none" strike="noStrike">
              <a:solidFill>
                <a:srgbClr val="000000"/>
              </a:solidFill>
              <a:latin typeface="Arial"/>
              <a:ea typeface="Arial"/>
              <a:cs typeface="Arial"/>
              <a:sym typeface="Arial"/>
            </a:endParaRPr>
          </a:p>
        </p:txBody>
      </p:sp>
      <p:pic>
        <p:nvPicPr>
          <p:cNvPr id="203" name="Google Shape;203;p20"/>
          <p:cNvPicPr preferRelativeResize="0"/>
          <p:nvPr/>
        </p:nvPicPr>
        <p:blipFill rotWithShape="1">
          <a:blip r:embed="rId5">
            <a:alphaModFix/>
          </a:blip>
          <a:srcRect b="0" l="0" r="0" t="0"/>
          <a:stretch/>
        </p:blipFill>
        <p:spPr>
          <a:xfrm>
            <a:off x="604837" y="1482725"/>
            <a:ext cx="8056562" cy="4714875"/>
          </a:xfrm>
          <a:prstGeom prst="rect">
            <a:avLst/>
          </a:prstGeom>
          <a:noFill/>
          <a:ln>
            <a:noFill/>
          </a:ln>
        </p:spPr>
      </p:pic>
      <p:pic>
        <p:nvPicPr>
          <p:cNvPr id="204" name="Google Shape;204;p20"/>
          <p:cNvPicPr preferRelativeResize="0"/>
          <p:nvPr/>
        </p:nvPicPr>
        <p:blipFill rotWithShape="1">
          <a:blip r:embed="rId6">
            <a:alphaModFix/>
          </a:blip>
          <a:srcRect b="0" l="0" r="0" t="0"/>
          <a:stretch/>
        </p:blipFill>
        <p:spPr>
          <a:xfrm>
            <a:off x="457200" y="6467463"/>
            <a:ext cx="1085850" cy="390525"/>
          </a:xfrm>
          <a:prstGeom prst="rect">
            <a:avLst/>
          </a:prstGeom>
          <a:noFill/>
          <a:ln>
            <a:noFill/>
          </a:ln>
        </p:spPr>
      </p:pic>
      <p:sp>
        <p:nvSpPr>
          <p:cNvPr id="205" name="Google Shape;205;p20"/>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t/>
            </a:r>
            <a:endParaRPr/>
          </a:p>
        </p:txBody>
      </p:sp>
      <p:sp>
        <p:nvSpPr>
          <p:cNvPr id="206" name="Google Shape;206;p2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1200"/>
              <a:buFont typeface="Calibri"/>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400">
              <a:solidFill>
                <a:schemeClr val="dk1"/>
              </a:solidFill>
              <a:latin typeface="Calibri"/>
              <a:ea typeface="Calibri"/>
              <a:cs typeface="Calibri"/>
              <a:sym typeface="Calibri"/>
            </a:endParaRPr>
          </a:p>
        </p:txBody>
      </p:sp>
      <p:pic>
        <p:nvPicPr>
          <p:cNvPr id="212" name="Google Shape;212;p21"/>
          <p:cNvPicPr preferRelativeResize="0"/>
          <p:nvPr/>
        </p:nvPicPr>
        <p:blipFill rotWithShape="1">
          <a:blip r:embed="rId3">
            <a:alphaModFix/>
          </a:blip>
          <a:srcRect b="0" l="0" r="0" t="0"/>
          <a:stretch/>
        </p:blipFill>
        <p:spPr>
          <a:xfrm>
            <a:off x="-92075" y="-149225"/>
            <a:ext cx="9326562" cy="7056437"/>
          </a:xfrm>
          <a:prstGeom prst="rect">
            <a:avLst/>
          </a:prstGeom>
          <a:noFill/>
          <a:ln>
            <a:noFill/>
          </a:ln>
        </p:spPr>
      </p:pic>
      <p:sp>
        <p:nvSpPr>
          <p:cNvPr id="213" name="Google Shape;213;p21"/>
          <p:cNvSpPr txBox="1"/>
          <p:nvPr/>
        </p:nvSpPr>
        <p:spPr>
          <a:xfrm>
            <a:off x="-1331912" y="-184150"/>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4" name="Google Shape;214;p21"/>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descr="D:\esprit 2014\ESPRIT 2014\charte essprit 2014\render\support final\triangle.png" id="215" name="Google Shape;215;p21"/>
          <p:cNvPicPr preferRelativeResize="0"/>
          <p:nvPr/>
        </p:nvPicPr>
        <p:blipFill rotWithShape="1">
          <a:blip r:embed="rId4">
            <a:alphaModFix/>
          </a:blip>
          <a:srcRect b="0" l="0" r="0" t="0"/>
          <a:stretch/>
        </p:blipFill>
        <p:spPr>
          <a:xfrm>
            <a:off x="7173912" y="157162"/>
            <a:ext cx="2000250" cy="1377950"/>
          </a:xfrm>
          <a:prstGeom prst="rect">
            <a:avLst/>
          </a:prstGeom>
          <a:noFill/>
          <a:ln>
            <a:noFill/>
          </a:ln>
        </p:spPr>
      </p:pic>
      <p:sp>
        <p:nvSpPr>
          <p:cNvPr id="216" name="Google Shape;216;p21"/>
          <p:cNvSpPr txBox="1"/>
          <p:nvPr/>
        </p:nvSpPr>
        <p:spPr>
          <a:xfrm>
            <a:off x="457200" y="11588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Arial"/>
              <a:buNone/>
            </a:pPr>
            <a:r>
              <a:rPr b="0" i="0" lang="en-US" sz="4400" u="none" cap="none" strike="noStrike">
                <a:solidFill>
                  <a:schemeClr val="dk1"/>
                </a:solidFill>
                <a:latin typeface="Arial"/>
                <a:ea typeface="Arial"/>
                <a:cs typeface="Arial"/>
                <a:sym typeface="Arial"/>
              </a:rPr>
              <a:t>Comment ca marche ?</a:t>
            </a:r>
            <a:endParaRPr b="0" i="0" sz="1400" u="none" cap="none" strike="noStrike">
              <a:solidFill>
                <a:srgbClr val="000000"/>
              </a:solidFill>
              <a:latin typeface="Arial"/>
              <a:ea typeface="Arial"/>
              <a:cs typeface="Arial"/>
              <a:sym typeface="Arial"/>
            </a:endParaRPr>
          </a:p>
        </p:txBody>
      </p:sp>
      <p:pic>
        <p:nvPicPr>
          <p:cNvPr id="217" name="Google Shape;217;p21"/>
          <p:cNvPicPr preferRelativeResize="0"/>
          <p:nvPr/>
        </p:nvPicPr>
        <p:blipFill rotWithShape="1">
          <a:blip r:embed="rId5">
            <a:alphaModFix/>
          </a:blip>
          <a:srcRect b="0" l="0" r="0" t="0"/>
          <a:stretch/>
        </p:blipFill>
        <p:spPr>
          <a:xfrm>
            <a:off x="7896225" y="2228850"/>
            <a:ext cx="836612" cy="1065212"/>
          </a:xfrm>
          <a:prstGeom prst="rect">
            <a:avLst/>
          </a:prstGeom>
          <a:noFill/>
          <a:ln>
            <a:noFill/>
          </a:ln>
        </p:spPr>
      </p:pic>
      <p:pic>
        <p:nvPicPr>
          <p:cNvPr id="218" name="Google Shape;218;p21"/>
          <p:cNvPicPr preferRelativeResize="0"/>
          <p:nvPr/>
        </p:nvPicPr>
        <p:blipFill rotWithShape="1">
          <a:blip r:embed="rId5">
            <a:alphaModFix/>
          </a:blip>
          <a:srcRect b="0" l="0" r="0" t="0"/>
          <a:stretch/>
        </p:blipFill>
        <p:spPr>
          <a:xfrm>
            <a:off x="7569200" y="2428875"/>
            <a:ext cx="754062" cy="957262"/>
          </a:xfrm>
          <a:prstGeom prst="rect">
            <a:avLst/>
          </a:prstGeom>
          <a:noFill/>
          <a:ln>
            <a:noFill/>
          </a:ln>
        </p:spPr>
      </p:pic>
      <p:pic>
        <p:nvPicPr>
          <p:cNvPr id="219" name="Google Shape;219;p21"/>
          <p:cNvPicPr preferRelativeResize="0"/>
          <p:nvPr/>
        </p:nvPicPr>
        <p:blipFill rotWithShape="1">
          <a:blip r:embed="rId6">
            <a:alphaModFix/>
          </a:blip>
          <a:srcRect b="0" l="0" r="0" t="0"/>
          <a:stretch/>
        </p:blipFill>
        <p:spPr>
          <a:xfrm>
            <a:off x="3852862" y="2432050"/>
            <a:ext cx="1500187" cy="1212850"/>
          </a:xfrm>
          <a:prstGeom prst="rect">
            <a:avLst/>
          </a:prstGeom>
          <a:noFill/>
          <a:ln>
            <a:noFill/>
          </a:ln>
        </p:spPr>
      </p:pic>
      <p:pic>
        <p:nvPicPr>
          <p:cNvPr id="220" name="Google Shape;220;p21"/>
          <p:cNvPicPr preferRelativeResize="0"/>
          <p:nvPr/>
        </p:nvPicPr>
        <p:blipFill rotWithShape="1">
          <a:blip r:embed="rId7">
            <a:alphaModFix/>
          </a:blip>
          <a:srcRect b="0" l="0" r="0" t="0"/>
          <a:stretch/>
        </p:blipFill>
        <p:spPr>
          <a:xfrm>
            <a:off x="241300" y="2305050"/>
            <a:ext cx="2155825" cy="1243012"/>
          </a:xfrm>
          <a:prstGeom prst="rect">
            <a:avLst/>
          </a:prstGeom>
          <a:noFill/>
          <a:ln>
            <a:noFill/>
          </a:ln>
        </p:spPr>
      </p:pic>
      <p:grpSp>
        <p:nvGrpSpPr>
          <p:cNvPr id="221" name="Google Shape;221;p21"/>
          <p:cNvGrpSpPr/>
          <p:nvPr/>
        </p:nvGrpSpPr>
        <p:grpSpPr>
          <a:xfrm>
            <a:off x="239712" y="2195512"/>
            <a:ext cx="2395537" cy="1866900"/>
            <a:chOff x="2244725" y="2692929"/>
            <a:chExt cx="3076575" cy="2457450"/>
          </a:xfrm>
        </p:grpSpPr>
        <p:sp>
          <p:nvSpPr>
            <p:cNvPr id="222" name="Google Shape;222;p21"/>
            <p:cNvSpPr/>
            <p:nvPr/>
          </p:nvSpPr>
          <p:spPr>
            <a:xfrm>
              <a:off x="2244725" y="4441981"/>
              <a:ext cx="3076575" cy="369872"/>
            </a:xfrm>
            <a:custGeom>
              <a:rect b="b" l="l" r="r" t="t"/>
              <a:pathLst>
                <a:path extrusionOk="0" h="116" w="966">
                  <a:moveTo>
                    <a:pt x="373" y="116"/>
                  </a:moveTo>
                  <a:cubicBezTo>
                    <a:pt x="297" y="116"/>
                    <a:pt x="221" y="116"/>
                    <a:pt x="145" y="116"/>
                  </a:cubicBezTo>
                  <a:cubicBezTo>
                    <a:pt x="109" y="116"/>
                    <a:pt x="72" y="116"/>
                    <a:pt x="36" y="116"/>
                  </a:cubicBezTo>
                  <a:cubicBezTo>
                    <a:pt x="21" y="116"/>
                    <a:pt x="5" y="104"/>
                    <a:pt x="2" y="89"/>
                  </a:cubicBezTo>
                  <a:cubicBezTo>
                    <a:pt x="0" y="84"/>
                    <a:pt x="0" y="80"/>
                    <a:pt x="0" y="75"/>
                  </a:cubicBezTo>
                  <a:cubicBezTo>
                    <a:pt x="0" y="52"/>
                    <a:pt x="0" y="0"/>
                    <a:pt x="0" y="0"/>
                  </a:cubicBezTo>
                  <a:cubicBezTo>
                    <a:pt x="0" y="0"/>
                    <a:pt x="631" y="0"/>
                    <a:pt x="943" y="0"/>
                  </a:cubicBezTo>
                  <a:cubicBezTo>
                    <a:pt x="950" y="0"/>
                    <a:pt x="959" y="0"/>
                    <a:pt x="966" y="0"/>
                  </a:cubicBezTo>
                  <a:cubicBezTo>
                    <a:pt x="966" y="0"/>
                    <a:pt x="966" y="56"/>
                    <a:pt x="966" y="79"/>
                  </a:cubicBezTo>
                  <a:cubicBezTo>
                    <a:pt x="966" y="100"/>
                    <a:pt x="949" y="116"/>
                    <a:pt x="928" y="116"/>
                  </a:cubicBezTo>
                  <a:cubicBezTo>
                    <a:pt x="819" y="116"/>
                    <a:pt x="709" y="116"/>
                    <a:pt x="600" y="116"/>
                  </a:cubicBezTo>
                  <a:cubicBezTo>
                    <a:pt x="598" y="116"/>
                    <a:pt x="595" y="116"/>
                    <a:pt x="592" y="116"/>
                  </a:cubicBezTo>
                  <a:cubicBezTo>
                    <a:pt x="590" y="116"/>
                    <a:pt x="587" y="116"/>
                    <a:pt x="585" y="116"/>
                  </a:cubicBezTo>
                  <a:cubicBezTo>
                    <a:pt x="517" y="116"/>
                    <a:pt x="450" y="116"/>
                    <a:pt x="383" y="116"/>
                  </a:cubicBezTo>
                  <a:lnTo>
                    <a:pt x="373" y="116"/>
                  </a:lnTo>
                  <a:close/>
                </a:path>
              </a:pathLst>
            </a:custGeom>
            <a:solidFill>
              <a:srgbClr val="19191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3" name="Google Shape;223;p21"/>
            <p:cNvSpPr/>
            <p:nvPr/>
          </p:nvSpPr>
          <p:spPr>
            <a:xfrm>
              <a:off x="2244725" y="2692929"/>
              <a:ext cx="3076575" cy="1749425"/>
            </a:xfrm>
            <a:custGeom>
              <a:rect b="b" l="l" r="r" t="t"/>
              <a:pathLst>
                <a:path extrusionOk="0" h="549" w="966">
                  <a:moveTo>
                    <a:pt x="966" y="549"/>
                  </a:moveTo>
                  <a:cubicBezTo>
                    <a:pt x="959" y="549"/>
                    <a:pt x="950" y="549"/>
                    <a:pt x="943" y="549"/>
                  </a:cubicBezTo>
                  <a:cubicBezTo>
                    <a:pt x="631" y="549"/>
                    <a:pt x="0" y="549"/>
                    <a:pt x="0" y="549"/>
                  </a:cubicBezTo>
                  <a:cubicBezTo>
                    <a:pt x="0" y="549"/>
                    <a:pt x="0" y="254"/>
                    <a:pt x="0" y="108"/>
                  </a:cubicBezTo>
                  <a:cubicBezTo>
                    <a:pt x="0" y="85"/>
                    <a:pt x="1" y="62"/>
                    <a:pt x="1" y="39"/>
                  </a:cubicBezTo>
                  <a:cubicBezTo>
                    <a:pt x="2" y="27"/>
                    <a:pt x="4" y="17"/>
                    <a:pt x="14" y="9"/>
                  </a:cubicBezTo>
                  <a:cubicBezTo>
                    <a:pt x="21" y="3"/>
                    <a:pt x="30" y="1"/>
                    <a:pt x="39" y="1"/>
                  </a:cubicBezTo>
                  <a:cubicBezTo>
                    <a:pt x="295" y="1"/>
                    <a:pt x="550" y="1"/>
                    <a:pt x="806" y="1"/>
                  </a:cubicBezTo>
                  <a:cubicBezTo>
                    <a:pt x="846" y="1"/>
                    <a:pt x="886" y="2"/>
                    <a:pt x="926" y="1"/>
                  </a:cubicBezTo>
                  <a:cubicBezTo>
                    <a:pt x="949" y="0"/>
                    <a:pt x="966" y="19"/>
                    <a:pt x="966" y="41"/>
                  </a:cubicBezTo>
                  <a:cubicBezTo>
                    <a:pt x="966" y="209"/>
                    <a:pt x="966" y="549"/>
                    <a:pt x="966" y="549"/>
                  </a:cubicBezTo>
                  <a:close/>
                  <a:moveTo>
                    <a:pt x="483" y="511"/>
                  </a:moveTo>
                  <a:cubicBezTo>
                    <a:pt x="630" y="511"/>
                    <a:pt x="776" y="511"/>
                    <a:pt x="923" y="511"/>
                  </a:cubicBezTo>
                  <a:cubicBezTo>
                    <a:pt x="926" y="511"/>
                    <a:pt x="928" y="511"/>
                    <a:pt x="928" y="506"/>
                  </a:cubicBezTo>
                  <a:cubicBezTo>
                    <a:pt x="928" y="352"/>
                    <a:pt x="928" y="199"/>
                    <a:pt x="928" y="45"/>
                  </a:cubicBezTo>
                  <a:cubicBezTo>
                    <a:pt x="928" y="37"/>
                    <a:pt x="929" y="38"/>
                    <a:pt x="922" y="38"/>
                  </a:cubicBezTo>
                  <a:cubicBezTo>
                    <a:pt x="629" y="38"/>
                    <a:pt x="337" y="38"/>
                    <a:pt x="44" y="38"/>
                  </a:cubicBezTo>
                  <a:cubicBezTo>
                    <a:pt x="37" y="38"/>
                    <a:pt x="38" y="37"/>
                    <a:pt x="38" y="45"/>
                  </a:cubicBezTo>
                  <a:cubicBezTo>
                    <a:pt x="38" y="198"/>
                    <a:pt x="38" y="351"/>
                    <a:pt x="38" y="505"/>
                  </a:cubicBezTo>
                  <a:cubicBezTo>
                    <a:pt x="38" y="511"/>
                    <a:pt x="38" y="511"/>
                    <a:pt x="44" y="511"/>
                  </a:cubicBezTo>
                  <a:cubicBezTo>
                    <a:pt x="190" y="511"/>
                    <a:pt x="337" y="511"/>
                    <a:pt x="483" y="511"/>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4" name="Google Shape;224;p21"/>
            <p:cNvSpPr/>
            <p:nvPr/>
          </p:nvSpPr>
          <p:spPr>
            <a:xfrm>
              <a:off x="3251200" y="4894792"/>
              <a:ext cx="1060450" cy="249238"/>
            </a:xfrm>
            <a:custGeom>
              <a:rect b="b" l="l" r="r" t="t"/>
              <a:pathLst>
                <a:path extrusionOk="0" h="78" w="333">
                  <a:moveTo>
                    <a:pt x="278" y="0"/>
                  </a:moveTo>
                  <a:cubicBezTo>
                    <a:pt x="280" y="12"/>
                    <a:pt x="280" y="23"/>
                    <a:pt x="282" y="34"/>
                  </a:cubicBezTo>
                  <a:cubicBezTo>
                    <a:pt x="283" y="43"/>
                    <a:pt x="285" y="51"/>
                    <a:pt x="288" y="60"/>
                  </a:cubicBezTo>
                  <a:cubicBezTo>
                    <a:pt x="290" y="64"/>
                    <a:pt x="293" y="67"/>
                    <a:pt x="298" y="67"/>
                  </a:cubicBezTo>
                  <a:cubicBezTo>
                    <a:pt x="309" y="68"/>
                    <a:pt x="319" y="72"/>
                    <a:pt x="329" y="74"/>
                  </a:cubicBezTo>
                  <a:cubicBezTo>
                    <a:pt x="331" y="74"/>
                    <a:pt x="333" y="74"/>
                    <a:pt x="333" y="76"/>
                  </a:cubicBezTo>
                  <a:cubicBezTo>
                    <a:pt x="333" y="78"/>
                    <a:pt x="330" y="77"/>
                    <a:pt x="329" y="77"/>
                  </a:cubicBezTo>
                  <a:cubicBezTo>
                    <a:pt x="293" y="77"/>
                    <a:pt x="257" y="77"/>
                    <a:pt x="221" y="77"/>
                  </a:cubicBezTo>
                  <a:cubicBezTo>
                    <a:pt x="149" y="77"/>
                    <a:pt x="78" y="77"/>
                    <a:pt x="6" y="77"/>
                  </a:cubicBezTo>
                  <a:cubicBezTo>
                    <a:pt x="4" y="77"/>
                    <a:pt x="2" y="78"/>
                    <a:pt x="0" y="76"/>
                  </a:cubicBezTo>
                  <a:cubicBezTo>
                    <a:pt x="1" y="74"/>
                    <a:pt x="3" y="74"/>
                    <a:pt x="5" y="74"/>
                  </a:cubicBezTo>
                  <a:cubicBezTo>
                    <a:pt x="15" y="72"/>
                    <a:pt x="25" y="69"/>
                    <a:pt x="35" y="67"/>
                  </a:cubicBezTo>
                  <a:cubicBezTo>
                    <a:pt x="44" y="66"/>
                    <a:pt x="46" y="61"/>
                    <a:pt x="49" y="50"/>
                  </a:cubicBezTo>
                  <a:cubicBezTo>
                    <a:pt x="52" y="35"/>
                    <a:pt x="56" y="0"/>
                    <a:pt x="56" y="0"/>
                  </a:cubicBezTo>
                  <a:cubicBezTo>
                    <a:pt x="66" y="0"/>
                    <a:pt x="66" y="0"/>
                    <a:pt x="66" y="0"/>
                  </a:cubicBezTo>
                  <a:cubicBezTo>
                    <a:pt x="66" y="0"/>
                    <a:pt x="207" y="0"/>
                    <a:pt x="278"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5" name="Google Shape;225;p21"/>
            <p:cNvSpPr/>
            <p:nvPr/>
          </p:nvSpPr>
          <p:spPr>
            <a:xfrm>
              <a:off x="3429000" y="4812242"/>
              <a:ext cx="708025" cy="82550"/>
            </a:xfrm>
            <a:custGeom>
              <a:rect b="b" l="l" r="r" t="t"/>
              <a:pathLst>
                <a:path extrusionOk="0" h="26" w="222">
                  <a:moveTo>
                    <a:pt x="222" y="26"/>
                  </a:moveTo>
                  <a:cubicBezTo>
                    <a:pt x="151" y="26"/>
                    <a:pt x="10" y="26"/>
                    <a:pt x="10" y="26"/>
                  </a:cubicBezTo>
                  <a:cubicBezTo>
                    <a:pt x="0" y="26"/>
                    <a:pt x="0" y="26"/>
                    <a:pt x="0" y="26"/>
                  </a:cubicBezTo>
                  <a:cubicBezTo>
                    <a:pt x="0" y="17"/>
                    <a:pt x="1" y="9"/>
                    <a:pt x="1" y="0"/>
                  </a:cubicBezTo>
                  <a:cubicBezTo>
                    <a:pt x="11" y="0"/>
                    <a:pt x="11" y="0"/>
                    <a:pt x="11" y="0"/>
                  </a:cubicBezTo>
                  <a:cubicBezTo>
                    <a:pt x="11" y="0"/>
                    <a:pt x="145" y="0"/>
                    <a:pt x="213" y="0"/>
                  </a:cubicBezTo>
                  <a:cubicBezTo>
                    <a:pt x="215" y="0"/>
                    <a:pt x="218" y="0"/>
                    <a:pt x="220" y="0"/>
                  </a:cubicBezTo>
                  <a:lnTo>
                    <a:pt x="222" y="2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6" name="Google Shape;226;p21"/>
            <p:cNvSpPr/>
            <p:nvPr/>
          </p:nvSpPr>
          <p:spPr>
            <a:xfrm>
              <a:off x="3251200" y="5134504"/>
              <a:ext cx="1060450" cy="15875"/>
            </a:xfrm>
            <a:custGeom>
              <a:rect b="b" l="l" r="r" t="t"/>
              <a:pathLst>
                <a:path extrusionOk="0" h="5" w="333">
                  <a:moveTo>
                    <a:pt x="167" y="2"/>
                  </a:moveTo>
                  <a:cubicBezTo>
                    <a:pt x="222" y="2"/>
                    <a:pt x="276" y="2"/>
                    <a:pt x="331" y="2"/>
                  </a:cubicBezTo>
                  <a:cubicBezTo>
                    <a:pt x="332" y="2"/>
                    <a:pt x="333" y="1"/>
                    <a:pt x="333" y="3"/>
                  </a:cubicBezTo>
                  <a:cubicBezTo>
                    <a:pt x="333" y="4"/>
                    <a:pt x="332" y="5"/>
                    <a:pt x="331" y="5"/>
                  </a:cubicBezTo>
                  <a:cubicBezTo>
                    <a:pt x="328" y="5"/>
                    <a:pt x="326" y="5"/>
                    <a:pt x="324" y="5"/>
                  </a:cubicBezTo>
                  <a:cubicBezTo>
                    <a:pt x="218" y="5"/>
                    <a:pt x="112" y="5"/>
                    <a:pt x="6" y="5"/>
                  </a:cubicBezTo>
                  <a:cubicBezTo>
                    <a:pt x="4" y="5"/>
                    <a:pt x="0" y="5"/>
                    <a:pt x="0" y="3"/>
                  </a:cubicBezTo>
                  <a:cubicBezTo>
                    <a:pt x="0" y="0"/>
                    <a:pt x="4" y="2"/>
                    <a:pt x="6" y="2"/>
                  </a:cubicBezTo>
                  <a:cubicBezTo>
                    <a:pt x="60" y="2"/>
                    <a:pt x="114" y="2"/>
                    <a:pt x="167" y="2"/>
                  </a:cubicBezTo>
                  <a:cubicBezTo>
                    <a:pt x="167" y="2"/>
                    <a:pt x="167" y="2"/>
                    <a:pt x="167" y="2"/>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pic>
        <p:nvPicPr>
          <p:cNvPr id="227" name="Google Shape;227;p21"/>
          <p:cNvPicPr preferRelativeResize="0"/>
          <p:nvPr/>
        </p:nvPicPr>
        <p:blipFill rotWithShape="1">
          <a:blip r:embed="rId8">
            <a:alphaModFix/>
          </a:blip>
          <a:srcRect b="0" l="0" r="0" t="0"/>
          <a:stretch/>
        </p:blipFill>
        <p:spPr>
          <a:xfrm>
            <a:off x="6961187" y="2528887"/>
            <a:ext cx="1184275" cy="1184275"/>
          </a:xfrm>
          <a:prstGeom prst="rect">
            <a:avLst/>
          </a:prstGeom>
          <a:noFill/>
          <a:ln>
            <a:noFill/>
          </a:ln>
        </p:spPr>
      </p:pic>
      <p:sp>
        <p:nvSpPr>
          <p:cNvPr id="228" name="Google Shape;228;p21"/>
          <p:cNvSpPr txBox="1"/>
          <p:nvPr/>
        </p:nvSpPr>
        <p:spPr>
          <a:xfrm>
            <a:off x="6959600" y="4198937"/>
            <a:ext cx="2454275" cy="584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C4068"/>
              </a:buClr>
              <a:buSzPts val="1800"/>
              <a:buFont typeface="Open Sans"/>
              <a:buNone/>
            </a:pPr>
            <a:r>
              <a:rPr b="0" i="0" lang="en-US" sz="1800" u="none" cap="none" strike="noStrike">
                <a:solidFill>
                  <a:srgbClr val="1C4068"/>
                </a:solidFill>
                <a:latin typeface="Open Sans"/>
                <a:ea typeface="Open Sans"/>
                <a:cs typeface="Open Sans"/>
                <a:sym typeface="Open Sans"/>
              </a:rPr>
              <a:t>Résultat: </a:t>
            </a:r>
            <a:r>
              <a:rPr b="0" i="0" lang="en-US" sz="1400" u="none" cap="none" strike="noStrike">
                <a:solidFill>
                  <a:srgbClr val="FF0000"/>
                </a:solidFill>
                <a:latin typeface="Open Sans"/>
                <a:ea typeface="Open Sans"/>
                <a:cs typeface="Open Sans"/>
                <a:sym typeface="Open Sans"/>
              </a:rPr>
              <a:t>Hyperdocuments </a:t>
            </a:r>
            <a:endParaRPr b="0" i="0" sz="1400" u="none" cap="none" strike="noStrike">
              <a:solidFill>
                <a:srgbClr val="000000"/>
              </a:solidFill>
              <a:latin typeface="Arial"/>
              <a:ea typeface="Arial"/>
              <a:cs typeface="Arial"/>
              <a:sym typeface="Arial"/>
            </a:endParaRPr>
          </a:p>
        </p:txBody>
      </p:sp>
      <p:sp>
        <p:nvSpPr>
          <p:cNvPr id="229" name="Google Shape;229;p21"/>
          <p:cNvSpPr txBox="1"/>
          <p:nvPr/>
        </p:nvSpPr>
        <p:spPr>
          <a:xfrm>
            <a:off x="3598862" y="4124325"/>
            <a:ext cx="2454275"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C4068"/>
              </a:buClr>
              <a:buSzPts val="1800"/>
              <a:buFont typeface="Open Sans"/>
              <a:buNone/>
            </a:pPr>
            <a:r>
              <a:rPr b="0" i="0" lang="en-US" sz="1800" u="none" cap="none" strike="noStrike">
                <a:solidFill>
                  <a:srgbClr val="1C4068"/>
                </a:solidFill>
                <a:latin typeface="Open Sans"/>
                <a:ea typeface="Open Sans"/>
                <a:cs typeface="Open Sans"/>
                <a:sym typeface="Open Sans"/>
              </a:rPr>
              <a:t>Traitement</a:t>
            </a:r>
            <a:endParaRPr b="0" i="0" sz="1400" u="none" cap="none" strike="noStrike">
              <a:solidFill>
                <a:srgbClr val="000000"/>
              </a:solidFill>
              <a:latin typeface="Arial"/>
              <a:ea typeface="Arial"/>
              <a:cs typeface="Arial"/>
              <a:sym typeface="Arial"/>
            </a:endParaRPr>
          </a:p>
        </p:txBody>
      </p:sp>
      <p:sp>
        <p:nvSpPr>
          <p:cNvPr id="230" name="Google Shape;230;p21"/>
          <p:cNvSpPr txBox="1"/>
          <p:nvPr/>
        </p:nvSpPr>
        <p:spPr>
          <a:xfrm>
            <a:off x="325437" y="4213225"/>
            <a:ext cx="2454275" cy="369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C4068"/>
              </a:buClr>
              <a:buSzPts val="1800"/>
              <a:buFont typeface="Open Sans"/>
              <a:buNone/>
            </a:pPr>
            <a:r>
              <a:rPr b="0" i="0" lang="en-US" sz="1800" u="none" cap="none" strike="noStrike">
                <a:solidFill>
                  <a:srgbClr val="1C4068"/>
                </a:solidFill>
                <a:latin typeface="Open Sans"/>
                <a:ea typeface="Open Sans"/>
                <a:cs typeface="Open Sans"/>
                <a:sym typeface="Open Sans"/>
              </a:rPr>
              <a:t>Taper une requête</a:t>
            </a:r>
            <a:endParaRPr b="0" i="0" sz="1400" u="none" cap="none" strike="noStrike">
              <a:solidFill>
                <a:srgbClr val="000000"/>
              </a:solidFill>
              <a:latin typeface="Arial"/>
              <a:ea typeface="Arial"/>
              <a:cs typeface="Arial"/>
              <a:sym typeface="Arial"/>
            </a:endParaRPr>
          </a:p>
        </p:txBody>
      </p:sp>
      <p:cxnSp>
        <p:nvCxnSpPr>
          <p:cNvPr id="231" name="Google Shape;231;p21"/>
          <p:cNvCxnSpPr/>
          <p:nvPr/>
        </p:nvCxnSpPr>
        <p:spPr>
          <a:xfrm>
            <a:off x="2779712" y="3046412"/>
            <a:ext cx="754062" cy="0"/>
          </a:xfrm>
          <a:prstGeom prst="straightConnector1">
            <a:avLst/>
          </a:prstGeom>
          <a:noFill/>
          <a:ln cap="flat" cmpd="sng" w="76200">
            <a:solidFill>
              <a:srgbClr val="2F5597"/>
            </a:solidFill>
            <a:prstDash val="solid"/>
            <a:miter lim="800000"/>
            <a:headEnd len="sm" w="sm" type="none"/>
            <a:tailEnd len="med" w="med" type="triangle"/>
          </a:ln>
        </p:spPr>
      </p:cxnSp>
      <p:cxnSp>
        <p:nvCxnSpPr>
          <p:cNvPr id="232" name="Google Shape;232;p21"/>
          <p:cNvCxnSpPr/>
          <p:nvPr/>
        </p:nvCxnSpPr>
        <p:spPr>
          <a:xfrm>
            <a:off x="5799137" y="3186112"/>
            <a:ext cx="754062" cy="0"/>
          </a:xfrm>
          <a:prstGeom prst="straightConnector1">
            <a:avLst/>
          </a:prstGeom>
          <a:noFill/>
          <a:ln cap="flat" cmpd="sng" w="76200">
            <a:solidFill>
              <a:srgbClr val="2F5597"/>
            </a:solidFill>
            <a:prstDash val="solid"/>
            <a:miter lim="800000"/>
            <a:headEnd len="sm" w="sm" type="none"/>
            <a:tailEnd len="med" w="med" type="triangle"/>
          </a:ln>
        </p:spPr>
      </p:cxnSp>
      <p:sp>
        <p:nvSpPr>
          <p:cNvPr id="233" name="Google Shape;233;p21"/>
          <p:cNvSpPr txBox="1"/>
          <p:nvPr/>
        </p:nvSpPr>
        <p:spPr>
          <a:xfrm>
            <a:off x="-469900" y="1841500"/>
            <a:ext cx="2454275" cy="584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400"/>
              <a:buFont typeface="Open Sans"/>
              <a:buNone/>
            </a:pPr>
            <a:r>
              <a:rPr b="0" i="0" lang="en-US" sz="1400" u="none" cap="none" strike="noStrike">
                <a:solidFill>
                  <a:srgbClr val="FF0000"/>
                </a:solidFill>
                <a:latin typeface="Open Sans"/>
                <a:ea typeface="Open Sans"/>
                <a:cs typeface="Open Sans"/>
                <a:sym typeface="Open Sans"/>
              </a:rPr>
              <a:t>Navigateur</a:t>
            </a:r>
            <a:endParaRPr b="0" i="0" sz="1800" u="none" cap="none" strike="noStrike">
              <a:solidFill>
                <a:srgbClr val="FF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0000"/>
              </a:solidFill>
              <a:latin typeface="Open Sans"/>
              <a:ea typeface="Open Sans"/>
              <a:cs typeface="Open Sans"/>
              <a:sym typeface="Open Sans"/>
            </a:endParaRPr>
          </a:p>
        </p:txBody>
      </p:sp>
      <p:sp>
        <p:nvSpPr>
          <p:cNvPr id="234" name="Google Shape;234;p21"/>
          <p:cNvSpPr txBox="1"/>
          <p:nvPr/>
        </p:nvSpPr>
        <p:spPr>
          <a:xfrm>
            <a:off x="2476500" y="2197100"/>
            <a:ext cx="1792287" cy="8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400"/>
              <a:buFont typeface="Open Sans"/>
              <a:buNone/>
            </a:pPr>
            <a:r>
              <a:rPr b="0" i="0" lang="en-US" sz="1400" u="none" cap="none" strike="noStrike">
                <a:solidFill>
                  <a:srgbClr val="FF0000"/>
                </a:solidFill>
                <a:latin typeface="Open Sans"/>
                <a:ea typeface="Open Sans"/>
                <a:cs typeface="Open Sans"/>
                <a:sym typeface="Open Sans"/>
              </a:rPr>
              <a:t>Protocole de transport: HTTP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235" name="Google Shape;235;p21"/>
          <p:cNvSpPr txBox="1"/>
          <p:nvPr/>
        </p:nvSpPr>
        <p:spPr>
          <a:xfrm>
            <a:off x="5010150" y="2197100"/>
            <a:ext cx="2005012" cy="8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400"/>
              <a:buFont typeface="Open Sans"/>
              <a:buNone/>
            </a:pPr>
            <a:r>
              <a:rPr b="0" i="0" lang="en-US" sz="1400" u="none" cap="none" strike="noStrike">
                <a:solidFill>
                  <a:srgbClr val="FF0000"/>
                </a:solidFill>
                <a:latin typeface="Open Sans"/>
                <a:ea typeface="Open Sans"/>
                <a:cs typeface="Open Sans"/>
                <a:sym typeface="Open Sans"/>
              </a:rPr>
              <a:t>Protocole de transport: HTTP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grpSp>
        <p:nvGrpSpPr>
          <p:cNvPr id="236" name="Google Shape;236;p21"/>
          <p:cNvGrpSpPr/>
          <p:nvPr/>
        </p:nvGrpSpPr>
        <p:grpSpPr>
          <a:xfrm>
            <a:off x="6724650" y="2189162"/>
            <a:ext cx="2395537" cy="1866900"/>
            <a:chOff x="2244725" y="2692929"/>
            <a:chExt cx="3076575" cy="2457450"/>
          </a:xfrm>
        </p:grpSpPr>
        <p:sp>
          <p:nvSpPr>
            <p:cNvPr id="237" name="Google Shape;237;p21"/>
            <p:cNvSpPr/>
            <p:nvPr/>
          </p:nvSpPr>
          <p:spPr>
            <a:xfrm>
              <a:off x="2244725" y="4441981"/>
              <a:ext cx="3076575" cy="369872"/>
            </a:xfrm>
            <a:custGeom>
              <a:rect b="b" l="l" r="r" t="t"/>
              <a:pathLst>
                <a:path extrusionOk="0" h="116" w="966">
                  <a:moveTo>
                    <a:pt x="373" y="116"/>
                  </a:moveTo>
                  <a:cubicBezTo>
                    <a:pt x="297" y="116"/>
                    <a:pt x="221" y="116"/>
                    <a:pt x="145" y="116"/>
                  </a:cubicBezTo>
                  <a:cubicBezTo>
                    <a:pt x="109" y="116"/>
                    <a:pt x="72" y="116"/>
                    <a:pt x="36" y="116"/>
                  </a:cubicBezTo>
                  <a:cubicBezTo>
                    <a:pt x="21" y="116"/>
                    <a:pt x="5" y="104"/>
                    <a:pt x="2" y="89"/>
                  </a:cubicBezTo>
                  <a:cubicBezTo>
                    <a:pt x="0" y="84"/>
                    <a:pt x="0" y="80"/>
                    <a:pt x="0" y="75"/>
                  </a:cubicBezTo>
                  <a:cubicBezTo>
                    <a:pt x="0" y="52"/>
                    <a:pt x="0" y="0"/>
                    <a:pt x="0" y="0"/>
                  </a:cubicBezTo>
                  <a:cubicBezTo>
                    <a:pt x="0" y="0"/>
                    <a:pt x="631" y="0"/>
                    <a:pt x="943" y="0"/>
                  </a:cubicBezTo>
                  <a:cubicBezTo>
                    <a:pt x="950" y="0"/>
                    <a:pt x="959" y="0"/>
                    <a:pt x="966" y="0"/>
                  </a:cubicBezTo>
                  <a:cubicBezTo>
                    <a:pt x="966" y="0"/>
                    <a:pt x="966" y="56"/>
                    <a:pt x="966" y="79"/>
                  </a:cubicBezTo>
                  <a:cubicBezTo>
                    <a:pt x="966" y="100"/>
                    <a:pt x="949" y="116"/>
                    <a:pt x="928" y="116"/>
                  </a:cubicBezTo>
                  <a:cubicBezTo>
                    <a:pt x="819" y="116"/>
                    <a:pt x="709" y="116"/>
                    <a:pt x="600" y="116"/>
                  </a:cubicBezTo>
                  <a:cubicBezTo>
                    <a:pt x="598" y="116"/>
                    <a:pt x="595" y="116"/>
                    <a:pt x="592" y="116"/>
                  </a:cubicBezTo>
                  <a:cubicBezTo>
                    <a:pt x="590" y="116"/>
                    <a:pt x="587" y="116"/>
                    <a:pt x="585" y="116"/>
                  </a:cubicBezTo>
                  <a:cubicBezTo>
                    <a:pt x="517" y="116"/>
                    <a:pt x="450" y="116"/>
                    <a:pt x="383" y="116"/>
                  </a:cubicBezTo>
                  <a:lnTo>
                    <a:pt x="373" y="116"/>
                  </a:lnTo>
                  <a:close/>
                </a:path>
              </a:pathLst>
            </a:custGeom>
            <a:solidFill>
              <a:srgbClr val="19191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8" name="Google Shape;238;p21"/>
            <p:cNvSpPr/>
            <p:nvPr/>
          </p:nvSpPr>
          <p:spPr>
            <a:xfrm>
              <a:off x="2244725" y="2692929"/>
              <a:ext cx="3076575" cy="1749425"/>
            </a:xfrm>
            <a:custGeom>
              <a:rect b="b" l="l" r="r" t="t"/>
              <a:pathLst>
                <a:path extrusionOk="0" h="549" w="966">
                  <a:moveTo>
                    <a:pt x="966" y="549"/>
                  </a:moveTo>
                  <a:cubicBezTo>
                    <a:pt x="959" y="549"/>
                    <a:pt x="950" y="549"/>
                    <a:pt x="943" y="549"/>
                  </a:cubicBezTo>
                  <a:cubicBezTo>
                    <a:pt x="631" y="549"/>
                    <a:pt x="0" y="549"/>
                    <a:pt x="0" y="549"/>
                  </a:cubicBezTo>
                  <a:cubicBezTo>
                    <a:pt x="0" y="549"/>
                    <a:pt x="0" y="254"/>
                    <a:pt x="0" y="108"/>
                  </a:cubicBezTo>
                  <a:cubicBezTo>
                    <a:pt x="0" y="85"/>
                    <a:pt x="1" y="62"/>
                    <a:pt x="1" y="39"/>
                  </a:cubicBezTo>
                  <a:cubicBezTo>
                    <a:pt x="2" y="27"/>
                    <a:pt x="4" y="17"/>
                    <a:pt x="14" y="9"/>
                  </a:cubicBezTo>
                  <a:cubicBezTo>
                    <a:pt x="21" y="3"/>
                    <a:pt x="30" y="1"/>
                    <a:pt x="39" y="1"/>
                  </a:cubicBezTo>
                  <a:cubicBezTo>
                    <a:pt x="295" y="1"/>
                    <a:pt x="550" y="1"/>
                    <a:pt x="806" y="1"/>
                  </a:cubicBezTo>
                  <a:cubicBezTo>
                    <a:pt x="846" y="1"/>
                    <a:pt x="886" y="2"/>
                    <a:pt x="926" y="1"/>
                  </a:cubicBezTo>
                  <a:cubicBezTo>
                    <a:pt x="949" y="0"/>
                    <a:pt x="966" y="19"/>
                    <a:pt x="966" y="41"/>
                  </a:cubicBezTo>
                  <a:cubicBezTo>
                    <a:pt x="966" y="209"/>
                    <a:pt x="966" y="549"/>
                    <a:pt x="966" y="549"/>
                  </a:cubicBezTo>
                  <a:close/>
                  <a:moveTo>
                    <a:pt x="483" y="511"/>
                  </a:moveTo>
                  <a:cubicBezTo>
                    <a:pt x="630" y="511"/>
                    <a:pt x="776" y="511"/>
                    <a:pt x="923" y="511"/>
                  </a:cubicBezTo>
                  <a:cubicBezTo>
                    <a:pt x="926" y="511"/>
                    <a:pt x="928" y="511"/>
                    <a:pt x="928" y="506"/>
                  </a:cubicBezTo>
                  <a:cubicBezTo>
                    <a:pt x="928" y="352"/>
                    <a:pt x="928" y="199"/>
                    <a:pt x="928" y="45"/>
                  </a:cubicBezTo>
                  <a:cubicBezTo>
                    <a:pt x="928" y="37"/>
                    <a:pt x="929" y="38"/>
                    <a:pt x="922" y="38"/>
                  </a:cubicBezTo>
                  <a:cubicBezTo>
                    <a:pt x="629" y="38"/>
                    <a:pt x="337" y="38"/>
                    <a:pt x="44" y="38"/>
                  </a:cubicBezTo>
                  <a:cubicBezTo>
                    <a:pt x="37" y="38"/>
                    <a:pt x="38" y="37"/>
                    <a:pt x="38" y="45"/>
                  </a:cubicBezTo>
                  <a:cubicBezTo>
                    <a:pt x="38" y="198"/>
                    <a:pt x="38" y="351"/>
                    <a:pt x="38" y="505"/>
                  </a:cubicBezTo>
                  <a:cubicBezTo>
                    <a:pt x="38" y="511"/>
                    <a:pt x="38" y="511"/>
                    <a:pt x="44" y="511"/>
                  </a:cubicBezTo>
                  <a:cubicBezTo>
                    <a:pt x="190" y="511"/>
                    <a:pt x="337" y="511"/>
                    <a:pt x="483" y="511"/>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9" name="Google Shape;239;p21"/>
            <p:cNvSpPr/>
            <p:nvPr/>
          </p:nvSpPr>
          <p:spPr>
            <a:xfrm>
              <a:off x="3251200" y="4894792"/>
              <a:ext cx="1060450" cy="249238"/>
            </a:xfrm>
            <a:custGeom>
              <a:rect b="b" l="l" r="r" t="t"/>
              <a:pathLst>
                <a:path extrusionOk="0" h="78" w="333">
                  <a:moveTo>
                    <a:pt x="278" y="0"/>
                  </a:moveTo>
                  <a:cubicBezTo>
                    <a:pt x="280" y="12"/>
                    <a:pt x="280" y="23"/>
                    <a:pt x="282" y="34"/>
                  </a:cubicBezTo>
                  <a:cubicBezTo>
                    <a:pt x="283" y="43"/>
                    <a:pt x="285" y="51"/>
                    <a:pt x="288" y="60"/>
                  </a:cubicBezTo>
                  <a:cubicBezTo>
                    <a:pt x="290" y="64"/>
                    <a:pt x="293" y="67"/>
                    <a:pt x="298" y="67"/>
                  </a:cubicBezTo>
                  <a:cubicBezTo>
                    <a:pt x="309" y="68"/>
                    <a:pt x="319" y="72"/>
                    <a:pt x="329" y="74"/>
                  </a:cubicBezTo>
                  <a:cubicBezTo>
                    <a:pt x="331" y="74"/>
                    <a:pt x="333" y="74"/>
                    <a:pt x="333" y="76"/>
                  </a:cubicBezTo>
                  <a:cubicBezTo>
                    <a:pt x="333" y="78"/>
                    <a:pt x="330" y="77"/>
                    <a:pt x="329" y="77"/>
                  </a:cubicBezTo>
                  <a:cubicBezTo>
                    <a:pt x="293" y="77"/>
                    <a:pt x="257" y="77"/>
                    <a:pt x="221" y="77"/>
                  </a:cubicBezTo>
                  <a:cubicBezTo>
                    <a:pt x="149" y="77"/>
                    <a:pt x="78" y="77"/>
                    <a:pt x="6" y="77"/>
                  </a:cubicBezTo>
                  <a:cubicBezTo>
                    <a:pt x="4" y="77"/>
                    <a:pt x="2" y="78"/>
                    <a:pt x="0" y="76"/>
                  </a:cubicBezTo>
                  <a:cubicBezTo>
                    <a:pt x="1" y="74"/>
                    <a:pt x="3" y="74"/>
                    <a:pt x="5" y="74"/>
                  </a:cubicBezTo>
                  <a:cubicBezTo>
                    <a:pt x="15" y="72"/>
                    <a:pt x="25" y="69"/>
                    <a:pt x="35" y="67"/>
                  </a:cubicBezTo>
                  <a:cubicBezTo>
                    <a:pt x="44" y="66"/>
                    <a:pt x="46" y="61"/>
                    <a:pt x="49" y="50"/>
                  </a:cubicBezTo>
                  <a:cubicBezTo>
                    <a:pt x="52" y="35"/>
                    <a:pt x="56" y="0"/>
                    <a:pt x="56" y="0"/>
                  </a:cubicBezTo>
                  <a:cubicBezTo>
                    <a:pt x="66" y="0"/>
                    <a:pt x="66" y="0"/>
                    <a:pt x="66" y="0"/>
                  </a:cubicBezTo>
                  <a:cubicBezTo>
                    <a:pt x="66" y="0"/>
                    <a:pt x="207" y="0"/>
                    <a:pt x="278"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0" name="Google Shape;240;p21"/>
            <p:cNvSpPr/>
            <p:nvPr/>
          </p:nvSpPr>
          <p:spPr>
            <a:xfrm>
              <a:off x="3429000" y="4812242"/>
              <a:ext cx="708025" cy="82550"/>
            </a:xfrm>
            <a:custGeom>
              <a:rect b="b" l="l" r="r" t="t"/>
              <a:pathLst>
                <a:path extrusionOk="0" h="26" w="222">
                  <a:moveTo>
                    <a:pt x="222" y="26"/>
                  </a:moveTo>
                  <a:cubicBezTo>
                    <a:pt x="151" y="26"/>
                    <a:pt x="10" y="26"/>
                    <a:pt x="10" y="26"/>
                  </a:cubicBezTo>
                  <a:cubicBezTo>
                    <a:pt x="0" y="26"/>
                    <a:pt x="0" y="26"/>
                    <a:pt x="0" y="26"/>
                  </a:cubicBezTo>
                  <a:cubicBezTo>
                    <a:pt x="0" y="17"/>
                    <a:pt x="1" y="9"/>
                    <a:pt x="1" y="0"/>
                  </a:cubicBezTo>
                  <a:cubicBezTo>
                    <a:pt x="11" y="0"/>
                    <a:pt x="11" y="0"/>
                    <a:pt x="11" y="0"/>
                  </a:cubicBezTo>
                  <a:cubicBezTo>
                    <a:pt x="11" y="0"/>
                    <a:pt x="145" y="0"/>
                    <a:pt x="213" y="0"/>
                  </a:cubicBezTo>
                  <a:cubicBezTo>
                    <a:pt x="215" y="0"/>
                    <a:pt x="218" y="0"/>
                    <a:pt x="220" y="0"/>
                  </a:cubicBezTo>
                  <a:lnTo>
                    <a:pt x="222" y="2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1" name="Google Shape;241;p21"/>
            <p:cNvSpPr/>
            <p:nvPr/>
          </p:nvSpPr>
          <p:spPr>
            <a:xfrm>
              <a:off x="3251200" y="5134504"/>
              <a:ext cx="1060450" cy="15875"/>
            </a:xfrm>
            <a:custGeom>
              <a:rect b="b" l="l" r="r" t="t"/>
              <a:pathLst>
                <a:path extrusionOk="0" h="5" w="333">
                  <a:moveTo>
                    <a:pt x="167" y="2"/>
                  </a:moveTo>
                  <a:cubicBezTo>
                    <a:pt x="222" y="2"/>
                    <a:pt x="276" y="2"/>
                    <a:pt x="331" y="2"/>
                  </a:cubicBezTo>
                  <a:cubicBezTo>
                    <a:pt x="332" y="2"/>
                    <a:pt x="333" y="1"/>
                    <a:pt x="333" y="3"/>
                  </a:cubicBezTo>
                  <a:cubicBezTo>
                    <a:pt x="333" y="4"/>
                    <a:pt x="332" y="5"/>
                    <a:pt x="331" y="5"/>
                  </a:cubicBezTo>
                  <a:cubicBezTo>
                    <a:pt x="328" y="5"/>
                    <a:pt x="326" y="5"/>
                    <a:pt x="324" y="5"/>
                  </a:cubicBezTo>
                  <a:cubicBezTo>
                    <a:pt x="218" y="5"/>
                    <a:pt x="112" y="5"/>
                    <a:pt x="6" y="5"/>
                  </a:cubicBezTo>
                  <a:cubicBezTo>
                    <a:pt x="4" y="5"/>
                    <a:pt x="0" y="5"/>
                    <a:pt x="0" y="3"/>
                  </a:cubicBezTo>
                  <a:cubicBezTo>
                    <a:pt x="0" y="0"/>
                    <a:pt x="4" y="2"/>
                    <a:pt x="6" y="2"/>
                  </a:cubicBezTo>
                  <a:cubicBezTo>
                    <a:pt x="60" y="2"/>
                    <a:pt x="114" y="2"/>
                    <a:pt x="167" y="2"/>
                  </a:cubicBezTo>
                  <a:cubicBezTo>
                    <a:pt x="167" y="2"/>
                    <a:pt x="167" y="2"/>
                    <a:pt x="167" y="2"/>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pic>
        <p:nvPicPr>
          <p:cNvPr id="242" name="Google Shape;242;p21"/>
          <p:cNvPicPr preferRelativeResize="0"/>
          <p:nvPr/>
        </p:nvPicPr>
        <p:blipFill rotWithShape="1">
          <a:blip r:embed="rId9">
            <a:alphaModFix/>
          </a:blip>
          <a:srcRect b="0" l="0" r="0" t="0"/>
          <a:stretch/>
        </p:blipFill>
        <p:spPr>
          <a:xfrm>
            <a:off x="214313" y="6259813"/>
            <a:ext cx="1085850" cy="390525"/>
          </a:xfrm>
          <a:prstGeom prst="rect">
            <a:avLst/>
          </a:prstGeom>
          <a:noFill/>
          <a:ln>
            <a:noFill/>
          </a:ln>
        </p:spPr>
      </p:pic>
      <p:sp>
        <p:nvSpPr>
          <p:cNvPr id="243" name="Google Shape;243;p2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t/>
            </a:r>
            <a:endParaRPr/>
          </a:p>
        </p:txBody>
      </p:sp>
      <p:sp>
        <p:nvSpPr>
          <p:cNvPr id="244" name="Google Shape;244;p2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1200"/>
              <a:buFont typeface="Calibri"/>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400">
              <a:solidFill>
                <a:schemeClr val="dk1"/>
              </a:solidFill>
              <a:latin typeface="Calibri"/>
              <a:ea typeface="Calibri"/>
              <a:cs typeface="Calibri"/>
              <a:sym typeface="Calibri"/>
            </a:endParaRPr>
          </a:p>
        </p:txBody>
      </p:sp>
      <p:pic>
        <p:nvPicPr>
          <p:cNvPr id="250" name="Google Shape;250;p22"/>
          <p:cNvPicPr preferRelativeResize="0"/>
          <p:nvPr/>
        </p:nvPicPr>
        <p:blipFill rotWithShape="1">
          <a:blip r:embed="rId3">
            <a:alphaModFix/>
          </a:blip>
          <a:srcRect b="0" l="0" r="0" t="0"/>
          <a:stretch/>
        </p:blipFill>
        <p:spPr>
          <a:xfrm>
            <a:off x="-92075" y="-76200"/>
            <a:ext cx="9326562" cy="7056437"/>
          </a:xfrm>
          <a:prstGeom prst="rect">
            <a:avLst/>
          </a:prstGeom>
          <a:noFill/>
          <a:ln>
            <a:noFill/>
          </a:ln>
        </p:spPr>
      </p:pic>
      <p:sp>
        <p:nvSpPr>
          <p:cNvPr id="251" name="Google Shape;251;p22"/>
          <p:cNvSpPr txBox="1"/>
          <p:nvPr/>
        </p:nvSpPr>
        <p:spPr>
          <a:xfrm>
            <a:off x="-1331912" y="-184150"/>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2" name="Google Shape;252;p22"/>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descr="D:\esprit 2014\ESPRIT 2014\charte essprit 2014\render\support final\triangle.png" id="253" name="Google Shape;253;p22"/>
          <p:cNvPicPr preferRelativeResize="0"/>
          <p:nvPr/>
        </p:nvPicPr>
        <p:blipFill rotWithShape="1">
          <a:blip r:embed="rId4">
            <a:alphaModFix/>
          </a:blip>
          <a:srcRect b="0" l="0" r="0" t="0"/>
          <a:stretch/>
        </p:blipFill>
        <p:spPr>
          <a:xfrm>
            <a:off x="7173912" y="157162"/>
            <a:ext cx="2000250" cy="1377950"/>
          </a:xfrm>
          <a:prstGeom prst="rect">
            <a:avLst/>
          </a:prstGeom>
          <a:noFill/>
          <a:ln>
            <a:noFill/>
          </a:ln>
        </p:spPr>
      </p:pic>
      <p:sp>
        <p:nvSpPr>
          <p:cNvPr id="254" name="Google Shape;254;p22"/>
          <p:cNvSpPr txBox="1"/>
          <p:nvPr/>
        </p:nvSpPr>
        <p:spPr>
          <a:xfrm>
            <a:off x="457200" y="115887"/>
            <a:ext cx="8229600" cy="11430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Fonctionnement d’un site Web</a:t>
            </a:r>
            <a:endParaRPr b="0" i="0" sz="1400" u="none" cap="none" strike="noStrike">
              <a:solidFill>
                <a:srgbClr val="000000"/>
              </a:solidFill>
              <a:latin typeface="Arial"/>
              <a:ea typeface="Arial"/>
              <a:cs typeface="Arial"/>
              <a:sym typeface="Arial"/>
            </a:endParaRPr>
          </a:p>
        </p:txBody>
      </p:sp>
      <p:sp>
        <p:nvSpPr>
          <p:cNvPr id="255" name="Google Shape;255;p22"/>
          <p:cNvSpPr txBox="1"/>
          <p:nvPr/>
        </p:nvSpPr>
        <p:spPr>
          <a:xfrm>
            <a:off x="419100" y="1409700"/>
            <a:ext cx="8305800" cy="2308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152400" lvl="0" marL="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Lorsque vous voulez visiter un site web, vous tapez son </a:t>
            </a:r>
            <a:r>
              <a:rPr b="1" i="0" lang="en-US" sz="2400" u="none" cap="none" strike="noStrike">
                <a:solidFill>
                  <a:schemeClr val="dk1"/>
                </a:solidFill>
                <a:latin typeface="Arial"/>
                <a:ea typeface="Arial"/>
                <a:cs typeface="Arial"/>
                <a:sym typeface="Arial"/>
              </a:rPr>
              <a:t>adresse</a:t>
            </a:r>
            <a:r>
              <a:rPr b="0" i="0" lang="en-US" sz="2400" u="none" cap="none" strike="noStrike">
                <a:solidFill>
                  <a:schemeClr val="dk1"/>
                </a:solidFill>
                <a:latin typeface="Arial"/>
                <a:ea typeface="Arial"/>
                <a:cs typeface="Arial"/>
                <a:sym typeface="Arial"/>
              </a:rPr>
              <a:t> dans votre </a:t>
            </a:r>
            <a:r>
              <a:rPr b="1" i="0" lang="en-US" sz="2400" u="none" cap="none" strike="noStrike">
                <a:solidFill>
                  <a:schemeClr val="dk1"/>
                </a:solidFill>
                <a:latin typeface="Arial"/>
                <a:ea typeface="Arial"/>
                <a:cs typeface="Arial"/>
                <a:sym typeface="Arial"/>
              </a:rPr>
              <a:t>navigateur</a:t>
            </a:r>
            <a:r>
              <a:rPr b="0" i="0" lang="en-US" sz="2400" u="none" cap="none" strike="noStrike">
                <a:solidFill>
                  <a:schemeClr val="dk1"/>
                </a:solidFill>
                <a:latin typeface="Arial"/>
                <a:ea typeface="Arial"/>
                <a:cs typeface="Arial"/>
                <a:sym typeface="Arial"/>
              </a:rPr>
              <a:t> web (URL), que ce soit Mozilla Firefox, Internet Explorer, Opera, Safari ou un autre. Mais ne vous êtes-vous jamais demandé comment faisait la page web pour arriver jusqu'à vous ? </a:t>
            </a:r>
            <a:endParaRPr b="0" i="0" sz="1400" u="none" cap="none" strike="noStrike">
              <a:solidFill>
                <a:srgbClr val="000000"/>
              </a:solidFill>
              <a:latin typeface="Arial"/>
              <a:ea typeface="Arial"/>
              <a:cs typeface="Arial"/>
              <a:sym typeface="Arial"/>
            </a:endParaRPr>
          </a:p>
        </p:txBody>
      </p:sp>
      <p:pic>
        <p:nvPicPr>
          <p:cNvPr id="256" name="Google Shape;256;p22"/>
          <p:cNvPicPr preferRelativeResize="0"/>
          <p:nvPr/>
        </p:nvPicPr>
        <p:blipFill rotWithShape="1">
          <a:blip r:embed="rId5">
            <a:alphaModFix/>
          </a:blip>
          <a:srcRect b="0" l="0" r="0" t="0"/>
          <a:stretch/>
        </p:blipFill>
        <p:spPr>
          <a:xfrm>
            <a:off x="457200" y="5965813"/>
            <a:ext cx="1085850" cy="390525"/>
          </a:xfrm>
          <a:prstGeom prst="rect">
            <a:avLst/>
          </a:prstGeom>
          <a:noFill/>
          <a:ln>
            <a:noFill/>
          </a:ln>
        </p:spPr>
      </p:pic>
      <p:sp>
        <p:nvSpPr>
          <p:cNvPr id="257" name="Google Shape;257;p22"/>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t/>
            </a:r>
            <a:endParaRPr/>
          </a:p>
        </p:txBody>
      </p:sp>
      <p:sp>
        <p:nvSpPr>
          <p:cNvPr id="258" name="Google Shape;258;p2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1200"/>
              <a:buFont typeface="Calibri"/>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400">
              <a:solidFill>
                <a:schemeClr val="dk1"/>
              </a:solidFill>
              <a:latin typeface="Calibri"/>
              <a:ea typeface="Calibri"/>
              <a:cs typeface="Calibri"/>
              <a:sym typeface="Calibri"/>
            </a:endParaRPr>
          </a:p>
        </p:txBody>
      </p:sp>
      <p:pic>
        <p:nvPicPr>
          <p:cNvPr id="264" name="Google Shape;264;p23"/>
          <p:cNvPicPr preferRelativeResize="0"/>
          <p:nvPr/>
        </p:nvPicPr>
        <p:blipFill rotWithShape="1">
          <a:blip r:embed="rId3">
            <a:alphaModFix/>
          </a:blip>
          <a:srcRect b="0" l="0" r="0" t="0"/>
          <a:stretch/>
        </p:blipFill>
        <p:spPr>
          <a:xfrm>
            <a:off x="-92075" y="-152400"/>
            <a:ext cx="9326562" cy="7056437"/>
          </a:xfrm>
          <a:prstGeom prst="rect">
            <a:avLst/>
          </a:prstGeom>
          <a:noFill/>
          <a:ln>
            <a:noFill/>
          </a:ln>
        </p:spPr>
      </p:pic>
      <p:sp>
        <p:nvSpPr>
          <p:cNvPr id="265" name="Google Shape;265;p23"/>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descr="D:\esprit 2014\ESPRIT 2014\charte essprit 2014\render\support final\triangle.png" id="266" name="Google Shape;266;p23"/>
          <p:cNvPicPr preferRelativeResize="0"/>
          <p:nvPr/>
        </p:nvPicPr>
        <p:blipFill rotWithShape="1">
          <a:blip r:embed="rId4">
            <a:alphaModFix/>
          </a:blip>
          <a:srcRect b="0" l="0" r="0" t="0"/>
          <a:stretch/>
        </p:blipFill>
        <p:spPr>
          <a:xfrm>
            <a:off x="7173912" y="157162"/>
            <a:ext cx="2000250" cy="1377950"/>
          </a:xfrm>
          <a:prstGeom prst="rect">
            <a:avLst/>
          </a:prstGeom>
          <a:noFill/>
          <a:ln>
            <a:noFill/>
          </a:ln>
        </p:spPr>
      </p:pic>
      <p:sp>
        <p:nvSpPr>
          <p:cNvPr id="267" name="Google Shape;267;p23"/>
          <p:cNvSpPr txBox="1"/>
          <p:nvPr/>
        </p:nvSpPr>
        <p:spPr>
          <a:xfrm>
            <a:off x="457200" y="115887"/>
            <a:ext cx="8229600" cy="11430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Fonctionnement d’un site Web</a:t>
            </a:r>
            <a:endParaRPr b="0" i="0" sz="1400" u="none" cap="none" strike="noStrike">
              <a:solidFill>
                <a:srgbClr val="000000"/>
              </a:solidFill>
              <a:latin typeface="Arial"/>
              <a:ea typeface="Arial"/>
              <a:cs typeface="Arial"/>
              <a:sym typeface="Arial"/>
            </a:endParaRPr>
          </a:p>
        </p:txBody>
      </p:sp>
      <p:pic>
        <p:nvPicPr>
          <p:cNvPr id="268" name="Google Shape;268;p23"/>
          <p:cNvPicPr preferRelativeResize="0"/>
          <p:nvPr/>
        </p:nvPicPr>
        <p:blipFill rotWithShape="1">
          <a:blip r:embed="rId5">
            <a:alphaModFix/>
          </a:blip>
          <a:srcRect b="0" l="0" r="0" t="0"/>
          <a:stretch/>
        </p:blipFill>
        <p:spPr>
          <a:xfrm>
            <a:off x="577850" y="1417637"/>
            <a:ext cx="7986712" cy="3060700"/>
          </a:xfrm>
          <a:prstGeom prst="rect">
            <a:avLst/>
          </a:prstGeom>
          <a:noFill/>
          <a:ln>
            <a:noFill/>
          </a:ln>
        </p:spPr>
      </p:pic>
      <p:sp>
        <p:nvSpPr>
          <p:cNvPr id="269" name="Google Shape;269;p23"/>
          <p:cNvSpPr txBox="1"/>
          <p:nvPr/>
        </p:nvSpPr>
        <p:spPr>
          <a:xfrm>
            <a:off x="381000" y="4665662"/>
            <a:ext cx="2454275" cy="584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400"/>
              <a:buFont typeface="Open Sans"/>
              <a:buNone/>
            </a:pPr>
            <a:r>
              <a:rPr b="1" i="0" lang="en-US" sz="1400" u="none" cap="none" strike="noStrike">
                <a:solidFill>
                  <a:srgbClr val="FF0000"/>
                </a:solidFill>
                <a:latin typeface="Open Sans"/>
                <a:ea typeface="Open Sans"/>
                <a:cs typeface="Open Sans"/>
                <a:sym typeface="Open Sans"/>
              </a:rPr>
              <a:t>Client</a:t>
            </a:r>
            <a:endParaRPr b="1" i="0" sz="1800" u="none" cap="none" strike="noStrike">
              <a:solidFill>
                <a:srgbClr val="FF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FF0000"/>
              </a:solidFill>
              <a:latin typeface="Open Sans"/>
              <a:ea typeface="Open Sans"/>
              <a:cs typeface="Open Sans"/>
              <a:sym typeface="Open Sans"/>
            </a:endParaRPr>
          </a:p>
        </p:txBody>
      </p:sp>
      <p:sp>
        <p:nvSpPr>
          <p:cNvPr id="270" name="Google Shape;270;p23"/>
          <p:cNvSpPr txBox="1"/>
          <p:nvPr/>
        </p:nvSpPr>
        <p:spPr>
          <a:xfrm>
            <a:off x="6324600" y="4637087"/>
            <a:ext cx="2454275" cy="584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400"/>
              <a:buFont typeface="Open Sans"/>
              <a:buNone/>
            </a:pPr>
            <a:r>
              <a:rPr b="1" i="0" lang="en-US" sz="1400" u="none" cap="none" strike="noStrike">
                <a:solidFill>
                  <a:srgbClr val="FF0000"/>
                </a:solidFill>
                <a:latin typeface="Open Sans"/>
                <a:ea typeface="Open Sans"/>
                <a:cs typeface="Open Sans"/>
                <a:sym typeface="Open Sans"/>
              </a:rPr>
              <a:t>Serveur</a:t>
            </a:r>
            <a:endParaRPr b="1" i="0" sz="1800" u="none" cap="none" strike="noStrike">
              <a:solidFill>
                <a:srgbClr val="FF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FF0000"/>
              </a:solidFill>
              <a:latin typeface="Open Sans"/>
              <a:ea typeface="Open Sans"/>
              <a:cs typeface="Open Sans"/>
              <a:sym typeface="Open Sans"/>
            </a:endParaRPr>
          </a:p>
        </p:txBody>
      </p:sp>
      <p:pic>
        <p:nvPicPr>
          <p:cNvPr id="271" name="Google Shape;271;p23"/>
          <p:cNvPicPr preferRelativeResize="0"/>
          <p:nvPr/>
        </p:nvPicPr>
        <p:blipFill rotWithShape="1">
          <a:blip r:embed="rId6">
            <a:alphaModFix/>
          </a:blip>
          <a:srcRect b="0" l="0" r="0" t="0"/>
          <a:stretch/>
        </p:blipFill>
        <p:spPr>
          <a:xfrm>
            <a:off x="166700" y="6210463"/>
            <a:ext cx="1085850" cy="390525"/>
          </a:xfrm>
          <a:prstGeom prst="rect">
            <a:avLst/>
          </a:prstGeom>
          <a:noFill/>
          <a:ln>
            <a:noFill/>
          </a:ln>
        </p:spPr>
      </p:pic>
      <p:sp>
        <p:nvSpPr>
          <p:cNvPr id="272" name="Google Shape;272;p2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t/>
            </a:r>
            <a:endParaRPr/>
          </a:p>
        </p:txBody>
      </p:sp>
      <p:sp>
        <p:nvSpPr>
          <p:cNvPr id="273" name="Google Shape;273;p2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1200"/>
              <a:buFont typeface="Calibri"/>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400">
              <a:solidFill>
                <a:schemeClr val="dk1"/>
              </a:solidFill>
              <a:latin typeface="Calibri"/>
              <a:ea typeface="Calibri"/>
              <a:cs typeface="Calibri"/>
              <a:sym typeface="Calibri"/>
            </a:endParaRPr>
          </a:p>
        </p:txBody>
      </p:sp>
      <p:pic>
        <p:nvPicPr>
          <p:cNvPr id="279" name="Google Shape;279;p24"/>
          <p:cNvPicPr preferRelativeResize="0"/>
          <p:nvPr/>
        </p:nvPicPr>
        <p:blipFill rotWithShape="1">
          <a:blip r:embed="rId3">
            <a:alphaModFix/>
          </a:blip>
          <a:srcRect b="0" l="0" r="0" t="0"/>
          <a:stretch/>
        </p:blipFill>
        <p:spPr>
          <a:xfrm>
            <a:off x="-34925" y="-20637"/>
            <a:ext cx="9326562" cy="7056437"/>
          </a:xfrm>
          <a:prstGeom prst="rect">
            <a:avLst/>
          </a:prstGeom>
          <a:noFill/>
          <a:ln>
            <a:noFill/>
          </a:ln>
        </p:spPr>
      </p:pic>
      <p:sp>
        <p:nvSpPr>
          <p:cNvPr id="280" name="Google Shape;280;p24"/>
          <p:cNvSpPr txBox="1"/>
          <p:nvPr/>
        </p:nvSpPr>
        <p:spPr>
          <a:xfrm>
            <a:off x="-1331912" y="-184150"/>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1" name="Google Shape;281;p2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descr="D:\esprit 2014\ESPRIT 2014\charte essprit 2014\render\support final\triangle.png" id="282" name="Google Shape;282;p24"/>
          <p:cNvPicPr preferRelativeResize="0"/>
          <p:nvPr/>
        </p:nvPicPr>
        <p:blipFill rotWithShape="1">
          <a:blip r:embed="rId4">
            <a:alphaModFix/>
          </a:blip>
          <a:srcRect b="0" l="0" r="0" t="0"/>
          <a:stretch/>
        </p:blipFill>
        <p:spPr>
          <a:xfrm>
            <a:off x="7173912" y="157162"/>
            <a:ext cx="2000250" cy="1377950"/>
          </a:xfrm>
          <a:prstGeom prst="rect">
            <a:avLst/>
          </a:prstGeom>
          <a:noFill/>
          <a:ln>
            <a:noFill/>
          </a:ln>
        </p:spPr>
      </p:pic>
      <p:sp>
        <p:nvSpPr>
          <p:cNvPr id="283" name="Google Shape;283;p24"/>
          <p:cNvSpPr txBox="1"/>
          <p:nvPr/>
        </p:nvSpPr>
        <p:spPr>
          <a:xfrm>
            <a:off x="457200" y="115887"/>
            <a:ext cx="8229600" cy="11430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Fonctionnement d’un site Web</a:t>
            </a:r>
            <a:endParaRPr b="0" i="0" sz="1400" u="none" cap="none" strike="noStrike">
              <a:solidFill>
                <a:srgbClr val="000000"/>
              </a:solidFill>
              <a:latin typeface="Arial"/>
              <a:ea typeface="Arial"/>
              <a:cs typeface="Arial"/>
              <a:sym typeface="Arial"/>
            </a:endParaRPr>
          </a:p>
        </p:txBody>
      </p:sp>
      <p:sp>
        <p:nvSpPr>
          <p:cNvPr id="284" name="Google Shape;284;p24"/>
          <p:cNvSpPr txBox="1"/>
          <p:nvPr/>
        </p:nvSpPr>
        <p:spPr>
          <a:xfrm>
            <a:off x="247650" y="1690687"/>
            <a:ext cx="8648700" cy="4432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Il faut savoir qu'Internet est un réseau composé d'ordinateurs. Ceux-ci peuvent être classés en deux catégories: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100"/>
              <a:buFont typeface="Calibri"/>
              <a:buNone/>
            </a:pPr>
            <a:r>
              <a:rPr b="0" i="0" lang="en-US" sz="2100" u="none" cap="none" strike="noStrike">
                <a:solidFill>
                  <a:schemeClr val="dk1"/>
                </a:solidFill>
                <a:latin typeface="Calibri"/>
                <a:ea typeface="Calibri"/>
                <a:cs typeface="Calibri"/>
                <a:sym typeface="Calibri"/>
              </a:rPr>
              <a:t> </a:t>
            </a:r>
            <a:endParaRPr b="0" i="0" sz="2400" u="none" cap="none" strike="noStrike">
              <a:solidFill>
                <a:schemeClr val="dk1"/>
              </a:solidFill>
              <a:latin typeface="Arial"/>
              <a:ea typeface="Arial"/>
              <a:cs typeface="Arial"/>
              <a:sym typeface="Arial"/>
            </a:endParaRPr>
          </a:p>
          <a:p>
            <a:pPr indent="-152400" lvl="0" marL="0" marR="0" rtl="0" algn="just">
              <a:lnSpc>
                <a:spcPct val="100000"/>
              </a:lnSpc>
              <a:spcBef>
                <a:spcPts val="0"/>
              </a:spcBef>
              <a:spcAft>
                <a:spcPts val="0"/>
              </a:spcAft>
              <a:buClr>
                <a:schemeClr val="dk1"/>
              </a:buClr>
              <a:buSzPts val="2400"/>
              <a:buFont typeface="Arial"/>
              <a:buChar char="•"/>
            </a:pPr>
            <a:r>
              <a:rPr b="1" i="0" lang="en-US" sz="2400" u="none" cap="none" strike="noStrike">
                <a:solidFill>
                  <a:schemeClr val="dk1"/>
                </a:solidFill>
                <a:latin typeface="Arial"/>
                <a:ea typeface="Arial"/>
                <a:cs typeface="Arial"/>
                <a:sym typeface="Arial"/>
              </a:rPr>
              <a:t>Les clients </a:t>
            </a:r>
            <a:r>
              <a:rPr b="0" i="0" lang="en-US" sz="2400" u="none" cap="none" strike="noStrike">
                <a:solidFill>
                  <a:schemeClr val="dk1"/>
                </a:solidFill>
                <a:latin typeface="Arial"/>
                <a:ea typeface="Arial"/>
                <a:cs typeface="Arial"/>
                <a:sym typeface="Arial"/>
              </a:rPr>
              <a:t>: ce sont les ordinateurs des internautes comme vous. Votre ordinateur fait donc partie de la catégorie des clients. Chaque client représente un visiteur d'un site web. </a:t>
            </a:r>
            <a:endParaRPr b="0" i="0" sz="1400" u="none" cap="none" strike="noStrike">
              <a:solidFill>
                <a:srgbClr val="000000"/>
              </a:solidFill>
              <a:latin typeface="Arial"/>
              <a:ea typeface="Arial"/>
              <a:cs typeface="Arial"/>
              <a:sym typeface="Arial"/>
            </a:endParaRPr>
          </a:p>
          <a:p>
            <a:pPr indent="-152400" lvl="0" marL="0" marR="0" rtl="0" algn="just">
              <a:lnSpc>
                <a:spcPct val="100000"/>
              </a:lnSpc>
              <a:spcBef>
                <a:spcPts val="0"/>
              </a:spcBef>
              <a:spcAft>
                <a:spcPts val="0"/>
              </a:spcAft>
              <a:buClr>
                <a:schemeClr val="dk1"/>
              </a:buClr>
              <a:buSzPts val="2400"/>
              <a:buFont typeface="Arial"/>
              <a:buChar char="•"/>
            </a:pPr>
            <a:r>
              <a:rPr b="1" i="0" lang="en-US" sz="2400" u="none" cap="none" strike="noStrike">
                <a:solidFill>
                  <a:schemeClr val="dk1"/>
                </a:solidFill>
                <a:latin typeface="Arial"/>
                <a:ea typeface="Arial"/>
                <a:cs typeface="Arial"/>
                <a:sym typeface="Arial"/>
              </a:rPr>
              <a:t>Les serveurs </a:t>
            </a:r>
            <a:r>
              <a:rPr b="0" i="0" lang="en-US" sz="2400" u="none" cap="none" strike="noStrike">
                <a:solidFill>
                  <a:schemeClr val="dk1"/>
                </a:solidFill>
                <a:latin typeface="Arial"/>
                <a:ea typeface="Arial"/>
                <a:cs typeface="Arial"/>
                <a:sym typeface="Arial"/>
              </a:rPr>
              <a:t>: ce sont des ordinateurs puissants qui stockent et délivrent des sites web aux internautes, c'est-à-dire aux clients.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285" name="Google Shape;285;p24"/>
          <p:cNvPicPr preferRelativeResize="0"/>
          <p:nvPr/>
        </p:nvPicPr>
        <p:blipFill rotWithShape="1">
          <a:blip r:embed="rId5">
            <a:alphaModFix/>
          </a:blip>
          <a:srcRect b="0" l="0" r="0" t="0"/>
          <a:stretch/>
        </p:blipFill>
        <p:spPr>
          <a:xfrm>
            <a:off x="147800" y="6343638"/>
            <a:ext cx="1085850" cy="390525"/>
          </a:xfrm>
          <a:prstGeom prst="rect">
            <a:avLst/>
          </a:prstGeom>
          <a:noFill/>
          <a:ln>
            <a:noFill/>
          </a:ln>
        </p:spPr>
      </p:pic>
      <p:sp>
        <p:nvSpPr>
          <p:cNvPr id="286" name="Google Shape;286;p24"/>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t/>
            </a:r>
            <a:endParaRPr/>
          </a:p>
        </p:txBody>
      </p:sp>
      <p:sp>
        <p:nvSpPr>
          <p:cNvPr id="287" name="Google Shape;287;p2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1200"/>
              <a:buFont typeface="Calibri"/>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400">
              <a:solidFill>
                <a:schemeClr val="dk1"/>
              </a:solidFill>
              <a:latin typeface="Calibri"/>
              <a:ea typeface="Calibri"/>
              <a:cs typeface="Calibri"/>
              <a:sym typeface="Calibri"/>
            </a:endParaRPr>
          </a:p>
        </p:txBody>
      </p:sp>
      <p:pic>
        <p:nvPicPr>
          <p:cNvPr id="293" name="Google Shape;293;p25"/>
          <p:cNvPicPr preferRelativeResize="0"/>
          <p:nvPr/>
        </p:nvPicPr>
        <p:blipFill rotWithShape="1">
          <a:blip r:embed="rId3">
            <a:alphaModFix/>
          </a:blip>
          <a:srcRect b="0" l="0" r="0" t="0"/>
          <a:stretch/>
        </p:blipFill>
        <p:spPr>
          <a:xfrm>
            <a:off x="-92075" y="-165100"/>
            <a:ext cx="9326562" cy="7056437"/>
          </a:xfrm>
          <a:prstGeom prst="rect">
            <a:avLst/>
          </a:prstGeom>
          <a:noFill/>
          <a:ln>
            <a:noFill/>
          </a:ln>
        </p:spPr>
      </p:pic>
      <p:sp>
        <p:nvSpPr>
          <p:cNvPr id="294" name="Google Shape;294;p25"/>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descr="D:\esprit 2014\ESPRIT 2014\charte essprit 2014\render\support final\triangle.png" id="295" name="Google Shape;295;p25"/>
          <p:cNvPicPr preferRelativeResize="0"/>
          <p:nvPr/>
        </p:nvPicPr>
        <p:blipFill rotWithShape="1">
          <a:blip r:embed="rId4">
            <a:alphaModFix/>
          </a:blip>
          <a:srcRect b="0" l="0" r="0" t="0"/>
          <a:stretch/>
        </p:blipFill>
        <p:spPr>
          <a:xfrm>
            <a:off x="7173912" y="157162"/>
            <a:ext cx="2000250" cy="1377950"/>
          </a:xfrm>
          <a:prstGeom prst="rect">
            <a:avLst/>
          </a:prstGeom>
          <a:noFill/>
          <a:ln>
            <a:noFill/>
          </a:ln>
        </p:spPr>
      </p:pic>
      <p:sp>
        <p:nvSpPr>
          <p:cNvPr id="296" name="Google Shape;296;p25"/>
          <p:cNvSpPr txBox="1"/>
          <p:nvPr/>
        </p:nvSpPr>
        <p:spPr>
          <a:xfrm>
            <a:off x="457200" y="115887"/>
            <a:ext cx="8229600" cy="11430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Fonctionnement d’un site Web</a:t>
            </a:r>
            <a:endParaRPr b="0" i="0" sz="1400" u="none" cap="none" strike="noStrike">
              <a:solidFill>
                <a:srgbClr val="000000"/>
              </a:solidFill>
              <a:latin typeface="Arial"/>
              <a:ea typeface="Arial"/>
              <a:cs typeface="Arial"/>
              <a:sym typeface="Arial"/>
            </a:endParaRPr>
          </a:p>
        </p:txBody>
      </p:sp>
      <p:sp>
        <p:nvSpPr>
          <p:cNvPr id="297" name="Google Shape;297;p25"/>
          <p:cNvSpPr txBox="1"/>
          <p:nvPr/>
        </p:nvSpPr>
        <p:spPr>
          <a:xfrm>
            <a:off x="419100" y="1409700"/>
            <a:ext cx="8305800" cy="33701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100"/>
              <a:buFont typeface="Calibri"/>
              <a:buNone/>
            </a:pPr>
            <a:r>
              <a:rPr b="0" i="0" lang="en-US" sz="21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152400" lvl="0" marL="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On résume : votre ordinateur est appelé </a:t>
            </a:r>
            <a:r>
              <a:rPr b="1" i="0" lang="en-US" sz="2400" u="none" cap="none" strike="noStrike">
                <a:solidFill>
                  <a:schemeClr val="dk1"/>
                </a:solidFill>
                <a:latin typeface="Arial"/>
                <a:ea typeface="Arial"/>
                <a:cs typeface="Arial"/>
                <a:sym typeface="Arial"/>
              </a:rPr>
              <a:t>le client</a:t>
            </a:r>
            <a:r>
              <a:rPr b="0" i="0" lang="en-US" sz="2400" u="none" cap="none" strike="noStrike">
                <a:solidFill>
                  <a:schemeClr val="dk1"/>
                </a:solidFill>
                <a:latin typeface="Arial"/>
                <a:ea typeface="Arial"/>
                <a:cs typeface="Arial"/>
                <a:sym typeface="Arial"/>
              </a:rPr>
              <a:t>, tandis que l'ordinateur qui détient le site web est appelé </a:t>
            </a:r>
            <a:r>
              <a:rPr b="1" i="0" lang="en-US" sz="2400" u="none" cap="none" strike="noStrike">
                <a:solidFill>
                  <a:schemeClr val="dk1"/>
                </a:solidFill>
                <a:latin typeface="Arial"/>
                <a:ea typeface="Arial"/>
                <a:cs typeface="Arial"/>
                <a:sym typeface="Arial"/>
              </a:rPr>
              <a:t>le serveur</a:t>
            </a:r>
            <a:r>
              <a:rPr b="0" i="0" lang="en-US" sz="2400" u="none" cap="none" strike="noStrike">
                <a:solidFill>
                  <a:schemeClr val="dk1"/>
                </a:solidFill>
                <a:latin typeface="Arial"/>
                <a:ea typeface="Arial"/>
                <a:cs typeface="Arial"/>
                <a:sym typeface="Arial"/>
              </a:rPr>
              <a:t>. Comment les deux communiquent-ils ?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152400" lvl="0" marL="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C'est justement là que se fait la différence entre un site web statique et un site web dynamique. Voyons ensemble ce que celà implique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298" name="Google Shape;298;p25"/>
          <p:cNvPicPr preferRelativeResize="0"/>
          <p:nvPr/>
        </p:nvPicPr>
        <p:blipFill rotWithShape="1">
          <a:blip r:embed="rId5">
            <a:alphaModFix/>
          </a:blip>
          <a:srcRect b="0" l="0" r="0" t="0"/>
          <a:stretch/>
        </p:blipFill>
        <p:spPr>
          <a:xfrm>
            <a:off x="164250" y="6177588"/>
            <a:ext cx="1085850" cy="390525"/>
          </a:xfrm>
          <a:prstGeom prst="rect">
            <a:avLst/>
          </a:prstGeom>
          <a:noFill/>
          <a:ln>
            <a:noFill/>
          </a:ln>
        </p:spPr>
      </p:pic>
      <p:sp>
        <p:nvSpPr>
          <p:cNvPr id="299" name="Google Shape;299;p25"/>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t/>
            </a:r>
            <a:endParaRPr/>
          </a:p>
        </p:txBody>
      </p:sp>
      <p:sp>
        <p:nvSpPr>
          <p:cNvPr id="300" name="Google Shape;300;p2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1200"/>
              <a:buFont typeface="Calibri"/>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400">
              <a:solidFill>
                <a:schemeClr val="dk1"/>
              </a:solidFill>
              <a:latin typeface="Calibri"/>
              <a:ea typeface="Calibri"/>
              <a:cs typeface="Calibri"/>
              <a:sym typeface="Calibri"/>
            </a:endParaRPr>
          </a:p>
        </p:txBody>
      </p:sp>
      <p:pic>
        <p:nvPicPr>
          <p:cNvPr id="306" name="Google Shape;306;p26"/>
          <p:cNvPicPr preferRelativeResize="0"/>
          <p:nvPr/>
        </p:nvPicPr>
        <p:blipFill rotWithShape="1">
          <a:blip r:embed="rId3">
            <a:alphaModFix/>
          </a:blip>
          <a:srcRect b="0" l="0" r="0" t="0"/>
          <a:stretch/>
        </p:blipFill>
        <p:spPr>
          <a:xfrm>
            <a:off x="-91281" y="0"/>
            <a:ext cx="9326562" cy="7056437"/>
          </a:xfrm>
          <a:prstGeom prst="rect">
            <a:avLst/>
          </a:prstGeom>
          <a:noFill/>
          <a:ln>
            <a:noFill/>
          </a:ln>
        </p:spPr>
      </p:pic>
      <p:sp>
        <p:nvSpPr>
          <p:cNvPr id="307" name="Google Shape;307;p26"/>
          <p:cNvSpPr txBox="1"/>
          <p:nvPr/>
        </p:nvSpPr>
        <p:spPr>
          <a:xfrm>
            <a:off x="-1331912" y="-184150"/>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8" name="Google Shape;308;p26"/>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descr="D:\esprit 2014\ESPRIT 2014\charte essprit 2014\render\support final\triangle.png" id="309" name="Google Shape;309;p26"/>
          <p:cNvPicPr preferRelativeResize="0"/>
          <p:nvPr/>
        </p:nvPicPr>
        <p:blipFill rotWithShape="1">
          <a:blip r:embed="rId4">
            <a:alphaModFix/>
          </a:blip>
          <a:srcRect b="0" l="0" r="0" t="0"/>
          <a:stretch/>
        </p:blipFill>
        <p:spPr>
          <a:xfrm>
            <a:off x="7173912" y="157162"/>
            <a:ext cx="2000250" cy="1377950"/>
          </a:xfrm>
          <a:prstGeom prst="rect">
            <a:avLst/>
          </a:prstGeom>
          <a:noFill/>
          <a:ln>
            <a:noFill/>
          </a:ln>
        </p:spPr>
      </p:pic>
      <p:sp>
        <p:nvSpPr>
          <p:cNvPr id="310" name="Google Shape;310;p26"/>
          <p:cNvSpPr txBox="1"/>
          <p:nvPr/>
        </p:nvSpPr>
        <p:spPr>
          <a:xfrm>
            <a:off x="457200" y="115887"/>
            <a:ext cx="8229600" cy="11430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Les sites statiques</a:t>
            </a:r>
            <a:endParaRPr b="0" i="0" sz="1400" u="none" cap="none" strike="noStrike">
              <a:solidFill>
                <a:srgbClr val="000000"/>
              </a:solidFill>
              <a:latin typeface="Arial"/>
              <a:ea typeface="Arial"/>
              <a:cs typeface="Arial"/>
              <a:sym typeface="Arial"/>
            </a:endParaRPr>
          </a:p>
        </p:txBody>
      </p:sp>
      <p:sp>
        <p:nvSpPr>
          <p:cNvPr id="311" name="Google Shape;311;p26"/>
          <p:cNvSpPr txBox="1"/>
          <p:nvPr/>
        </p:nvSpPr>
        <p:spPr>
          <a:xfrm>
            <a:off x="419100" y="1189003"/>
            <a:ext cx="8305800" cy="5632271"/>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Ce sont des sites réalisés uniquement à l'aide des langages HTML et CSS. Ils fonctionnent très bien mais leur contenu ne peut pas être mis à jour automatiquement : il faut que le propriétaire du site (le webmaster) modifie le code source pour y ajouter des nouveautés. </a:t>
            </a:r>
            <a:endParaRPr b="0" i="0" sz="2400" u="none" cap="none" strike="noStrike">
              <a:solidFill>
                <a:schemeClr val="dk1"/>
              </a:solidFill>
              <a:latin typeface="Arial"/>
              <a:ea typeface="Arial"/>
              <a:cs typeface="Arial"/>
              <a:sym typeface="Arial"/>
            </a:endParaRPr>
          </a:p>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Les sites statiques sont donc bien adaptés pour réaliser des sites « vitrine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Ce type de site se fait de plus en plus rare aujourd'hui, car dès que l'on rajoute un élément d'interaction (comme un formulaire de contact), on ne parle plus de site statique mais de site dynamique.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312" name="Google Shape;312;p26"/>
          <p:cNvPicPr preferRelativeResize="0"/>
          <p:nvPr/>
        </p:nvPicPr>
        <p:blipFill rotWithShape="1">
          <a:blip r:embed="rId5">
            <a:alphaModFix/>
          </a:blip>
          <a:srcRect b="0" l="0" r="0" t="0"/>
          <a:stretch/>
        </p:blipFill>
        <p:spPr>
          <a:xfrm>
            <a:off x="246475" y="6555838"/>
            <a:ext cx="1085850" cy="390525"/>
          </a:xfrm>
          <a:prstGeom prst="rect">
            <a:avLst/>
          </a:prstGeom>
          <a:noFill/>
          <a:ln>
            <a:noFill/>
          </a:ln>
        </p:spPr>
      </p:pic>
      <p:sp>
        <p:nvSpPr>
          <p:cNvPr id="313" name="Google Shape;313;p26"/>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t/>
            </a:r>
            <a:endParaRPr/>
          </a:p>
        </p:txBody>
      </p:sp>
      <p:sp>
        <p:nvSpPr>
          <p:cNvPr id="314" name="Google Shape;314;p2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1200"/>
              <a:buFont typeface="Calibri"/>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400">
              <a:solidFill>
                <a:schemeClr val="dk1"/>
              </a:solidFill>
              <a:latin typeface="Calibri"/>
              <a:ea typeface="Calibri"/>
              <a:cs typeface="Calibri"/>
              <a:sym typeface="Calibri"/>
            </a:endParaRPr>
          </a:p>
        </p:txBody>
      </p:sp>
      <p:pic>
        <p:nvPicPr>
          <p:cNvPr id="320" name="Google Shape;320;p27"/>
          <p:cNvPicPr preferRelativeResize="0"/>
          <p:nvPr/>
        </p:nvPicPr>
        <p:blipFill rotWithShape="1">
          <a:blip r:embed="rId3">
            <a:alphaModFix/>
          </a:blip>
          <a:srcRect b="0" l="0" r="0" t="0"/>
          <a:stretch/>
        </p:blipFill>
        <p:spPr>
          <a:xfrm>
            <a:off x="-92075" y="-41275"/>
            <a:ext cx="9326562" cy="7056437"/>
          </a:xfrm>
          <a:prstGeom prst="rect">
            <a:avLst/>
          </a:prstGeom>
          <a:noFill/>
          <a:ln>
            <a:noFill/>
          </a:ln>
        </p:spPr>
      </p:pic>
      <p:sp>
        <p:nvSpPr>
          <p:cNvPr id="321" name="Google Shape;321;p27"/>
          <p:cNvSpPr txBox="1"/>
          <p:nvPr/>
        </p:nvSpPr>
        <p:spPr>
          <a:xfrm>
            <a:off x="-1331912" y="-184150"/>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2" name="Google Shape;322;p27"/>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descr="D:\esprit 2014\ESPRIT 2014\charte essprit 2014\render\support final\triangle.png" id="323" name="Google Shape;323;p27"/>
          <p:cNvPicPr preferRelativeResize="0"/>
          <p:nvPr/>
        </p:nvPicPr>
        <p:blipFill rotWithShape="1">
          <a:blip r:embed="rId4">
            <a:alphaModFix/>
          </a:blip>
          <a:srcRect b="0" l="0" r="0" t="0"/>
          <a:stretch/>
        </p:blipFill>
        <p:spPr>
          <a:xfrm>
            <a:off x="7173912" y="157162"/>
            <a:ext cx="2000250" cy="1377950"/>
          </a:xfrm>
          <a:prstGeom prst="rect">
            <a:avLst/>
          </a:prstGeom>
          <a:noFill/>
          <a:ln>
            <a:noFill/>
          </a:ln>
        </p:spPr>
      </p:pic>
      <p:sp>
        <p:nvSpPr>
          <p:cNvPr id="324" name="Google Shape;324;p27"/>
          <p:cNvSpPr txBox="1"/>
          <p:nvPr/>
        </p:nvSpPr>
        <p:spPr>
          <a:xfrm>
            <a:off x="457200" y="115887"/>
            <a:ext cx="8229600" cy="11430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Pour un site statique: HTML et CSS</a:t>
            </a:r>
            <a:endParaRPr b="0" i="0" sz="1400" u="none" cap="none" strike="noStrike">
              <a:solidFill>
                <a:srgbClr val="000000"/>
              </a:solidFill>
              <a:latin typeface="Arial"/>
              <a:ea typeface="Arial"/>
              <a:cs typeface="Arial"/>
              <a:sym typeface="Arial"/>
            </a:endParaRPr>
          </a:p>
        </p:txBody>
      </p:sp>
      <p:sp>
        <p:nvSpPr>
          <p:cNvPr id="325" name="Google Shape;325;p27"/>
          <p:cNvSpPr txBox="1"/>
          <p:nvPr/>
        </p:nvSpPr>
        <p:spPr>
          <a:xfrm>
            <a:off x="914400" y="1247775"/>
            <a:ext cx="7543800" cy="40933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a:p>
            <a:pPr indent="-152400" lvl="0" marL="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Une page statique est une page dont le code sera toujours le même. Il ne changera pas en fonction d’une variable ou d’un temps ou d’un utilisateur à un autre,</a:t>
            </a:r>
            <a:endParaRPr b="0" i="0" sz="1400" u="none" cap="none" strike="noStrike">
              <a:solidFill>
                <a:srgbClr val="000000"/>
              </a:solidFill>
              <a:latin typeface="Arial"/>
              <a:ea typeface="Arial"/>
              <a:cs typeface="Arial"/>
              <a:sym typeface="Arial"/>
            </a:endParaRPr>
          </a:p>
          <a:p>
            <a:pPr indent="-152400" lvl="0" marL="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Cet exemple de code sera toujours le même.</a:t>
            </a:r>
            <a:endParaRPr b="0" i="0" sz="2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 </a:t>
            </a:r>
            <a:r>
              <a:rPr b="1" i="0" lang="en-US" sz="1200" u="none" cap="none" strike="noStrike">
                <a:solidFill>
                  <a:srgbClr val="FF0000"/>
                </a:solidFill>
                <a:latin typeface="Arial"/>
                <a:ea typeface="Arial"/>
                <a:cs typeface="Arial"/>
                <a:sym typeface="Arial"/>
              </a:rPr>
              <a:t>&lt;!DOCTYPE html&gt; </a:t>
            </a:r>
            <a:endParaRPr b="0" i="0" sz="12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200"/>
              <a:buFont typeface="Arial"/>
              <a:buNone/>
            </a:pPr>
            <a:r>
              <a:rPr b="1" i="0" lang="en-US" sz="1200" u="none" cap="none" strike="noStrike">
                <a:solidFill>
                  <a:srgbClr val="FF0000"/>
                </a:solidFill>
                <a:latin typeface="Arial"/>
                <a:ea typeface="Arial"/>
                <a:cs typeface="Arial"/>
                <a:sym typeface="Arial"/>
              </a:rPr>
              <a:t>&lt;html&gt; </a:t>
            </a:r>
            <a:endParaRPr b="0" i="0" sz="12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200"/>
              <a:buFont typeface="Arial"/>
              <a:buNone/>
            </a:pPr>
            <a:r>
              <a:rPr b="1" i="0" lang="en-US" sz="1200" u="none" cap="none" strike="noStrike">
                <a:solidFill>
                  <a:srgbClr val="FF0000"/>
                </a:solidFill>
                <a:latin typeface="Arial"/>
                <a:ea typeface="Arial"/>
                <a:cs typeface="Arial"/>
                <a:sym typeface="Arial"/>
              </a:rPr>
              <a:t>    &lt;head&gt; </a:t>
            </a:r>
            <a:endParaRPr b="0" i="0" sz="12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200"/>
              <a:buFont typeface="Arial"/>
              <a:buNone/>
            </a:pPr>
            <a:r>
              <a:rPr b="1" i="0" lang="en-US" sz="1200" u="none" cap="none" strike="noStrike">
                <a:solidFill>
                  <a:srgbClr val="FF0000"/>
                </a:solidFill>
                <a:latin typeface="Arial"/>
                <a:ea typeface="Arial"/>
                <a:cs typeface="Arial"/>
                <a:sym typeface="Arial"/>
              </a:rPr>
              <a:t>        &lt;title&gt;Ma première page&lt;title&gt; </a:t>
            </a:r>
            <a:endParaRPr b="0" i="0" sz="12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200"/>
              <a:buFont typeface="Arial"/>
              <a:buNone/>
            </a:pPr>
            <a:r>
              <a:rPr b="1" i="0" lang="en-US" sz="1200" u="none" cap="none" strike="noStrike">
                <a:solidFill>
                  <a:srgbClr val="FF0000"/>
                </a:solidFill>
                <a:latin typeface="Arial"/>
                <a:ea typeface="Arial"/>
                <a:cs typeface="Arial"/>
                <a:sym typeface="Arial"/>
              </a:rPr>
              <a:t>    &lt;/head&gt; </a:t>
            </a:r>
            <a:endParaRPr b="0" i="0" sz="12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200"/>
              <a:buFont typeface="Arial"/>
              <a:buNone/>
            </a:pPr>
            <a:r>
              <a:rPr b="1" i="0" lang="en-US" sz="1200" u="none" cap="none" strike="noStrike">
                <a:solidFill>
                  <a:srgbClr val="FF0000"/>
                </a:solidFill>
                <a:latin typeface="Arial"/>
                <a:ea typeface="Arial"/>
                <a:cs typeface="Arial"/>
                <a:sym typeface="Arial"/>
              </a:rPr>
              <a:t>    &lt;body&gt; </a:t>
            </a:r>
            <a:endParaRPr b="0" i="0" sz="12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200"/>
              <a:buFont typeface="Arial"/>
              <a:buNone/>
            </a:pPr>
            <a:r>
              <a:rPr b="1" i="0" lang="en-US" sz="1200" u="none" cap="none" strike="noStrike">
                <a:solidFill>
                  <a:srgbClr val="FF0000"/>
                </a:solidFill>
                <a:latin typeface="Arial"/>
                <a:ea typeface="Arial"/>
                <a:cs typeface="Arial"/>
                <a:sym typeface="Arial"/>
              </a:rPr>
              <a:t>        &lt;p&gt;Bonjour, je suis un &lt;strong&gt;paragraphe&lt;/strong&gt; de texte !&lt;/p&gt; </a:t>
            </a:r>
            <a:endParaRPr b="0" i="0" sz="12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200"/>
              <a:buFont typeface="Arial"/>
              <a:buNone/>
            </a:pPr>
            <a:r>
              <a:rPr b="1" i="0" lang="en-US" sz="1200" u="none" cap="none" strike="noStrike">
                <a:solidFill>
                  <a:srgbClr val="FF0000"/>
                </a:solidFill>
                <a:latin typeface="Arial"/>
                <a:ea typeface="Arial"/>
                <a:cs typeface="Arial"/>
                <a:sym typeface="Arial"/>
              </a:rPr>
              <a:t>    &lt;/body&gt; </a:t>
            </a:r>
            <a:endParaRPr b="0" i="0" sz="12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200"/>
              <a:buFont typeface="Arial"/>
              <a:buNone/>
            </a:pPr>
            <a:r>
              <a:rPr b="1" i="0" lang="en-US" sz="1200" u="none" cap="none" strike="noStrike">
                <a:solidFill>
                  <a:srgbClr val="FF0000"/>
                </a:solidFill>
                <a:latin typeface="Arial"/>
                <a:ea typeface="Arial"/>
                <a:cs typeface="Arial"/>
                <a:sym typeface="Arial"/>
              </a:rPr>
              <a:t>&lt;/html&gt; </a:t>
            </a:r>
            <a:endParaRPr b="0" i="0" sz="1400" u="none" cap="none" strike="noStrike">
              <a:solidFill>
                <a:srgbClr val="000000"/>
              </a:solidFill>
              <a:latin typeface="Arial"/>
              <a:ea typeface="Arial"/>
              <a:cs typeface="Arial"/>
              <a:sym typeface="Arial"/>
            </a:endParaRPr>
          </a:p>
        </p:txBody>
      </p:sp>
      <p:pic>
        <p:nvPicPr>
          <p:cNvPr id="326" name="Google Shape;326;p27"/>
          <p:cNvPicPr preferRelativeResize="0"/>
          <p:nvPr/>
        </p:nvPicPr>
        <p:blipFill rotWithShape="1">
          <a:blip r:embed="rId5">
            <a:alphaModFix/>
          </a:blip>
          <a:srcRect b="0" l="0" r="0" t="0"/>
          <a:stretch/>
        </p:blipFill>
        <p:spPr>
          <a:xfrm>
            <a:off x="180700" y="6343638"/>
            <a:ext cx="1085850" cy="390525"/>
          </a:xfrm>
          <a:prstGeom prst="rect">
            <a:avLst/>
          </a:prstGeom>
          <a:noFill/>
          <a:ln>
            <a:noFill/>
          </a:ln>
        </p:spPr>
      </p:pic>
      <p:sp>
        <p:nvSpPr>
          <p:cNvPr id="327" name="Google Shape;327;p2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t/>
            </a:r>
            <a:endParaRPr/>
          </a:p>
        </p:txBody>
      </p:sp>
      <p:sp>
        <p:nvSpPr>
          <p:cNvPr id="328" name="Google Shape;328;p2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1200"/>
              <a:buFont typeface="Calibri"/>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400">
              <a:solidFill>
                <a:schemeClr val="dk1"/>
              </a:solidFill>
              <a:latin typeface="Calibri"/>
              <a:ea typeface="Calibri"/>
              <a:cs typeface="Calibri"/>
              <a:sym typeface="Calibri"/>
            </a:endParaRPr>
          </a:p>
        </p:txBody>
      </p:sp>
      <p:pic>
        <p:nvPicPr>
          <p:cNvPr id="334" name="Google Shape;334;p28"/>
          <p:cNvPicPr preferRelativeResize="0"/>
          <p:nvPr/>
        </p:nvPicPr>
        <p:blipFill rotWithShape="1">
          <a:blip r:embed="rId3">
            <a:alphaModFix/>
          </a:blip>
          <a:srcRect b="0" l="0" r="0" t="0"/>
          <a:stretch/>
        </p:blipFill>
        <p:spPr>
          <a:xfrm>
            <a:off x="-15875" y="-76200"/>
            <a:ext cx="9326562" cy="7056437"/>
          </a:xfrm>
          <a:prstGeom prst="rect">
            <a:avLst/>
          </a:prstGeom>
          <a:noFill/>
          <a:ln>
            <a:noFill/>
          </a:ln>
        </p:spPr>
      </p:pic>
      <p:sp>
        <p:nvSpPr>
          <p:cNvPr id="335" name="Google Shape;335;p28"/>
          <p:cNvSpPr txBox="1"/>
          <p:nvPr/>
        </p:nvSpPr>
        <p:spPr>
          <a:xfrm>
            <a:off x="-1331912" y="-184150"/>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6" name="Google Shape;336;p28"/>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descr="D:\esprit 2014\ESPRIT 2014\charte essprit 2014\render\support final\triangle.png" id="337" name="Google Shape;337;p28"/>
          <p:cNvPicPr preferRelativeResize="0"/>
          <p:nvPr/>
        </p:nvPicPr>
        <p:blipFill rotWithShape="1">
          <a:blip r:embed="rId4">
            <a:alphaModFix/>
          </a:blip>
          <a:srcRect b="0" l="0" r="0" t="0"/>
          <a:stretch/>
        </p:blipFill>
        <p:spPr>
          <a:xfrm>
            <a:off x="7173912" y="157162"/>
            <a:ext cx="2000250" cy="1377950"/>
          </a:xfrm>
          <a:prstGeom prst="rect">
            <a:avLst/>
          </a:prstGeom>
          <a:noFill/>
          <a:ln>
            <a:noFill/>
          </a:ln>
        </p:spPr>
      </p:pic>
      <p:sp>
        <p:nvSpPr>
          <p:cNvPr id="338" name="Google Shape;338;p28"/>
          <p:cNvSpPr txBox="1"/>
          <p:nvPr/>
        </p:nvSpPr>
        <p:spPr>
          <a:xfrm>
            <a:off x="457200" y="115887"/>
            <a:ext cx="8229600" cy="11430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Les sites Web dynamiques</a:t>
            </a:r>
            <a:endParaRPr b="0" i="0" sz="1400" u="none" cap="none" strike="noStrike">
              <a:solidFill>
                <a:srgbClr val="000000"/>
              </a:solidFill>
              <a:latin typeface="Arial"/>
              <a:ea typeface="Arial"/>
              <a:cs typeface="Arial"/>
              <a:sym typeface="Arial"/>
            </a:endParaRPr>
          </a:p>
        </p:txBody>
      </p:sp>
      <p:sp>
        <p:nvSpPr>
          <p:cNvPr id="339" name="Google Shape;339;p28"/>
          <p:cNvSpPr txBox="1"/>
          <p:nvPr/>
        </p:nvSpPr>
        <p:spPr>
          <a:xfrm>
            <a:off x="419100" y="1409700"/>
            <a:ext cx="8305800" cy="4216499"/>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Plus complexes, ils utilisent d'autres langages en plus de HTML et CSS, tels que PHP et MySQL. </a:t>
            </a:r>
            <a:endParaRPr b="0" i="0" sz="2400" u="none" cap="none" strike="noStrike">
              <a:solidFill>
                <a:schemeClr val="dk1"/>
              </a:solidFill>
              <a:latin typeface="Arial"/>
              <a:ea typeface="Arial"/>
              <a:cs typeface="Arial"/>
              <a:sym typeface="Arial"/>
            </a:endParaRPr>
          </a:p>
          <a:p>
            <a:pPr indent="-190500" lvl="0" marL="342900" marR="0" rtl="0" algn="just">
              <a:lnSpc>
                <a:spcPct val="100000"/>
              </a:lnSpc>
              <a:spcBef>
                <a:spcPts val="0"/>
              </a:spcBef>
              <a:spcAft>
                <a:spcPts val="0"/>
              </a:spcAft>
              <a:buClr>
                <a:schemeClr val="dk1"/>
              </a:buClr>
              <a:buSzPts val="2400"/>
              <a:buFont typeface="Arial"/>
              <a:buNone/>
            </a:pPr>
            <a:r>
              <a:t/>
            </a:r>
            <a:endParaRPr b="0" i="0" sz="1400" u="none" cap="none" strike="noStrike">
              <a:solidFill>
                <a:srgbClr val="000000"/>
              </a:solidFill>
              <a:latin typeface="Arial"/>
              <a:ea typeface="Arial"/>
              <a:cs typeface="Arial"/>
              <a:sym typeface="Arial"/>
            </a:endParaRPr>
          </a:p>
          <a:p>
            <a:pPr indent="-190500" lvl="0" marL="342900" marR="0" rtl="0" algn="just">
              <a:lnSpc>
                <a:spcPct val="100000"/>
              </a:lnSpc>
              <a:spcBef>
                <a:spcPts val="0"/>
              </a:spcBef>
              <a:spcAft>
                <a:spcPts val="0"/>
              </a:spcAft>
              <a:buClr>
                <a:schemeClr val="dk1"/>
              </a:buClr>
              <a:buSzPts val="2400"/>
              <a:buFont typeface="Arial"/>
              <a:buNone/>
            </a:pPr>
            <a:r>
              <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Le code et le contenu meme de ces sites web est dit « dynamique » parce qu'il peut changer sans l'intervention du webmaster ! La plupart des sites web que vous visitez aujourd'hui, sont des sites web dynamiques.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Dés qu’on parle de site web dynamique, on parle aussi de l’interaction client-serveur.</a:t>
            </a:r>
            <a:endParaRPr b="0" i="0" sz="1400" u="none" cap="none" strike="noStrike">
              <a:solidFill>
                <a:srgbClr val="000000"/>
              </a:solidFill>
              <a:latin typeface="Arial"/>
              <a:ea typeface="Arial"/>
              <a:cs typeface="Arial"/>
              <a:sym typeface="Arial"/>
            </a:endParaRPr>
          </a:p>
        </p:txBody>
      </p:sp>
      <p:pic>
        <p:nvPicPr>
          <p:cNvPr id="340" name="Google Shape;340;p28"/>
          <p:cNvPicPr preferRelativeResize="0"/>
          <p:nvPr/>
        </p:nvPicPr>
        <p:blipFill rotWithShape="1">
          <a:blip r:embed="rId5">
            <a:alphaModFix/>
          </a:blip>
          <a:srcRect b="0" l="0" r="0" t="0"/>
          <a:stretch/>
        </p:blipFill>
        <p:spPr>
          <a:xfrm>
            <a:off x="419100" y="6330938"/>
            <a:ext cx="1085850" cy="390525"/>
          </a:xfrm>
          <a:prstGeom prst="rect">
            <a:avLst/>
          </a:prstGeom>
          <a:noFill/>
          <a:ln>
            <a:noFill/>
          </a:ln>
        </p:spPr>
      </p:pic>
      <p:sp>
        <p:nvSpPr>
          <p:cNvPr id="341" name="Google Shape;341;p28"/>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t/>
            </a:r>
            <a:endParaRPr/>
          </a:p>
        </p:txBody>
      </p:sp>
      <p:sp>
        <p:nvSpPr>
          <p:cNvPr id="342" name="Google Shape;342;p2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1200"/>
              <a:buFont typeface="Calibri"/>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400">
              <a:solidFill>
                <a:schemeClr val="dk1"/>
              </a:solidFill>
              <a:latin typeface="Calibri"/>
              <a:ea typeface="Calibri"/>
              <a:cs typeface="Calibri"/>
              <a:sym typeface="Calibri"/>
            </a:endParaRPr>
          </a:p>
        </p:txBody>
      </p:sp>
      <p:pic>
        <p:nvPicPr>
          <p:cNvPr id="348" name="Google Shape;348;p29"/>
          <p:cNvPicPr preferRelativeResize="0"/>
          <p:nvPr/>
        </p:nvPicPr>
        <p:blipFill rotWithShape="1">
          <a:blip r:embed="rId3">
            <a:alphaModFix/>
          </a:blip>
          <a:srcRect b="0" l="0" r="0" t="0"/>
          <a:stretch/>
        </p:blipFill>
        <p:spPr>
          <a:xfrm>
            <a:off x="-92075" y="-96837"/>
            <a:ext cx="9326562" cy="7056437"/>
          </a:xfrm>
          <a:prstGeom prst="rect">
            <a:avLst/>
          </a:prstGeom>
          <a:noFill/>
          <a:ln>
            <a:noFill/>
          </a:ln>
        </p:spPr>
      </p:pic>
      <p:sp>
        <p:nvSpPr>
          <p:cNvPr id="349" name="Google Shape;349;p29"/>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descr="D:\esprit 2014\ESPRIT 2014\charte essprit 2014\render\support final\triangle.png" id="350" name="Google Shape;350;p29"/>
          <p:cNvPicPr preferRelativeResize="0"/>
          <p:nvPr/>
        </p:nvPicPr>
        <p:blipFill rotWithShape="1">
          <a:blip r:embed="rId4">
            <a:alphaModFix/>
          </a:blip>
          <a:srcRect b="0" l="0" r="0" t="0"/>
          <a:stretch/>
        </p:blipFill>
        <p:spPr>
          <a:xfrm>
            <a:off x="7173912" y="157162"/>
            <a:ext cx="2000250" cy="1377950"/>
          </a:xfrm>
          <a:prstGeom prst="rect">
            <a:avLst/>
          </a:prstGeom>
          <a:noFill/>
          <a:ln>
            <a:noFill/>
          </a:ln>
        </p:spPr>
      </p:pic>
      <p:sp>
        <p:nvSpPr>
          <p:cNvPr id="351" name="Google Shape;351;p29"/>
          <p:cNvSpPr txBox="1"/>
          <p:nvPr/>
        </p:nvSpPr>
        <p:spPr>
          <a:xfrm>
            <a:off x="457200" y="115887"/>
            <a:ext cx="8229600" cy="11430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Les Sites Web dynamiques</a:t>
            </a:r>
            <a:endParaRPr b="0" i="0" sz="1400" u="none" cap="none" strike="noStrike">
              <a:solidFill>
                <a:srgbClr val="000000"/>
              </a:solidFill>
              <a:latin typeface="Arial"/>
              <a:ea typeface="Arial"/>
              <a:cs typeface="Arial"/>
              <a:sym typeface="Arial"/>
            </a:endParaRPr>
          </a:p>
        </p:txBody>
      </p:sp>
      <p:sp>
        <p:nvSpPr>
          <p:cNvPr id="352" name="Google Shape;352;p29"/>
          <p:cNvSpPr txBox="1"/>
          <p:nvPr/>
        </p:nvSpPr>
        <p:spPr>
          <a:xfrm>
            <a:off x="689372" y="1055204"/>
            <a:ext cx="7763668" cy="369291"/>
          </a:xfrm>
          <a:prstGeom prst="rect">
            <a:avLst/>
          </a:prstGeom>
          <a:noFill/>
          <a:ln>
            <a:noFill/>
          </a:ln>
        </p:spPr>
        <p:txBody>
          <a:bodyPr anchorCtr="0" anchor="t" bIns="45700" lIns="91425" spcFirstLastPara="1" rIns="91425" wrap="square" tIns="45700">
            <a:spAutoFit/>
          </a:bodyPr>
          <a:lstStyle/>
          <a:p>
            <a:pPr indent="-114300" lvl="0" marL="0" marR="0" rtl="0" algn="ctr">
              <a:lnSpc>
                <a:spcPct val="100000"/>
              </a:lnSpc>
              <a:spcBef>
                <a:spcPts val="0"/>
              </a:spcBef>
              <a:spcAft>
                <a:spcPts val="0"/>
              </a:spcAft>
              <a:buClr>
                <a:schemeClr val="dk1"/>
              </a:buClr>
              <a:buSzPts val="1800"/>
              <a:buFont typeface="Noto Sans Symbols"/>
              <a:buChar char="⮚"/>
            </a:pPr>
            <a:r>
              <a:rPr b="1" i="0" lang="en-US" sz="1800" u="none" cap="none" strike="noStrike">
                <a:solidFill>
                  <a:schemeClr val="dk1"/>
                </a:solidFill>
                <a:latin typeface="Arial"/>
                <a:ea typeface="Arial"/>
                <a:cs typeface="Arial"/>
                <a:sym typeface="Arial"/>
              </a:rPr>
              <a:t>L’interaction Client - serveur</a:t>
            </a:r>
            <a:endParaRPr b="0" i="0" sz="1400" u="none" cap="none" strike="noStrike">
              <a:solidFill>
                <a:srgbClr val="000000"/>
              </a:solidFill>
              <a:latin typeface="Arial"/>
              <a:ea typeface="Arial"/>
              <a:cs typeface="Arial"/>
              <a:sym typeface="Arial"/>
            </a:endParaRPr>
          </a:p>
        </p:txBody>
      </p:sp>
      <p:pic>
        <p:nvPicPr>
          <p:cNvPr id="353" name="Google Shape;353;p29"/>
          <p:cNvPicPr preferRelativeResize="0"/>
          <p:nvPr/>
        </p:nvPicPr>
        <p:blipFill rotWithShape="1">
          <a:blip r:embed="rId5">
            <a:alphaModFix/>
          </a:blip>
          <a:srcRect b="0" l="0" r="0" t="0"/>
          <a:stretch/>
        </p:blipFill>
        <p:spPr>
          <a:xfrm>
            <a:off x="1427162" y="1754187"/>
            <a:ext cx="7183437" cy="2095500"/>
          </a:xfrm>
          <a:prstGeom prst="rect">
            <a:avLst/>
          </a:prstGeom>
          <a:noFill/>
          <a:ln>
            <a:noFill/>
          </a:ln>
        </p:spPr>
      </p:pic>
      <p:pic>
        <p:nvPicPr>
          <p:cNvPr id="354" name="Google Shape;354;p29"/>
          <p:cNvPicPr preferRelativeResize="0"/>
          <p:nvPr/>
        </p:nvPicPr>
        <p:blipFill rotWithShape="1">
          <a:blip r:embed="rId6">
            <a:alphaModFix/>
          </a:blip>
          <a:srcRect b="0" l="0" r="0" t="0"/>
          <a:stretch/>
        </p:blipFill>
        <p:spPr>
          <a:xfrm>
            <a:off x="1427162" y="3852862"/>
            <a:ext cx="7183437" cy="2352675"/>
          </a:xfrm>
          <a:prstGeom prst="rect">
            <a:avLst/>
          </a:prstGeom>
          <a:noFill/>
          <a:ln>
            <a:noFill/>
          </a:ln>
        </p:spPr>
      </p:pic>
      <p:sp>
        <p:nvSpPr>
          <p:cNvPr id="355" name="Google Shape;355;p29"/>
          <p:cNvSpPr txBox="1"/>
          <p:nvPr/>
        </p:nvSpPr>
        <p:spPr>
          <a:xfrm>
            <a:off x="-423862" y="2697162"/>
            <a:ext cx="2454275" cy="5857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400"/>
              <a:buFont typeface="Open Sans"/>
              <a:buNone/>
            </a:pPr>
            <a:r>
              <a:rPr b="1" i="0" lang="en-US" sz="1400" u="none" cap="none" strike="noStrike">
                <a:solidFill>
                  <a:srgbClr val="FF0000"/>
                </a:solidFill>
                <a:latin typeface="Open Sans"/>
                <a:ea typeface="Open Sans"/>
                <a:cs typeface="Open Sans"/>
                <a:sym typeface="Open Sans"/>
              </a:rPr>
              <a:t>Web</a:t>
            </a:r>
            <a:endParaRPr b="1" i="0" sz="1800" u="none" cap="none" strike="noStrike">
              <a:solidFill>
                <a:srgbClr val="FF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FF0000"/>
              </a:solidFill>
              <a:latin typeface="Open Sans"/>
              <a:ea typeface="Open Sans"/>
              <a:cs typeface="Open Sans"/>
              <a:sym typeface="Open Sans"/>
            </a:endParaRPr>
          </a:p>
        </p:txBody>
      </p:sp>
      <p:sp>
        <p:nvSpPr>
          <p:cNvPr id="356" name="Google Shape;356;p29"/>
          <p:cNvSpPr txBox="1"/>
          <p:nvPr/>
        </p:nvSpPr>
        <p:spPr>
          <a:xfrm>
            <a:off x="-381000" y="4794250"/>
            <a:ext cx="2454275" cy="584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400"/>
              <a:buFont typeface="Open Sans"/>
              <a:buNone/>
            </a:pPr>
            <a:r>
              <a:rPr b="1" i="0" lang="en-US" sz="1400" u="none" cap="none" strike="noStrike">
                <a:solidFill>
                  <a:srgbClr val="FF0000"/>
                </a:solidFill>
                <a:latin typeface="Open Sans"/>
                <a:ea typeface="Open Sans"/>
                <a:cs typeface="Open Sans"/>
                <a:sym typeface="Open Sans"/>
              </a:rPr>
              <a:t>Internet</a:t>
            </a:r>
            <a:endParaRPr b="1" i="0" sz="1800" u="none" cap="none" strike="noStrike">
              <a:solidFill>
                <a:srgbClr val="FF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FF0000"/>
              </a:solidFill>
              <a:latin typeface="Open Sans"/>
              <a:ea typeface="Open Sans"/>
              <a:cs typeface="Open Sans"/>
              <a:sym typeface="Open Sans"/>
            </a:endParaRPr>
          </a:p>
        </p:txBody>
      </p:sp>
      <p:pic>
        <p:nvPicPr>
          <p:cNvPr id="357" name="Google Shape;357;p29"/>
          <p:cNvPicPr preferRelativeResize="0"/>
          <p:nvPr/>
        </p:nvPicPr>
        <p:blipFill rotWithShape="1">
          <a:blip r:embed="rId7">
            <a:alphaModFix/>
          </a:blip>
          <a:srcRect b="0" l="0" r="0" t="0"/>
          <a:stretch/>
        </p:blipFill>
        <p:spPr>
          <a:xfrm>
            <a:off x="260363" y="6467463"/>
            <a:ext cx="1085850" cy="390525"/>
          </a:xfrm>
          <a:prstGeom prst="rect">
            <a:avLst/>
          </a:prstGeom>
          <a:noFill/>
          <a:ln>
            <a:noFill/>
          </a:ln>
        </p:spPr>
      </p:pic>
      <p:sp>
        <p:nvSpPr>
          <p:cNvPr id="358" name="Google Shape;358;p29"/>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t/>
            </a:r>
            <a:endParaRPr/>
          </a:p>
        </p:txBody>
      </p:sp>
      <p:sp>
        <p:nvSpPr>
          <p:cNvPr id="359" name="Google Shape;359;p2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1200"/>
              <a:buFont typeface="Calibri"/>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400">
              <a:solidFill>
                <a:schemeClr val="dk1"/>
              </a:solidFill>
              <a:latin typeface="Calibri"/>
              <a:ea typeface="Calibri"/>
              <a:cs typeface="Calibri"/>
              <a:sym typeface="Calibri"/>
            </a:endParaRPr>
          </a:p>
        </p:txBody>
      </p:sp>
      <p:pic>
        <p:nvPicPr>
          <p:cNvPr id="365" name="Google Shape;365;p30"/>
          <p:cNvPicPr preferRelativeResize="0"/>
          <p:nvPr/>
        </p:nvPicPr>
        <p:blipFill rotWithShape="1">
          <a:blip r:embed="rId3">
            <a:alphaModFix/>
          </a:blip>
          <a:srcRect b="0" l="0" r="0" t="0"/>
          <a:stretch/>
        </p:blipFill>
        <p:spPr>
          <a:xfrm>
            <a:off x="-92075" y="-41275"/>
            <a:ext cx="9326562" cy="7056437"/>
          </a:xfrm>
          <a:prstGeom prst="rect">
            <a:avLst/>
          </a:prstGeom>
          <a:noFill/>
          <a:ln>
            <a:noFill/>
          </a:ln>
        </p:spPr>
      </p:pic>
      <p:sp>
        <p:nvSpPr>
          <p:cNvPr id="366" name="Google Shape;366;p30"/>
          <p:cNvSpPr txBox="1"/>
          <p:nvPr/>
        </p:nvSpPr>
        <p:spPr>
          <a:xfrm>
            <a:off x="-1331912" y="-184150"/>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7" name="Google Shape;367;p30"/>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descr="D:\esprit 2014\ESPRIT 2014\charte essprit 2014\render\support final\triangle.png" id="368" name="Google Shape;368;p30"/>
          <p:cNvPicPr preferRelativeResize="0"/>
          <p:nvPr/>
        </p:nvPicPr>
        <p:blipFill rotWithShape="1">
          <a:blip r:embed="rId4">
            <a:alphaModFix/>
          </a:blip>
          <a:srcRect b="0" l="0" r="0" t="0"/>
          <a:stretch/>
        </p:blipFill>
        <p:spPr>
          <a:xfrm>
            <a:off x="7173912" y="157162"/>
            <a:ext cx="2000250" cy="1377950"/>
          </a:xfrm>
          <a:prstGeom prst="rect">
            <a:avLst/>
          </a:prstGeom>
          <a:noFill/>
          <a:ln>
            <a:noFill/>
          </a:ln>
        </p:spPr>
      </p:pic>
      <p:sp>
        <p:nvSpPr>
          <p:cNvPr id="369" name="Google Shape;369;p30"/>
          <p:cNvSpPr txBox="1"/>
          <p:nvPr/>
        </p:nvSpPr>
        <p:spPr>
          <a:xfrm>
            <a:off x="457200" y="115887"/>
            <a:ext cx="8229600" cy="11430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100"/>
              <a:buFont typeface="Calibri"/>
              <a:buNone/>
            </a:pPr>
            <a:r>
              <a:rPr b="0" i="0" lang="en-US" sz="4100" u="none" cap="none" strike="noStrike">
                <a:solidFill>
                  <a:schemeClr val="dk1"/>
                </a:solidFill>
                <a:latin typeface="Calibri"/>
                <a:ea typeface="Calibri"/>
                <a:cs typeface="Calibri"/>
                <a:sym typeface="Calibri"/>
              </a:rPr>
              <a:t>Les architectures d’un site dynamique</a:t>
            </a:r>
            <a:endParaRPr b="0" i="0" sz="1400" u="none" cap="none" strike="noStrike">
              <a:solidFill>
                <a:srgbClr val="000000"/>
              </a:solidFill>
              <a:latin typeface="Arial"/>
              <a:ea typeface="Arial"/>
              <a:cs typeface="Arial"/>
              <a:sym typeface="Arial"/>
            </a:endParaRPr>
          </a:p>
        </p:txBody>
      </p:sp>
      <p:sp>
        <p:nvSpPr>
          <p:cNvPr id="370" name="Google Shape;370;p30"/>
          <p:cNvSpPr txBox="1"/>
          <p:nvPr/>
        </p:nvSpPr>
        <p:spPr>
          <a:xfrm>
            <a:off x="419100" y="1409700"/>
            <a:ext cx="8305800" cy="41544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L'architecture à 2 niveaux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152400" lvl="0" marL="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L'architecture à deux niveaux (appelée aussi architecture 2 tiers, tier: rangée en anglais). </a:t>
            </a:r>
            <a:endParaRPr b="0" i="0" sz="1400" u="none" cap="none" strike="noStrike">
              <a:solidFill>
                <a:srgbClr val="000000"/>
              </a:solidFill>
              <a:latin typeface="Arial"/>
              <a:ea typeface="Arial"/>
              <a:cs typeface="Arial"/>
              <a:sym typeface="Arial"/>
            </a:endParaRPr>
          </a:p>
          <a:p>
            <a:pPr indent="-152400" lvl="0" marL="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Caractérise les systèmes clients/serveurs pour lesquels le client demande une ressource et le serveur la lui fournit directement, en utilisant ses propres ressources. Cela signifie que le serveur ne fait pas appel à une autre application afin de fournir une partie du service.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371" name="Google Shape;371;p30"/>
          <p:cNvPicPr preferRelativeResize="0"/>
          <p:nvPr/>
        </p:nvPicPr>
        <p:blipFill rotWithShape="1">
          <a:blip r:embed="rId5">
            <a:alphaModFix/>
          </a:blip>
          <a:srcRect b="0" l="0" r="0" t="0"/>
          <a:stretch/>
        </p:blipFill>
        <p:spPr>
          <a:xfrm>
            <a:off x="230025" y="6330938"/>
            <a:ext cx="1085850" cy="390525"/>
          </a:xfrm>
          <a:prstGeom prst="rect">
            <a:avLst/>
          </a:prstGeom>
          <a:noFill/>
          <a:ln>
            <a:noFill/>
          </a:ln>
        </p:spPr>
      </p:pic>
      <p:sp>
        <p:nvSpPr>
          <p:cNvPr id="372" name="Google Shape;372;p30"/>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t/>
            </a:r>
            <a:endParaRPr/>
          </a:p>
        </p:txBody>
      </p:sp>
      <p:sp>
        <p:nvSpPr>
          <p:cNvPr id="373" name="Google Shape;373;p3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1200"/>
              <a:buFont typeface="Calibri"/>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3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400">
              <a:solidFill>
                <a:schemeClr val="dk1"/>
              </a:solidFill>
              <a:latin typeface="Calibri"/>
              <a:ea typeface="Calibri"/>
              <a:cs typeface="Calibri"/>
              <a:sym typeface="Calibri"/>
            </a:endParaRPr>
          </a:p>
        </p:txBody>
      </p:sp>
      <p:pic>
        <p:nvPicPr>
          <p:cNvPr id="379" name="Google Shape;379;p31"/>
          <p:cNvPicPr preferRelativeResize="0"/>
          <p:nvPr/>
        </p:nvPicPr>
        <p:blipFill rotWithShape="1">
          <a:blip r:embed="rId3">
            <a:alphaModFix/>
          </a:blip>
          <a:srcRect b="0" l="0" r="0" t="0"/>
          <a:stretch/>
        </p:blipFill>
        <p:spPr>
          <a:xfrm>
            <a:off x="-92075" y="-41275"/>
            <a:ext cx="9326562" cy="7056437"/>
          </a:xfrm>
          <a:prstGeom prst="rect">
            <a:avLst/>
          </a:prstGeom>
          <a:noFill/>
          <a:ln>
            <a:noFill/>
          </a:ln>
        </p:spPr>
      </p:pic>
      <p:sp>
        <p:nvSpPr>
          <p:cNvPr id="380" name="Google Shape;380;p31"/>
          <p:cNvSpPr txBox="1"/>
          <p:nvPr/>
        </p:nvSpPr>
        <p:spPr>
          <a:xfrm>
            <a:off x="-1331912" y="-184150"/>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1" name="Google Shape;381;p31"/>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descr="D:\esprit 2014\ESPRIT 2014\charte essprit 2014\render\support final\triangle.png" id="382" name="Google Shape;382;p31"/>
          <p:cNvPicPr preferRelativeResize="0"/>
          <p:nvPr/>
        </p:nvPicPr>
        <p:blipFill rotWithShape="1">
          <a:blip r:embed="rId4">
            <a:alphaModFix/>
          </a:blip>
          <a:srcRect b="0" l="0" r="0" t="0"/>
          <a:stretch/>
        </p:blipFill>
        <p:spPr>
          <a:xfrm>
            <a:off x="7173912" y="157162"/>
            <a:ext cx="2000250" cy="1377950"/>
          </a:xfrm>
          <a:prstGeom prst="rect">
            <a:avLst/>
          </a:prstGeom>
          <a:noFill/>
          <a:ln>
            <a:noFill/>
          </a:ln>
        </p:spPr>
      </p:pic>
      <p:sp>
        <p:nvSpPr>
          <p:cNvPr id="383" name="Google Shape;383;p31"/>
          <p:cNvSpPr txBox="1"/>
          <p:nvPr/>
        </p:nvSpPr>
        <p:spPr>
          <a:xfrm>
            <a:off x="457200" y="115887"/>
            <a:ext cx="8229600" cy="11430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100"/>
              <a:buFont typeface="Calibri"/>
              <a:buNone/>
            </a:pPr>
            <a:r>
              <a:rPr b="0" i="0" lang="en-US" sz="4100" u="none" cap="none" strike="noStrike">
                <a:solidFill>
                  <a:schemeClr val="dk1"/>
                </a:solidFill>
                <a:latin typeface="Calibri"/>
                <a:ea typeface="Calibri"/>
                <a:cs typeface="Calibri"/>
                <a:sym typeface="Calibri"/>
              </a:rPr>
              <a:t>Les architectures d’un site dynamique</a:t>
            </a:r>
            <a:endParaRPr b="0" i="0" sz="1400" u="none" cap="none" strike="noStrike">
              <a:solidFill>
                <a:srgbClr val="000000"/>
              </a:solidFill>
              <a:latin typeface="Arial"/>
              <a:ea typeface="Arial"/>
              <a:cs typeface="Arial"/>
              <a:sym typeface="Arial"/>
            </a:endParaRPr>
          </a:p>
        </p:txBody>
      </p:sp>
      <p:sp>
        <p:nvSpPr>
          <p:cNvPr id="384" name="Google Shape;384;p31"/>
          <p:cNvSpPr txBox="1"/>
          <p:nvPr/>
        </p:nvSpPr>
        <p:spPr>
          <a:xfrm>
            <a:off x="381000" y="938212"/>
            <a:ext cx="8305800" cy="1570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152400" lvl="0" marL="0" marR="0" rtl="0" algn="l">
              <a:lnSpc>
                <a:spcPct val="100000"/>
              </a:lnSpc>
              <a:spcBef>
                <a:spcPts val="0"/>
              </a:spcBef>
              <a:spcAft>
                <a:spcPts val="0"/>
              </a:spcAft>
              <a:buClr>
                <a:schemeClr val="dk1"/>
              </a:buClr>
              <a:buSzPts val="2400"/>
              <a:buFont typeface="Noto Sans Symbols"/>
              <a:buChar char="⮚"/>
            </a:pPr>
            <a:r>
              <a:rPr b="1" i="0" lang="en-US" sz="2400" u="none" cap="none" strike="noStrike">
                <a:solidFill>
                  <a:schemeClr val="dk1"/>
                </a:solidFill>
                <a:latin typeface="Arial"/>
                <a:ea typeface="Arial"/>
                <a:cs typeface="Arial"/>
                <a:sym typeface="Arial"/>
              </a:rPr>
              <a:t>L'architecture à 2 niveaux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385" name="Google Shape;385;p31"/>
          <p:cNvPicPr preferRelativeResize="0"/>
          <p:nvPr/>
        </p:nvPicPr>
        <p:blipFill rotWithShape="1">
          <a:blip r:embed="rId5">
            <a:alphaModFix/>
          </a:blip>
          <a:srcRect b="0" l="0" r="0" t="0"/>
          <a:stretch/>
        </p:blipFill>
        <p:spPr>
          <a:xfrm>
            <a:off x="1066800" y="1887537"/>
            <a:ext cx="7448550" cy="4381500"/>
          </a:xfrm>
          <a:prstGeom prst="rect">
            <a:avLst/>
          </a:prstGeom>
          <a:noFill/>
          <a:ln>
            <a:noFill/>
          </a:ln>
        </p:spPr>
      </p:pic>
      <p:pic>
        <p:nvPicPr>
          <p:cNvPr id="386" name="Google Shape;386;p31"/>
          <p:cNvPicPr preferRelativeResize="0"/>
          <p:nvPr/>
        </p:nvPicPr>
        <p:blipFill rotWithShape="1">
          <a:blip r:embed="rId6">
            <a:alphaModFix/>
          </a:blip>
          <a:srcRect b="0" l="0" r="0" t="0"/>
          <a:stretch/>
        </p:blipFill>
        <p:spPr>
          <a:xfrm>
            <a:off x="262925" y="6343638"/>
            <a:ext cx="1085850" cy="390525"/>
          </a:xfrm>
          <a:prstGeom prst="rect">
            <a:avLst/>
          </a:prstGeom>
          <a:noFill/>
          <a:ln>
            <a:noFill/>
          </a:ln>
        </p:spPr>
      </p:pic>
      <p:sp>
        <p:nvSpPr>
          <p:cNvPr id="387" name="Google Shape;387;p3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t/>
            </a:r>
            <a:endParaRPr/>
          </a:p>
        </p:txBody>
      </p:sp>
      <p:sp>
        <p:nvSpPr>
          <p:cNvPr id="388" name="Google Shape;388;p3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1200"/>
              <a:buFont typeface="Calibri"/>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3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400">
              <a:solidFill>
                <a:schemeClr val="dk1"/>
              </a:solidFill>
              <a:latin typeface="Calibri"/>
              <a:ea typeface="Calibri"/>
              <a:cs typeface="Calibri"/>
              <a:sym typeface="Calibri"/>
            </a:endParaRPr>
          </a:p>
        </p:txBody>
      </p:sp>
      <p:pic>
        <p:nvPicPr>
          <p:cNvPr id="394" name="Google Shape;394;p32"/>
          <p:cNvPicPr preferRelativeResize="0"/>
          <p:nvPr/>
        </p:nvPicPr>
        <p:blipFill rotWithShape="1">
          <a:blip r:embed="rId3">
            <a:alphaModFix/>
          </a:blip>
          <a:srcRect b="0" l="0" r="0" t="0"/>
          <a:stretch/>
        </p:blipFill>
        <p:spPr>
          <a:xfrm>
            <a:off x="-92075" y="-41275"/>
            <a:ext cx="9326562" cy="7056437"/>
          </a:xfrm>
          <a:prstGeom prst="rect">
            <a:avLst/>
          </a:prstGeom>
          <a:noFill/>
          <a:ln>
            <a:noFill/>
          </a:ln>
        </p:spPr>
      </p:pic>
      <p:sp>
        <p:nvSpPr>
          <p:cNvPr id="395" name="Google Shape;395;p32"/>
          <p:cNvSpPr txBox="1"/>
          <p:nvPr/>
        </p:nvSpPr>
        <p:spPr>
          <a:xfrm>
            <a:off x="-1331912" y="-184150"/>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6" name="Google Shape;396;p32"/>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descr="D:\esprit 2014\ESPRIT 2014\charte essprit 2014\render\support final\triangle.png" id="397" name="Google Shape;397;p32"/>
          <p:cNvPicPr preferRelativeResize="0"/>
          <p:nvPr/>
        </p:nvPicPr>
        <p:blipFill rotWithShape="1">
          <a:blip r:embed="rId4">
            <a:alphaModFix/>
          </a:blip>
          <a:srcRect b="0" l="0" r="0" t="0"/>
          <a:stretch/>
        </p:blipFill>
        <p:spPr>
          <a:xfrm>
            <a:off x="7173912" y="157162"/>
            <a:ext cx="2000250" cy="1377950"/>
          </a:xfrm>
          <a:prstGeom prst="rect">
            <a:avLst/>
          </a:prstGeom>
          <a:noFill/>
          <a:ln>
            <a:noFill/>
          </a:ln>
        </p:spPr>
      </p:pic>
      <p:sp>
        <p:nvSpPr>
          <p:cNvPr id="398" name="Google Shape;398;p32"/>
          <p:cNvSpPr txBox="1"/>
          <p:nvPr/>
        </p:nvSpPr>
        <p:spPr>
          <a:xfrm>
            <a:off x="457200" y="115887"/>
            <a:ext cx="8229600" cy="11430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100"/>
              <a:buFont typeface="Calibri"/>
              <a:buNone/>
            </a:pPr>
            <a:r>
              <a:rPr b="0" i="0" lang="en-US" sz="4100" u="none" cap="none" strike="noStrike">
                <a:solidFill>
                  <a:schemeClr val="dk1"/>
                </a:solidFill>
                <a:latin typeface="Calibri"/>
                <a:ea typeface="Calibri"/>
                <a:cs typeface="Calibri"/>
                <a:sym typeface="Calibri"/>
              </a:rPr>
              <a:t>Les architectures d’un site dynamique</a:t>
            </a:r>
            <a:endParaRPr b="0" i="0" sz="1400" u="none" cap="none" strike="noStrike">
              <a:solidFill>
                <a:srgbClr val="000000"/>
              </a:solidFill>
              <a:latin typeface="Arial"/>
              <a:ea typeface="Arial"/>
              <a:cs typeface="Arial"/>
              <a:sym typeface="Arial"/>
            </a:endParaRPr>
          </a:p>
        </p:txBody>
      </p:sp>
      <p:sp>
        <p:nvSpPr>
          <p:cNvPr id="399" name="Google Shape;399;p32"/>
          <p:cNvSpPr txBox="1"/>
          <p:nvPr/>
        </p:nvSpPr>
        <p:spPr>
          <a:xfrm>
            <a:off x="381000" y="938212"/>
            <a:ext cx="8305800" cy="1570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L'architecture à 3 niveaux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00" name="Google Shape;400;p32"/>
          <p:cNvSpPr txBox="1"/>
          <p:nvPr/>
        </p:nvSpPr>
        <p:spPr>
          <a:xfrm>
            <a:off x="457200" y="1514475"/>
            <a:ext cx="8321675" cy="4108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a:p>
            <a:pPr indent="-152400" lvl="0" marL="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Dans l'architecture à 3 niveaux (appelée architecture 3-tier), il existe un niveau intermédiaire, c'est-à-dire que l'on a généralement une architecture partagée entre :Un client, c'est-à-dire l'ordinateur demandeur de ressources, équipée d'une interface utilisateur (généralement un navigateur web) chargée de la présentation; Le serveur d'application (appelé également middleware), chargé de fournir la ressource mais faisant appel à un autre serveur </a:t>
            </a:r>
            <a:endParaRPr b="0" i="0" sz="1400" u="none" cap="none" strike="noStrike">
              <a:solidFill>
                <a:srgbClr val="000000"/>
              </a:solidFill>
              <a:latin typeface="Arial"/>
              <a:ea typeface="Arial"/>
              <a:cs typeface="Arial"/>
              <a:sym typeface="Arial"/>
            </a:endParaRPr>
          </a:p>
          <a:p>
            <a:pPr indent="-152400" lvl="0" marL="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Le serveur de données, fournissant au serveur d'application les données dont il a besoin. </a:t>
            </a:r>
            <a:endParaRPr b="0" i="0" sz="1400" u="none" cap="none" strike="noStrike">
              <a:solidFill>
                <a:srgbClr val="000000"/>
              </a:solidFill>
              <a:latin typeface="Arial"/>
              <a:ea typeface="Arial"/>
              <a:cs typeface="Arial"/>
              <a:sym typeface="Arial"/>
            </a:endParaRPr>
          </a:p>
        </p:txBody>
      </p:sp>
      <p:pic>
        <p:nvPicPr>
          <p:cNvPr id="401" name="Google Shape;401;p32"/>
          <p:cNvPicPr preferRelativeResize="0"/>
          <p:nvPr/>
        </p:nvPicPr>
        <p:blipFill rotWithShape="1">
          <a:blip r:embed="rId5">
            <a:alphaModFix/>
          </a:blip>
          <a:srcRect b="0" l="0" r="0" t="0"/>
          <a:stretch/>
        </p:blipFill>
        <p:spPr>
          <a:xfrm>
            <a:off x="246475" y="6343638"/>
            <a:ext cx="1085850" cy="390525"/>
          </a:xfrm>
          <a:prstGeom prst="rect">
            <a:avLst/>
          </a:prstGeom>
          <a:noFill/>
          <a:ln>
            <a:noFill/>
          </a:ln>
        </p:spPr>
      </p:pic>
      <p:sp>
        <p:nvSpPr>
          <p:cNvPr id="402" name="Google Shape;402;p32"/>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t/>
            </a:r>
            <a:endParaRPr/>
          </a:p>
        </p:txBody>
      </p:sp>
      <p:sp>
        <p:nvSpPr>
          <p:cNvPr id="403" name="Google Shape;403;p3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1200"/>
              <a:buFont typeface="Calibri"/>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3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400">
              <a:solidFill>
                <a:schemeClr val="dk1"/>
              </a:solidFill>
              <a:latin typeface="Calibri"/>
              <a:ea typeface="Calibri"/>
              <a:cs typeface="Calibri"/>
              <a:sym typeface="Calibri"/>
            </a:endParaRPr>
          </a:p>
        </p:txBody>
      </p:sp>
      <p:pic>
        <p:nvPicPr>
          <p:cNvPr id="409" name="Google Shape;409;p33"/>
          <p:cNvPicPr preferRelativeResize="0"/>
          <p:nvPr/>
        </p:nvPicPr>
        <p:blipFill rotWithShape="1">
          <a:blip r:embed="rId3">
            <a:alphaModFix/>
          </a:blip>
          <a:srcRect b="0" l="0" r="0" t="0"/>
          <a:stretch/>
        </p:blipFill>
        <p:spPr>
          <a:xfrm>
            <a:off x="-92075" y="-41275"/>
            <a:ext cx="9326562" cy="7056437"/>
          </a:xfrm>
          <a:prstGeom prst="rect">
            <a:avLst/>
          </a:prstGeom>
          <a:noFill/>
          <a:ln>
            <a:noFill/>
          </a:ln>
        </p:spPr>
      </p:pic>
      <p:sp>
        <p:nvSpPr>
          <p:cNvPr id="410" name="Google Shape;410;p33"/>
          <p:cNvSpPr txBox="1"/>
          <p:nvPr/>
        </p:nvSpPr>
        <p:spPr>
          <a:xfrm>
            <a:off x="-1331912" y="-184150"/>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1" name="Google Shape;411;p33"/>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descr="D:\esprit 2014\ESPRIT 2014\charte essprit 2014\render\support final\triangle.png" id="412" name="Google Shape;412;p33"/>
          <p:cNvPicPr preferRelativeResize="0"/>
          <p:nvPr/>
        </p:nvPicPr>
        <p:blipFill rotWithShape="1">
          <a:blip r:embed="rId4">
            <a:alphaModFix/>
          </a:blip>
          <a:srcRect b="0" l="0" r="0" t="0"/>
          <a:stretch/>
        </p:blipFill>
        <p:spPr>
          <a:xfrm>
            <a:off x="7173912" y="157162"/>
            <a:ext cx="2000250" cy="1377950"/>
          </a:xfrm>
          <a:prstGeom prst="rect">
            <a:avLst/>
          </a:prstGeom>
          <a:noFill/>
          <a:ln>
            <a:noFill/>
          </a:ln>
        </p:spPr>
      </p:pic>
      <p:sp>
        <p:nvSpPr>
          <p:cNvPr id="413" name="Google Shape;413;p33"/>
          <p:cNvSpPr txBox="1"/>
          <p:nvPr/>
        </p:nvSpPr>
        <p:spPr>
          <a:xfrm>
            <a:off x="457200" y="115887"/>
            <a:ext cx="8229600" cy="11430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100"/>
              <a:buFont typeface="Calibri"/>
              <a:buNone/>
            </a:pPr>
            <a:r>
              <a:rPr b="0" i="0" lang="en-US" sz="4100" u="none" cap="none" strike="noStrike">
                <a:solidFill>
                  <a:schemeClr val="dk1"/>
                </a:solidFill>
                <a:latin typeface="Calibri"/>
                <a:ea typeface="Calibri"/>
                <a:cs typeface="Calibri"/>
                <a:sym typeface="Calibri"/>
              </a:rPr>
              <a:t>Les architectures d’un site dynamique</a:t>
            </a:r>
            <a:endParaRPr b="0" i="0" sz="1400" u="none" cap="none" strike="noStrike">
              <a:solidFill>
                <a:srgbClr val="000000"/>
              </a:solidFill>
              <a:latin typeface="Arial"/>
              <a:ea typeface="Arial"/>
              <a:cs typeface="Arial"/>
              <a:sym typeface="Arial"/>
            </a:endParaRPr>
          </a:p>
        </p:txBody>
      </p:sp>
      <p:sp>
        <p:nvSpPr>
          <p:cNvPr id="414" name="Google Shape;414;p33"/>
          <p:cNvSpPr txBox="1"/>
          <p:nvPr/>
        </p:nvSpPr>
        <p:spPr>
          <a:xfrm>
            <a:off x="381000" y="938212"/>
            <a:ext cx="8305800" cy="1570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L'architecture à 3 niveaux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415" name="Google Shape;415;p33"/>
          <p:cNvPicPr preferRelativeResize="0"/>
          <p:nvPr/>
        </p:nvPicPr>
        <p:blipFill rotWithShape="1">
          <a:blip r:embed="rId5">
            <a:alphaModFix/>
          </a:blip>
          <a:srcRect b="0" l="0" r="0" t="0"/>
          <a:stretch/>
        </p:blipFill>
        <p:spPr>
          <a:xfrm>
            <a:off x="838200" y="1849437"/>
            <a:ext cx="7848600" cy="4505325"/>
          </a:xfrm>
          <a:prstGeom prst="rect">
            <a:avLst/>
          </a:prstGeom>
          <a:noFill/>
          <a:ln>
            <a:noFill/>
          </a:ln>
        </p:spPr>
      </p:pic>
      <p:pic>
        <p:nvPicPr>
          <p:cNvPr id="416" name="Google Shape;416;p33"/>
          <p:cNvPicPr preferRelativeResize="0"/>
          <p:nvPr/>
        </p:nvPicPr>
        <p:blipFill rotWithShape="1">
          <a:blip r:embed="rId6">
            <a:alphaModFix/>
          </a:blip>
          <a:srcRect b="0" l="0" r="0" t="0"/>
          <a:stretch/>
        </p:blipFill>
        <p:spPr>
          <a:xfrm>
            <a:off x="230025" y="6467463"/>
            <a:ext cx="1085850" cy="390525"/>
          </a:xfrm>
          <a:prstGeom prst="rect">
            <a:avLst/>
          </a:prstGeom>
          <a:noFill/>
          <a:ln>
            <a:noFill/>
          </a:ln>
        </p:spPr>
      </p:pic>
      <p:sp>
        <p:nvSpPr>
          <p:cNvPr id="417" name="Google Shape;417;p3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t/>
            </a:r>
            <a:endParaRPr/>
          </a:p>
        </p:txBody>
      </p:sp>
      <p:sp>
        <p:nvSpPr>
          <p:cNvPr id="418" name="Google Shape;418;p3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1200"/>
              <a:buFont typeface="Calibri"/>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3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400">
              <a:solidFill>
                <a:schemeClr val="dk1"/>
              </a:solidFill>
              <a:latin typeface="Calibri"/>
              <a:ea typeface="Calibri"/>
              <a:cs typeface="Calibri"/>
              <a:sym typeface="Calibri"/>
            </a:endParaRPr>
          </a:p>
        </p:txBody>
      </p:sp>
      <p:pic>
        <p:nvPicPr>
          <p:cNvPr id="424" name="Google Shape;424;p34"/>
          <p:cNvPicPr preferRelativeResize="0"/>
          <p:nvPr/>
        </p:nvPicPr>
        <p:blipFill rotWithShape="1">
          <a:blip r:embed="rId3">
            <a:alphaModFix/>
          </a:blip>
          <a:srcRect b="0" l="0" r="0" t="0"/>
          <a:stretch/>
        </p:blipFill>
        <p:spPr>
          <a:xfrm>
            <a:off x="-92075" y="-41275"/>
            <a:ext cx="9326561" cy="7056439"/>
          </a:xfrm>
          <a:prstGeom prst="rect">
            <a:avLst/>
          </a:prstGeom>
          <a:noFill/>
          <a:ln>
            <a:noFill/>
          </a:ln>
        </p:spPr>
      </p:pic>
      <p:sp>
        <p:nvSpPr>
          <p:cNvPr id="425" name="Google Shape;425;p34"/>
          <p:cNvSpPr txBox="1"/>
          <p:nvPr/>
        </p:nvSpPr>
        <p:spPr>
          <a:xfrm>
            <a:off x="-1331912" y="-184150"/>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6" name="Google Shape;426;p3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descr="D:\esprit 2014\ESPRIT 2014\charte essprit 2014\render\support final\triangle.png" id="427" name="Google Shape;427;p34"/>
          <p:cNvPicPr preferRelativeResize="0"/>
          <p:nvPr/>
        </p:nvPicPr>
        <p:blipFill rotWithShape="1">
          <a:blip r:embed="rId4">
            <a:alphaModFix/>
          </a:blip>
          <a:srcRect b="0" l="0" r="0" t="0"/>
          <a:stretch/>
        </p:blipFill>
        <p:spPr>
          <a:xfrm>
            <a:off x="7173912" y="157162"/>
            <a:ext cx="2000250" cy="1377950"/>
          </a:xfrm>
          <a:prstGeom prst="rect">
            <a:avLst/>
          </a:prstGeom>
          <a:noFill/>
          <a:ln>
            <a:noFill/>
          </a:ln>
        </p:spPr>
      </p:pic>
      <p:sp>
        <p:nvSpPr>
          <p:cNvPr id="428" name="Google Shape;428;p34"/>
          <p:cNvSpPr txBox="1"/>
          <p:nvPr/>
        </p:nvSpPr>
        <p:spPr>
          <a:xfrm>
            <a:off x="457200" y="-397663"/>
            <a:ext cx="8229600" cy="11430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100"/>
              <a:buFont typeface="Calibri"/>
              <a:buNone/>
            </a:pPr>
            <a:r>
              <a:rPr b="0" i="0" lang="en-US" sz="4100" u="none" cap="none" strike="noStrike">
                <a:solidFill>
                  <a:schemeClr val="dk1"/>
                </a:solidFill>
                <a:latin typeface="Calibri"/>
                <a:ea typeface="Calibri"/>
                <a:cs typeface="Calibri"/>
                <a:sym typeface="Calibri"/>
              </a:rPr>
              <a:t>Les architectures d’un site dynamique</a:t>
            </a:r>
            <a:endParaRPr b="0" i="0" sz="1400" u="none" cap="none" strike="noStrike">
              <a:solidFill>
                <a:srgbClr val="000000"/>
              </a:solidFill>
              <a:latin typeface="Arial"/>
              <a:ea typeface="Arial"/>
              <a:cs typeface="Arial"/>
              <a:sym typeface="Arial"/>
            </a:endParaRPr>
          </a:p>
        </p:txBody>
      </p:sp>
      <p:sp>
        <p:nvSpPr>
          <p:cNvPr id="429" name="Google Shape;429;p34"/>
          <p:cNvSpPr txBox="1"/>
          <p:nvPr/>
        </p:nvSpPr>
        <p:spPr>
          <a:xfrm>
            <a:off x="381000" y="182555"/>
            <a:ext cx="8305800" cy="963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Comparaison entre les deux architectures</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430" name="Google Shape;430;p34"/>
          <p:cNvSpPr txBox="1"/>
          <p:nvPr/>
        </p:nvSpPr>
        <p:spPr>
          <a:xfrm>
            <a:off x="381000" y="679450"/>
            <a:ext cx="8634300" cy="6326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Arial"/>
              <a:ea typeface="Arial"/>
              <a:cs typeface="Arial"/>
              <a:sym typeface="Arial"/>
            </a:endParaRPr>
          </a:p>
          <a:p>
            <a:pPr indent="-152400" lvl="0" marL="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L'architecture à deux niveaux est donc une architecture client/serveur dans laquelle le serveur est polyvalent, c'est-à-dire qu'il est capable de fournir directement l'ensemble des ressources demandées par le client. </a:t>
            </a:r>
            <a:endParaRPr b="0" i="0" sz="1400" u="none" cap="none" strike="noStrike">
              <a:solidFill>
                <a:srgbClr val="000000"/>
              </a:solidFill>
              <a:latin typeface="Arial"/>
              <a:ea typeface="Arial"/>
              <a:cs typeface="Arial"/>
              <a:sym typeface="Arial"/>
            </a:endParaRPr>
          </a:p>
          <a:p>
            <a:pPr indent="-152400" lvl="0" marL="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Dans l'architecture à trois niveaux par contre, les applications au niveau serveur sont délocalisées, c'est-à-dire que chaque serveur est spécialisé dans une tâche (serveur web et serveur de base de données par exemple). L'architecture à trois niveaux permet : </a:t>
            </a:r>
            <a:endParaRPr b="0" i="0" sz="1400" u="none" cap="none" strike="noStrike">
              <a:solidFill>
                <a:srgbClr val="000000"/>
              </a:solidFill>
              <a:latin typeface="Arial"/>
              <a:ea typeface="Arial"/>
              <a:cs typeface="Arial"/>
              <a:sym typeface="Arial"/>
            </a:endParaRPr>
          </a:p>
          <a:p>
            <a:pPr indent="-342900" lvl="2" marL="1257300" marR="0" rtl="0" algn="just">
              <a:lnSpc>
                <a:spcPct val="100000"/>
              </a:lnSpc>
              <a:spcBef>
                <a:spcPts val="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Une plus grande flexibilité/souplesse ; </a:t>
            </a:r>
            <a:endParaRPr b="0" i="0" sz="1400" u="none" cap="none" strike="noStrike">
              <a:solidFill>
                <a:srgbClr val="000000"/>
              </a:solidFill>
              <a:latin typeface="Arial"/>
              <a:ea typeface="Arial"/>
              <a:cs typeface="Arial"/>
              <a:sym typeface="Arial"/>
            </a:endParaRPr>
          </a:p>
          <a:p>
            <a:pPr indent="-342900" lvl="2" marL="1257300" marR="0" rtl="0" algn="just">
              <a:lnSpc>
                <a:spcPct val="100000"/>
              </a:lnSpc>
              <a:spcBef>
                <a:spcPts val="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Une sécurité accrue car la sécurité peut être définie indépendamment pour chaque service, et à chaque niveau ; </a:t>
            </a:r>
            <a:endParaRPr b="0" i="0" sz="1400" u="none" cap="none" strike="noStrike">
              <a:solidFill>
                <a:srgbClr val="000000"/>
              </a:solidFill>
              <a:latin typeface="Arial"/>
              <a:ea typeface="Arial"/>
              <a:cs typeface="Arial"/>
              <a:sym typeface="Arial"/>
            </a:endParaRPr>
          </a:p>
          <a:p>
            <a:pPr indent="-342900" lvl="2" marL="1257300" marR="0" rtl="0" algn="just">
              <a:lnSpc>
                <a:spcPct val="100000"/>
              </a:lnSpc>
              <a:spcBef>
                <a:spcPts val="0"/>
              </a:spcBef>
              <a:spcAft>
                <a:spcPts val="0"/>
              </a:spcAft>
              <a:buClr>
                <a:schemeClr val="dk1"/>
              </a:buClr>
              <a:buSzPts val="2400"/>
              <a:buFont typeface="Noto Sans Symbols"/>
              <a:buChar char="✔"/>
            </a:pPr>
            <a:r>
              <a:rPr b="0" i="0" lang="en-US" sz="2400" u="none" cap="none" strike="noStrike">
                <a:solidFill>
                  <a:schemeClr val="dk1"/>
                </a:solidFill>
                <a:latin typeface="Arial"/>
                <a:ea typeface="Arial"/>
                <a:cs typeface="Arial"/>
                <a:sym typeface="Arial"/>
              </a:rPr>
              <a:t>De meilleures performances, étant donné le partage des tâches entre les différents serveurs.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431" name="Google Shape;431;p34"/>
          <p:cNvPicPr preferRelativeResize="0"/>
          <p:nvPr/>
        </p:nvPicPr>
        <p:blipFill rotWithShape="1">
          <a:blip r:embed="rId5">
            <a:alphaModFix/>
          </a:blip>
          <a:srcRect b="0" l="0" r="0" t="0"/>
          <a:stretch/>
        </p:blipFill>
        <p:spPr>
          <a:xfrm>
            <a:off x="98475" y="6467463"/>
            <a:ext cx="1085850" cy="390525"/>
          </a:xfrm>
          <a:prstGeom prst="rect">
            <a:avLst/>
          </a:prstGeom>
          <a:noFill/>
          <a:ln>
            <a:noFill/>
          </a:ln>
        </p:spPr>
      </p:pic>
      <p:sp>
        <p:nvSpPr>
          <p:cNvPr id="432" name="Google Shape;432;p34"/>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t/>
            </a:r>
            <a:endParaRPr/>
          </a:p>
        </p:txBody>
      </p:sp>
      <p:sp>
        <p:nvSpPr>
          <p:cNvPr id="433" name="Google Shape;433;p3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1200"/>
              <a:buFont typeface="Calibri"/>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3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400">
              <a:solidFill>
                <a:schemeClr val="dk1"/>
              </a:solidFill>
              <a:latin typeface="Calibri"/>
              <a:ea typeface="Calibri"/>
              <a:cs typeface="Calibri"/>
              <a:sym typeface="Calibri"/>
            </a:endParaRPr>
          </a:p>
        </p:txBody>
      </p:sp>
      <p:pic>
        <p:nvPicPr>
          <p:cNvPr id="439" name="Google Shape;439;p35"/>
          <p:cNvPicPr preferRelativeResize="0"/>
          <p:nvPr/>
        </p:nvPicPr>
        <p:blipFill rotWithShape="1">
          <a:blip r:embed="rId3">
            <a:alphaModFix/>
          </a:blip>
          <a:srcRect b="0" l="0" r="0" t="0"/>
          <a:stretch/>
        </p:blipFill>
        <p:spPr>
          <a:xfrm>
            <a:off x="-160337" y="0"/>
            <a:ext cx="9328150" cy="7056437"/>
          </a:xfrm>
          <a:prstGeom prst="rect">
            <a:avLst/>
          </a:prstGeom>
          <a:noFill/>
          <a:ln>
            <a:noFill/>
          </a:ln>
        </p:spPr>
      </p:pic>
      <p:sp>
        <p:nvSpPr>
          <p:cNvPr id="440" name="Google Shape;440;p35"/>
          <p:cNvSpPr txBox="1"/>
          <p:nvPr/>
        </p:nvSpPr>
        <p:spPr>
          <a:xfrm>
            <a:off x="-1331912" y="-184150"/>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1" name="Google Shape;441;p35"/>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descr="D:\esprit 2014\ESPRIT 2014\charte essprit 2014\render\support final\triangle.png" id="442" name="Google Shape;442;p35"/>
          <p:cNvPicPr preferRelativeResize="0"/>
          <p:nvPr/>
        </p:nvPicPr>
        <p:blipFill rotWithShape="1">
          <a:blip r:embed="rId4">
            <a:alphaModFix/>
          </a:blip>
          <a:srcRect b="0" l="0" r="0" t="0"/>
          <a:stretch/>
        </p:blipFill>
        <p:spPr>
          <a:xfrm>
            <a:off x="7143750" y="0"/>
            <a:ext cx="2000250" cy="1376362"/>
          </a:xfrm>
          <a:prstGeom prst="rect">
            <a:avLst/>
          </a:prstGeom>
          <a:noFill/>
          <a:ln>
            <a:noFill/>
          </a:ln>
        </p:spPr>
      </p:pic>
      <p:sp>
        <p:nvSpPr>
          <p:cNvPr id="443" name="Google Shape;443;p35"/>
          <p:cNvSpPr txBox="1"/>
          <p:nvPr/>
        </p:nvSpPr>
        <p:spPr>
          <a:xfrm>
            <a:off x="388938" y="542131"/>
            <a:ext cx="8229600" cy="1001712"/>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Références</a:t>
            </a:r>
            <a:endParaRPr b="0" i="0" sz="1400" u="none" cap="none" strike="noStrike">
              <a:solidFill>
                <a:srgbClr val="000000"/>
              </a:solidFill>
              <a:latin typeface="Arial"/>
              <a:ea typeface="Arial"/>
              <a:cs typeface="Arial"/>
              <a:sym typeface="Arial"/>
            </a:endParaRPr>
          </a:p>
        </p:txBody>
      </p:sp>
      <p:sp>
        <p:nvSpPr>
          <p:cNvPr id="444" name="Google Shape;444;p35"/>
          <p:cNvSpPr txBox="1"/>
          <p:nvPr/>
        </p:nvSpPr>
        <p:spPr>
          <a:xfrm>
            <a:off x="648127" y="2095717"/>
            <a:ext cx="8226425" cy="406261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1800"/>
              <a:buFont typeface="Arial"/>
              <a:buNone/>
            </a:pPr>
            <a:r>
              <a:rPr b="0" i="0" lang="en-US" sz="1800" u="sng" cap="none" strike="noStrike">
                <a:solidFill>
                  <a:schemeClr val="hlink"/>
                </a:solidFill>
                <a:latin typeface="Arial"/>
                <a:ea typeface="Arial"/>
                <a:cs typeface="Arial"/>
                <a:sym typeface="Arial"/>
                <a:hlinkClick r:id="rId5"/>
              </a:rPr>
              <a:t>https://www.commentcamarche.net/contents/221-reseaux-architecture-client-serveur-a-3-niveaux</a:t>
            </a:r>
            <a:endParaRPr b="0" i="0" sz="18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1800"/>
              <a:buFont typeface="Arial"/>
              <a:buNone/>
            </a:pPr>
            <a:r>
              <a:rPr b="0" i="0" lang="en-US" sz="1800" u="sng" cap="none" strike="noStrike">
                <a:solidFill>
                  <a:schemeClr val="hlink"/>
                </a:solidFill>
                <a:latin typeface="Arial"/>
                <a:ea typeface="Arial"/>
                <a:cs typeface="Arial"/>
                <a:sym typeface="Arial"/>
                <a:hlinkClick r:id="rId6"/>
              </a:rPr>
              <a:t>https://www.imedias.pro/cours-en-ligne/web-internet/page-web-page-internet/</a:t>
            </a:r>
            <a:endParaRPr b="0" i="0" sz="18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1800"/>
              <a:buFont typeface="Arial"/>
              <a:buNone/>
            </a:pPr>
            <a:r>
              <a:rPr b="0" i="0" lang="en-US" sz="1800" u="sng" cap="none" strike="noStrike">
                <a:solidFill>
                  <a:schemeClr val="hlink"/>
                </a:solidFill>
                <a:latin typeface="Arial"/>
                <a:ea typeface="Arial"/>
                <a:cs typeface="Arial"/>
                <a:sym typeface="Arial"/>
                <a:hlinkClick r:id="rId7"/>
              </a:rPr>
              <a:t>https://www.researchgate.net/figure/Mode-de-fonctionnement-des-applications-Web-XHTML-est-une-extension-dHTML-basee-sur-le_fig2_278629167</a:t>
            </a:r>
            <a:endParaRPr b="0" i="0" sz="18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1800"/>
              <a:buFont typeface="Arial"/>
              <a:buNone/>
            </a:pPr>
            <a:r>
              <a:rPr b="0" i="0" lang="en-US" sz="1800" u="sng" cap="none" strike="noStrike">
                <a:solidFill>
                  <a:schemeClr val="hlink"/>
                </a:solidFill>
                <a:latin typeface="Arial"/>
                <a:ea typeface="Arial"/>
                <a:cs typeface="Arial"/>
                <a:sym typeface="Arial"/>
                <a:hlinkClick r:id="rId8"/>
              </a:rPr>
              <a:t>https://www.w3schools.com/php/php_oop_classes_objects.asp</a:t>
            </a:r>
            <a:endParaRPr b="0" i="0" sz="18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1800"/>
              <a:buFont typeface="Arial"/>
              <a:buNone/>
            </a:pPr>
            <a:r>
              <a:rPr b="0" i="0" lang="en-US" sz="1800" u="sng" cap="none" strike="noStrike">
                <a:solidFill>
                  <a:schemeClr val="hlink"/>
                </a:solidFill>
                <a:latin typeface="Arial"/>
                <a:ea typeface="Arial"/>
                <a:cs typeface="Arial"/>
                <a:sym typeface="Arial"/>
                <a:hlinkClick r:id="rId9"/>
              </a:rPr>
              <a:t>https://www.camillejourdain.fr/schemas-evolution-du-web/</a:t>
            </a:r>
            <a:endParaRPr b="0" i="0" sz="18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45" name="Google Shape;445;p35"/>
          <p:cNvPicPr preferRelativeResize="0"/>
          <p:nvPr/>
        </p:nvPicPr>
        <p:blipFill rotWithShape="1">
          <a:blip r:embed="rId10">
            <a:alphaModFix/>
          </a:blip>
          <a:srcRect b="0" l="0" r="0" t="0"/>
          <a:stretch/>
        </p:blipFill>
        <p:spPr>
          <a:xfrm>
            <a:off x="82025" y="6467463"/>
            <a:ext cx="1085850" cy="390525"/>
          </a:xfrm>
          <a:prstGeom prst="rect">
            <a:avLst/>
          </a:prstGeom>
          <a:noFill/>
          <a:ln>
            <a:noFill/>
          </a:ln>
        </p:spPr>
      </p:pic>
      <p:sp>
        <p:nvSpPr>
          <p:cNvPr id="446" name="Google Shape;446;p35"/>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t/>
            </a:r>
            <a:endParaRPr/>
          </a:p>
        </p:txBody>
      </p:sp>
      <p:sp>
        <p:nvSpPr>
          <p:cNvPr id="447" name="Google Shape;447;p3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1200"/>
              <a:buFont typeface="Calibri"/>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3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sz="4400">
              <a:solidFill>
                <a:schemeClr val="dk1"/>
              </a:solidFill>
              <a:latin typeface="Calibri"/>
              <a:ea typeface="Calibri"/>
              <a:cs typeface="Calibri"/>
              <a:sym typeface="Calibri"/>
            </a:endParaRPr>
          </a:p>
        </p:txBody>
      </p:sp>
      <p:pic>
        <p:nvPicPr>
          <p:cNvPr id="453" name="Google Shape;453;p36"/>
          <p:cNvPicPr preferRelativeResize="0"/>
          <p:nvPr/>
        </p:nvPicPr>
        <p:blipFill rotWithShape="1">
          <a:blip r:embed="rId3">
            <a:alphaModFix/>
          </a:blip>
          <a:srcRect b="0" l="0" r="0" t="0"/>
          <a:stretch/>
        </p:blipFill>
        <p:spPr>
          <a:xfrm>
            <a:off x="-160337" y="0"/>
            <a:ext cx="9328150" cy="7056437"/>
          </a:xfrm>
          <a:prstGeom prst="rect">
            <a:avLst/>
          </a:prstGeom>
          <a:noFill/>
          <a:ln>
            <a:noFill/>
          </a:ln>
        </p:spPr>
      </p:pic>
      <p:sp>
        <p:nvSpPr>
          <p:cNvPr id="454" name="Google Shape;454;p36"/>
          <p:cNvSpPr txBox="1"/>
          <p:nvPr/>
        </p:nvSpPr>
        <p:spPr>
          <a:xfrm>
            <a:off x="-1331912" y="-184150"/>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5" name="Google Shape;455;p36"/>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pic>
        <p:nvPicPr>
          <p:cNvPr id="456" name="Google Shape;456;p36"/>
          <p:cNvPicPr preferRelativeResize="0"/>
          <p:nvPr/>
        </p:nvPicPr>
        <p:blipFill rotWithShape="1">
          <a:blip r:embed="rId4">
            <a:alphaModFix/>
          </a:blip>
          <a:srcRect b="0" l="0" r="0" t="0"/>
          <a:stretch/>
        </p:blipFill>
        <p:spPr>
          <a:xfrm>
            <a:off x="858837" y="2073275"/>
            <a:ext cx="7145337" cy="3998912"/>
          </a:xfrm>
          <a:prstGeom prst="rect">
            <a:avLst/>
          </a:prstGeom>
          <a:noFill/>
          <a:ln>
            <a:noFill/>
          </a:ln>
        </p:spPr>
      </p:pic>
      <p:pic>
        <p:nvPicPr>
          <p:cNvPr descr="D:\esprit 2014\ESPRIT 2014\charte essprit 2014\render\support final\triangle.png" id="457" name="Google Shape;457;p36"/>
          <p:cNvPicPr preferRelativeResize="0"/>
          <p:nvPr/>
        </p:nvPicPr>
        <p:blipFill rotWithShape="1">
          <a:blip r:embed="rId5">
            <a:alphaModFix/>
          </a:blip>
          <a:srcRect b="0" l="0" r="0" t="0"/>
          <a:stretch/>
        </p:blipFill>
        <p:spPr>
          <a:xfrm>
            <a:off x="7143750" y="0"/>
            <a:ext cx="2000250" cy="1376362"/>
          </a:xfrm>
          <a:prstGeom prst="rect">
            <a:avLst/>
          </a:prstGeom>
          <a:noFill/>
          <a:ln>
            <a:noFill/>
          </a:ln>
        </p:spPr>
      </p:pic>
      <p:sp>
        <p:nvSpPr>
          <p:cNvPr id="458" name="Google Shape;458;p36"/>
          <p:cNvSpPr txBox="1"/>
          <p:nvPr/>
        </p:nvSpPr>
        <p:spPr>
          <a:xfrm>
            <a:off x="1619250" y="3211512"/>
            <a:ext cx="6005512" cy="708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4000"/>
              <a:buFont typeface="Calibri"/>
              <a:buNone/>
            </a:pPr>
            <a:r>
              <a:rPr b="0" i="0" lang="en-US" sz="4000" u="none" cap="none" strike="noStrike">
                <a:solidFill>
                  <a:srgbClr val="0070C0"/>
                </a:solidFill>
                <a:latin typeface="Calibri"/>
                <a:ea typeface="Calibri"/>
                <a:cs typeface="Calibri"/>
                <a:sym typeface="Calibri"/>
              </a:rPr>
              <a:t>Merci pour votre attention</a:t>
            </a:r>
            <a:endParaRPr b="0" i="0" sz="1400" u="none" cap="none" strike="noStrike">
              <a:solidFill>
                <a:srgbClr val="000000"/>
              </a:solidFill>
              <a:latin typeface="Arial"/>
              <a:ea typeface="Arial"/>
              <a:cs typeface="Arial"/>
              <a:sym typeface="Arial"/>
            </a:endParaRPr>
          </a:p>
        </p:txBody>
      </p:sp>
      <p:pic>
        <p:nvPicPr>
          <p:cNvPr id="459" name="Google Shape;459;p36"/>
          <p:cNvPicPr preferRelativeResize="0"/>
          <p:nvPr/>
        </p:nvPicPr>
        <p:blipFill rotWithShape="1">
          <a:blip r:embed="rId6">
            <a:alphaModFix/>
          </a:blip>
          <a:srcRect b="0" l="0" r="0" t="0"/>
          <a:stretch/>
        </p:blipFill>
        <p:spPr>
          <a:xfrm>
            <a:off x="147825" y="6467463"/>
            <a:ext cx="1085850" cy="390525"/>
          </a:xfrm>
          <a:prstGeom prst="rect">
            <a:avLst/>
          </a:prstGeom>
          <a:noFill/>
          <a:ln>
            <a:noFill/>
          </a:ln>
        </p:spPr>
      </p:pic>
      <p:sp>
        <p:nvSpPr>
          <p:cNvPr id="460" name="Google Shape;460;p36"/>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t/>
            </a:r>
            <a:endParaRPr/>
          </a:p>
        </p:txBody>
      </p:sp>
      <p:sp>
        <p:nvSpPr>
          <p:cNvPr id="461" name="Google Shape;461;p3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1200"/>
              <a:buFont typeface="Calibri"/>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