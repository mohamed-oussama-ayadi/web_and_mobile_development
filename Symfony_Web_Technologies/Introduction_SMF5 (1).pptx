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58" roundtripDataSignature="AMtx7mgSbB1SK39B04EjFZNM610bNQ2d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2F3CB9-ACA3-4DDE-9AB4-53065705728F}">
  <a:tblStyle styleId="{D52F3CB9-ACA3-4DDE-9AB4-53065705728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0CCA65B-6A5A-435F-AC7D-9E2289DE7A13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 client envoi une requête HTTP.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Chaque requête va exécuter le Front Controller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Le front Controller lance Symfony et lui passe les informations de la requête afin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qu’elle soit traité.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4. Symfony utilise les routes et les contrôleurs afin de créer une réponse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5. Symfony retourne une réponse à l’utilisateur.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 client envoi une requête HTTP.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Chaque requête va exécuter le Front Controller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Le front Controller lance Symfony et lui passe les informations de la requête afin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qu’elle soit traité.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4. Symfony utilise les routes et les contrôleurs afin de créer une réponse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5. Symfony retourne une réponse à l’utilisateur.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4350" y="6356350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5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6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7" name="Google Shape;67;p6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6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6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1.jp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jp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3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getcomposer.org/download/" TargetMode="External"/><Relationship Id="rId7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33.png"/><Relationship Id="rId8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4.png"/><Relationship Id="rId7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4.png"/><Relationship Id="rId6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1" Type="http://schemas.openxmlformats.org/officeDocument/2006/relationships/hyperlink" Target="http://symfony.com/doc/current/quick_tour/the_architecture.html" TargetMode="External"/><Relationship Id="rId10" Type="http://schemas.openxmlformats.org/officeDocument/2006/relationships/hyperlink" Target="http://symfony.com/" TargetMode="External"/><Relationship Id="rId13" Type="http://schemas.openxmlformats.org/officeDocument/2006/relationships/hyperlink" Target="http://www.lafermeduweb.net/tutorial/symfony-mvc-les-modeles-p34.html" TargetMode="External"/><Relationship Id="rId12" Type="http://schemas.openxmlformats.org/officeDocument/2006/relationships/hyperlink" Target="https://symfony.com/doc/current/introduction/http_fundamentals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hyperlink" Target="http://blog.nicolashachet.com/technologies/php/pourquoi-utiliser-un-framework-php/" TargetMode="External"/><Relationship Id="rId15" Type="http://schemas.openxmlformats.org/officeDocument/2006/relationships/image" Target="../media/image2.png"/><Relationship Id="rId14" Type="http://schemas.openxmlformats.org/officeDocument/2006/relationships/hyperlink" Target="http://www.javavillage.in/view-topic.php?tag=difference-between-mvc1-mvc2" TargetMode="External"/><Relationship Id="rId5" Type="http://schemas.openxmlformats.org/officeDocument/2006/relationships/image" Target="../media/image7.png"/><Relationship Id="rId6" Type="http://schemas.openxmlformats.org/officeDocument/2006/relationships/hyperlink" Target="http://www.finalclap.com/faq/422-php-comparatif-framework" TargetMode="External"/><Relationship Id="rId7" Type="http://schemas.openxmlformats.org/officeDocument/2006/relationships/hyperlink" Target="https://www.codeur.com/blog/developpement-web-meilleurs-frameworks/" TargetMode="External"/><Relationship Id="rId8" Type="http://schemas.openxmlformats.org/officeDocument/2006/relationships/hyperlink" Target="http://blog.nicolashachet.com/technologies/php/pourquoi-utiliser-un-framework-php/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525" y="0"/>
            <a:ext cx="9280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-136525" y="3124200"/>
            <a:ext cx="9280525" cy="103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700"/>
              <a:buFont typeface="Calibri"/>
              <a:buNone/>
            </a:pPr>
            <a:r>
              <a:rPr b="1" i="0" lang="en-US" sz="47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UP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43000" y="1885950"/>
            <a:ext cx="678180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au Framework Symfony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esprit 2014\ESPRIT 2014\charte essprit 2014\render\support final\triangle.pn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3350" y="0"/>
            <a:ext cx="3978275" cy="23447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143000" y="5105400"/>
            <a:ext cx="67818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AU: 2022/2023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6650" y="5884875"/>
            <a:ext cx="9144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36525" y="133350"/>
            <a:ext cx="3457424" cy="12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37"/>
            <a:ext cx="9326562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3912" y="157162"/>
            <a:ext cx="20002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533400" y="914400"/>
            <a:ext cx="8229600" cy="53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 et CMS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Symfony 5 : Introduction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Symfony 5 : Prise en main</a:t>
            </a:r>
            <a:endParaRPr/>
          </a:p>
          <a:p>
            <a:pPr indent="-2222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L’architecture MVC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>
                <a:solidFill>
                  <a:srgbClr val="000000"/>
                </a:solidFill>
              </a:rPr>
              <a:t>Mise en place de l’environnement</a:t>
            </a:r>
            <a:endParaRPr sz="2000">
              <a:solidFill>
                <a:srgbClr val="000000"/>
              </a:solidFill>
            </a:endParaRPr>
          </a:p>
          <a:p>
            <a:pPr indent="-2984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>
                <a:solidFill>
                  <a:srgbClr val="000000"/>
                </a:solidFill>
              </a:rPr>
              <a:t>Déroulement d’une application Symfony 5</a:t>
            </a:r>
            <a:endParaRPr sz="2000">
              <a:solidFill>
                <a:srgbClr val="000000"/>
              </a:solidFill>
            </a:endParaRPr>
          </a:p>
          <a:p>
            <a:pPr indent="-2222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</a:pPr>
            <a:r>
              <a:rPr lang="en-US" sz="2000">
                <a:solidFill>
                  <a:srgbClr val="000000"/>
                </a:solidFill>
              </a:rPr>
              <a:t>Créer un Controleur </a:t>
            </a:r>
            <a:endParaRPr sz="2000">
              <a:solidFill>
                <a:srgbClr val="000000"/>
              </a:solidFill>
            </a:endParaRPr>
          </a:p>
          <a:p>
            <a:pPr indent="-2222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</a:rPr>
              <a:t>Créer une route</a:t>
            </a:r>
            <a:endParaRPr>
              <a:solidFill>
                <a:srgbClr val="000000"/>
              </a:solidFill>
            </a:endParaRPr>
          </a:p>
          <a:p>
            <a:pPr indent="0" lvl="0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57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37"/>
            <a:ext cx="9326562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3912" y="157162"/>
            <a:ext cx="20002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 du cours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457200" y="1783047"/>
            <a:ext cx="8229600" cy="3342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/>
              <a:t>A la validation de ce chapitre  l’étudiant sera capable de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2800"/>
              <a:t>Introduire les fondements théoriques du framework Symfony 5.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2800"/>
              <a:t>Démarrer un projet avec Symfony 5</a:t>
            </a:r>
            <a:endParaRPr/>
          </a:p>
          <a:p>
            <a:pPr indent="0" lvl="0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blog-epi.grants.cancer.gov/wp-content/uploads/2012/03/EGRP-Blog-Logo_P4.jpg" id="133" name="Google Shape;1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52512"/>
            <a:ext cx="9144000" cy="5929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428750" y="1071549"/>
            <a:ext cx="6382500" cy="5284800"/>
          </a:xfrm>
          <a:prstGeom prst="wedgeEllipseCallout">
            <a:avLst>
              <a:gd fmla="val 6300" name="adj1"/>
              <a:gd fmla="val 243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606550" y="2813050"/>
            <a:ext cx="5786437" cy="144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Framework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150" y="657075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47" name="Google Shape;1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quoi un Framework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19050" y="1624012"/>
            <a:ext cx="8382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tructurer votre projet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pporter un ensemble d'éléments qui définissent le squelette d'une application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ffrir des  composants et  bibliothèques  réutilisables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ffrir une  liberté dans  la réalisation  technique de l’application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984250" y="1212850"/>
            <a:ext cx="6451600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Cadre de travail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5"/>
          <p:cNvCxnSpPr/>
          <p:nvPr/>
        </p:nvCxnSpPr>
        <p:spPr>
          <a:xfrm flipH="1">
            <a:off x="3668712" y="1658937"/>
            <a:ext cx="355600" cy="371475"/>
          </a:xfrm>
          <a:prstGeom prst="straightConnector1">
            <a:avLst/>
          </a:prstGeom>
          <a:noFill/>
          <a:ln cap="flat" cmpd="sng" w="57150">
            <a:solidFill>
              <a:srgbClr val="BE4B4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4572012" y="1658937"/>
            <a:ext cx="282600" cy="371400"/>
          </a:xfrm>
          <a:prstGeom prst="straightConnector1">
            <a:avLst/>
          </a:prstGeom>
          <a:noFill/>
          <a:ln cap="flat" cmpd="sng" w="57150">
            <a:solidFill>
              <a:srgbClr val="BE4B4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53" name="Google Shape;1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" y="6446925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63" name="Google Shape;1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17537" y="1679575"/>
            <a:ext cx="4244975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Panorama Framework PHP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09600" y="2682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quoi un Framework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2" y="2388429"/>
            <a:ext cx="8534401" cy="3662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00" y="635635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quoi un CMS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CMS/ Content Management System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Système de gestion de contenu, permettant à un ou plusieurs utilisateurs de créer, gérer le contenu d'un site Web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Composé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d’un « noyau » avec les </a:t>
            </a:r>
            <a:r>
              <a:rPr b="0" i="0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fonctionnalités de base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(pages, gestion des utilisateurs, etc.) sur lequel se greffent </a:t>
            </a:r>
            <a:r>
              <a:rPr b="1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modules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(ou extensions) spécifiques comme par exemple un forum, une newsletter, un annuaire, un glossaire, des actualités…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050" y="6384925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190750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quoi un CMS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1428750" y="1657350"/>
            <a:ext cx="6451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rym\Desktop\ESPRIT\Présentation_Mars_14\cms.png" id="194" name="Google Shape;19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349500"/>
            <a:ext cx="8489950" cy="273843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428625" y="1236662"/>
            <a:ext cx="64516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CMS PHP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305800" y="635635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CMS et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84150" y="1585912"/>
            <a:ext cx="7359650" cy="273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choix entre un CMS et un Framework dépend du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du développeur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211137" y="3309937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4551362" y="3265487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9"/>
          <p:cNvCxnSpPr/>
          <p:nvPr/>
        </p:nvCxnSpPr>
        <p:spPr>
          <a:xfrm>
            <a:off x="4464050" y="3744912"/>
            <a:ext cx="14287" cy="24923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9"/>
          <p:cNvSpPr txBox="1"/>
          <p:nvPr/>
        </p:nvSpPr>
        <p:spPr>
          <a:xfrm>
            <a:off x="363537" y="3905250"/>
            <a:ext cx="3449637" cy="241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Fonctionnalités standards: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 panier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du back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4740249" y="3744900"/>
            <a:ext cx="43167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Fonctionnalités sur mesure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 d’architecture globale du site Web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 de fonctionnalités standards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Liberté de créer ses propres fonctionnalités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24" name="Google Shape;22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utiliser un Framewok?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200025" y="15716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Portabilité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L’abstraction de la base de données et du cache permet à </a:t>
            </a: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votre application d’être utilisée sur de nombreuses configurations de serveurs différents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développement plus court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Puisque vous n’êtes pas obligé de réécrire le code sur la gestion des utilisateurs, et même de l’authentification, de l’accès à la base de données et aux formulaires, </a:t>
            </a: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temps de développement ce réduit considérablement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b="1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Sécurité des applications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Les fonctions de sécurité comme l’authentification et les autorisations sont gérées par le 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37" name="Google Shape;23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utiliser un Framewok?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>
            <p:ph idx="1" type="body"/>
          </p:nvPr>
        </p:nvSpPr>
        <p:spPr>
          <a:xfrm>
            <a:off x="271462" y="150018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Soutenue par la communauté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Les 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ont des forums, des listes de diffusion et des canaux 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IRC (Internet Realy Chat) 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pour les soutenir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Plugins et modules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 </a:t>
            </a: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bon nombre de membres de la communauté développent des plugins et des modules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que vous pouvez télécharger et utiliser dans votre application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b="1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Règles de codage stricts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La plupart des </a:t>
            </a:r>
            <a:r>
              <a:rPr b="0" i="1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vous forcent à suivre des principes de codage, notamment le modèle MVC 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50" name="Google Shape;25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404812" y="1416050"/>
            <a:ext cx="8072437" cy="526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Taille des projets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les petits projets peuvent être développer avec un framework ultralight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une documentation complète est un réel plus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certaines frameworks sont trop gourmands. Même le moindre « Hello World » peut nécessiter l’appel à plus de 100 fichiers différents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Communauté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un forum actif sera synonymes de personne prête à vous aider en cas de problème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Évolutivité 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 quand date la dernière mise à jour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0" y="44450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Critères de comparaison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4865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pic>
        <p:nvPicPr>
          <p:cNvPr id="259" name="Google Shape;2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63" name="Google Shape;26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4" name="Google Shape;264;p13"/>
          <p:cNvGraphicFramePr/>
          <p:nvPr/>
        </p:nvGraphicFramePr>
        <p:xfrm>
          <a:off x="302275" y="15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{D52F3CB9-ACA3-4DDE-9AB4-53065705728F}</a:tableStyleId>
              </a:tblPr>
              <a:tblGrid>
                <a:gridCol w="2227775"/>
                <a:gridCol w="6399625"/>
              </a:tblGrid>
              <a:tr h="1494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Adapté au développement d’applications rapides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 principales caractéristiques :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 de configuration nécessaire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Licence MIT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Entièrement Orienté Objet (OO)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77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 simple à utiliser, performant et d’une vitesse d’exécution remarquable.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 principales caractéristiques  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Simplicité de prise en main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Nombreuses librairies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Complètement orienté objet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205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Laravel est le framework PHP qui est principalement connu pour son temps de développement réduit avec une approche de codage simple.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 principales caractéristiques  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Bonne documentation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Services postaux intégrés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Mise sur le marché plus rapide 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pic>
        <p:nvPicPr>
          <p:cNvPr descr="C:\Users\Rym\Desktop\ESPRIT\Symphony\Cours\CakePHP.png" id="265" name="Google Shape;26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40000">
            <a:off x="723900" y="1589087"/>
            <a:ext cx="1362075" cy="136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ym\Desktop\ESPRIT\Symphony\Cours\CodeIgniter.png" id="266" name="Google Shape;26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412" y="3133725"/>
            <a:ext cx="1295400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 txBox="1"/>
          <p:nvPr/>
        </p:nvSpPr>
        <p:spPr>
          <a:xfrm>
            <a:off x="220662" y="958850"/>
            <a:ext cx="64516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 des Frameworks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0" y="44450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pourquoi Symfony et pas un autre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650" y="5013325"/>
            <a:ext cx="1300162" cy="12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525" y="65627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80" name="Google Shape;28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14"/>
          <p:cNvGraphicFramePr/>
          <p:nvPr/>
        </p:nvGraphicFramePr>
        <p:xfrm>
          <a:off x="142875" y="1751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{D52F3CB9-ACA3-4DDE-9AB4-53065705728F}</a:tableStyleId>
              </a:tblPr>
              <a:tblGrid>
                <a:gridCol w="2674925"/>
                <a:gridCol w="6111875"/>
              </a:tblGrid>
              <a:tr h="238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Considéré comme une grosse bibliothèque de fonctionnalités plutôt qu'un framework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 n'est pas très simple à comprendre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 principales caractéristiques 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Conception totalement orientée objet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Puissant, extensible et modulaire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Fortement adapté à l’environnement professionnel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Alliés et contributeurs hors normes : Microsoft, Google…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73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 est spécialement dédié à la conception d’applications moyennes à très lourdes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 principales caractéristiques 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Licence 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Extensible et modulaire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Supporte 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Ajax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pic>
        <p:nvPicPr>
          <p:cNvPr descr="C:\Users\Rym\Desktop\ESPRIT\Symphony\Cours\ZEND.png" id="282" name="Google Shape;28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" y="2036762"/>
            <a:ext cx="1655762" cy="1674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Rym\Desktop\ESPRIT\Symphony\Cours\Symfony.png" id="283" name="Google Shape;28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7187" y="4697412"/>
            <a:ext cx="2225675" cy="5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 txBox="1"/>
          <p:nvPr/>
        </p:nvSpPr>
        <p:spPr>
          <a:xfrm>
            <a:off x="428625" y="1106487"/>
            <a:ext cx="64516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 des Frameworks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0" y="44450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pourquoi Symfony et pas un autre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295" name="Google Shape;2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/>
          <p:nvPr/>
        </p:nvSpPr>
        <p:spPr>
          <a:xfrm>
            <a:off x="571500" y="5878512"/>
            <a:ext cx="8072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Comparatif des statistiques Google sur les recherches mondiales ayant pour mot clé le nom d’un framework PHP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28625" y="1146175"/>
            <a:ext cx="7786687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 des Frameworks (International)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0" y="44450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pourquoi Symfony et pas un autre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71437" y="1676400"/>
            <a:ext cx="914399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8250" y="4687867"/>
            <a:ext cx="9144000" cy="101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310" name="Google Shape;3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571500" y="5878512"/>
            <a:ext cx="80724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Comparatif des statistiques Google sur les recherches mondiales ayant pour mot clé le nom d’un framework PHP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428625" y="1146175"/>
            <a:ext cx="645160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 des Frameworks (France)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0" y="44450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pourquoi Symfony et pas un autre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8250" y="1639875"/>
            <a:ext cx="914399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8250" y="4687867"/>
            <a:ext cx="9144000" cy="101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326" name="Google Shape;32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meilleur des Framework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 txBox="1"/>
          <p:nvPr>
            <p:ph idx="1" type="body"/>
          </p:nvPr>
        </p:nvSpPr>
        <p:spPr>
          <a:xfrm>
            <a:off x="1714500" y="2500312"/>
            <a:ext cx="5715000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 est le meilleur des framework? 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500187" y="5143500"/>
            <a:ext cx="6429375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🡺 </a:t>
            </a:r>
            <a:r>
              <a:rPr b="1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 mauvaise question</a:t>
            </a:r>
            <a:endParaRPr b="1" i="0" sz="4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8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340" name="Google Shape;3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8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bonne question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 txBox="1"/>
          <p:nvPr>
            <p:ph idx="1" type="body"/>
          </p:nvPr>
        </p:nvSpPr>
        <p:spPr>
          <a:xfrm>
            <a:off x="628650" y="5783262"/>
            <a:ext cx="7742237" cy="10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Quel est le framework le mieux adapté à mon besoin ? </a:t>
            </a:r>
            <a:endParaRPr/>
          </a:p>
        </p:txBody>
      </p:sp>
      <p:pic>
        <p:nvPicPr>
          <p:cNvPr descr="http://signos.fr/images/image/MindMapping/Formations/MM3_Analyse_Besoin.png" id="343" name="Google Shape;3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1328737"/>
            <a:ext cx="7056437" cy="43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9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353" name="Google Shape;3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9"/>
          <p:cNvSpPr txBox="1"/>
          <p:nvPr/>
        </p:nvSpPr>
        <p:spPr>
          <a:xfrm>
            <a:off x="184150" y="3004344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Une grande réputation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>
            <p:ph idx="1" type="body"/>
          </p:nvPr>
        </p:nvSpPr>
        <p:spPr>
          <a:xfrm>
            <a:off x="-121518" y="3727733"/>
            <a:ext cx="9250511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Lancé en 2005, Symfony est aujourd'hui un framework stable connu et reconnu à </a:t>
            </a:r>
            <a:r>
              <a:rPr lang="en-US" sz="1800"/>
              <a:t>l’international.</a:t>
            </a:r>
            <a:endParaRPr sz="1800"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Symfony dispose aussi une communauté active de développeurs, intégrateurs, utilisateurs et d'autres contributeurs qui participent à l'enrichissement continu de l'outil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19"/>
          <p:cNvSpPr txBox="1"/>
          <p:nvPr/>
        </p:nvSpPr>
        <p:spPr>
          <a:xfrm>
            <a:off x="254000" y="1816100"/>
            <a:ext cx="52863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L’entreprise : SensioLabs.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Sensio est une agence web créée il y a 12 ans. Et plus particulièrement Fabien Potencier et toute son équipe.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6787550" y="2667437"/>
            <a:ext cx="22860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Fabien Potencier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3138" y="45248"/>
            <a:ext cx="900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Symfony : Présentation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2311" y="1126974"/>
            <a:ext cx="1604550" cy="16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4" y="1378744"/>
            <a:ext cx="5356225" cy="1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9"/>
          <p:cNvSpPr txBox="1"/>
          <p:nvPr/>
        </p:nvSpPr>
        <p:spPr>
          <a:xfrm>
            <a:off x="164089" y="808800"/>
            <a:ext cx="64689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est derrière tout ça ?</a:t>
            </a:r>
            <a:b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164089" y="5364179"/>
            <a:ext cx="8820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nombreux sites et applications de toutes tailles et de tous les types !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C'est par exemple le cas de Yahoo! , Dailymotion, Drupal8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209401" y="4925732"/>
            <a:ext cx="6451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utilise Symfony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9450" y="-82107"/>
            <a:ext cx="9282900" cy="702222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0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374" name="Google Shape;3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 txBox="1"/>
          <p:nvPr/>
        </p:nvSpPr>
        <p:spPr>
          <a:xfrm>
            <a:off x="37724" y="-6055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version 1.x à la version 2.x à la version 3.x à la version 4.x à la version 5.x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20"/>
          <p:cNvGraphicFramePr/>
          <p:nvPr/>
        </p:nvGraphicFramePr>
        <p:xfrm>
          <a:off x="-76194" y="697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{D52F3CB9-ACA3-4DDE-9AB4-53065705728F}</a:tableStyleId>
              </a:tblPr>
              <a:tblGrid>
                <a:gridCol w="1280900"/>
                <a:gridCol w="1242150"/>
                <a:gridCol w="1612925"/>
                <a:gridCol w="1350225"/>
                <a:gridCol w="3796725"/>
              </a:tblGrid>
              <a:tr h="7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Version Symfony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Version de php utilisée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Utilisation d’un système de Template TWIG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Utilisation des bundles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Avantages 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Symfony 1.x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≥ 5.2.4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-ayant connu un succès notable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Symfony 2.x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≥ 5.3.3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-Grâce à la nouvelle gestion des namespaces, Symfony2 a gagné de la rapidité.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-Nouveautés dans le fichier security.yml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-Utilisation des annotations.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Symfony 3.x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≥ 5.5.9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-Plus standard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-Plus découplé et plus que jamais réutilisable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Symfony 4.x /5.x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≥ 7.4.9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-Version minimaliste et plus légère de Symfony 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-Libre d’installer des packages supplémentaires.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-Plus besoin de configurer ses bundles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-Déploiement rapide et simple.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-Installation via composer (Composer va faire le nécessaire pour créer un dossier du projet et télécharger les dépendances associées)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-Génération de migration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-Symfony Flex devient obligatoire sur un projet Symfony 4.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7" name="Google Shape;3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 txBox="1"/>
          <p:nvPr/>
        </p:nvSpPr>
        <p:spPr>
          <a:xfrm>
            <a:off x="-93275" y="-445525"/>
            <a:ext cx="937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Symfony : Présentation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1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388" name="Google Shape;3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1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184150" y="1575300"/>
            <a:ext cx="8619300" cy="3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Composer est un outil de gestion de dépendances PHP, il permet de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Installer des dépendances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Mettre à jour des dépendances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fichier intitulé “composer.json” contient la liste des dépendances du projet.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Lien d’installation: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https://getcomposer.org/download/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>
            <p:ph idx="1" type="body"/>
          </p:nvPr>
        </p:nvSpPr>
        <p:spPr>
          <a:xfrm>
            <a:off x="-140500" y="-25"/>
            <a:ext cx="9144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lang="en-US" sz="4400"/>
              <a:t>Composer</a:t>
            </a:r>
            <a:endParaRPr b="1"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2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02" name="Google Shape;4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213675" y="1417625"/>
            <a:ext cx="8619300" cy="43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57200" lvl="0" marL="635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CLI de Symfony est un outil de développement qui vous aide à créer, exécuter et gérer vos applications Symfony directement à partir de votre terminal.</a:t>
            </a:r>
            <a:endParaRPr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635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est Open-Source, fonctionne sur macOS, Windows et Linux, et vous n’avez qu’à l’installer une seule fois dans votre système.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>
            <p:ph idx="1" type="body"/>
          </p:nvPr>
        </p:nvSpPr>
        <p:spPr>
          <a:xfrm>
            <a:off x="-140725" y="-198450"/>
            <a:ext cx="9144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lang="en-US" sz="4400"/>
              <a:t>CLI: Commande Ligne Interface</a:t>
            </a:r>
            <a:endParaRPr b="1" sz="440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3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16" name="Google Shape;4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213675" y="1177952"/>
            <a:ext cx="86193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 l’installer :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0" lvl="0" marL="177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faut installer Scoop (installeur en ligne de commande pour Windows) via la commande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irm get.scoop.sh | iex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iex (new-object net.webclient).downloadstring('https://get.scoop.sh')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 Taper la commande 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scoop install symfony-cli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>
            <a:off x="-140725" y="-198450"/>
            <a:ext cx="9144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lang="en-US" sz="4400"/>
              <a:t>CLI: Commande Ligne Interface</a:t>
            </a:r>
            <a:endParaRPr b="1"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29" name="Google Shape;4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4"/>
          <p:cNvSpPr txBox="1"/>
          <p:nvPr/>
        </p:nvSpPr>
        <p:spPr>
          <a:xfrm>
            <a:off x="1955012" y="0"/>
            <a:ext cx="4953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L’architecture 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8024" y="1936730"/>
            <a:ext cx="8571428" cy="40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/>
          <p:nvPr/>
        </p:nvSpPr>
        <p:spPr>
          <a:xfrm>
            <a:off x="228599" y="1010525"/>
            <a:ext cx="86868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est un framework basé sur le modèle MVC (Model View Controller).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24"/>
          <p:cNvCxnSpPr/>
          <p:nvPr/>
        </p:nvCxnSpPr>
        <p:spPr>
          <a:xfrm rot="10800000">
            <a:off x="6881812" y="3268911"/>
            <a:ext cx="0" cy="525167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078"/>
              </a:srgbClr>
            </a:outerShdw>
          </a:effectLst>
        </p:spPr>
      </p:cxnSp>
      <p:cxnSp>
        <p:nvCxnSpPr>
          <p:cNvPr id="434" name="Google Shape;434;p24"/>
          <p:cNvCxnSpPr/>
          <p:nvPr/>
        </p:nvCxnSpPr>
        <p:spPr>
          <a:xfrm rot="10800000">
            <a:off x="5431809" y="3268911"/>
            <a:ext cx="1450003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6078"/>
              </a:srgbClr>
            </a:outerShdw>
          </a:effectLst>
        </p:spPr>
      </p:cxnSp>
      <p:pic>
        <p:nvPicPr>
          <p:cNvPr id="435" name="Google Shape;43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443" name="Google Shape;4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5"/>
          <p:cNvSpPr txBox="1"/>
          <p:nvPr/>
        </p:nvSpPr>
        <p:spPr>
          <a:xfrm>
            <a:off x="1928824" y="0"/>
            <a:ext cx="4953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L’architecture 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220797" y="1745043"/>
            <a:ext cx="836903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contrôleur : Permet de traiter la requête de l’utilisateur et de générer une réponse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modèle : Permet de gérer les 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vue : Permet d'afficher les données qu'elle a récupérées auprès du modèle.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 txBox="1"/>
          <p:nvPr>
            <p:ph idx="1" type="body"/>
          </p:nvPr>
        </p:nvSpPr>
        <p:spPr>
          <a:xfrm>
            <a:off x="-286966" y="4021265"/>
            <a:ext cx="9430966" cy="128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🡺 </a:t>
            </a:r>
            <a:r>
              <a:rPr lang="en-US" sz="2400">
                <a:solidFill>
                  <a:srgbClr val="000000"/>
                </a:solidFill>
              </a:rPr>
              <a:t>le modèle MVC va nous aider à séparer les requêtes de la base de données (Modèle), de la logique relative au traitement des demandes (Contrôleur), et à l’affichage (Vue).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100584" y="4096512"/>
            <a:ext cx="8915400" cy="1143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455" name="Google Shape;4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6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59" name="Google Shape;4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6"/>
          <p:cNvSpPr txBox="1"/>
          <p:nvPr>
            <p:ph idx="1" type="body"/>
          </p:nvPr>
        </p:nvSpPr>
        <p:spPr>
          <a:xfrm>
            <a:off x="0" y="1773225"/>
            <a:ext cx="9144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Atelier 2.1: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/>
              <a:t>Mise en place de l'environnement de Symfony 5 et création du premier projet</a:t>
            </a:r>
            <a:endParaRPr b="1"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468" name="Google Shape;4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72" name="Google Shape;47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7"/>
          <p:cNvSpPr txBox="1"/>
          <p:nvPr/>
        </p:nvSpPr>
        <p:spPr>
          <a:xfrm>
            <a:off x="73817" y="0"/>
            <a:ext cx="8715375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L’architecture d’un projet Symfony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p27"/>
          <p:cNvGraphicFramePr/>
          <p:nvPr/>
        </p:nvGraphicFramePr>
        <p:xfrm>
          <a:off x="2478883" y="846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{D52F3CB9-ACA3-4DDE-9AB4-53065705728F}</a:tableStyleId>
              </a:tblPr>
              <a:tblGrid>
                <a:gridCol w="1200150"/>
                <a:gridCol w="5476875"/>
              </a:tblGrid>
              <a:tr h="36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Contient les fichiers executables (exemple bin/console)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dossier va contenir la configuration de notre application Symfony. C’est ici que nous allons configurer les routes, les services, …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 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Ceci est le dossier d’entré de notre application, mais aussi le dossier public, nous allons y mettre tout les fichiers accessibles au public. Il contient notamment le contrôleur frontal de Symfony.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src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 fichiers contenant toute la logique de notre projet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templates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Toutes les pages qui vont être affichées à l'écran vont être ici.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Contient les tests automatiques (exemple Unit tests)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vendor</a:t>
                      </a:r>
                      <a:endParaRPr sz="1400" u="none" cap="none" strike="noStrike"/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dossier contenant les dépendances nécessaire au fonctionnement de notre projet.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.env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Fichier contenant la configuration de l'environnement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d'exécution de notre code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8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125" marB="46800" marR="90000" marL="900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5" name="Google Shape;47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72789" y="1817518"/>
            <a:ext cx="2474012" cy="3467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525" y="6257900"/>
            <a:ext cx="1190625" cy="4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483" name="Google Shape;4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8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487" name="Google Shape;48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8"/>
          <p:cNvSpPr txBox="1"/>
          <p:nvPr/>
        </p:nvSpPr>
        <p:spPr>
          <a:xfrm>
            <a:off x="95080" y="143530"/>
            <a:ext cx="8910976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Principe de fonctionnement d’une application Symfony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-96033" y="1288764"/>
            <a:ext cx="900842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suit un schéma simple et identique pour toutes les requêtes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268125" cy="4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87526" y="1749584"/>
            <a:ext cx="9182528" cy="4410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498" name="Google Shape;4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695" y="6529406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02" name="Google Shape;50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9"/>
          <p:cNvSpPr/>
          <p:nvPr/>
        </p:nvSpPr>
        <p:spPr>
          <a:xfrm>
            <a:off x="-30940" y="1844597"/>
            <a:ext cx="903699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visiteur demande une URL qui est la page « /student 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Cette URL est traitée par le « Contrôleur frontal » qui va charger le « Kernel » et la lui transmet.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« Kernel » appel le « routeur » afin de lui indiquer quel « contrôleur » exécuter pour l'URL « /student ».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« Routeur » cherche le « contrôleur » correspondant et envoie au « Kernel » qu'il faut exécuter le « ControllerStudent »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« Kernel » appel le « ContrôleurStudent »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 « Contrôleur » demande au « Modèle » la liste des étudiants, puis la donne à la « Vue » pour qu'elle construise la page HTML.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contrôleur transmet la page HTML au visiteur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95080" y="143530"/>
            <a:ext cx="8910976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 applicatif d’une requête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-30940" y="901710"/>
            <a:ext cx="8686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Soit un visiteur qui veut accéder à la page « /student » pour afficher la liste des étudiants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075" y="6539775"/>
            <a:ext cx="1212625" cy="4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16" name="Google Shape;5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0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136525" y="1376350"/>
            <a:ext cx="8829000" cy="41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C’est le point d’entrée unique de l’application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🡺 C'est le fichier par lequel passent toutes vos pages.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contrôleur frontal se situe dans le répertoire «public », on l’appelle aussi « index.php » 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contrôleur frontal s'occupe de l'envoi de la demande (requête) en appelant le noyau (kernel) de Symfony pour avoir finalement la réponse.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2114551" y="-121283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Contrôleur frontal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29" name="Google Shape;52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2768904" y="-198460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Contrôleur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301056" y="1010165"/>
            <a:ext cx="827873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contrôleur est un élément indispensable de l’architecture MVC.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reçoit une requête et il interagit avec les différents composants d’une application Symfony pour renvoyer une réponse (un objet Response Symfony).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4285" y="3875733"/>
            <a:ext cx="4052274" cy="2950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0" name="Google Shape;5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43" name="Google Shape;5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2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2"/>
          <p:cNvSpPr/>
          <p:nvPr/>
        </p:nvSpPr>
        <p:spPr>
          <a:xfrm>
            <a:off x="379378" y="1582485"/>
            <a:ext cx="8385243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 Request » correspond aux données de la requête utilisateur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 Response » correspond à la  réponse retournée par le contrôleur.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réponse peut être 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5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 page HTML (Twig).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5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document XML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5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tableau JSON sérialisé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5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2836804" y="-198460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Contrôleur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56" name="Google Shape;55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3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0" y="657150"/>
            <a:ext cx="89928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contrôleur est une classe PHP qui hérite de la classe AbstractController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 Fonctions de base de la classe AbstractController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2836804" y="-198460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Contrôleur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0" name="Google Shape;560;p33"/>
          <p:cNvGraphicFramePr/>
          <p:nvPr/>
        </p:nvGraphicFramePr>
        <p:xfrm>
          <a:off x="281786" y="2130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{30CCA65B-6A5A-435F-AC7D-9E2289DE7A13}</a:tableStyleId>
              </a:tblPr>
              <a:tblGrid>
                <a:gridCol w="2233375"/>
                <a:gridCol w="3656775"/>
                <a:gridCol w="2690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Méthode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Fonctionnalité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Valeur de retour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generateUrl()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Génère une URL à partir de la route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String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forward(String Action,array ()$parameters)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Forward la requête vers un autre contrôleur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Response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Redirect(string $url, int $statut 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Redirige vers une url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RedirectResponse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RedirectToRoute(string $route, array $parameters)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Redirige vers une route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Rsponse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Render(string $view,array $parameters)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Affiche une vue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Response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Get (string $id 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Retourne un service à travers son id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objet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createNotFoundException(String $message)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Retourne une NotFoundException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NotFoundException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561" name="Google Shape;56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25" y="6431675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4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71" name="Google Shape;57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4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2861636" y="-198450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Routage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538230" y="1962745"/>
            <a:ext cx="8067539" cy="2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route permet de faire correspondre une URL et une action d’un contrôleur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L’objectif du routeur est de chercher la route qui correspond à l'URL appelée, et de retourner les paramètres de cette route.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" name="Google Shape;57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0714" y="-198439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5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Google Shape;5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782808" y="7014135"/>
            <a:ext cx="4135142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85" name="Google Shape;58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5"/>
          <p:cNvSpPr txBox="1"/>
          <p:nvPr/>
        </p:nvSpPr>
        <p:spPr>
          <a:xfrm>
            <a:off x="734170" y="4759744"/>
            <a:ext cx="3789192" cy="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2939036" y="-198450"/>
            <a:ext cx="457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Routage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283091" y="1013480"/>
            <a:ext cx="605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Principe de fonctionnement du routage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2987" y="1749511"/>
            <a:ext cx="5878026" cy="4192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111150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599" name="Google Shape;5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6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6"/>
          <p:cNvSpPr txBox="1"/>
          <p:nvPr/>
        </p:nvSpPr>
        <p:spPr>
          <a:xfrm>
            <a:off x="-826300" y="-471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</a:t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6"/>
          <p:cNvSpPr txBox="1"/>
          <p:nvPr/>
        </p:nvSpPr>
        <p:spPr>
          <a:xfrm>
            <a:off x="162300" y="1438978"/>
            <a:ext cx="8819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 est un plugin Composer.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permet d'exécuter des tâches sur certaines commandes Composer (require, update et remove).  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permet d’automatiser l’installation et la suppression des dépendances en fournissant une configuration par défaut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🡺sans avoir à aller lire le fichier pour trouver quelle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configuration écrire ou autre tâche à effectuer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6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6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3" name="Google Shape;6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111150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614" name="Google Shape;61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7"/>
          <p:cNvSpPr txBox="1"/>
          <p:nvPr/>
        </p:nvSpPr>
        <p:spPr>
          <a:xfrm>
            <a:off x="-92075" y="-4716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7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7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7"/>
          <p:cNvSpPr/>
          <p:nvPr/>
        </p:nvSpPr>
        <p:spPr>
          <a:xfrm>
            <a:off x="235326" y="898222"/>
            <a:ext cx="8601862" cy="5521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Exemple: Nous souhaitons installer une API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faut lancer donc la commande «composer require api»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l’application envoie une requête au serveur Symfony Flex avant d’installer le paquetage avec Composer.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 Symfony Flex » va se charger lui-même: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D’enregistrer le bundle dans le « Kernel »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fournir une configuration par défaut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charger les routes nécessaires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🡺 La commande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«composer require api»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suffi pour mettre en place une API REST fonctionnelle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7"/>
          <p:cNvSpPr/>
          <p:nvPr/>
        </p:nvSpPr>
        <p:spPr>
          <a:xfrm>
            <a:off x="499181" y="5450271"/>
            <a:ext cx="8074152" cy="95224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629" name="Google Shape;62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8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8"/>
          <p:cNvSpPr txBox="1"/>
          <p:nvPr/>
        </p:nvSpPr>
        <p:spPr>
          <a:xfrm>
            <a:off x="-140500" y="-447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8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-92075" y="1575300"/>
            <a:ext cx="9144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Flex laisse une trace des recettes qu'il a installées dans un fichier appelé « 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symfony.lock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».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Ces recettes contiennent des instructions pour indiquer à Flex ce qu’il doit faire pour chaque paquet.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 recette définit plusieurs informations à savoir les alias.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5" name="Google Shape;63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143000" cy="41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1" name="Google Shape;64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logo-esprit.png" id="642" name="Google Shape;6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" y="6237287"/>
            <a:ext cx="11430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644" name="Google Shape;64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9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9"/>
          <p:cNvSpPr txBox="1"/>
          <p:nvPr/>
        </p:nvSpPr>
        <p:spPr>
          <a:xfrm>
            <a:off x="-92075" y="-4716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</a:t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9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9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42062" y="609859"/>
            <a:ext cx="9009900" cy="59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 « alias » permettent à Flex d’installer des paquetages en utilisant des nom courts et facile à retenir.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on revient à l’exemple précédent: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composer require api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 paquetage «api» n’existe pas pour composer. Dans ce cas, Flex intervient pour détecter si le nom du paquetage correspondre à un allias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🡺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oui, le composer installe le paquetage correspondant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Exemple d’allias: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9"/>
          <p:cNvSpPr/>
          <p:nvPr/>
        </p:nvSpPr>
        <p:spPr>
          <a:xfrm>
            <a:off x="530965" y="3321979"/>
            <a:ext cx="8539200" cy="4365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13417" cy="4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48" y="2081967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660" name="Google Shape;66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0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0"/>
          <p:cNvSpPr txBox="1"/>
          <p:nvPr/>
        </p:nvSpPr>
        <p:spPr>
          <a:xfrm>
            <a:off x="11900" y="-4716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0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0"/>
          <p:cNvSpPr/>
          <p:nvPr/>
        </p:nvSpPr>
        <p:spPr>
          <a:xfrm>
            <a:off x="207974" y="1550601"/>
            <a:ext cx="8795526" cy="2859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Symfony Flex permet de: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∙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Configurer automatiquement le paquetage dans le projet.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∙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Supprimer toutes les configurations relatives au paquetage, quand vous le supprimez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4" name="Google Shape;67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48" y="2081967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675" name="Google Shape;67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41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1"/>
          <p:cNvSpPr txBox="1"/>
          <p:nvPr/>
        </p:nvSpPr>
        <p:spPr>
          <a:xfrm>
            <a:off x="-818793" y="-580271"/>
            <a:ext cx="9645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MakerBundle</a:t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136523" y="1050229"/>
            <a:ext cx="92496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Permet de créer des commandes vides, des contrôleurs, des classes de formulaire, des tests etc…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 bundle existe par défaut, pas besoin de l’installer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S’il n’existe pas, la commande suivante permet de l’installer: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Composer require maker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1" name="Google Shape;68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4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48" y="2081967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690" name="Google Shape;69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42"/>
          <p:cNvSpPr txBox="1"/>
          <p:nvPr>
            <p:ph idx="1" type="body"/>
          </p:nvPr>
        </p:nvSpPr>
        <p:spPr>
          <a:xfrm>
            <a:off x="-140500" y="-198425"/>
            <a:ext cx="914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  </a:t>
            </a:r>
            <a:endParaRPr sz="4400"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2"/>
          <p:cNvSpPr txBox="1"/>
          <p:nvPr/>
        </p:nvSpPr>
        <p:spPr>
          <a:xfrm>
            <a:off x="-818793" y="-504071"/>
            <a:ext cx="9645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MakerBundle</a:t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2"/>
          <p:cNvSpPr txBox="1"/>
          <p:nvPr/>
        </p:nvSpPr>
        <p:spPr>
          <a:xfrm>
            <a:off x="7772400" y="5792788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235326" y="3411314"/>
            <a:ext cx="7537074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136524" y="1417629"/>
            <a:ext cx="90765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Quelques exemples de l’utilisation du makerBundle: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4572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make:contoller pour créer un nouveau contrôleur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make:entity pour créer une nouvelle entité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Etc…	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3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705" name="Google Shape;70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3"/>
          <p:cNvSpPr txBox="1"/>
          <p:nvPr>
            <p:ph idx="1" type="body"/>
          </p:nvPr>
        </p:nvSpPr>
        <p:spPr>
          <a:xfrm>
            <a:off x="-92075" y="-198425"/>
            <a:ext cx="9144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lang="en-US" sz="4400"/>
              <a:t>Créer un Contrôleur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3"/>
          <p:cNvSpPr txBox="1"/>
          <p:nvPr/>
        </p:nvSpPr>
        <p:spPr>
          <a:xfrm>
            <a:off x="184150" y="1376362"/>
            <a:ext cx="8821200" cy="3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Pour générer un contrôleur via la console, vous pouvez utiliser le MakerBundle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bin/console make:controller NomController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ou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symfony console make:controller NomController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4" name="Google Shape;7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75" y="-198437"/>
            <a:ext cx="9328150" cy="705643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4"/>
          <p:cNvSpPr txBox="1"/>
          <p:nvPr/>
        </p:nvSpPr>
        <p:spPr>
          <a:xfrm>
            <a:off x="-1483487" y="18327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1756" y="2184032"/>
            <a:ext cx="7145338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718" name="Google Shape;71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49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>
            <p:ph idx="1" type="body"/>
          </p:nvPr>
        </p:nvSpPr>
        <p:spPr>
          <a:xfrm>
            <a:off x="-92075" y="-198425"/>
            <a:ext cx="91440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lang="en-US" sz="4400"/>
              <a:t>Créer un Contrôleur</a:t>
            </a:r>
            <a:endParaRPr b="1" sz="4400"/>
          </a:p>
        </p:txBody>
      </p:sp>
      <p:sp>
        <p:nvSpPr>
          <p:cNvPr id="720" name="Google Shape;720;p44"/>
          <p:cNvSpPr/>
          <p:nvPr/>
        </p:nvSpPr>
        <p:spPr>
          <a:xfrm>
            <a:off x="283013" y="1405907"/>
            <a:ext cx="8577974" cy="861774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Nous demandons à Symfony de nous créer le contrôleur BlogController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415749" y="4929597"/>
            <a:ext cx="7247106" cy="129266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fichiers ont été créés: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BlogController.php dans src/Controller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index.html.twig dans templates/blog,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7158" y="2297237"/>
            <a:ext cx="5945009" cy="2653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5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2" name="Google Shape;73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-304803" y="9126167"/>
            <a:ext cx="5685441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733" name="Google Shape;73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5"/>
          <p:cNvSpPr txBox="1"/>
          <p:nvPr/>
        </p:nvSpPr>
        <p:spPr>
          <a:xfrm>
            <a:off x="457212" y="-1841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Créer une Route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5"/>
          <p:cNvSpPr txBox="1"/>
          <p:nvPr>
            <p:ph idx="1" type="body"/>
          </p:nvPr>
        </p:nvSpPr>
        <p:spPr>
          <a:xfrm>
            <a:off x="-23813" y="43476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</a:rPr>
              <a:t>Il existe deux méthodes pour créer une route:</a:t>
            </a:r>
            <a:endParaRPr sz="2800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p45"/>
          <p:cNvCxnSpPr/>
          <p:nvPr/>
        </p:nvCxnSpPr>
        <p:spPr>
          <a:xfrm>
            <a:off x="1665623" y="4251900"/>
            <a:ext cx="0" cy="8175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7" name="Google Shape;737;p45"/>
          <p:cNvSpPr txBox="1"/>
          <p:nvPr/>
        </p:nvSpPr>
        <p:spPr>
          <a:xfrm>
            <a:off x="1046498" y="3909000"/>
            <a:ext cx="1568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route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 txBox="1"/>
          <p:nvPr/>
        </p:nvSpPr>
        <p:spPr>
          <a:xfrm>
            <a:off x="2260935" y="3935987"/>
            <a:ext cx="1568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 txBox="1"/>
          <p:nvPr/>
        </p:nvSpPr>
        <p:spPr>
          <a:xfrm>
            <a:off x="4048460" y="3804225"/>
            <a:ext cx="27114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 du contrôleur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(ici BlogController)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6207460" y="3829625"/>
            <a:ext cx="27114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 de la méthode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(ici Index)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5"/>
          <p:cNvSpPr txBox="1"/>
          <p:nvPr/>
        </p:nvSpPr>
        <p:spPr>
          <a:xfrm>
            <a:off x="77823" y="1524217"/>
            <a:ext cx="3937256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ère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méthode: YML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77823" y="2173157"/>
            <a:ext cx="8745164" cy="129266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Nous créons une route qui s’appelle index dont le chemin est «/» et qui a comme contrôleur la méthode «index» qui se trouve dans la classe « BlogController ».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3" name="Google Shape;74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320" y="5120999"/>
            <a:ext cx="7401679" cy="1118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4" name="Google Shape;744;p45"/>
          <p:cNvCxnSpPr/>
          <p:nvPr/>
        </p:nvCxnSpPr>
        <p:spPr>
          <a:xfrm>
            <a:off x="2291098" y="4305875"/>
            <a:ext cx="0" cy="121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5" name="Google Shape;745;p45"/>
          <p:cNvCxnSpPr/>
          <p:nvPr/>
        </p:nvCxnSpPr>
        <p:spPr>
          <a:xfrm flipH="1">
            <a:off x="5388310" y="4450337"/>
            <a:ext cx="15875" cy="134302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6" name="Google Shape;746;p45"/>
          <p:cNvCxnSpPr/>
          <p:nvPr/>
        </p:nvCxnSpPr>
        <p:spPr>
          <a:xfrm flipH="1">
            <a:off x="7207585" y="4461450"/>
            <a:ext cx="15875" cy="134302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47" name="Google Shape;74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46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755" name="Google Shape;75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6"/>
          <p:cNvSpPr txBox="1"/>
          <p:nvPr/>
        </p:nvSpPr>
        <p:spPr>
          <a:xfrm>
            <a:off x="561097" y="1258887"/>
            <a:ext cx="4954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2ème méthode: Annotation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6"/>
          <p:cNvSpPr txBox="1"/>
          <p:nvPr/>
        </p:nvSpPr>
        <p:spPr>
          <a:xfrm>
            <a:off x="447662" y="-183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Créer une Route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-160337" y="1846013"/>
            <a:ext cx="944555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 lieu de placer toutes les routes de l’application dans un seul fichier, il peut-être plus souple d’utiliser les annotations dans le même code du contrôleur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6"/>
          <p:cNvSpPr txBox="1"/>
          <p:nvPr/>
        </p:nvSpPr>
        <p:spPr>
          <a:xfrm>
            <a:off x="1885894" y="3284769"/>
            <a:ext cx="221085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Chemin de la route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6"/>
          <p:cNvSpPr txBox="1"/>
          <p:nvPr/>
        </p:nvSpPr>
        <p:spPr>
          <a:xfrm>
            <a:off x="4109748" y="3293648"/>
            <a:ext cx="1939893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 de la route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4828" y="4117229"/>
            <a:ext cx="5958081" cy="25518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46"/>
          <p:cNvCxnSpPr/>
          <p:nvPr/>
        </p:nvCxnSpPr>
        <p:spPr>
          <a:xfrm>
            <a:off x="3461997" y="3625781"/>
            <a:ext cx="0" cy="8175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63" name="Google Shape;763;p46"/>
          <p:cNvCxnSpPr/>
          <p:nvPr/>
        </p:nvCxnSpPr>
        <p:spPr>
          <a:xfrm>
            <a:off x="4875750" y="3625781"/>
            <a:ext cx="0" cy="8175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64" name="Google Shape;764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Google Shape;76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772" name="Google Shape;77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7"/>
          <p:cNvSpPr txBox="1"/>
          <p:nvPr/>
        </p:nvSpPr>
        <p:spPr>
          <a:xfrm>
            <a:off x="561097" y="1258887"/>
            <a:ext cx="4954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3ème méthode: Annotation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7"/>
          <p:cNvSpPr txBox="1"/>
          <p:nvPr/>
        </p:nvSpPr>
        <p:spPr>
          <a:xfrm>
            <a:off x="457212" y="-2029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Créer une Route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-160337" y="1846013"/>
            <a:ext cx="944555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7"/>
          <p:cNvSpPr txBox="1"/>
          <p:nvPr/>
        </p:nvSpPr>
        <p:spPr>
          <a:xfrm>
            <a:off x="1932915" y="2100921"/>
            <a:ext cx="221085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Chemin de la route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7"/>
          <p:cNvSpPr txBox="1"/>
          <p:nvPr/>
        </p:nvSpPr>
        <p:spPr>
          <a:xfrm>
            <a:off x="4850942" y="2135783"/>
            <a:ext cx="1939893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 de la route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8" name="Google Shape;77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104" y="2976513"/>
            <a:ext cx="8067675" cy="291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0" name="Google Shape;780;p47"/>
          <p:cNvCxnSpPr/>
          <p:nvPr/>
        </p:nvCxnSpPr>
        <p:spPr>
          <a:xfrm>
            <a:off x="5521259" y="2427148"/>
            <a:ext cx="0" cy="8175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81" name="Google Shape;781;p47"/>
          <p:cNvCxnSpPr/>
          <p:nvPr/>
        </p:nvCxnSpPr>
        <p:spPr>
          <a:xfrm>
            <a:off x="3025619" y="2384510"/>
            <a:ext cx="0" cy="817562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8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789" name="Google Shape;78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8"/>
          <p:cNvSpPr txBox="1"/>
          <p:nvPr/>
        </p:nvSpPr>
        <p:spPr>
          <a:xfrm>
            <a:off x="561097" y="1258887"/>
            <a:ext cx="79797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routage avec paramètres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8"/>
          <p:cNvSpPr txBox="1"/>
          <p:nvPr/>
        </p:nvSpPr>
        <p:spPr>
          <a:xfrm>
            <a:off x="457212" y="-1841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Créer une Route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8"/>
          <p:cNvSpPr/>
          <p:nvPr/>
        </p:nvSpPr>
        <p:spPr>
          <a:xfrm>
            <a:off x="-160337" y="1846013"/>
            <a:ext cx="944555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Nous utilisons une annotation avec un paramètre variable « id » comme ci-dessous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3" name="Google Shape;79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7150" y="2755968"/>
            <a:ext cx="5945504" cy="23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48"/>
          <p:cNvSpPr/>
          <p:nvPr/>
        </p:nvSpPr>
        <p:spPr>
          <a:xfrm>
            <a:off x="-46798" y="5314215"/>
            <a:ext cx="970636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"{id}" est la variable qui permettra d'avoir une route dynamique.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méthode view() prend en paramètre la variable « id» pour l’afficher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4865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1" name="Google Shape;80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49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805" name="Google Shape;80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9"/>
          <p:cNvSpPr txBox="1"/>
          <p:nvPr>
            <p:ph idx="1" type="body"/>
          </p:nvPr>
        </p:nvSpPr>
        <p:spPr>
          <a:xfrm>
            <a:off x="0" y="1773225"/>
            <a:ext cx="89097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Atelier </a:t>
            </a:r>
            <a:r>
              <a:rPr b="1" lang="en-US" sz="4400"/>
              <a:t>2.2</a:t>
            </a: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i="0" sz="4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création d’un</a:t>
            </a:r>
            <a:r>
              <a:rPr b="1" lang="en-US" sz="4400"/>
              <a:t> </a:t>
            </a: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contrôleur + routing</a:t>
            </a:r>
            <a:endParaRPr/>
          </a:p>
          <a:p>
            <a:pPr indent="-1397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7" name="Google Shape;807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0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6" name="Google Shape;81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817" name="Google Shape;81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50"/>
          <p:cNvSpPr txBox="1"/>
          <p:nvPr/>
        </p:nvSpPr>
        <p:spPr>
          <a:xfrm>
            <a:off x="457200" y="714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Références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0"/>
          <p:cNvSpPr txBox="1"/>
          <p:nvPr>
            <p:ph idx="1" type="body"/>
          </p:nvPr>
        </p:nvSpPr>
        <p:spPr>
          <a:xfrm>
            <a:off x="136525" y="1306500"/>
            <a:ext cx="8676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http://www.finalclap.com/faq/422-php-comparatif-framework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7"/>
              </a:rPr>
              <a:t>https://www.codeur.com/blog/developpement-web-meilleurs-frameworks/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8"/>
              </a:rPr>
              <a:t>http</a:t>
            </a:r>
            <a:r>
              <a:rPr b="0" i="0" lang="en-US" sz="1800" u="sng">
                <a:solidFill>
                  <a:schemeClr val="hlink"/>
                </a:solidFill>
                <a:hlinkClick r:id="rId9"/>
              </a:rPr>
              <a:t>://blog.nicolashachet.com/technologies/php/pourquoi-utiliser-un-framework-php/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http://symfony.com/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http://symfony.com/doc/current/quick_tour/the_architecture.html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12"/>
              </a:rPr>
              <a:t>https://symfony.com/doc/current/introduction/http_fundamentals.html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http://www.lafermeduweb.net/tutorial/symfony-mvc-les-modeles-p34.html</a:t>
            </a:r>
            <a:endParaRPr b="0" i="0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http://www.javavillage.in/view-topic.php?tag=difference-between-mvc1-mvc2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820" name="Google Shape;820;p5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6" name="Google Shape;82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51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830" name="Google Shape;83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1"/>
          <p:cNvSpPr txBox="1"/>
          <p:nvPr/>
        </p:nvSpPr>
        <p:spPr>
          <a:xfrm>
            <a:off x="1619250" y="3211512"/>
            <a:ext cx="600551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525" y="6257900"/>
            <a:ext cx="1200626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