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F90B27-FB14-4646-A41C-933E48300496}">
  <a:tblStyle styleId="{32F90B27-FB14-4646-A41C-933E483004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9" Type="http://schemas.openxmlformats.org/officeDocument/2006/relationships/image" Target="../media/image13.png"/><Relationship Id="rId5" Type="http://schemas.openxmlformats.org/officeDocument/2006/relationships/hyperlink" Target="https://stahe-php7.readthedocs.io/fr/latest/chap-05.html" TargetMode="External"/><Relationship Id="rId6" Type="http://schemas.openxmlformats.org/officeDocument/2006/relationships/hyperlink" Target="https://www.php.net/manual/fr/index.php" TargetMode="External"/><Relationship Id="rId7" Type="http://schemas.openxmlformats.org/officeDocument/2006/relationships/hyperlink" Target="https://flossmanualsfr.net/initiation-a-php/creer-des-objets/" TargetMode="External"/><Relationship Id="rId8" Type="http://schemas.openxmlformats.org/officeDocument/2006/relationships/hyperlink" Target="https://www.w3schools.com/php/php_oop_classes_object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525" y="0"/>
            <a:ext cx="9280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-136525" y="2362200"/>
            <a:ext cx="9280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700"/>
              <a:buFont typeface="Calibri"/>
              <a:buNone/>
            </a:pPr>
            <a:r>
              <a:rPr b="1" i="0" lang="en-US" sz="47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POO avec PHP</a:t>
            </a:r>
            <a:r>
              <a:rPr b="1" lang="en-US" sz="47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3350" y="0"/>
            <a:ext cx="3978275" cy="234473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828800" y="4648200"/>
            <a:ext cx="4953000" cy="503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Année universitaire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-202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'éléPHPant, la mascotte de PHP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4612" y="3708400"/>
            <a:ext cx="1238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36525" y="92075"/>
            <a:ext cx="3621874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825" y="5776350"/>
            <a:ext cx="88963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37"/>
            <a:ext cx="9326562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3912" y="157162"/>
            <a:ext cx="20002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3048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Rappel sur les classes et le POO en PHP</a:t>
            </a:r>
            <a:r>
              <a:rPr lang="en-US" sz="2800"/>
              <a:t>8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Appréhender les notions de l’orientée objet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025" y="64674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1437"/>
            <a:ext cx="9326562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3912" y="157162"/>
            <a:ext cx="2000250" cy="137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57200" y="1158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1426918" y="19383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Notion des Classes en POO / PHP </a:t>
            </a:r>
            <a:r>
              <a:rPr lang="en-US" sz="2800"/>
              <a:t>8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L’instanciation des Objets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Constructeur/</a:t>
            </a:r>
            <a:r>
              <a:rPr lang="en-US" sz="2800"/>
              <a:t>Destructeur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propriétés et les droits </a:t>
            </a:r>
            <a:r>
              <a:rPr lang="en-US" sz="2800"/>
              <a:t>d'accès</a:t>
            </a:r>
            <a:endParaRPr sz="2800"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L’encapsulation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L’héritage et la redéfinition des méthodes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075" y="646428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Notion de classe (1/2)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 une représentation abstraite d'un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classe peut être rendue concrète au moyen d'une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de classe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l'on appelle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classe s'écrit au moyen du mot "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suivi du nom de la classe et d'accolades.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743200" y="4686300"/>
            <a:ext cx="4038600" cy="2035175"/>
          </a:xfrm>
          <a:custGeom>
            <a:rect b="b" l="l" r="r" t="t"/>
            <a:pathLst>
              <a:path extrusionOk="0" h="2035175" w="4038600">
                <a:moveTo>
                  <a:pt x="0" y="0"/>
                </a:moveTo>
                <a:lnTo>
                  <a:pt x="3699397" y="0"/>
                </a:lnTo>
                <a:lnTo>
                  <a:pt x="4038600" y="339203"/>
                </a:lnTo>
                <a:lnTo>
                  <a:pt x="4038600" y="2035175"/>
                </a:lnTo>
                <a:lnTo>
                  <a:pt x="0" y="2035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A3C4FF"/>
              </a:gs>
              <a:gs pos="35000">
                <a:srgbClr val="BFD5FF"/>
              </a:gs>
              <a:gs pos="100000">
                <a:srgbClr val="E5EEFF"/>
              </a:gs>
            </a:gsLst>
            <a:lin ang="16200000" scaled="0"/>
          </a:gradFill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607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 Personne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public $nom;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public $prenom;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function  saisir($nom,$prenom);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function afficher();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25" y="635633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Notion de classe (2/2)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" name="Google Shape;146;p17"/>
          <p:cNvGraphicFramePr/>
          <p:nvPr/>
        </p:nvGraphicFramePr>
        <p:xfrm>
          <a:off x="288925" y="236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{32F90B27-FB14-4646-A41C-933E48300496}</a:tableStyleId>
              </a:tblPr>
              <a:tblGrid>
                <a:gridCol w="2420925"/>
              </a:tblGrid>
              <a:tr h="58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Personne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+nom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+prenom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>
                        <a:alpha val="18039"/>
                      </a:schemeClr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+saisir(var,var)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+afficher()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7712" y="1492250"/>
            <a:ext cx="5276850" cy="46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75" y="64674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instantiation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d’un objet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</a:t>
            </a:r>
            <a:endParaRPr/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67877" t="0"/>
          <a:stretch/>
        </p:blipFill>
        <p:spPr>
          <a:xfrm>
            <a:off x="468312" y="2511425"/>
            <a:ext cx="26257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7">
            <a:alphaModFix/>
          </a:blip>
          <a:srcRect b="17187" l="0" r="0" t="0"/>
          <a:stretch/>
        </p:blipFill>
        <p:spPr>
          <a:xfrm>
            <a:off x="3722687" y="2581275"/>
            <a:ext cx="4983162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17550" y="3476625"/>
            <a:ext cx="2319337" cy="4254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personne1:Personne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64674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4150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Le constructeur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constructeur est la méthode qui va être appelée à l'instanciation de l'objet.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doit être implémenté dans la classe elle-même de la manière suivante : </a:t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On est passés par les set, qu’on expliquera plus tard avec l’encapsulation,</a:t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107" y="4072731"/>
            <a:ext cx="7835786" cy="102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950" y="64674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Le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Destructeur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destructeur d’une classe donnée est une méthode exécutée automatiquement à chaque fois qu’une instance de la classe donnée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disparaît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C’est une méthode sans type de retour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C’est une méthode sans paramètre, elle ne peut donc pas être surchargée ;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C’est une méthode en accès public. </a:t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362" y="4679950"/>
            <a:ext cx="4343400" cy="144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11775" y="4679950"/>
            <a:ext cx="3527425" cy="144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950" y="64674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Les propriétés d’un objet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propriété est une variable associée à un objet.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demander « le nom de cette personne » et non le</a:t>
            </a:r>
            <a:endParaRPr/>
          </a:p>
          <a:p>
            <a:pPr indent="0" lvl="1" marL="4000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  en général.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2550" y="3143250"/>
            <a:ext cx="64389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658493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Les droits d'accès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méthodes et les variables </a:t>
            </a:r>
            <a:r>
              <a:rPr lang="en-US" sz="2200"/>
              <a:t>“</a:t>
            </a:r>
            <a:r>
              <a:rPr b="0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(+)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200"/>
              <a:t>”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sont visibles et manipulables par tous les objets, même s'ils sont relatifs à d'autres classes. </a:t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méthodes et les variables </a:t>
            </a:r>
            <a:r>
              <a:rPr lang="en-US" sz="2200"/>
              <a:t>“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(#)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protected</a:t>
            </a:r>
            <a:r>
              <a:rPr lang="en-US" sz="2200"/>
              <a:t>”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concernent les objets de la même classe ainsi que ses dérivés, mais pas ceux des classes étrangères.</a:t>
            </a:r>
            <a:endParaRPr/>
          </a:p>
          <a:p>
            <a:pPr indent="-342900" lvl="0" marL="342900" marR="0" rtl="0" algn="l">
              <a:lnSpc>
                <a:spcPct val="14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classes ont des variables et des méthodes internes et qui ne concernent pas l'extérieur. Ces propriétés sont déclarées en tant que </a:t>
            </a:r>
            <a:r>
              <a:rPr lang="en-US" sz="2200"/>
              <a:t>“</a:t>
            </a:r>
            <a:r>
              <a:rPr b="1" i="0" lang="en-US" sz="2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(-)</a:t>
            </a:r>
            <a:r>
              <a:rPr b="1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200"/>
              <a:t>”</a:t>
            </a:r>
            <a:r>
              <a:rPr b="0" i="0" lang="en-US" sz="2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03200" lvl="0" marL="3429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075" y="630871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L’encapsulation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L’encapsulation est la pratique consistant à regrouper des attributs au sein d’une même classe.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améliorer la lisibilité des programmes, les attributs encapsulés sont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souvent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privés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(inaccessibles aux autres classes)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données et méthodes accessibles sont dites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publiques</a:t>
            </a:r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58493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L’encapsulation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46" name="Google Shape;24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9828" y="1416049"/>
            <a:ext cx="5967820" cy="5463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635633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837" y="2073275"/>
            <a:ext cx="7145337" cy="399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esprit 2014\ESPRIT 2014\charte essprit 2014\render\support final\triangl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L’héritage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</a:t>
            </a: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héritage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consiste à définir différents niveaux d’abstraction permettant ainsi de </a:t>
            </a: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factoriser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certains attributs et/ou méthodes communs à plusieurs classes.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classe générale définit alors un ensemble d’attributs et/ou méthodes qui sont partagés par d’autres classes, dont on dira qu’elles héritent de cette classe générale.</a:t>
            </a:r>
            <a:endParaRPr/>
          </a:p>
        </p:txBody>
      </p:sp>
      <p:pic>
        <p:nvPicPr>
          <p:cNvPr id="259" name="Google Shape;2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4200" y="4978400"/>
            <a:ext cx="3200400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6584938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269" name="Google Shape;2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334962" y="512762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POO: La redéfinition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687387" y="1276350"/>
            <a:ext cx="8226425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PHP permet la redéfinition des méthodes, c’est-à-dire la possibilité de redéclarer les mêmes attributs et opérations d’une super classe au sein d’une sous classe. Nous pouvons aussi modifier la signature de la fonction, et son traitement.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13" y="3184525"/>
            <a:ext cx="8283573" cy="348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60325" y="6669063"/>
            <a:ext cx="10858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0337" y="0"/>
            <a:ext cx="9328150" cy="70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-1331912" y="-184150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esprit 2014\ESPRIT 2014\charte essprit 2014\render\support final\triangle.png" id="282" name="Google Shape;2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0" y="0"/>
            <a:ext cx="2000250" cy="137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388938" y="542131"/>
            <a:ext cx="8229600" cy="100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Références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648127" y="2095717"/>
            <a:ext cx="8226425" cy="24006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https://stahe-php7.readthedocs.io/fr/latest/chap-05.html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https://www.php.net/manual/fr/index.php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https://flossmanualsfr.net/initiation-a-php/creer-des-objets/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https://www.w3schools.com/php/php_oop_classes_objects.asp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4450" y="6543988"/>
            <a:ext cx="10858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