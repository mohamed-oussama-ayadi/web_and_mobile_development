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42"/>
      <p:bold r:id="rId43"/>
      <p:italic r:id="rId44"/>
      <p:boldItalic r:id="rId45"/>
    </p:embeddedFont>
    <p:embeddedFont>
      <p:font typeface="Merriweather" panose="020B060402020202020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C493AE-2A30-41AF-8D33-7A2C48AF6AE8}">
  <a:tblStyle styleId="{C5C493AE-2A30-41AF-8D33-7A2C48AF6AE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21B51C2-D5FC-4CAE-825D-C38E2882D19A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594" y="264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ORM est un logiciel qui  permet de donner l'illusion de travailler avec une base de données objet alors que l'on est sur une base de données relationnelle.</a:t>
            </a: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Doctrine est l'ORM (Object-Relational Mapping) intégré par défaut dans Symfony.</a:t>
            </a: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3" name="Google Shape;2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800">
                <a:latin typeface="Calibri"/>
                <a:ea typeface="Calibri"/>
                <a:cs typeface="Calibri"/>
                <a:sym typeface="Calibri"/>
              </a:rPr>
              <a:t>Placer les entités dans le dossier src/Entity.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5" name="Google Shape;2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5" name="Google Shape;2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9" name="Google Shape;29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4" name="Google Shape;31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2" name="Google Shape;34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7" name="Google Shape;35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1" name="Google Shape;37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5" name="Google Shape;38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8" name="Google Shape;39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0" name="Google Shape;41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2" name="Google Shape;42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5" name="Google Shape;43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9" name="Google Shape;44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2" name="Google Shape;46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5" name="Google Shape;48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5" name="Google Shape;50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9" name="Google Shape;51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5" name="Google Shape;53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9" name="Google Shape;54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5" name="Google Shape;56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8" name="Google Shape;57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1" name="Google Shape;59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4" name="Google Shape;604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1" name="Google Shape;62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951133" y="637010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7" name="Google Shape;106;p14" descr="D:\esprit 2014\ESPRIT 2014\charte essprit 2014\render\support final\triangle.pn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143751" y="-7938"/>
            <a:ext cx="2000249" cy="137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10;p14"/>
          <p:cNvPicPr preferRelativeResize="0"/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76992" y="6357408"/>
            <a:ext cx="108585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90;p13"/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ymfony.com/doc/current/doctrine.html#doctrine-queries" TargetMode="External"/><Relationship Id="rId4" Type="http://schemas.openxmlformats.org/officeDocument/2006/relationships/hyperlink" Target="https://symfony.com/doc/master/bundles/DoctrineMigrationsBundle/index.htmlhttp:/php.net/manual/fr/language.oop5.magic.ph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/>
        </p:nvSpPr>
        <p:spPr>
          <a:xfrm>
            <a:off x="-106350" y="3683913"/>
            <a:ext cx="9280500" cy="10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700"/>
              <a:buFont typeface="Calibri"/>
              <a:buNone/>
            </a:pPr>
            <a:r>
              <a:rPr lang="fr-FR" sz="47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UP Web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112825" y="2065274"/>
            <a:ext cx="67818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fr-FR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3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L’ORM </a:t>
            </a:r>
            <a:endParaRPr sz="3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fr-FR" sz="3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(Object-Relational  Mapping) : Doctrine</a:t>
            </a:r>
            <a:r>
              <a:rPr lang="fr-FR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3" descr="D:\esprit 2014\ESPRIT 2014\charte essprit 2014\render\support final\triangl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1119" y="-37446"/>
            <a:ext cx="3472143" cy="220531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1112825" y="5105400"/>
            <a:ext cx="67818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fr-FR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AU: 2023/2024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3"/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-106350" y="117364"/>
            <a:ext cx="3543825" cy="12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/>
          <p:cNvPicPr preferRelativeResize="0"/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123825" y="6030087"/>
            <a:ext cx="8896350" cy="9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/>
        </p:nvSpPr>
        <p:spPr>
          <a:xfrm>
            <a:off x="-1331912" y="-184150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AutoNum type="arabicPeriod"/>
            </a:pPr>
            <a:r>
              <a:rPr lang="fr-FR" sz="2400" dirty="0">
                <a:solidFill>
                  <a:srgbClr val="000000"/>
                </a:solidFill>
              </a:rPr>
              <a:t> Introduction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AutoNum type="arabicPeriod"/>
            </a:pPr>
            <a:r>
              <a:rPr lang="fr-FR" sz="2400" dirty="0">
                <a:solidFill>
                  <a:srgbClr val="000000"/>
                </a:solidFill>
              </a:rPr>
              <a:t>Doctrine2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AutoNum type="arabicPeriod"/>
            </a:pPr>
            <a:r>
              <a:rPr lang="fr-FR" sz="2400" dirty="0">
                <a:solidFill>
                  <a:srgbClr val="000000"/>
                </a:solidFill>
              </a:rPr>
              <a:t> Les entités</a:t>
            </a:r>
            <a:endParaRPr dirty="0"/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fr-FR" sz="2400" dirty="0">
                <a:solidFill>
                  <a:srgbClr val="000000"/>
                </a:solidFill>
              </a:rPr>
              <a:t> La Migration</a:t>
            </a:r>
            <a:endParaRPr sz="2400" dirty="0">
              <a:solidFill>
                <a:srgbClr val="FF0000"/>
              </a:solidFill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AutoNum type="arabicPeriod"/>
            </a:pPr>
            <a:r>
              <a:rPr lang="fr-FR" sz="2400" dirty="0">
                <a:solidFill>
                  <a:srgbClr val="000000"/>
                </a:solidFill>
              </a:rPr>
              <a:t> </a:t>
            </a:r>
            <a:r>
              <a:rPr lang="fr-FR" sz="2400" dirty="0" err="1">
                <a:solidFill>
                  <a:srgbClr val="000000"/>
                </a:solidFill>
              </a:rPr>
              <a:t>Entity</a:t>
            </a:r>
            <a:r>
              <a:rPr lang="fr-FR" sz="2400" dirty="0">
                <a:solidFill>
                  <a:srgbClr val="000000"/>
                </a:solidFill>
              </a:rPr>
              <a:t> Manager: Manipuler les entités avec Doctrine2</a:t>
            </a:r>
            <a:endParaRPr sz="2400" dirty="0">
              <a:solidFill>
                <a:srgbClr val="000000"/>
              </a:solidFill>
            </a:endParaRPr>
          </a:p>
          <a:p>
            <a: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AutoNum type="arabicPeriod"/>
            </a:pPr>
            <a:r>
              <a:rPr lang="fr-FR" sz="2400" dirty="0">
                <a:solidFill>
                  <a:srgbClr val="000000"/>
                </a:solidFill>
              </a:rPr>
              <a:t>Les relations entres entités avec Doctrine2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r>
              <a:rPr lang="fr-FR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277850" y="12864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La programmation </a:t>
            </a:r>
            <a:r>
              <a:rPr lang="fr-FR" sz="2400" b="0" i="0" u="none" strike="noStrike" cap="none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Orientée Objet</a:t>
            </a:r>
            <a:r>
              <a:rPr lang="fr-FR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, utilisant une base de données </a:t>
            </a:r>
            <a:r>
              <a:rPr lang="fr-FR" sz="2400" b="0" i="0" u="none" strike="noStrike" cap="none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relationnelle</a:t>
            </a:r>
            <a:r>
              <a:rPr lang="fr-FR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, nécessite de convertir les données relationnelles en objets et vice-versa.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Persistance d’objets métiers : les objets modélisés dans les applications sont associées à des données stockées dans les SGBDR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21" name="Google Shape;12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3</a:t>
            </a:fld>
            <a:endParaRPr/>
          </a:p>
        </p:txBody>
      </p:sp>
      <p:sp>
        <p:nvSpPr>
          <p:cNvPr id="10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r>
              <a:rPr lang="fr-FR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609600" y="17526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C’est une couche d’abstraction à la base de données.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ORM fait la relation entre les données orientées objet et les données relationnelles.</a:t>
            </a: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0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33" name="Google Shape;133;p16"/>
          <p:cNvPicPr preferRelativeResize="0"/>
          <p:nvPr/>
        </p:nvPicPr>
        <p:blipFill rotWithShape="1">
          <a:blip r:embed="rId3">
            <a:alphaModFix/>
          </a:blip>
          <a:srcRect l="33659" t="33153" r="16482" b="40540"/>
          <a:stretch/>
        </p:blipFill>
        <p:spPr>
          <a:xfrm>
            <a:off x="1271684" y="3635581"/>
            <a:ext cx="6905431" cy="204822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4</a:t>
            </a:fld>
            <a:endParaRPr/>
          </a:p>
        </p:txBody>
      </p:sp>
      <p:sp>
        <p:nvSpPr>
          <p:cNvPr id="11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Object-</a:t>
            </a:r>
            <a:r>
              <a:rPr lang="fr-FR" sz="3600" b="1" i="0" u="none" strike="noStrike" cap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Relational</a:t>
            </a: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3600" b="1" i="0" u="none" strike="noStrike" cap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Mapping</a:t>
            </a: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(ORM</a:t>
            </a:r>
            <a:r>
              <a:rPr lang="fr-FR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fr-FR" sz="36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660400" y="1492623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800" b="1" i="0" u="sng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Avantages</a:t>
            </a:r>
          </a:p>
          <a:p>
            <a:pPr marL="11430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Simplifie l’accès aux données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Facilite le changement de SGBDR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indépendance du code vis-à-vis du SGBDR utilisé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  <p:sp>
        <p:nvSpPr>
          <p:cNvPr id="11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Object-</a:t>
            </a:r>
            <a:r>
              <a:rPr lang="fr-FR" sz="3600" b="1" i="0" u="none" strike="noStrike" cap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Relational</a:t>
            </a: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3600" b="1" i="0" u="none" strike="noStrike" cap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Mapping</a:t>
            </a: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(ORM</a:t>
            </a:r>
            <a:r>
              <a:rPr lang="fr-FR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fr-FR" sz="36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609600" y="164592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fr-F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ORM les plus connus: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-FR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Java:  - </a:t>
            </a:r>
            <a:r>
              <a:rPr lang="fr-FR" sz="24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Hibernate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</a:t>
            </a:r>
            <a:r>
              <a:rPr lang="fr-FR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fr-F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JPA (Java Persistance API)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</a:t>
            </a:r>
            <a:r>
              <a:rPr lang="fr-FR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fr-F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SimpleORM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-FR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.NET: - </a:t>
            </a:r>
            <a:r>
              <a:rPr lang="fr-FR" sz="24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Nhibernate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</a:t>
            </a:r>
            <a:r>
              <a:rPr lang="fr-FR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fr-FR" sz="24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</a:t>
            </a:r>
            <a:r>
              <a:rPr lang="fr-F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Framework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-FR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Quel choix pour PHP: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	      	        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Doctrine</a:t>
            </a:r>
            <a:endParaRPr sz="2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</a:t>
            </a:r>
            <a:r>
              <a:rPr lang="fr-FR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fr-F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Propel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</a:t>
            </a:r>
            <a:r>
              <a:rPr lang="fr-FR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fr-F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b="0" i="0" u="none" strike="noStrike" cap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RedBean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6</a:t>
            </a:fld>
            <a:endParaRPr/>
          </a:p>
        </p:txBody>
      </p:sp>
      <p:sp>
        <p:nvSpPr>
          <p:cNvPr id="11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Object-</a:t>
            </a:r>
            <a:r>
              <a:rPr lang="fr-FR" sz="3600" b="1" i="0" u="none" strike="noStrike" cap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Relational</a:t>
            </a: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3600" b="1" i="0" u="none" strike="noStrike" cap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Mapping</a:t>
            </a: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(ORM</a:t>
            </a:r>
            <a:r>
              <a:rPr lang="fr-FR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fr-FR" sz="36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609600" y="17526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C’est un ORM pour PHP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Logiciel open source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Dernière version stable:  </a:t>
            </a:r>
            <a:r>
              <a:rPr lang="fr-FR" sz="24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2.13.2</a:t>
            </a:r>
            <a:endParaRPr sz="2400" b="1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Intégré dans différents </a:t>
            </a:r>
            <a:r>
              <a:rPr lang="fr-FR" sz="2400" b="0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Frameworks</a:t>
            </a:r>
            <a:r>
              <a:rPr lang="fr-FR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: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■"/>
            </a:pP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Symfony</a:t>
            </a:r>
            <a:r>
              <a:rPr lang="fr-FR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,</a:t>
            </a: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■"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Zend Framework</a:t>
            </a: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■"/>
            </a:pPr>
            <a:r>
              <a:rPr lang="fr-FR" sz="2400" b="0" i="0" u="none" strike="noStrike" cap="none" dirty="0" err="1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CodeIgniter</a:t>
            </a: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0" name="Google Shape;17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7</a:t>
            </a:fld>
            <a:endParaRPr/>
          </a:p>
        </p:txBody>
      </p:sp>
      <p:sp>
        <p:nvSpPr>
          <p:cNvPr id="10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Doctrine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609600" y="17526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Une classe qui correspond à chaque table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1430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Une classe = une « </a:t>
            </a:r>
            <a:r>
              <a:rPr lang="fr-FR" sz="2400" b="1" i="0" u="none" strike="noStrike" cap="none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Entité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»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2286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0" indent="-2286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0" indent="-2286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0" indent="-2286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7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	</a:t>
            </a: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82" name="Google Shape;18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8346" y="3211650"/>
            <a:ext cx="2428875" cy="30670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0392"/>
              </a:srgbClr>
            </a:outerShdw>
          </a:effectLst>
        </p:spPr>
      </p:pic>
      <p:pic>
        <p:nvPicPr>
          <p:cNvPr id="183" name="Google Shape;183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5384" y="3950595"/>
            <a:ext cx="1828648" cy="1374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34322" y="3528219"/>
            <a:ext cx="1979981" cy="221894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8</a:t>
            </a:fld>
            <a:endParaRPr/>
          </a:p>
        </p:txBody>
      </p:sp>
      <p:sp>
        <p:nvSpPr>
          <p:cNvPr id="13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Doctrine - Caractéristiques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609600" y="17526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On a deux méthodes pour le </a:t>
            </a:r>
            <a:r>
              <a:rPr lang="fr-FR" sz="2400" b="0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Mapping</a:t>
            </a:r>
            <a:r>
              <a:rPr lang="fr-FR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0" indent="-3810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Fichier de </a:t>
            </a:r>
            <a:r>
              <a:rPr lang="fr-FR" sz="24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mapping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YAML, XML.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Directement dans la classe via des annotations </a:t>
            </a:r>
            <a:r>
              <a:rPr lang="fr-FR" sz="2400" b="0" i="0" u="none" strike="noStrike" cap="none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ou des </a:t>
            </a:r>
            <a:r>
              <a:rPr lang="fr-FR" sz="2400" b="0" i="0" u="none" strike="noStrike" cap="none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attributes</a:t>
            </a:r>
            <a:endParaRPr sz="1600" b="0" i="0" u="none" strike="noStrike" cap="none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814387" marR="0" lvl="2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2286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0" indent="-2286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7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-FR" sz="32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	</a:t>
            </a:r>
            <a:endParaRPr sz="3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10" name="Google Shape;21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9</a:t>
            </a:fld>
            <a:endParaRPr/>
          </a:p>
        </p:txBody>
      </p:sp>
      <p:sp>
        <p:nvSpPr>
          <p:cNvPr id="11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Doctrine - Caractéristiques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21" descr="http://developpement-informatique.com/upload/c83cdf676436176f5d6a900019284ff94d2c67e9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67255" y="1363662"/>
            <a:ext cx="4305300" cy="479107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7" name="Google Shape;197;p21"/>
          <p:cNvSpPr txBox="1"/>
          <p:nvPr/>
        </p:nvSpPr>
        <p:spPr>
          <a:xfrm>
            <a:off x="2057400" y="6446520"/>
            <a:ext cx="524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 Technique de Doctrine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10</a:t>
            </a:fld>
            <a:endParaRPr/>
          </a:p>
        </p:txBody>
      </p:sp>
      <p:sp>
        <p:nvSpPr>
          <p:cNvPr id="11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Doctrine – Architecture Technique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457199" y="2017058"/>
            <a:ext cx="8509363" cy="4037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Configurer la base de données de l’application </a:t>
            </a:r>
            <a:r>
              <a:rPr lang="fr-FR" sz="2400" b="0" i="0" u="none" strike="noStrike" cap="none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dans 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le fichier .</a:t>
            </a: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env</a:t>
            </a:r>
            <a:endParaRPr sz="2400" b="1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2286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7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	</a:t>
            </a: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22" name="Google Shape;222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11</a:t>
            </a:fld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1363396" y="4939241"/>
            <a:ext cx="1678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Nom de l’utilisateur par défaut « root »</a:t>
            </a:r>
            <a:endParaRPr sz="14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2738644" y="5154941"/>
            <a:ext cx="1972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Mot de passe de la base de données</a:t>
            </a:r>
            <a:endParaRPr sz="14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4776805" y="5144071"/>
            <a:ext cx="1678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Nom de la base de données</a:t>
            </a:r>
            <a:endParaRPr sz="14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5878" y="3057841"/>
            <a:ext cx="7967673" cy="176453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 rot="-5400000">
            <a:off x="1891426" y="4347424"/>
            <a:ext cx="1257290" cy="11375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3"/>
          <p:cNvSpPr/>
          <p:nvPr/>
        </p:nvSpPr>
        <p:spPr>
          <a:xfrm rot="-5400000">
            <a:off x="2629355" y="4310778"/>
            <a:ext cx="1273443" cy="17089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3"/>
          <p:cNvSpPr/>
          <p:nvPr/>
        </p:nvSpPr>
        <p:spPr>
          <a:xfrm rot="-5400000">
            <a:off x="4554240" y="4286808"/>
            <a:ext cx="1273443" cy="21883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Configuration de la base de données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4"/>
          <p:cNvSpPr txBox="1"/>
          <p:nvPr/>
        </p:nvSpPr>
        <p:spPr>
          <a:xfrm>
            <a:off x="179293" y="1528762"/>
            <a:ext cx="8787269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La commande suivante permet de créer une base de données :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php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bin/console </a:t>
            </a:r>
            <a:r>
              <a:rPr lang="fr-FR" sz="2400" b="1" i="0" u="none" strike="noStrike" cap="none" dirty="0" err="1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doctrine:database:create</a:t>
            </a:r>
            <a:endParaRPr lang="fr-FR" sz="2400" b="1" i="0" u="none" strike="noStrike" cap="none" dirty="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-FR" sz="24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Ou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endParaRPr lang="fr-FR" sz="2400" b="1" i="0" u="none" strike="noStrike" cap="none" dirty="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Symfony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console </a:t>
            </a: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doctrine:database:create</a:t>
            </a:r>
            <a:endParaRPr sz="24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fr-FR" sz="2400" b="0" i="0" u="none" strike="noStrike" cap="none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=&gt; Une 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base de données avec les propriétés mentionnées dans 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env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sera automatiquement générée</a:t>
            </a: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41" name="Google Shape;241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12</a:t>
            </a:fld>
            <a:endParaRPr/>
          </a:p>
        </p:txBody>
      </p:sp>
      <p:sp>
        <p:nvSpPr>
          <p:cNvPr id="10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Création de la base de données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13</a:t>
            </a:fld>
            <a:endParaRPr/>
          </a:p>
        </p:txBody>
      </p:sp>
      <p:sp>
        <p:nvSpPr>
          <p:cNvPr id="11" name="Google Shape;253;p25"/>
          <p:cNvSpPr txBox="1"/>
          <p:nvPr/>
        </p:nvSpPr>
        <p:spPr>
          <a:xfrm>
            <a:off x="251012" y="1211400"/>
            <a:ext cx="8722288" cy="450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Il 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existe deux méthodes pour générer les entités :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1430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fr-FR" sz="2400" b="0" i="0" u="sng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Méthode manuelle (non recommandée)</a:t>
            </a:r>
            <a:endParaRPr sz="2400" b="0" i="0" u="sng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Créer la classe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Ajouter le </a:t>
            </a:r>
            <a:r>
              <a:rPr lang="fr-FR" sz="24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mapping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Ajouter les getters et les setters (manuellement ou en utilisant la commande suivante </a:t>
            </a:r>
            <a:r>
              <a:rPr lang="fr-FR" sz="2400" b="0" i="0" u="none" strike="noStrike" cap="none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:</a:t>
            </a: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➔"/>
            </a:pP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php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bin/console </a:t>
            </a: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make:entity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--</a:t>
            </a: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regenerate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fr-FR" sz="2400" b="1" i="0" u="none" strike="noStrike" cap="none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App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➔"/>
            </a:pPr>
            <a:endParaRPr sz="24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➔"/>
            </a:pPr>
            <a:r>
              <a:rPr lang="fr-FR" sz="24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symfony</a:t>
            </a:r>
            <a:r>
              <a:rPr lang="fr-FR" sz="24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console </a:t>
            </a:r>
            <a:r>
              <a:rPr lang="fr-FR" sz="24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make:entity</a:t>
            </a:r>
            <a:r>
              <a:rPr lang="fr-FR" sz="24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--</a:t>
            </a:r>
            <a:r>
              <a:rPr lang="fr-FR" sz="2400" b="1" i="0" u="none" strike="noStrike" cap="none" dirty="0" err="1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regenerate</a:t>
            </a:r>
            <a:endParaRPr sz="3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2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entités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-40950" y="2276342"/>
            <a:ext cx="9225900" cy="453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42424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42424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57200" y="1770815"/>
            <a:ext cx="7933765" cy="352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sng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2. Méthode en utilisant </a:t>
            </a:r>
            <a:r>
              <a:rPr lang="fr-FR" sz="2400" b="0" i="0" u="sng" strike="noStrike" cap="none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la dépendance Maker Bundle</a:t>
            </a:r>
            <a:endParaRPr sz="2400" b="0" i="0" u="none" strike="noStrike" cap="none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sng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 Ajouter une entité en lançant la commande suivante </a:t>
            </a:r>
            <a:r>
              <a:rPr lang="fr-FR" sz="2400" b="0" i="0" u="none" strike="noStrike" cap="none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➔"/>
            </a:pP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php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bin/console </a:t>
            </a:r>
            <a:r>
              <a:rPr lang="fr-FR" sz="2400" b="1" i="0" u="none" strike="noStrike" cap="none" dirty="0" err="1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make:entity</a:t>
            </a:r>
            <a:endParaRPr lang="fr-FR" sz="2400" b="1" i="0" u="none" strike="noStrike" cap="none" dirty="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762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➔"/>
            </a:pPr>
            <a:r>
              <a:rPr lang="fr-FR" sz="24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symfony</a:t>
            </a:r>
            <a:r>
              <a:rPr lang="fr-FR" sz="24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console </a:t>
            </a:r>
            <a:r>
              <a:rPr lang="fr-FR" sz="24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make:entity</a:t>
            </a:r>
            <a:endParaRPr sz="24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 Ajouter les attributs et les paramètres 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67" name="Google Shape;267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14</a:t>
            </a:fld>
            <a:endParaRPr/>
          </a:p>
        </p:txBody>
      </p:sp>
      <p:sp>
        <p:nvSpPr>
          <p:cNvPr id="12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entités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7"/>
          <p:cNvSpPr/>
          <p:nvPr/>
        </p:nvSpPr>
        <p:spPr>
          <a:xfrm>
            <a:off x="184150" y="1417625"/>
            <a:ext cx="40371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 b="1" i="0" u="none" strike="noStrike" cap="none" dirty="0">
                <a:solidFill>
                  <a:srgbClr val="424242"/>
                </a:solidFill>
                <a:latin typeface="Merriweather"/>
                <a:ea typeface="Merriweather"/>
                <a:cs typeface="Merriweather"/>
                <a:sym typeface="Merriweather"/>
              </a:rPr>
              <a:t>Configuration de l’entité:</a:t>
            </a:r>
            <a:endParaRPr sz="2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7"/>
          <p:cNvSpPr/>
          <p:nvPr/>
        </p:nvSpPr>
        <p:spPr>
          <a:xfrm>
            <a:off x="163773" y="1952576"/>
            <a:ext cx="8441747" cy="35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fr-FR" sz="2400" b="1" i="0" u="none" strike="noStrike" cap="none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#[ORM\Id]: </a:t>
            </a:r>
            <a:r>
              <a:rPr lang="fr-FR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spécifie la clé primaire</a:t>
            </a: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fr-FR" sz="2400" b="1" i="0" u="none" strike="noStrike" cap="none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#[ORM\</a:t>
            </a:r>
            <a:r>
              <a:rPr lang="fr-FR" sz="2400" b="1" i="0" u="none" strike="noStrike" cap="none" dirty="0" err="1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GeneratedValue</a:t>
            </a:r>
            <a:r>
              <a:rPr lang="fr-FR" sz="2400" b="1" i="0" u="none" strike="noStrike" cap="none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]: </a:t>
            </a:r>
            <a:r>
              <a:rPr lang="fr-FR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auto-incrémentée l’ID</a:t>
            </a: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fr-FR" sz="2400" b="1" i="0" u="none" strike="noStrike" cap="none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#[ORM\</a:t>
            </a:r>
            <a:r>
              <a:rPr lang="fr-FR" sz="2400" b="1" i="0" u="none" strike="noStrike" cap="none" dirty="0" err="1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Column</a:t>
            </a:r>
            <a:r>
              <a:rPr lang="fr-FR" sz="2400" b="1" i="0" u="none" strike="noStrike" cap="none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]: 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s'applique sur un attribut </a:t>
            </a:r>
            <a:r>
              <a:rPr lang="fr-FR" sz="2400" b="0" i="0" u="none" strike="noStrike" cap="none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 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la classe et permet de définir les caractéristiques </a:t>
            </a:r>
            <a:r>
              <a:rPr lang="fr-FR" sz="2400" b="0" i="0" u="none" strike="noStrike" cap="none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 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la colonne concernée (nom , taille , types, etc.)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400" b="0" i="0" u="none" strike="noStrike" cap="none" dirty="0">
              <a:solidFill>
                <a:srgbClr val="42424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erriweath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80" name="Google Shape;28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15</a:t>
            </a:fld>
            <a:endParaRPr/>
          </a:p>
        </p:txBody>
      </p:sp>
      <p:pic>
        <p:nvPicPr>
          <p:cNvPr id="282" name="Google Shape;28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8177" y="4274800"/>
            <a:ext cx="5491138" cy="23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entités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8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28" descr="D:\esprit 2014\ESPRIT 2014\charte essprit 2014\render\support final\triangl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3750" y="0"/>
            <a:ext cx="2000249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8"/>
          <p:cNvSpPr/>
          <p:nvPr/>
        </p:nvSpPr>
        <p:spPr>
          <a:xfrm>
            <a:off x="-40950" y="1920742"/>
            <a:ext cx="9225900" cy="453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42424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42424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8"/>
          <p:cNvSpPr/>
          <p:nvPr/>
        </p:nvSpPr>
        <p:spPr>
          <a:xfrm>
            <a:off x="179294" y="1266289"/>
            <a:ext cx="8964706" cy="5053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La migration</a:t>
            </a:r>
            <a:r>
              <a:rPr lang="fr-FR" sz="1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permet de </a:t>
            </a:r>
            <a:r>
              <a:rPr lang="fr-FR" sz="1800" b="0" i="0" u="none" strike="noStrike" cap="none" dirty="0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traquer </a:t>
            </a:r>
            <a:r>
              <a:rPr lang="fr-FR" sz="1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les différents changements et évolutions de votre base </a:t>
            </a:r>
            <a:r>
              <a:rPr lang="fr-FR" sz="1800" b="0" i="0" u="none" strike="noStrike" cap="none" dirty="0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 </a:t>
            </a:r>
            <a:r>
              <a:rPr lang="fr-FR" sz="1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données</a:t>
            </a:r>
            <a:endParaRPr sz="18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1430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1430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Une image = Une évolution de la base de donnée</a:t>
            </a:r>
            <a:endParaRPr sz="18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 La commande ci-dessous nous permet de créer un fichier de migration:</a:t>
            </a:r>
            <a:endParaRPr sz="18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893763" lvl="2" indent="-381000">
              <a:lnSpc>
                <a:spcPct val="80000"/>
              </a:lnSpc>
              <a:buSzPts val="2400"/>
              <a:buFont typeface="Arial"/>
              <a:buChar char="➔"/>
            </a:pPr>
            <a:r>
              <a:rPr lang="fr-FR" sz="18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php</a:t>
            </a:r>
            <a:r>
              <a:rPr lang="fr-FR" sz="18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bin/console </a:t>
            </a:r>
            <a:r>
              <a:rPr lang="fr-FR" sz="18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make:migration</a:t>
            </a:r>
            <a:endParaRPr sz="18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893763" lvl="2" indent="-381000">
              <a:lnSpc>
                <a:spcPct val="80000"/>
              </a:lnSpc>
              <a:buClr>
                <a:schemeClr val="dk1"/>
              </a:buClr>
              <a:buSzPts val="2400"/>
              <a:buFont typeface="Arial"/>
              <a:buChar char="➔"/>
            </a:pPr>
            <a:r>
              <a:rPr lang="fr-FR" sz="18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symfony</a:t>
            </a:r>
            <a:r>
              <a:rPr lang="fr-FR" sz="1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console </a:t>
            </a:r>
            <a:r>
              <a:rPr lang="fr-FR" sz="18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make:migration</a:t>
            </a:r>
            <a:endParaRPr sz="18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La commande ci-dessous nous permet de lancer  une migration:</a:t>
            </a:r>
            <a:endParaRPr sz="18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893763" marR="0" lvl="0" indent="-3810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➔"/>
            </a:pPr>
            <a:r>
              <a:rPr lang="fr-FR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php</a:t>
            </a:r>
            <a:r>
              <a:rPr lang="fr-FR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bin/console </a:t>
            </a:r>
            <a:r>
              <a:rPr lang="fr-FR" sz="1800" b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doctrine:migrations:migrate</a:t>
            </a:r>
            <a:endParaRPr lang="fr-FR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93763" marR="0" lvl="0" indent="-3810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➔"/>
            </a:pPr>
            <a:r>
              <a:rPr lang="fr-FR" sz="1800" b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symfony</a:t>
            </a:r>
            <a:r>
              <a:rPr lang="fr-FR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 </a:t>
            </a:r>
            <a:r>
              <a:rPr lang="fr-FR" sz="18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doctrine:migrations:migrate</a:t>
            </a:r>
            <a:endParaRPr sz="18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7620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Le fichier de migration est générée en se basant sur la date et l’heure actuelle sous le </a:t>
            </a:r>
            <a:endParaRPr sz="18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7620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nom « </a:t>
            </a:r>
            <a:r>
              <a:rPr lang="fr-FR" sz="1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YYYYMMDDHHMMSS »</a:t>
            </a:r>
            <a:endParaRPr sz="18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7620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Le nom </a:t>
            </a:r>
            <a:r>
              <a:rPr lang="fr-FR" sz="1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 fichier de migration </a:t>
            </a:r>
            <a:r>
              <a:rPr lang="fr-FR" sz="18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est un </a:t>
            </a:r>
            <a:r>
              <a:rPr lang="fr-FR" sz="18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timestamp</a:t>
            </a:r>
            <a:r>
              <a:rPr lang="fr-FR" sz="18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fr-FR" sz="18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(La valeur représentant</a:t>
            </a:r>
            <a:r>
              <a:rPr lang="fr-FR" sz="1800" b="0" i="0" u="none" strike="noStrike" cap="none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fr-FR" sz="18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la date et l'heure) qui sera stocké dans la base dans une table </a:t>
            </a:r>
            <a:r>
              <a:rPr lang="fr-FR" sz="18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doctrine_migration_versions</a:t>
            </a:r>
            <a:r>
              <a:rPr lang="fr-FR" sz="1800" b="1" i="0" u="none" strike="noStrike" cap="none" dirty="0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95" name="Google Shape;295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16</a:t>
            </a:fld>
            <a:endParaRPr/>
          </a:p>
        </p:txBody>
      </p:sp>
      <p:sp>
        <p:nvSpPr>
          <p:cNvPr id="13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migration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9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9"/>
          <p:cNvSpPr/>
          <p:nvPr/>
        </p:nvSpPr>
        <p:spPr>
          <a:xfrm>
            <a:off x="-40950" y="1920742"/>
            <a:ext cx="9225900" cy="453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42424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42424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9"/>
          <p:cNvSpPr/>
          <p:nvPr/>
        </p:nvSpPr>
        <p:spPr>
          <a:xfrm>
            <a:off x="198209" y="878167"/>
            <a:ext cx="9144000" cy="53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Chaque fichier de migration possède trois méthodes:</a:t>
            </a:r>
            <a:endParaRPr sz="1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fr-FR" sz="1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La méthode </a:t>
            </a:r>
            <a:r>
              <a:rPr lang="fr-FR" sz="18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getDescription</a:t>
            </a:r>
            <a:r>
              <a:rPr lang="fr-FR" sz="1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() </a:t>
            </a:r>
            <a:r>
              <a:rPr lang="fr-FR" sz="1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:permet de décrire la migration</a:t>
            </a:r>
            <a:endParaRPr sz="18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fr-FR" sz="1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La méthode </a:t>
            </a:r>
            <a:r>
              <a:rPr lang="fr-FR" sz="1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up(): </a:t>
            </a:r>
            <a:r>
              <a:rPr lang="fr-FR" sz="1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est exécutée lorsqu’on applique la migration en utilisant la commande  </a:t>
            </a:r>
            <a:r>
              <a:rPr lang="fr-FR" sz="1800" b="0" i="0" u="none" strike="noStrike" cap="none" dirty="0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    </a:t>
            </a:r>
            <a:r>
              <a:rPr lang="fr-FR" sz="1800" b="1" i="0" u="none" strike="noStrike" cap="none" dirty="0" err="1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php</a:t>
            </a:r>
            <a:r>
              <a:rPr lang="fr-FR" sz="1800" b="1" i="0" u="none" strike="noStrike" cap="none" dirty="0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fr-FR" sz="1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bin/console </a:t>
            </a:r>
            <a:r>
              <a:rPr lang="fr-FR" sz="1800" b="1" i="0" u="none" strike="noStrike" cap="none" dirty="0" err="1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doctrine:migrations:migrate</a:t>
            </a:r>
            <a:endParaRPr lang="fr-FR" sz="1800" b="1" i="0" u="none" strike="noStrike" cap="none" dirty="0" smtClean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>
              <a:buSzPts val="1800"/>
            </a:pPr>
            <a:r>
              <a:rPr lang="fr-FR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fr-FR" sz="1800" b="1" dirty="0" err="1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symfony</a:t>
            </a:r>
            <a:r>
              <a:rPr lang="fr-FR" sz="1800" b="1" dirty="0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console </a:t>
            </a:r>
            <a:r>
              <a:rPr lang="fr-FR" sz="1800" b="1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doctrine:migrations:migrate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fr-FR" sz="1800" b="0" i="0" u="none" strike="noStrike" cap="none" dirty="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fr-FR" sz="1800" b="0" i="0" u="none" strike="noStrike" cap="none" dirty="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fr-FR" sz="400" b="0" i="0" u="none" strike="noStrike" cap="none" dirty="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fr-FR" sz="1800" b="0" i="0" u="none" strike="noStrike" cap="none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fr-FR" sz="1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La méthode </a:t>
            </a:r>
            <a:r>
              <a:rPr lang="fr-FR" sz="1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down()</a:t>
            </a:r>
            <a:r>
              <a:rPr lang="fr-FR" sz="1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:est exécutée lorsqu’on annule la migration en utilisant la commande  </a:t>
            </a:r>
            <a:r>
              <a:rPr lang="fr-FR" sz="1800" b="0" i="0" u="none" strike="noStrike" cap="none" dirty="0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	</a:t>
            </a:r>
            <a:r>
              <a:rPr lang="fr-FR" sz="1800" b="1" i="0" u="none" strike="noStrike" cap="none" dirty="0" err="1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php</a:t>
            </a:r>
            <a:r>
              <a:rPr lang="fr-FR" sz="1800" b="1" i="0" u="none" strike="noStrike" cap="none" dirty="0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fr-FR" sz="1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bin/console </a:t>
            </a:r>
            <a:r>
              <a:rPr lang="fr-FR" sz="18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doctrine:migrations:migrate</a:t>
            </a:r>
            <a:r>
              <a:rPr lang="fr-FR" sz="1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fr-FR" sz="1800" b="1" i="0" u="none" strike="noStrike" cap="none" dirty="0" err="1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prev</a:t>
            </a:r>
            <a:endParaRPr sz="18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buSzPts val="1800"/>
            </a:pPr>
            <a:r>
              <a:rPr lang="fr-FR" sz="1800" b="1" dirty="0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fr-FR" sz="1800" b="1" dirty="0" err="1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symfony</a:t>
            </a:r>
            <a:r>
              <a:rPr lang="fr-FR" sz="1800" b="1" dirty="0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console </a:t>
            </a:r>
            <a:r>
              <a:rPr lang="fr-FR" sz="1800" b="1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doctrine:migrations:migrate</a:t>
            </a:r>
            <a:r>
              <a:rPr lang="fr-FR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800" b="1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  <a:endParaRPr lang="fr-FR" sz="18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08" name="Google Shape;308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17</a:t>
            </a:fld>
            <a:endParaRPr/>
          </a:p>
        </p:txBody>
      </p:sp>
      <p:pic>
        <p:nvPicPr>
          <p:cNvPr id="309" name="Google Shape;309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601" y="2693711"/>
            <a:ext cx="8056237" cy="1490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9"/>
          <p:cNvPicPr preferRelativeResize="0"/>
          <p:nvPr/>
        </p:nvPicPr>
        <p:blipFill rotWithShape="1">
          <a:blip r:embed="rId4">
            <a:alphaModFix/>
          </a:blip>
          <a:srcRect l="634"/>
          <a:stretch/>
        </p:blipFill>
        <p:spPr>
          <a:xfrm>
            <a:off x="1396544" y="5279668"/>
            <a:ext cx="6747329" cy="140973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migration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0"/>
          <p:cNvSpPr/>
          <p:nvPr/>
        </p:nvSpPr>
        <p:spPr>
          <a:xfrm>
            <a:off x="-40950" y="1920742"/>
            <a:ext cx="9225900" cy="453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42424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42424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0"/>
          <p:cNvSpPr txBox="1"/>
          <p:nvPr/>
        </p:nvSpPr>
        <p:spPr>
          <a:xfrm>
            <a:off x="4033520" y="6334780"/>
            <a:ext cx="453964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(*) version: </a:t>
            </a:r>
            <a:r>
              <a:rPr lang="fr-FR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namespace</a:t>
            </a:r>
            <a:r>
              <a:rPr lang="fr-F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\version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Exemple: </a:t>
            </a:r>
            <a:r>
              <a:rPr lang="fr-FR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DoctrineMigrations</a:t>
            </a:r>
            <a:r>
              <a:rPr lang="fr-F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\Version20201013084414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18</a:t>
            </a:fld>
            <a:endParaRPr/>
          </a:p>
        </p:txBody>
      </p:sp>
      <p:sp>
        <p:nvSpPr>
          <p:cNvPr id="13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migration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" name="Google Shape;322;p30"/>
          <p:cNvGraphicFramePr/>
          <p:nvPr>
            <p:extLst>
              <p:ext uri="{D42A27DB-BD31-4B8C-83A1-F6EECF244321}">
                <p14:modId xmlns:p14="http://schemas.microsoft.com/office/powerpoint/2010/main" val="2508639729"/>
              </p:ext>
            </p:extLst>
          </p:nvPr>
        </p:nvGraphicFramePr>
        <p:xfrm>
          <a:off x="184150" y="1200011"/>
          <a:ext cx="8833225" cy="4892160"/>
        </p:xfrm>
        <a:graphic>
          <a:graphicData uri="http://schemas.openxmlformats.org/drawingml/2006/table">
            <a:tbl>
              <a:tblPr firstRow="1" bandRow="1">
                <a:noFill/>
                <a:tableStyleId>{C5C493AE-2A30-41AF-8D33-7A2C48AF6AE8}</a:tableStyleId>
              </a:tblPr>
              <a:tblGrid>
                <a:gridCol w="413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b="1" i="0" u="none" strike="noStrike" cap="non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doctrine:migrations:current</a:t>
                      </a:r>
                      <a:endParaRPr sz="1400" b="1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Afficher la version actuelle</a:t>
                      </a:r>
                      <a:endParaRPr sz="14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b="1" i="0" u="none" strike="noStrike" cap="non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doctrine:migrations:execute version</a:t>
                      </a:r>
                      <a:endParaRPr sz="1400" b="1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Exécuter une seule version de migration</a:t>
                      </a:r>
                      <a:endParaRPr sz="14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b="1" i="0" u="none" strike="noStrike" cap="non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doctrine:migrations:generate</a:t>
                      </a:r>
                      <a:endParaRPr sz="1400" b="1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Créer un fichier de migration vide</a:t>
                      </a:r>
                      <a:endParaRPr sz="14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b="1" i="0" u="none" strike="noStrike" cap="non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doctrine:migrations:latest </a:t>
                      </a:r>
                      <a:endParaRPr sz="1400" b="1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Afficher la dernière version migration </a:t>
                      </a:r>
                      <a:endParaRPr sz="14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b="1" i="0" u="none" strike="noStrike" cap="non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doctrine:migrations:migrate</a:t>
                      </a:r>
                      <a:endParaRPr sz="1400" b="1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Exécuter </a:t>
                      </a:r>
                      <a:r>
                        <a:rPr lang="fr-FR" sz="1400" b="0" i="0" u="none" strike="noStrike" cap="none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toutes les versions </a:t>
                      </a: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de </a:t>
                      </a:r>
                      <a:r>
                        <a:rPr lang="fr-FR" sz="1400" u="none" strike="noStrike" cap="none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migrations non exécutées</a:t>
                      </a:r>
                      <a:endParaRPr sz="14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b="1" i="0" u="none" strike="noStrike" cap="non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doctrine:migrations:status</a:t>
                      </a:r>
                      <a:endParaRPr sz="1400" b="1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Afficher l'état d'un ensemble de migrations</a:t>
                      </a:r>
                      <a:endParaRPr sz="14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b="1" i="0" u="none" strike="noStrike" cap="non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doctrine:migrations:up-to-date</a:t>
                      </a:r>
                      <a:endParaRPr sz="1400" b="1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Nous indiquer si le schéma est à jour</a:t>
                      </a:r>
                      <a:endParaRPr sz="14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b="1" i="0" u="none" strike="noStrike" cap="non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doctrine:migrations:version version  -- add/delete</a:t>
                      </a:r>
                      <a:endParaRPr sz="1400" b="1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Ajouter ou supprimer manuellement les versions de migration de la table des versions.</a:t>
                      </a:r>
                      <a:endParaRPr sz="14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b="1" i="0" u="none" strike="noStrike" cap="non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doctrine:migrations:sync-metadata-storage</a:t>
                      </a:r>
                      <a:endParaRPr sz="1400" b="1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Vérifier si le stockage des métadonnées est à jour</a:t>
                      </a:r>
                      <a:endParaRPr sz="14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b="1" i="0" u="none" strike="noStrike" cap="non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doctrine:migrations:list</a:t>
                      </a:r>
                      <a:endParaRPr sz="1400" b="1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b="0" i="0" u="none" strike="noStrike" cap="none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Afficher la liste de toutes les migrations disponibles et leur état</a:t>
                      </a:r>
                      <a:endParaRPr sz="14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b="1" i="0" u="none" strike="noStrike" cap="none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doctrine:migrations:migrate next</a:t>
                      </a:r>
                      <a:endParaRPr sz="1400" b="1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Executer la méthode up de la premiere migration générée et non exécutée (une seule)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b="1" i="0" u="none" strike="noStrike" cap="none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doctrine:migrations:migrate</a:t>
                      </a:r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 </a:t>
                      </a:r>
                      <a:r>
                        <a:rPr lang="fr-FR" sz="1400" b="1" i="0" u="none" strike="noStrike" cap="none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prev</a:t>
                      </a:r>
                      <a:endParaRPr sz="1400" b="1" i="0" u="none" strike="noStrike" cap="none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Exécuter la méthode down de la dernière migration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/>
              <a:t>19</a:t>
            </a:fld>
            <a:endParaRPr/>
          </a:p>
        </p:txBody>
      </p:sp>
      <p:sp>
        <p:nvSpPr>
          <p:cNvPr id="336" name="Google Shape;336;p31"/>
          <p:cNvSpPr txBox="1"/>
          <p:nvPr/>
        </p:nvSpPr>
        <p:spPr>
          <a:xfrm>
            <a:off x="787875" y="2578475"/>
            <a:ext cx="7348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1"/>
          <p:cNvSpPr txBox="1"/>
          <p:nvPr/>
        </p:nvSpPr>
        <p:spPr>
          <a:xfrm>
            <a:off x="259975" y="1184189"/>
            <a:ext cx="8701145" cy="489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746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❏"/>
            </a:pPr>
            <a:r>
              <a:rPr lang="fr-FR" sz="20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Pour chaque entité, il existe un </a:t>
            </a:r>
            <a:r>
              <a:rPr lang="fr-FR" sz="2000" b="0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Repository</a:t>
            </a:r>
            <a:r>
              <a:rPr lang="fr-FR" sz="20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(Exemple: </a:t>
            </a:r>
            <a:r>
              <a:rPr lang="fr-FR" sz="2000" b="0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StudentRepository</a:t>
            </a:r>
            <a:r>
              <a:rPr lang="fr-FR" sz="20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est associé à l’entité </a:t>
            </a:r>
            <a:r>
              <a:rPr lang="fr-FR" sz="2000" b="0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Student</a:t>
            </a:r>
            <a:r>
              <a:rPr lang="fr-FR" sz="20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</a:t>
            </a:r>
            <a:endParaRPr sz="20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746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❏"/>
            </a:pP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Un </a:t>
            </a:r>
            <a:r>
              <a:rPr lang="fr-FR" sz="20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Repository</a:t>
            </a: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centralise tout ce qui touche à la récupération des entités.</a:t>
            </a:r>
            <a:endParaRPr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746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❏"/>
            </a:pP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C’est une classe PHP qui contient les méthodes de récupération de données relatives aux entités.</a:t>
            </a:r>
            <a:endParaRPr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746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❏"/>
            </a:pP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Un </a:t>
            </a:r>
            <a:r>
              <a:rPr lang="fr-FR" sz="20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Repository</a:t>
            </a: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utilise plusieurs types d'entités, dans le cas d'une jointure par exemple.</a:t>
            </a:r>
            <a:endParaRPr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746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❏"/>
            </a:pP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L’appel de la classe </a:t>
            </a:r>
            <a:r>
              <a:rPr lang="fr-FR" sz="20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Repository</a:t>
            </a: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se fait dans la classe </a:t>
            </a:r>
            <a:r>
              <a:rPr lang="fr-FR" sz="20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Entity</a:t>
            </a: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:</a:t>
            </a:r>
            <a:endParaRPr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8255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339" name="Google Shape;339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733" y="5423392"/>
            <a:ext cx="8329825" cy="79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</a:t>
            </a:r>
            <a:r>
              <a:rPr lang="fr-FR" sz="3600" b="1" i="0" u="none" strike="noStrike" cap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repository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2"/>
          <p:cNvSpPr/>
          <p:nvPr/>
        </p:nvSpPr>
        <p:spPr>
          <a:xfrm>
            <a:off x="233915" y="2043195"/>
            <a:ext cx="8910085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2"/>
          <p:cNvSpPr/>
          <p:nvPr/>
        </p:nvSpPr>
        <p:spPr>
          <a:xfrm>
            <a:off x="3186" y="888367"/>
            <a:ext cx="9001200" cy="50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16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Il existe 2 </a:t>
            </a:r>
            <a:r>
              <a:rPr lang="fr-FR" sz="2000" b="0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méhodes</a:t>
            </a:r>
            <a:r>
              <a:rPr lang="fr-FR" sz="20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pour utiliser le </a:t>
            </a:r>
            <a:r>
              <a:rPr lang="fr-FR" sz="2000" b="0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repository</a:t>
            </a:r>
            <a:r>
              <a:rPr lang="fr-FR" sz="20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:</a:t>
            </a:r>
            <a:endParaRPr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16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 b="0" i="0" u="sng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1</a:t>
            </a:r>
            <a:r>
              <a:rPr lang="fr-FR" sz="2000" b="0" i="0" u="sng" strike="noStrike" cap="none" baseline="30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ère</a:t>
            </a:r>
            <a:r>
              <a:rPr lang="fr-FR" sz="2000" b="0" i="0" u="sng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méthode:  </a:t>
            </a:r>
            <a:r>
              <a:rPr lang="fr-FR" sz="20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Utiliser le service </a:t>
            </a:r>
            <a:r>
              <a:rPr lang="fr-FR" sz="20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ManagerRegistry</a:t>
            </a:r>
            <a:r>
              <a:rPr lang="fr-FR" sz="20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:</a:t>
            </a:r>
            <a:endParaRPr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16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16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sng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16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sng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16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sng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16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sng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16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 b="0" i="0" u="sng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2</a:t>
            </a:r>
            <a:r>
              <a:rPr lang="fr-FR" sz="2000" b="0" i="0" u="sng" strike="noStrike" cap="none" baseline="30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ème</a:t>
            </a:r>
            <a:r>
              <a:rPr lang="fr-FR" sz="2000" b="0" i="0" u="sng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méthode: </a:t>
            </a:r>
            <a:r>
              <a:rPr lang="fr-FR" sz="20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Injecter le </a:t>
            </a:r>
            <a:r>
              <a:rPr lang="fr-FR" sz="20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repository</a:t>
            </a:r>
            <a:r>
              <a:rPr lang="fr-FR" sz="20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endParaRPr sz="20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50" name="Google Shape;350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/>
              <a:t>20</a:t>
            </a:fld>
            <a:endParaRPr/>
          </a:p>
        </p:txBody>
      </p:sp>
      <p:graphicFrame>
        <p:nvGraphicFramePr>
          <p:cNvPr id="353" name="Google Shape;353;p32"/>
          <p:cNvGraphicFramePr/>
          <p:nvPr>
            <p:extLst>
              <p:ext uri="{D42A27DB-BD31-4B8C-83A1-F6EECF244321}">
                <p14:modId xmlns:p14="http://schemas.microsoft.com/office/powerpoint/2010/main" val="3001911999"/>
              </p:ext>
            </p:extLst>
          </p:nvPr>
        </p:nvGraphicFramePr>
        <p:xfrm>
          <a:off x="2028507" y="2064610"/>
          <a:ext cx="6096000" cy="1920250"/>
        </p:xfrm>
        <a:graphic>
          <a:graphicData uri="http://schemas.openxmlformats.org/drawingml/2006/table">
            <a:tbl>
              <a:tblPr firstRow="1" bandRow="1">
                <a:noFill/>
                <a:tableStyleId>{C5C493AE-2A30-41AF-8D33-7A2C48AF6AE8}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10160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public </a:t>
                      </a:r>
                      <a:r>
                        <a:rPr lang="fr-FR" sz="16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</a:t>
                      </a: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fr-FR" sz="16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listStudent</a:t>
                      </a: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fr-FR" sz="16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ManagerRegistry</a:t>
                      </a: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$doctrine){</a:t>
                      </a: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0160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</a:t>
                      </a:r>
                      <a:r>
                        <a:rPr lang="fr-FR" sz="16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repository</a:t>
                      </a: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=$doctrine-&gt;</a:t>
                      </a:r>
                      <a:r>
                        <a:rPr lang="fr-FR" sz="16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getRepository</a:t>
                      </a: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fr-FR" sz="16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NomClasse</a:t>
                      </a: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::class);</a:t>
                      </a:r>
                      <a:endParaRPr sz="1400" u="none" strike="noStrike" cap="none" dirty="0"/>
                    </a:p>
                    <a:p>
                      <a:pPr marL="10160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$</a:t>
                      </a:r>
                      <a:r>
                        <a:rPr lang="fr-FR" sz="16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</a:t>
                      </a:r>
                      <a:r>
                        <a:rPr lang="fr-FR"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 $</a:t>
                      </a:r>
                      <a:r>
                        <a:rPr lang="fr-FR" sz="1600" b="1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repository</a:t>
                      </a:r>
                      <a:r>
                        <a:rPr lang="fr-FR" sz="16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-&gt;</a:t>
                      </a:r>
                      <a:r>
                        <a:rPr lang="fr-FR" sz="1600" b="1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findAll</a:t>
                      </a:r>
                      <a:r>
                        <a:rPr lang="fr-FR" sz="16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();</a:t>
                      </a:r>
                      <a:endParaRPr sz="1400" u="none" strike="noStrike" cap="none" dirty="0"/>
                    </a:p>
                    <a:p>
                      <a:pPr marL="10160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16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…</a:t>
                      </a:r>
                      <a:endParaRPr sz="1400" u="none" strike="noStrike" cap="none" dirty="0"/>
                    </a:p>
                    <a:p>
                      <a:pPr marL="10160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1600" b="0" u="none" strike="noStrike" cap="none" dirty="0"/>
                        <a:t>}</a:t>
                      </a:r>
                      <a:endParaRPr sz="1600" b="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4" name="Google Shape;354;p32"/>
          <p:cNvGraphicFramePr/>
          <p:nvPr>
            <p:extLst>
              <p:ext uri="{D42A27DB-BD31-4B8C-83A1-F6EECF244321}">
                <p14:modId xmlns:p14="http://schemas.microsoft.com/office/powerpoint/2010/main" val="1053862745"/>
              </p:ext>
            </p:extLst>
          </p:nvPr>
        </p:nvGraphicFramePr>
        <p:xfrm>
          <a:off x="2052320" y="4777883"/>
          <a:ext cx="6096000" cy="1554490"/>
        </p:xfrm>
        <a:graphic>
          <a:graphicData uri="http://schemas.openxmlformats.org/drawingml/2006/table">
            <a:tbl>
              <a:tblPr firstRow="1" bandRow="1">
                <a:noFill/>
                <a:tableStyleId>{C5C493AE-2A30-41AF-8D33-7A2C48AF6AE8}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16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public function </a:t>
                      </a:r>
                      <a:r>
                        <a:rPr lang="fr-FR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listStudent(</a:t>
                      </a:r>
                      <a:r>
                        <a:rPr lang="fr-FR" sz="16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StudentRepository</a:t>
                      </a:r>
                      <a:r>
                        <a:rPr lang="fr-FR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fr-FR" sz="16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$repository</a:t>
                      </a:r>
                      <a:r>
                        <a:rPr lang="fr-FR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){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$list= $</a:t>
                      </a:r>
                      <a:r>
                        <a:rPr lang="fr-FR" sz="16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repository-&gt;findAll();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16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… 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}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</a:t>
            </a:r>
            <a:r>
              <a:rPr lang="fr-FR" sz="3600" b="1" i="0" u="none" strike="noStrike" cap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repository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/>
              <a:t>21</a:t>
            </a:fld>
            <a:endParaRPr/>
          </a:p>
        </p:txBody>
      </p:sp>
      <p:graphicFrame>
        <p:nvGraphicFramePr>
          <p:cNvPr id="365" name="Google Shape;365;p33"/>
          <p:cNvGraphicFramePr/>
          <p:nvPr>
            <p:extLst>
              <p:ext uri="{D42A27DB-BD31-4B8C-83A1-F6EECF244321}">
                <p14:modId xmlns:p14="http://schemas.microsoft.com/office/powerpoint/2010/main" val="166732255"/>
              </p:ext>
            </p:extLst>
          </p:nvPr>
        </p:nvGraphicFramePr>
        <p:xfrm>
          <a:off x="741650" y="3506540"/>
          <a:ext cx="7660700" cy="2590850"/>
        </p:xfrm>
        <a:graphic>
          <a:graphicData uri="http://schemas.openxmlformats.org/drawingml/2006/table">
            <a:tbl>
              <a:tblPr>
                <a:noFill/>
                <a:tableStyleId>{D21B51C2-D5FC-4CAE-825D-C38E2882D19A}</a:tableStyleId>
              </a:tblPr>
              <a:tblGrid>
                <a:gridCol w="174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Méthode</a:t>
                      </a:r>
                      <a:r>
                        <a:rPr lang="fr-FR" sz="14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sz="14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2000" b="1" u="none" strike="noStrike" cap="none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find($id)</a:t>
                      </a:r>
                      <a:endParaRPr sz="2000" b="1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Trouver un objet à partir son </a:t>
                      </a:r>
                      <a:r>
                        <a:rPr lang="fr-FR" sz="2000" b="1" i="1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2000" b="1" i="1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2000" b="1" u="none" strike="noStrike" cap="none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findAll()</a:t>
                      </a:r>
                      <a:endParaRPr sz="2000" b="1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Trouver tous les objets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2000" b="1" u="none" strike="noStrike" cap="none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findBy()</a:t>
                      </a:r>
                      <a:endParaRPr sz="2000" b="1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Trouver plusieurs objets à partir d’un ou plusieurs d’attributs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2000" b="1" u="none" strike="noStrike" cap="none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findOneBy()</a:t>
                      </a:r>
                      <a:endParaRPr sz="2000" b="1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même principe que </a:t>
                      </a:r>
                      <a:r>
                        <a:rPr lang="fr-FR" sz="2000" u="none" strike="noStrike" cap="none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findBy</a:t>
                      </a:r>
                      <a:r>
                        <a:rPr lang="fr-FR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mais </a:t>
                      </a:r>
                      <a:r>
                        <a:rPr lang="fr-FR" sz="200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elle retourne un seul objet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8" name="Google Shape;368;p33"/>
          <p:cNvSpPr/>
          <p:nvPr/>
        </p:nvSpPr>
        <p:spPr>
          <a:xfrm>
            <a:off x="381790" y="1129280"/>
            <a:ext cx="830501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Il existe 3 façons pour récupérer les </a:t>
            </a:r>
            <a:r>
              <a:rPr lang="fr-FR" sz="2000" b="0" i="1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objets</a:t>
            </a: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:</a:t>
            </a:r>
            <a:endParaRPr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fr-FR" sz="2000" b="0" i="0" u="sng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les méthodes de récupération de base</a:t>
            </a: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: </a:t>
            </a:r>
            <a:r>
              <a:rPr lang="fr-FR" sz="20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findAll</a:t>
            </a:r>
            <a:r>
              <a:rPr lang="fr-FR" sz="2000" b="0" i="0" u="none" strike="noStrike" cap="none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(), </a:t>
            </a:r>
            <a:r>
              <a:rPr lang="fr-FR" sz="2000" b="0" i="0" u="none" strike="noStrike" cap="none" dirty="0" err="1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findBy</a:t>
            </a:r>
            <a:r>
              <a:rPr lang="fr-FR" sz="2000" b="0" i="0" u="none" strike="noStrike" cap="none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(), </a:t>
            </a:r>
            <a:r>
              <a:rPr lang="fr-FR" sz="2000" b="0" i="0" u="none" strike="noStrike" cap="none" dirty="0" err="1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find</a:t>
            </a: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($id)</a:t>
            </a:r>
            <a:endParaRPr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fr-FR" sz="2000" b="0" i="0" u="sng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les méthodes </a:t>
            </a:r>
            <a:r>
              <a:rPr lang="fr-FR" sz="2000" b="0" i="0" u="sng" strike="noStrike" cap="none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magiques:</a:t>
            </a:r>
            <a:r>
              <a:rPr lang="fr-FR" sz="2000" b="0" i="0" u="none" strike="noStrike" cap="none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fr-FR" sz="20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findByX</a:t>
            </a: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(), </a:t>
            </a:r>
            <a:r>
              <a:rPr lang="fr-FR" sz="20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findOneByX</a:t>
            </a: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()</a:t>
            </a:r>
            <a:endParaRPr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fr-FR" sz="2000" b="0" i="0" u="sng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les méthodes de récupération personnalisées</a:t>
            </a: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: DQL/</a:t>
            </a:r>
            <a:r>
              <a:rPr lang="fr-FR" sz="20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QueryBuilder</a:t>
            </a:r>
            <a:endParaRPr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2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méthodes de récupération de base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4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4"/>
          <p:cNvSpPr/>
          <p:nvPr/>
        </p:nvSpPr>
        <p:spPr>
          <a:xfrm>
            <a:off x="206750" y="2100500"/>
            <a:ext cx="8442300" cy="42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400" b="1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/>
              <a:t>22</a:t>
            </a:fld>
            <a:endParaRPr/>
          </a:p>
        </p:txBody>
      </p:sp>
      <p:sp>
        <p:nvSpPr>
          <p:cNvPr id="379" name="Google Shape;379;p34"/>
          <p:cNvSpPr/>
          <p:nvPr/>
        </p:nvSpPr>
        <p:spPr>
          <a:xfrm>
            <a:off x="-21837" y="1700300"/>
            <a:ext cx="8102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1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1" name="Google Shape;381;p34"/>
          <p:cNvGraphicFramePr/>
          <p:nvPr>
            <p:extLst>
              <p:ext uri="{D42A27DB-BD31-4B8C-83A1-F6EECF244321}">
                <p14:modId xmlns:p14="http://schemas.microsoft.com/office/powerpoint/2010/main" val="2201504942"/>
              </p:ext>
            </p:extLst>
          </p:nvPr>
        </p:nvGraphicFramePr>
        <p:xfrm>
          <a:off x="264807" y="1563861"/>
          <a:ext cx="8493113" cy="4616413"/>
        </p:xfrm>
        <a:graphic>
          <a:graphicData uri="http://schemas.openxmlformats.org/drawingml/2006/table">
            <a:tbl>
              <a:tblPr>
                <a:noFill/>
                <a:tableStyleId>{D21B51C2-D5FC-4CAE-825D-C38E2882D19A}</a:tableStyleId>
              </a:tblPr>
              <a:tblGrid>
                <a:gridCol w="4652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5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Méthode</a:t>
                      </a:r>
                      <a:r>
                        <a:rPr lang="fr-FR" sz="14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sz="14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2000" u="none" strike="noStrike" cap="none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sz="20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780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2000" b="1" i="0" u="none" strike="noStrike" cap="none" dirty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findByX</a:t>
                      </a:r>
                      <a:r>
                        <a:rPr lang="fr-FR" sz="2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($valeur) </a:t>
                      </a:r>
                      <a:endParaRPr lang="fr-FR" sz="2000" b="0" i="0" u="none" strike="noStrike" cap="none" dirty="0" smtClean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2000" b="0" i="0" u="none" strike="noStrike" cap="none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En remplaçant </a:t>
                      </a:r>
                      <a:r>
                        <a:rPr lang="fr-FR" sz="2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X par un attribut de l’objet</a:t>
                      </a: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1800" b="1" i="0" u="sng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Exemple:</a:t>
                      </a:r>
                      <a:endParaRPr sz="1800" b="1" i="0" u="sng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2000" b="0" i="0" u="none" strike="noStrike" cap="none" dirty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findBynsc</a:t>
                      </a:r>
                      <a:r>
                        <a:rPr lang="fr-FR" sz="2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(‘05896542’)</a:t>
                      </a: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2000" b="0" i="0" u="none" strike="noStrike" cap="none" dirty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findByNom</a:t>
                      </a:r>
                      <a:r>
                        <a:rPr lang="fr-FR" sz="2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(‘Club Info’)</a:t>
                      </a: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2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Similaire à </a:t>
                      </a:r>
                      <a:r>
                        <a:rPr lang="fr-FR" sz="2000" b="0" i="0" u="none" strike="noStrike" cap="none" dirty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findBy</a:t>
                      </a:r>
                      <a:r>
                        <a:rPr lang="fr-FR" sz="2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() avec un seul critère, celui du nom de la méthode</a:t>
                      </a: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4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275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2000" b="1" i="0" u="none" strike="noStrike" cap="none" dirty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findOneByX</a:t>
                      </a:r>
                      <a:r>
                        <a:rPr lang="fr-FR" sz="2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($valeur) </a:t>
                      </a:r>
                      <a:endParaRPr lang="fr-FR" sz="2000" b="0" i="0" u="none" strike="noStrike" cap="none" dirty="0" smtClean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2000" b="0" i="0" u="none" strike="noStrike" cap="none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En remplaçant </a:t>
                      </a:r>
                      <a:r>
                        <a:rPr lang="fr-FR" sz="2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X par un </a:t>
                      </a:r>
                      <a:r>
                        <a:rPr lang="fr-FR" sz="2000" b="0" i="0" u="none" strike="noStrike" cap="none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attribut</a:t>
                      </a:r>
                      <a:r>
                        <a:rPr lang="fr-FR" sz="2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  de l’objet</a:t>
                      </a: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1800" b="1" i="0" u="sng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Exemple:</a:t>
                      </a:r>
                      <a:endParaRPr sz="1800" b="1" i="0" u="sng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2000" b="0" i="0" u="none" strike="noStrike" cap="none" dirty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findOneBynsc</a:t>
                      </a:r>
                      <a:r>
                        <a:rPr lang="fr-FR" sz="2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(‘05896542’)</a:t>
                      </a: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2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Similaire à </a:t>
                      </a:r>
                      <a:r>
                        <a:rPr lang="fr-FR" sz="2000" b="0" i="0" u="none" strike="noStrike" cap="none" dirty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findOneBy</a:t>
                      </a:r>
                      <a:r>
                        <a:rPr lang="fr-FR" sz="2000" b="0" i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() mais en retournant un seul objet</a:t>
                      </a: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méthodes de récupération magiques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5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5"/>
          <p:cNvSpPr/>
          <p:nvPr/>
        </p:nvSpPr>
        <p:spPr>
          <a:xfrm>
            <a:off x="217294" y="1126083"/>
            <a:ext cx="8709412" cy="536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fr-FR" sz="24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Entity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Manager (EM) est un gestionnaire d’entités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C’est le chef d’orchestre de l’ORM Doctrine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EM permet l’insertion, la mise à jour et la suppression des données de la base de données 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93" name="Google Shape;393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23</a:t>
            </a:fld>
            <a:endParaRPr/>
          </a:p>
        </p:txBody>
      </p:sp>
      <p:graphicFrame>
        <p:nvGraphicFramePr>
          <p:cNvPr id="395" name="Google Shape;395;p35"/>
          <p:cNvGraphicFramePr/>
          <p:nvPr>
            <p:extLst>
              <p:ext uri="{D42A27DB-BD31-4B8C-83A1-F6EECF244321}">
                <p14:modId xmlns:p14="http://schemas.microsoft.com/office/powerpoint/2010/main" val="1930174816"/>
              </p:ext>
            </p:extLst>
          </p:nvPr>
        </p:nvGraphicFramePr>
        <p:xfrm>
          <a:off x="1556900" y="3809909"/>
          <a:ext cx="6030200" cy="2728991"/>
        </p:xfrm>
        <a:graphic>
          <a:graphicData uri="http://schemas.openxmlformats.org/drawingml/2006/table">
            <a:tbl>
              <a:tblPr firstRow="1" bandRow="1">
                <a:noFill/>
                <a:tableStyleId>{C5C493AE-2A30-41AF-8D33-7A2C48AF6AE8}</a:tableStyleId>
              </a:tblPr>
              <a:tblGrid>
                <a:gridCol w="603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2899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fr-FR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 </a:t>
                      </a:r>
                      <a:r>
                        <a:rPr lang="fr-FR" sz="1800" b="1" u="none" strike="noStrike" cap="none" dirty="0"/>
                        <a:t>Doctrine\</a:t>
                      </a:r>
                      <a:r>
                        <a:rPr lang="fr-FR" sz="1800" b="1" u="none" strike="noStrike" cap="none" dirty="0" err="1"/>
                        <a:t>Persistence</a:t>
                      </a:r>
                      <a:r>
                        <a:rPr lang="fr-FR" sz="1800" b="1" u="none" strike="noStrike" cap="none" dirty="0"/>
                        <a:t>\</a:t>
                      </a:r>
                      <a:r>
                        <a:rPr lang="fr-FR" sz="1800" b="1" u="none" strike="noStrike" cap="none" dirty="0" err="1"/>
                        <a:t>ManagerRegistry</a:t>
                      </a:r>
                      <a:r>
                        <a:rPr lang="fr-FR" sz="1800" b="1" u="none" strike="noStrike" cap="none" dirty="0"/>
                        <a:t>;</a:t>
                      </a: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fr-FR" sz="1800" u="none" strike="noStrike" cap="none" dirty="0"/>
                        <a:t>…</a:t>
                      </a:r>
                      <a:endParaRPr sz="1800" u="none" strike="noStrike" cap="none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fr-FR" sz="1800" u="none" strike="noStrike" cap="none" dirty="0"/>
                        <a:t>public </a:t>
                      </a:r>
                      <a:r>
                        <a:rPr lang="fr-FR" sz="1800" u="none" strike="noStrike" cap="none" dirty="0" err="1"/>
                        <a:t>function</a:t>
                      </a:r>
                      <a:r>
                        <a:rPr lang="fr-FR" sz="1800" u="none" strike="noStrike" cap="none" dirty="0"/>
                        <a:t> </a:t>
                      </a:r>
                      <a:r>
                        <a:rPr lang="fr-FR" sz="1800" u="none" strike="noStrike" cap="none" dirty="0" err="1"/>
                        <a:t>add</a:t>
                      </a:r>
                      <a:r>
                        <a:rPr lang="fr-FR" sz="1800" u="none" strike="noStrike" cap="none" dirty="0"/>
                        <a:t> (</a:t>
                      </a:r>
                      <a:r>
                        <a:rPr lang="fr-FR" sz="1800" u="none" strike="noStrike" cap="none" dirty="0" err="1"/>
                        <a:t>ManagerRegistry</a:t>
                      </a:r>
                      <a:r>
                        <a:rPr lang="fr-FR" sz="1800" u="none" strike="noStrike" cap="none" dirty="0"/>
                        <a:t> $doctrine){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fr-FR" sz="1800" u="none" strike="noStrike" cap="none" dirty="0"/>
                        <a:t> $</a:t>
                      </a:r>
                      <a:r>
                        <a:rPr lang="fr-FR" sz="1800" u="none" strike="noStrike" cap="none" dirty="0" err="1"/>
                        <a:t>em</a:t>
                      </a:r>
                      <a:r>
                        <a:rPr lang="fr-FR" sz="1800" u="none" strike="noStrike" cap="none" dirty="0"/>
                        <a:t>= $doctrine-&gt;</a:t>
                      </a:r>
                      <a:r>
                        <a:rPr lang="fr-FR" sz="1800" u="none" strike="noStrike" cap="none" dirty="0" err="1"/>
                        <a:t>getManager</a:t>
                      </a:r>
                      <a:r>
                        <a:rPr lang="fr-FR" sz="1800" u="none" strike="noStrike" cap="none" dirty="0"/>
                        <a:t>();</a:t>
                      </a: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fr-FR" sz="1800" u="none" strike="noStrike" cap="none" dirty="0"/>
                        <a:t>….</a:t>
                      </a: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}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</a:t>
            </a: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Manager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6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6"/>
          <p:cNvSpPr/>
          <p:nvPr/>
        </p:nvSpPr>
        <p:spPr>
          <a:xfrm>
            <a:off x="30600" y="1540700"/>
            <a:ext cx="907276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méthode </a:t>
            </a: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persist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:Utilisée pour l‘ajout d’un nouvel objet afin d’informer Doctrine qu’on veut ajouter cet objet dans la base de données.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60475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fr-FR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$</a:t>
            </a: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persist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($</a:t>
            </a: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méthode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flush()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permet d'envoyer tout ce qui a été persisté avant à la base de données afin d’exécuter la requête. Cette méthode est utilisée pour l‘ajout, la modification et la suppression 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41438" marR="0" lvl="0" indent="-44767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fr-FR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$</a:t>
            </a: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-&gt;flush</a:t>
            </a:r>
            <a:r>
              <a:rPr lang="fr-FR" sz="2400" b="1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endParaRPr sz="2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24</a:t>
            </a:fld>
            <a:endParaRPr dirty="0"/>
          </a:p>
        </p:txBody>
      </p:sp>
      <p:sp>
        <p:nvSpPr>
          <p:cNvPr id="10" name="Google Shape;108;p14"/>
          <p:cNvSpPr txBox="1"/>
          <p:nvPr/>
        </p:nvSpPr>
        <p:spPr>
          <a:xfrm>
            <a:off x="0" y="-108839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Manipulation des entités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avec Doctrine 2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7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25</a:t>
            </a:fld>
            <a:endParaRPr/>
          </a:p>
        </p:txBody>
      </p:sp>
      <p:sp>
        <p:nvSpPr>
          <p:cNvPr id="10" name="Google Shape;417;p37"/>
          <p:cNvSpPr/>
          <p:nvPr/>
        </p:nvSpPr>
        <p:spPr>
          <a:xfrm>
            <a:off x="255150" y="1558925"/>
            <a:ext cx="8633700" cy="43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endParaRPr sz="1650" b="0" i="0" u="none" strike="noStrike" cap="none" dirty="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méthode </a:t>
            </a: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remove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indique à Doctrin</a:t>
            </a:r>
            <a:r>
              <a:rPr lang="fr-F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d’exécuter la requête de suppression de l'entité 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argument de la base de données 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76325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</a:t>
            </a:r>
            <a:r>
              <a:rPr lang="fr-FR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fr-FR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lang="fr-FR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</a:t>
            </a:r>
            <a:r>
              <a:rPr lang="fr-FR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($</a:t>
            </a:r>
            <a:r>
              <a:rPr lang="fr-FR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r>
              <a:rPr lang="fr-FR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méthode </a:t>
            </a: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clear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() 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permet d’annuler tous les </a:t>
            </a:r>
            <a:r>
              <a:rPr lang="fr-FR" sz="24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persist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76325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fr-FR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$</a:t>
            </a: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clear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endParaRPr sz="2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méthode </a:t>
            </a: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detach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()  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permet d’annuler le </a:t>
            </a:r>
            <a:r>
              <a:rPr lang="fr-FR" sz="24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persist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effectué sur l’entité en argument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76325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fr-FR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$</a:t>
            </a: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detach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($</a:t>
            </a: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r>
              <a:rPr lang="fr-FR" sz="2400" b="1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08;p14"/>
          <p:cNvSpPr txBox="1"/>
          <p:nvPr/>
        </p:nvSpPr>
        <p:spPr>
          <a:xfrm>
            <a:off x="0" y="-108839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Manipulation des entités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avec Doctrine 2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8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8"/>
          <p:cNvSpPr/>
          <p:nvPr/>
        </p:nvSpPr>
        <p:spPr>
          <a:xfrm>
            <a:off x="184150" y="1298208"/>
            <a:ext cx="425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 types de relation possibles</a:t>
            </a: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/>
              <a:t>26</a:t>
            </a:fld>
            <a:endParaRPr/>
          </a:p>
        </p:txBody>
      </p:sp>
      <p:sp>
        <p:nvSpPr>
          <p:cNvPr id="431" name="Google Shape;431;p38"/>
          <p:cNvSpPr txBox="1"/>
          <p:nvPr/>
        </p:nvSpPr>
        <p:spPr>
          <a:xfrm>
            <a:off x="184150" y="1667508"/>
            <a:ext cx="8756650" cy="42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Une relation (ou une association) peut être: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lang="fr-FR" sz="2400" b="1" i="1" u="none" strike="noStrike" cap="none" dirty="0">
                <a:solidFill>
                  <a:srgbClr val="CC41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Unidirectionnelle :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Seules les instances de l’une des entités de l’association peuvent retrouver les instances de l’entité partenaire. </a:t>
            </a:r>
            <a:endParaRPr lang="fr-FR" sz="2400" b="0" i="0" u="none" strike="noStrike" cap="none" dirty="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    ⇒ 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Par exemple :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un utilisateur peut obtenir la liste de ses adresses connues, par contre il n’est pas possible de retrouver un utilisateur à partir d’une adresse. 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2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relations entre les entités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9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9"/>
          <p:cNvSpPr/>
          <p:nvPr/>
        </p:nvSpPr>
        <p:spPr>
          <a:xfrm>
            <a:off x="383912" y="1595713"/>
            <a:ext cx="362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/>
              <a:t>27</a:t>
            </a:fld>
            <a:endParaRPr/>
          </a:p>
        </p:txBody>
      </p:sp>
      <p:sp>
        <p:nvSpPr>
          <p:cNvPr id="443" name="Google Shape;443;p39"/>
          <p:cNvSpPr/>
          <p:nvPr/>
        </p:nvSpPr>
        <p:spPr>
          <a:xfrm>
            <a:off x="723900" y="1565460"/>
            <a:ext cx="8010600" cy="2079851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 b="1" i="1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Limites:</a:t>
            </a:r>
            <a:endParaRPr sz="2000" b="1" i="1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❏"/>
            </a:pP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Les relations sont unidirectionnelles</a:t>
            </a:r>
            <a:endParaRPr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❏"/>
            </a:pP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On peut faire $</a:t>
            </a:r>
            <a:r>
              <a:rPr lang="fr-FR" sz="20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student</a:t>
            </a: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-&gt;</a:t>
            </a:r>
            <a:r>
              <a:rPr lang="fr-FR" sz="20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getProjects</a:t>
            </a: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()</a:t>
            </a:r>
            <a:endParaRPr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❏"/>
            </a:pP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Mais on ne peut pas faire $</a:t>
            </a:r>
            <a:r>
              <a:rPr lang="fr-FR" sz="20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project</a:t>
            </a: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-&gt;</a:t>
            </a:r>
            <a:r>
              <a:rPr lang="fr-FR" sz="20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getStudent</a:t>
            </a: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()</a:t>
            </a:r>
            <a:endParaRPr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444" name="Google Shape;444;p39"/>
          <p:cNvSpPr/>
          <p:nvPr/>
        </p:nvSpPr>
        <p:spPr>
          <a:xfrm>
            <a:off x="723900" y="4238830"/>
            <a:ext cx="8010600" cy="15240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 b="1" i="1" u="none" strike="noStrike" cap="none" dirty="0">
                <a:solidFill>
                  <a:srgbClr val="38761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Solution:</a:t>
            </a:r>
            <a:endParaRPr sz="2000" b="1" i="1" u="none" strike="noStrike" cap="none" dirty="0">
              <a:solidFill>
                <a:srgbClr val="38761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❏"/>
            </a:pPr>
            <a:r>
              <a:rPr lang="fr-FR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Rendre les relations bidirectionnelles</a:t>
            </a:r>
            <a:endParaRPr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3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relations entre les entités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0"/>
          <p:cNvSpPr/>
          <p:nvPr/>
        </p:nvSpPr>
        <p:spPr>
          <a:xfrm>
            <a:off x="184150" y="1718250"/>
            <a:ext cx="425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 types de relation possibles</a:t>
            </a: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/>
              <a:t>28</a:t>
            </a:fld>
            <a:endParaRPr/>
          </a:p>
        </p:txBody>
      </p:sp>
      <p:sp>
        <p:nvSpPr>
          <p:cNvPr id="457" name="Google Shape;457;p40"/>
          <p:cNvSpPr txBox="1"/>
          <p:nvPr/>
        </p:nvSpPr>
        <p:spPr>
          <a:xfrm>
            <a:off x="347025" y="2087550"/>
            <a:ext cx="8339700" cy="41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lang="fr-FR" sz="2400" b="1" i="1" u="none" strike="noStrike" cap="none" dirty="0">
                <a:solidFill>
                  <a:srgbClr val="CC41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Bidirectionnelle:</a:t>
            </a:r>
            <a:r>
              <a:rPr lang="fr-FR" sz="2400" b="0" i="0" u="none" strike="noStrike" cap="none" dirty="0">
                <a:solidFill>
                  <a:srgbClr val="CC41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Les instances de l’une ou de l’autre des entités de l’association peuvent retrouver les instances de l’entité partenaire. </a:t>
            </a:r>
            <a:endParaRPr lang="fr-FR" sz="2400" b="0" i="0" u="none" strike="noStrike" cap="none" dirty="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             ⇒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Par exemple :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un utilisateur peut obtenir la liste des commandes qu’il a effectué et on peut retrouver un utilisateur à partir d’une commande.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2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relations entre les entités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950" y="5045237"/>
            <a:ext cx="752475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950" y="3246287"/>
            <a:ext cx="6934200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1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41"/>
          <p:cNvSpPr/>
          <p:nvPr/>
        </p:nvSpPr>
        <p:spPr>
          <a:xfrm>
            <a:off x="383912" y="1678321"/>
            <a:ext cx="3198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One To One ,bidirectionnel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41"/>
          <p:cNvSpPr/>
          <p:nvPr/>
        </p:nvSpPr>
        <p:spPr>
          <a:xfrm>
            <a:off x="788113" y="2036398"/>
            <a:ext cx="88062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Exemple</a:t>
            </a:r>
            <a:r>
              <a:rPr lang="fr-FR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un étudiant possède sa propre carte d’étudiant.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/>
              <a:t>29</a:t>
            </a:fld>
            <a:endParaRPr/>
          </a:p>
        </p:txBody>
      </p:sp>
      <p:sp>
        <p:nvSpPr>
          <p:cNvPr id="474" name="Google Shape;474;p41"/>
          <p:cNvSpPr/>
          <p:nvPr/>
        </p:nvSpPr>
        <p:spPr>
          <a:xfrm>
            <a:off x="6553200" y="2543150"/>
            <a:ext cx="2509700" cy="983700"/>
          </a:xfrm>
          <a:prstGeom prst="wedgeRectCallout">
            <a:avLst>
              <a:gd name="adj1" fmla="val -83573"/>
              <a:gd name="adj2" fmla="val -2303"/>
            </a:avLst>
          </a:prstGeom>
          <a:solidFill>
            <a:schemeClr val="lt2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</a:t>
            </a:r>
            <a:r>
              <a:rPr lang="fr-FR" sz="1400" b="1" i="1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mappedBy</a:t>
            </a:r>
            <a:r>
              <a:rPr lang="fr-FR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fait référence à l’attribut </a:t>
            </a:r>
            <a:r>
              <a:rPr lang="fr-FR" sz="1400" b="1" i="1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card</a:t>
            </a:r>
            <a:r>
              <a:rPr lang="fr-FR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dans la classe </a:t>
            </a:r>
            <a:r>
              <a:rPr lang="fr-FR" sz="1400" b="1" i="1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sz="1400" b="1" i="1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41"/>
          <p:cNvSpPr/>
          <p:nvPr/>
        </p:nvSpPr>
        <p:spPr>
          <a:xfrm>
            <a:off x="6424400" y="4188625"/>
            <a:ext cx="2638500" cy="983700"/>
          </a:xfrm>
          <a:prstGeom prst="wedgeRectCallout">
            <a:avLst>
              <a:gd name="adj1" fmla="val -78989"/>
              <a:gd name="adj2" fmla="val 40543"/>
            </a:avLst>
          </a:prstGeom>
          <a:solidFill>
            <a:schemeClr val="lt2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</a:t>
            </a:r>
            <a:r>
              <a:rPr lang="fr-FR" sz="1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inversedBy</a:t>
            </a:r>
            <a:r>
              <a:rPr lang="fr-F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fait référence à l’attribut </a:t>
            </a:r>
            <a:r>
              <a:rPr lang="fr-FR" sz="1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r>
              <a:rPr lang="fr-F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dans la classe </a:t>
            </a:r>
            <a:r>
              <a:rPr lang="fr-FR" sz="1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Studentcard</a:t>
            </a:r>
            <a:endParaRPr sz="1400" b="1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1" name="Google Shape;481;p41"/>
          <p:cNvCxnSpPr>
            <a:stCxn id="474" idx="4"/>
          </p:cNvCxnSpPr>
          <p:nvPr/>
        </p:nvCxnSpPr>
        <p:spPr>
          <a:xfrm flipH="1">
            <a:off x="2377876" y="3012345"/>
            <a:ext cx="3332742" cy="697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2" name="Google Shape;482;p41"/>
          <p:cNvCxnSpPr/>
          <p:nvPr/>
        </p:nvCxnSpPr>
        <p:spPr>
          <a:xfrm flipH="1">
            <a:off x="2563906" y="5060275"/>
            <a:ext cx="3152669" cy="515772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3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relations entre les entités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2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2"/>
          <p:cNvSpPr/>
          <p:nvPr/>
        </p:nvSpPr>
        <p:spPr>
          <a:xfrm>
            <a:off x="383900" y="1702691"/>
            <a:ext cx="333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One To Many ,bidirectionnel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/>
              <a:t>30</a:t>
            </a:fld>
            <a:endParaRPr/>
          </a:p>
        </p:txBody>
      </p:sp>
      <p:sp>
        <p:nvSpPr>
          <p:cNvPr id="493" name="Google Shape;493;p42"/>
          <p:cNvSpPr/>
          <p:nvPr/>
        </p:nvSpPr>
        <p:spPr>
          <a:xfrm>
            <a:off x="710338" y="1931623"/>
            <a:ext cx="88062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Exemple</a:t>
            </a:r>
            <a:r>
              <a:rPr lang="fr-FR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Une classe contient plusieurs étudiants.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2"/>
          <p:cNvSpPr/>
          <p:nvPr/>
        </p:nvSpPr>
        <p:spPr>
          <a:xfrm>
            <a:off x="383900" y="5334125"/>
            <a:ext cx="4113900" cy="6741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9" name="Google Shape;499;p42"/>
          <p:cNvPicPr preferRelativeResize="0"/>
          <p:nvPr/>
        </p:nvPicPr>
        <p:blipFill rotWithShape="1">
          <a:blip r:embed="rId3">
            <a:alphaModFix/>
          </a:blip>
          <a:srcRect r="2723"/>
          <a:stretch/>
        </p:blipFill>
        <p:spPr>
          <a:xfrm>
            <a:off x="47509" y="2832442"/>
            <a:ext cx="4881562" cy="1085134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42"/>
          <p:cNvSpPr/>
          <p:nvPr/>
        </p:nvSpPr>
        <p:spPr>
          <a:xfrm>
            <a:off x="238399" y="3422575"/>
            <a:ext cx="4602541" cy="243989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09" y="5003800"/>
            <a:ext cx="4881562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42"/>
          <p:cNvSpPr/>
          <p:nvPr/>
        </p:nvSpPr>
        <p:spPr>
          <a:xfrm>
            <a:off x="238275" y="5663753"/>
            <a:ext cx="4602666" cy="413175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2"/>
          <p:cNvSpPr/>
          <p:nvPr/>
        </p:nvSpPr>
        <p:spPr>
          <a:xfrm>
            <a:off x="5505600" y="5400540"/>
            <a:ext cx="3638400" cy="939600"/>
          </a:xfrm>
          <a:prstGeom prst="wedgeRoundRectCallout">
            <a:avLst>
              <a:gd name="adj1" fmla="val -67170"/>
              <a:gd name="adj2" fmla="val -2607"/>
              <a:gd name="adj3" fmla="val 0"/>
            </a:avLst>
          </a:prstGeom>
          <a:solidFill>
            <a:schemeClr val="lt2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1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NB : </a:t>
            </a:r>
            <a:r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Obligatoirement dans l’entité </a:t>
            </a:r>
            <a:r>
              <a:rPr lang="fr-FR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r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il faut avoir une définition d’attribut avec le mot clé </a:t>
            </a:r>
            <a:r>
              <a:rPr lang="fr-FR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ManyToOne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2"/>
          <p:cNvSpPr/>
          <p:nvPr/>
        </p:nvSpPr>
        <p:spPr>
          <a:xfrm>
            <a:off x="5030100" y="2543433"/>
            <a:ext cx="4113900" cy="1212900"/>
          </a:xfrm>
          <a:prstGeom prst="wedgeRoundRectCallout">
            <a:avLst>
              <a:gd name="adj1" fmla="val -53673"/>
              <a:gd name="adj2" fmla="val 25646"/>
              <a:gd name="adj3" fmla="val 0"/>
            </a:avLst>
          </a:prstGeom>
          <a:solidFill>
            <a:schemeClr val="lt2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❏"/>
            </a:pPr>
            <a:r>
              <a:rPr lang="fr-FR" sz="1400" b="1" i="1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targetEntity</a:t>
            </a:r>
            <a:r>
              <a:rPr lang="fr-FR" sz="1400" b="1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lang="fr-FR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namespace</a:t>
            </a:r>
            <a:r>
              <a:rPr lang="fr-F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complet vers l’entité liée.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❏"/>
            </a:pPr>
            <a:r>
              <a:rPr lang="fr-FR" sz="1400" b="1" i="1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mappedBy</a:t>
            </a:r>
            <a:r>
              <a:rPr lang="fr-FR" sz="1400" b="1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r>
              <a:rPr lang="fr-F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il s’agit de l’attribut de l’entité cible qui illustre la relation entre les deux entités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relations entre les entités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3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/>
              <a:t>31</a:t>
            </a:fld>
            <a:endParaRPr/>
          </a:p>
        </p:txBody>
      </p:sp>
      <p:sp>
        <p:nvSpPr>
          <p:cNvPr id="513" name="Google Shape;513;p43"/>
          <p:cNvSpPr/>
          <p:nvPr/>
        </p:nvSpPr>
        <p:spPr>
          <a:xfrm>
            <a:off x="474225" y="2050049"/>
            <a:ext cx="86937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❏"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peut générer la relation entre les deux entités automatiquement: 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Prenons l’exemple d’une relation </a:t>
            </a:r>
            <a:r>
              <a:rPr lang="fr-FR" sz="2400" b="1" i="1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ManyToMany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⇒ Plusieurs étudiants peuvent appartenir à plusieurs clubs.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❏"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doit tout d’abord modifier notre entité “</a:t>
            </a: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 en tapant la commande suivante: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4" name="Google Shape;514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8485" y="4700175"/>
            <a:ext cx="6545180" cy="1692312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43"/>
          <p:cNvSpPr/>
          <p:nvPr/>
        </p:nvSpPr>
        <p:spPr>
          <a:xfrm>
            <a:off x="383900" y="1609350"/>
            <a:ext cx="621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Many To Many ,bidirectionnelle avec table de jointure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relations entre les entités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4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/>
              <a:t>32</a:t>
            </a:fld>
            <a:endParaRPr/>
          </a:p>
        </p:txBody>
      </p:sp>
      <p:sp>
        <p:nvSpPr>
          <p:cNvPr id="527" name="Google Shape;527;p44"/>
          <p:cNvSpPr/>
          <p:nvPr/>
        </p:nvSpPr>
        <p:spPr>
          <a:xfrm>
            <a:off x="474225" y="2050051"/>
            <a:ext cx="8693700" cy="4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❏"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Maintenant il faut ajouter l’attribut, dans notre cas “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clubs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”: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❏"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Spécifier le nom de la classe avec laquelle est reliée qui </a:t>
            </a:r>
            <a:r>
              <a:rPr lang="fr-F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fr-FR" sz="2400" b="1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Club</a:t>
            </a:r>
            <a:r>
              <a:rPr lang="fr-F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❏"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Spécifier le type de cet attribut, tapez “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relation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 :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8" name="Google Shape;528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5975" y="2762250"/>
            <a:ext cx="46863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000" y="3922150"/>
            <a:ext cx="38100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4"/>
          <p:cNvSpPr/>
          <p:nvPr/>
        </p:nvSpPr>
        <p:spPr>
          <a:xfrm>
            <a:off x="383900" y="1609350"/>
            <a:ext cx="621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Many To Many ,bidirectionnelle avec table de jointure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2" name="Google Shape;532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36100" y="5245250"/>
            <a:ext cx="4335300" cy="4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relations entre les entités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5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/>
              <a:t>33</a:t>
            </a:fld>
            <a:endParaRPr/>
          </a:p>
        </p:txBody>
      </p:sp>
      <p:sp>
        <p:nvSpPr>
          <p:cNvPr id="543" name="Google Shape;543;p45"/>
          <p:cNvSpPr/>
          <p:nvPr/>
        </p:nvSpPr>
        <p:spPr>
          <a:xfrm>
            <a:off x="474225" y="2050051"/>
            <a:ext cx="8693700" cy="4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❏"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 la suite , veuillez indiquer le type de relation : </a:t>
            </a:r>
            <a:r>
              <a:rPr lang="fr-FR" sz="24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ManyToMany</a:t>
            </a:r>
            <a:endParaRPr sz="2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4" name="Google Shape;544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0837" y="2752725"/>
            <a:ext cx="7082324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45"/>
          <p:cNvSpPr/>
          <p:nvPr/>
        </p:nvSpPr>
        <p:spPr>
          <a:xfrm>
            <a:off x="383900" y="1609350"/>
            <a:ext cx="621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Many To Many ,bidirectionnelle avec table de jointure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relations entre les entités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6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/>
              <a:t>34</a:t>
            </a:fld>
            <a:endParaRPr/>
          </a:p>
        </p:txBody>
      </p:sp>
      <p:sp>
        <p:nvSpPr>
          <p:cNvPr id="557" name="Google Shape;557;p46"/>
          <p:cNvSpPr/>
          <p:nvPr/>
        </p:nvSpPr>
        <p:spPr>
          <a:xfrm>
            <a:off x="383900" y="1609350"/>
            <a:ext cx="621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Many To Many ,bidirectionnelle avec table de jointure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46"/>
          <p:cNvSpPr txBox="1"/>
          <p:nvPr/>
        </p:nvSpPr>
        <p:spPr>
          <a:xfrm>
            <a:off x="268300" y="2071237"/>
            <a:ext cx="1354312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600" b="1" u="sng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Student.php</a:t>
            </a:r>
            <a:endParaRPr sz="1600" b="1" u="sng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9" name="Google Shape;559;p46"/>
          <p:cNvSpPr txBox="1"/>
          <p:nvPr/>
        </p:nvSpPr>
        <p:spPr>
          <a:xfrm>
            <a:off x="268300" y="4488139"/>
            <a:ext cx="12492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600" b="1" i="0" u="sng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Club.php</a:t>
            </a:r>
            <a:endParaRPr sz="1400" b="1" i="0" u="sng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1" name="Google Shape;561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613" y="2443263"/>
            <a:ext cx="8824132" cy="1782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28" y="4907999"/>
            <a:ext cx="9096375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relations entre les entités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7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/>
              <a:t>35</a:t>
            </a:fld>
            <a:endParaRPr/>
          </a:p>
        </p:txBody>
      </p:sp>
      <p:sp>
        <p:nvSpPr>
          <p:cNvPr id="573" name="Google Shape;573;p47"/>
          <p:cNvSpPr/>
          <p:nvPr/>
        </p:nvSpPr>
        <p:spPr>
          <a:xfrm>
            <a:off x="-23813" y="1281938"/>
            <a:ext cx="621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Cascade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47"/>
          <p:cNvSpPr txBox="1"/>
          <p:nvPr/>
        </p:nvSpPr>
        <p:spPr>
          <a:xfrm>
            <a:off x="365760" y="1867001"/>
            <a:ext cx="841248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Dans doctrine2, toutes les opérations de cascade sont par défaut désactivées, c'est-à-dire qu'aucune opération ne sera cascadée.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Si une entité est supprimée ou modifiée, les entités avec lesquelles elle était en relation ne seront pas supprimées ou modifiées dans la base de données.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Pour réaliser la suppression ou la modification en cascade, il faut rajouter l’option </a:t>
            </a:r>
            <a:r>
              <a:rPr lang="fr-FR" sz="24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cascade={“action”} 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dans le </a:t>
            </a:r>
            <a:r>
              <a:rPr lang="fr-FR" sz="24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mapping</a:t>
            </a:r>
            <a:r>
              <a:rPr lang="fr-FR" sz="24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de l’entité.</a:t>
            </a: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2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relations entre les entités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8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/>
              <a:t>36</a:t>
            </a:fld>
            <a:endParaRPr/>
          </a:p>
        </p:txBody>
      </p:sp>
      <p:sp>
        <p:nvSpPr>
          <p:cNvPr id="586" name="Google Shape;586;p48"/>
          <p:cNvSpPr/>
          <p:nvPr/>
        </p:nvSpPr>
        <p:spPr>
          <a:xfrm>
            <a:off x="128600" y="1384214"/>
            <a:ext cx="621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 actions en cascade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relations entre les entités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383212"/>
              </p:ext>
            </p:extLst>
          </p:nvPr>
        </p:nvGraphicFramePr>
        <p:xfrm>
          <a:off x="249500" y="2029758"/>
          <a:ext cx="8670980" cy="4219736"/>
        </p:xfrm>
        <a:graphic>
          <a:graphicData uri="http://schemas.openxmlformats.org/drawingml/2006/table">
            <a:tbl>
              <a:tblPr firstRow="1" bandRow="1">
                <a:tableStyleId>{C5C493AE-2A30-41AF-8D33-7A2C48AF6AE8}</a:tableStyleId>
              </a:tblPr>
              <a:tblGrid>
                <a:gridCol w="1355780">
                  <a:extLst>
                    <a:ext uri="{9D8B030D-6E8A-4147-A177-3AD203B41FA5}">
                      <a16:colId xmlns:a16="http://schemas.microsoft.com/office/drawing/2014/main" val="2634196865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1682841139"/>
                    </a:ext>
                  </a:extLst>
                </a:gridCol>
              </a:tblGrid>
              <a:tr h="595468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 err="1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Persist</a:t>
                      </a:r>
                      <a:endParaRPr lang="en-US" sz="20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2000" b="0" i="0" u="none" strike="noStrike" cap="none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Si l’entité est sauvegardée, faire de même avec les entités associées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2707653"/>
                  </a:ext>
                </a:extLst>
              </a:tr>
              <a:tr h="595468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 err="1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Remove</a:t>
                      </a:r>
                      <a:endParaRPr lang="en-US" sz="20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2000" b="0" i="0" u="none" strike="noStrike" cap="none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Si l’entité est supprimée, faire de même avec les entités associées.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3541873"/>
                  </a:ext>
                </a:extLst>
              </a:tr>
              <a:tr h="595468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 err="1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Merge</a:t>
                      </a:r>
                      <a:endParaRPr lang="en-US" sz="20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000" b="0" i="0" u="none" strike="noStrike" cap="none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Cascades fusionne les opérations avec les entités associées.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2310543"/>
                  </a:ext>
                </a:extLst>
              </a:tr>
              <a:tr h="595468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 err="1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Detach</a:t>
                      </a:r>
                      <a:endParaRPr lang="en-US" sz="20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2000" b="0" i="0" u="none" strike="noStrike" cap="none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Cascades détache les opérations aux entités associées.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264773"/>
                  </a:ext>
                </a:extLst>
              </a:tr>
              <a:tr h="832024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 err="1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Refresh</a:t>
                      </a:r>
                      <a:endParaRPr lang="en-US" sz="20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2000" b="0" i="0" u="none" strike="noStrike" cap="none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Les opérations d'actualisation des cascades vers les entités associées.</a:t>
                      </a:r>
                    </a:p>
                    <a:p>
                      <a:pPr algn="l"/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022914"/>
                  </a:ext>
                </a:extLst>
              </a:tr>
              <a:tr h="832024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all</a:t>
                      </a:r>
                      <a:endParaRPr lang="en-US" sz="20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2000" b="0" i="0" u="none" strike="noStrike" cap="none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Les cascades persistent, suppriment, fusionnent, actualisent et détachent les opérations aux entités associée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30541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9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/>
              <a:t>37</a:t>
            </a:fld>
            <a:endParaRPr/>
          </a:p>
        </p:txBody>
      </p:sp>
      <p:sp>
        <p:nvSpPr>
          <p:cNvPr id="599" name="Google Shape;599;p49"/>
          <p:cNvSpPr/>
          <p:nvPr/>
        </p:nvSpPr>
        <p:spPr>
          <a:xfrm>
            <a:off x="-23813" y="1281938"/>
            <a:ext cx="621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Exemple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1" name="Google Shape;601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42" y="2203222"/>
            <a:ext cx="8762797" cy="313141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relations entre les entités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0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/>
              <a:t>38</a:t>
            </a:fld>
            <a:endParaRPr/>
          </a:p>
        </p:txBody>
      </p:sp>
      <p:sp>
        <p:nvSpPr>
          <p:cNvPr id="612" name="Google Shape;612;p50"/>
          <p:cNvSpPr/>
          <p:nvPr/>
        </p:nvSpPr>
        <p:spPr>
          <a:xfrm>
            <a:off x="-23813" y="1281938"/>
            <a:ext cx="621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Cascade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50"/>
          <p:cNvSpPr txBox="1"/>
          <p:nvPr/>
        </p:nvSpPr>
        <p:spPr>
          <a:xfrm>
            <a:off x="128599" y="1867001"/>
            <a:ext cx="8781721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Une style de cascade spécial, </a:t>
            </a:r>
            <a:r>
              <a:rPr lang="fr-FR" sz="24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delete-orphan</a:t>
            </a:r>
            <a:r>
              <a:rPr lang="fr-FR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, s'applique seulement aux associations un-vers-plusieurs si vous répondez par oui à la dernière question 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150" y="3286814"/>
            <a:ext cx="8229600" cy="13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/>
          <p:nvPr/>
        </p:nvSpPr>
        <p:spPr>
          <a:xfrm>
            <a:off x="5886450" y="4243388"/>
            <a:ext cx="1143000" cy="285750"/>
          </a:xfrm>
          <a:prstGeom prst="rect">
            <a:avLst/>
          </a:pr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7" name="Google Shape;617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85059" y="4835280"/>
            <a:ext cx="5429351" cy="188617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50"/>
          <p:cNvSpPr/>
          <p:nvPr/>
        </p:nvSpPr>
        <p:spPr>
          <a:xfrm>
            <a:off x="3071825" y="5881514"/>
            <a:ext cx="2343150" cy="244786"/>
          </a:xfrm>
          <a:prstGeom prst="rect">
            <a:avLst/>
          </a:pr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relations entre les entités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1"/>
          <p:cNvSpPr txBox="1"/>
          <p:nvPr/>
        </p:nvSpPr>
        <p:spPr>
          <a:xfrm>
            <a:off x="-1331912" y="-184150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51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7" name="Google Shape;627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8837" y="2073275"/>
            <a:ext cx="7145338" cy="3998912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fr-FR"/>
              <a:t>39</a:t>
            </a:fld>
            <a:endParaRPr/>
          </a:p>
        </p:txBody>
      </p:sp>
      <p:sp>
        <p:nvSpPr>
          <p:cNvPr id="630" name="Google Shape;630;p51"/>
          <p:cNvSpPr txBox="1"/>
          <p:nvPr/>
        </p:nvSpPr>
        <p:spPr>
          <a:xfrm>
            <a:off x="51515" y="1770200"/>
            <a:ext cx="9040969" cy="45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marR="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fr-FR" sz="18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https://symfony.com/doc/master/bundles/DoctrineMigrationsBundle/index.htmlhttp://</a:t>
            </a:r>
            <a:r>
              <a:rPr lang="fr-FR" sz="1800" b="0" i="0" u="sng" strike="noStrike" cap="none" dirty="0" smtClean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php.net/manual/fr/language.oop5.magic.php</a:t>
            </a:r>
            <a:endParaRPr lang="fr-FR" sz="1800" b="0" i="0" u="sng" strike="noStrike" cap="none" dirty="0" smtClean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11150" marR="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11150" marR="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fr-FR" sz="18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https://symfony.com/doc/current/doctrine.html#doctrine-queries</a:t>
            </a:r>
            <a:r>
              <a:rPr lang="fr-FR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08;p14"/>
          <p:cNvSpPr txBox="1"/>
          <p:nvPr/>
        </p:nvSpPr>
        <p:spPr>
          <a:xfrm>
            <a:off x="0" y="-264833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Références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1802</Words>
  <Application>Microsoft Office PowerPoint</Application>
  <PresentationFormat>On-screen Show (4:3)</PresentationFormat>
  <Paragraphs>427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Times New Roman</vt:lpstr>
      <vt:lpstr>Calibri</vt:lpstr>
      <vt:lpstr>Noto Sans Symbols</vt:lpstr>
      <vt:lpstr>Arial</vt:lpstr>
      <vt:lpstr>Merriweather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Linda Ouerfelli</dc:creator>
  <cp:lastModifiedBy>Linda Ouerfelli</cp:lastModifiedBy>
  <cp:revision>11</cp:revision>
  <dcterms:modified xsi:type="dcterms:W3CDTF">2023-09-30T18:24:03Z</dcterms:modified>
</cp:coreProperties>
</file>